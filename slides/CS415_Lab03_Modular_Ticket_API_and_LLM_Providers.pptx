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script: Today is about one project—the Ticket System. We will first clean up the existing FastAPI application. Then we will run a model through Ollama and build a common LLM interface so we can switch providers without changing our ticket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the Ticket System is a single continuous project. Today there is no finished agent: we are building clean foundations and model connectivity.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at the start: Which part of our old main.py is business logic, and which part is HTTP-specific? Preview that the same classification function will later be reused as an AI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ticket classification code students saw in Lab 02. Explain: urgency determines priority, message keywords determine category. Refactoring must preserve these rules, not redesign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Start by asking students what happens when a 60-line main.py grows to 5,000 lines and multiple developers work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Separation of Concerns as a concrete decision: when an endpoint changes, visit routes.py; when category rules change, visit services.py. Keep each module focused.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question: What does the leading dot mean in from .models import Ticket? Answer: look in the current package. Explain __init__.py signals a regular Python package, not necessarily required for every modern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point at each file and explain what kind of change belongs there. Emphasize this is the solution pattern for Assignment 01 part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of Field validation and Literal from last lab. Explain why the model remains useful outside FastAPI: services, scripts, tools, and tests can all construct Ticket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important connection to future labs: this function is deterministic business logic; we will eventually expose it as a tool. Do not ask the model to make up classification rules; reuse this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@app.post from Lab 02 with @router.post today. Ask: Does moving endpoints change their URL? Not if we register the router without an additional prefix.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/docs as a live demonstration: remove include_router temporarily and point out missing routes, then restore it. Do not change any classification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this ticket aloud: payment contains a billing keyword; urgent true means high. For a login problem with urgent false, the service returns technical/normal. The LLM does not decide these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 student run the API and open http://127.0.0.1:8000/docs. Compare the API behavior to sec-02. The new package requires an import-aware invocation, so launching uvicorn from sec-03 is reliable.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We built our own API with FastAPI. Now our Python code becomes the HTTP client talking to Ollama as another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Is Ollama itself an LLM? No. Is our simple Chat Request already an agent? No. We have the model access necessary to build an agent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VRAM versus system RAM. Our recorded A100 run used roughly 62GB VRAM for GPT-OSS 120B. Bigger is not always better for every task. Colab GPU availability and compute units are 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references/ollama-colab/Ollama_Colab.ipynb. Stress that Colab Runtime needs GPU enabled before running nvidia-smi. zstd was a real dependency issue in our first installation. Systemd warning is expected; run Ollama using subprocess.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model, messages with role/content, and stream false. Our browser/client parses JSON and reads message.content. Explain that printing the generated content is not an agent tool invocation.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If the laptop calls 127.0.0.1, where does it connect? Answer: the laptop, not the remote Colab notebook. The tunnel provides a reachable public endpoint but must be protected.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observed 401 without authentication, 200 with it, and GPT-OSS 120B listed. Explain why 401 is actually the expected result for an unauthenticated request. Do not display or paste real secrets.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test_ollama.py script: reads URL and credentials, checks auth, confirms available model, sends a chat message. The reference folder is separate from the sec-03 lesson code, as intended.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We can call one model. But what if a student has no GPU or the Colab session ends? We want a different provider without rewriting tickets, routes or service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successfully exercised Ollama Colab, Groq, and SovereignEG in this preparation. Local Ollama is supported by the code path but may require each student to run a local model. Distinguish endpoint from provider: Local and Colab both use Ollama.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Should classify_ticket know the Groq API URL? No. Should the Ollama provider know what billing means? No. This is separation of concerns in a new part of the same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these are the files as implemented in this lab. Consolidating Groq and Sovereign into a shared OpenAI-compatible provider is explicitly deferred to the next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dataclass: automatic initialization of a data holder. frozen=True prevents rebinding its fields. The config module does not make network calls; provider classes do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compact illustration; the actual .env.example also includes base URLs for Groq and Sovereign. Credentials remain blank in the sample. A real .env is ignored by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local URL and ngrok URL. For ngrok the script uses requests HTTP Basic Auth. The real class also rejects non-HTTPS Colab endpoints and raises HTTP errors. Keep API credentials out of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do NOT introduce OpenAICompatibleProvider this week. Keep both provider modules separate as currently implemented. DRY refactoring is a natural next lesson after students have seen the duplication.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delegation: the client has no URLs, bearer tokens, Basic Auth, or JSON response parsing. The provider owns those differences. The tools parameter is in place for future lessons; tool execution is not implemented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local Ollama path exists but was not demonstrated as an independent end-to-end test in this preparation. The response text will differ by provider, but the Python call is identical. Avoid claiming full parity for streaming/tool calling.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actual lab incidents as teachable moments. The successful curl --resolve test verified Groq reachability, but fixing DNS belongs to the machine/network, not business logic. The Python IPv4 monkeypatch was diagnostic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TWO separate pieces today, not a completed AI Ticket Agent. A future lesson will connect ticket services to model calls and tools. Explain why this separation is beneficial: no provider-specific details inside ticket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answers: services separates business rules from HTTP; localhost is machine-specific; only selected backend and auth changes; credentials in ignored .env or secure secret storage; no, tool choice/execution and agent loop are not built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scope: Today we have a modular API and working provider infrastructure. We have not performed the common-provider refactor or taught the three example files yet. These are the next session’s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94944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174D51"/>
          </a:solidFill>
          <a:ln w="11430">
            <a:solidFill>
              <a:srgbClr val="174D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731520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4F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6384" y="1371600"/>
            <a:ext cx="9966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Modular APIs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LLM Providers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8D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the foundation of our AI-Powered Ticket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90702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70" kern="0" dirty="0">
                <a:solidFill>
                  <a:srgbClr val="67D1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 •  PYDANTIC  •  FASTAPI  •  OLLAMA  •  GROQ  •  SOVEREIGNEG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project. Three building blocks.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we extend the Ticket System we started in Lab 02.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837944"/>
            <a:ext cx="3520440" cy="2834640"/>
          </a:xfrm>
          <a:prstGeom prst="roundRect">
            <a:avLst>
              <a:gd name="adj" fmla="val 5484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837944"/>
            <a:ext cx="65837" cy="2834640"/>
          </a:xfrm>
          <a:prstGeom prst="rect">
            <a:avLst/>
          </a:prstGeom>
          <a:solidFill>
            <a:srgbClr val="3B71C6"/>
          </a:solidFill>
          <a:ln w="12700">
            <a:solidFill>
              <a:srgbClr val="3B71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02082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Modular API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4672" y="2496312"/>
            <a:ext cx="31272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Pydantic models, ticket classification logic, and HTTP endpoints.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25112" y="1837944"/>
            <a:ext cx="3520440" cy="2834640"/>
          </a:xfrm>
          <a:prstGeom prst="roundRect">
            <a:avLst>
              <a:gd name="adj" fmla="val 5484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1837944"/>
            <a:ext cx="65837" cy="28346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202082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Ollama + Colab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35424" y="2496312"/>
            <a:ext cx="31272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an LLM, expose a protected API, and connect from the laptop.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55864" y="1837944"/>
            <a:ext cx="3520440" cy="2834640"/>
          </a:xfrm>
          <a:prstGeom prst="roundRect">
            <a:avLst>
              <a:gd name="adj" fmla="val 5484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5864" y="1837944"/>
            <a:ext cx="65837" cy="2834640"/>
          </a:xfrm>
          <a:prstGeom prst="rect">
            <a:avLst/>
          </a:prstGeom>
          <a:solidFill>
            <a:srgbClr val="6851B8"/>
          </a:solidFill>
          <a:ln w="12700">
            <a:solidFill>
              <a:srgbClr val="6851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2020824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Provider layer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66176" y="2496312"/>
            <a:ext cx="31272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LLMClient to reach local Ollama, Colab, Groq, or SovereignEG.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166360"/>
            <a:ext cx="10917936" cy="548640"/>
          </a:xfrm>
          <a:prstGeom prst="roundRect">
            <a:avLst>
              <a:gd name="adj" fmla="val 28333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285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Destination: an AI-assisted support ticket application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this lab, students should be able to…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002536"/>
            <a:ext cx="68580" cy="68580"/>
          </a:xfrm>
          <a:prstGeom prst="ellipse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47088"/>
            <a:ext cx="10607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 a one-file FastAPI project into focused Python modules.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14400" y="2706624"/>
            <a:ext cx="68580" cy="68580"/>
          </a:xfrm>
          <a:prstGeom prst="ellipse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51176"/>
            <a:ext cx="10607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a model, Ollama, a client, and an agent.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14400" y="3410712"/>
            <a:ext cx="68580" cy="68580"/>
          </a:xfrm>
          <a:prstGeom prst="ellipse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255264"/>
            <a:ext cx="10607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an LLM through an HTTP API from Google Colab or a laptop.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14400" y="4114800"/>
            <a:ext cx="68580" cy="68580"/>
          </a:xfrm>
          <a:prstGeom prst="ellipse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959352"/>
            <a:ext cx="10607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 LLM provider using environment variables.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14400" y="4818888"/>
            <a:ext cx="68580" cy="68580"/>
          </a:xfrm>
          <a:prstGeom prst="ellipse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663440"/>
            <a:ext cx="10607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responsibilities of config, client, and provider code.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Recap: Lab 02 Ticket API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behavior we must preserve.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" y="1801368"/>
            <a:ext cx="6903720" cy="4206240"/>
          </a:xfrm>
          <a:prstGeom prst="roundRect">
            <a:avLst>
              <a:gd name="adj" fmla="val 3478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1801368"/>
            <a:ext cx="68580" cy="42062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56816"/>
            <a:ext cx="6446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SEC-02 / MAIN.PY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2331720"/>
            <a:ext cx="6382512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Ticket(BaseModel):</a:t>
            </a: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customer_name: str = Field(min_length=2)</a:t>
            </a: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str = Field(min_length=5)</a:t>
            </a: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urgent: bool = False</a:t>
            </a: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classify_ticket(ticket: Ticket) -&gt; TicketResult:</a:t>
            </a: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billing / technical / general</a:t>
            </a: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priority: high or normal</a:t>
            </a: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@app.post('/tickets/classify', response_model=TicketResult)</a:t>
            </a: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classify_ticket_endpoint(ticket: Ticket) -&gt; TicketResult:</a:t>
            </a:r>
            <a:endParaRPr lang="en-US" sz="145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classify_ticket(ticket)</a:t>
            </a:r>
            <a:endParaRPr lang="en-US" sz="1459" dirty="0"/>
          </a:p>
        </p:txBody>
      </p:sp>
      <p:sp>
        <p:nvSpPr>
          <p:cNvPr id="13" name="Shape 11"/>
          <p:cNvSpPr/>
          <p:nvPr/>
        </p:nvSpPr>
        <p:spPr>
          <a:xfrm>
            <a:off x="7763256" y="1801368"/>
            <a:ext cx="3785616" cy="1755648"/>
          </a:xfrm>
          <a:prstGeom prst="roundRect">
            <a:avLst>
              <a:gd name="adj" fmla="val 8854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63256" y="1801368"/>
            <a:ext cx="65837" cy="1755648"/>
          </a:xfrm>
          <a:prstGeom prst="rect">
            <a:avLst/>
          </a:prstGeom>
          <a:solidFill>
            <a:srgbClr val="3B71C6"/>
          </a:solidFill>
          <a:ln w="12700">
            <a:solidFill>
              <a:srgbClr val="3B71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3568" y="1984248"/>
            <a:ext cx="3392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endpoints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973568" y="2459736"/>
            <a:ext cx="3392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/tickets/classify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63256" y="3739896"/>
            <a:ext cx="3785616" cy="2258568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63256" y="3739896"/>
            <a:ext cx="65837" cy="2258568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3922776"/>
            <a:ext cx="3392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assignment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973568" y="4398264"/>
            <a:ext cx="33924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models, routes, and business logic; keep the same API behavior.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118872" cy="530352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6968" y="832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5D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PART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6968" y="15087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6C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86968" y="2103120"/>
            <a:ext cx="104241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Programming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86968" y="40050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B9C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Separation of Concerns to the existing Ticket API.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27080" y="626364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99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MODULAR PROGRAMMING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refactor a working program?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Refactoring changes organization, not externally visible behavior.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" y="1828800"/>
            <a:ext cx="4882896" cy="3291840"/>
          </a:xfrm>
          <a:prstGeom prst="roundRect">
            <a:avLst>
              <a:gd name="adj" fmla="val 4722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1828800"/>
            <a:ext cx="65837" cy="3291840"/>
          </a:xfrm>
          <a:prstGeom prst="rect">
            <a:avLst/>
          </a:prstGeom>
          <a:solidFill>
            <a:srgbClr val="C75057"/>
          </a:solidFill>
          <a:ln w="12700">
            <a:solidFill>
              <a:srgbClr val="C75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011680"/>
            <a:ext cx="4489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Before: one file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50976" y="2487168"/>
            <a:ext cx="4489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validation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classification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endpoints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initialization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60720" y="3474720"/>
            <a:ext cx="621792" cy="0"/>
          </a:xfrm>
          <a:prstGeom prst="line">
            <a:avLst/>
          </a:prstGeom>
          <a:noFill/>
          <a:ln w="25400">
            <a:solidFill>
              <a:srgbClr val="0C9F9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19672" y="1828800"/>
            <a:ext cx="4882896" cy="3291840"/>
          </a:xfrm>
          <a:prstGeom prst="roundRect">
            <a:avLst>
              <a:gd name="adj" fmla="val 4722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9672" y="1828800"/>
            <a:ext cx="65837" cy="32918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9984" y="2011680"/>
            <a:ext cx="4489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After: focused modules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729984" y="2487168"/>
            <a:ext cx="4489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models.py  → 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services.py  → Rules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routes.py  → HTTP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  → Wiring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440680"/>
            <a:ext cx="10917936" cy="548640"/>
          </a:xfrm>
          <a:prstGeom prst="roundRect">
            <a:avLst>
              <a:gd name="adj" fmla="val 28333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5595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same request → same response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MODULAR PROGRAMMING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module vs package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import system lets small files work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1248" y="1911096"/>
            <a:ext cx="3200400" cy="960120"/>
          </a:xfrm>
          <a:prstGeom prst="roundRect">
            <a:avLst>
              <a:gd name="adj" fmla="val 16190"/>
            </a:avLst>
          </a:prstGeom>
          <a:solidFill>
            <a:srgbClr val="E7F0FF"/>
          </a:solidFill>
          <a:ln w="11430">
            <a:solidFill>
              <a:srgbClr val="E7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75104"/>
            <a:ext cx="29809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models.py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0392" y="306324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B7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392" y="3529584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Python file that provides code to import.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01184" y="1764792"/>
            <a:ext cx="6355080" cy="621792"/>
          </a:xfrm>
          <a:prstGeom prst="roundRect">
            <a:avLst>
              <a:gd name="adj" fmla="val 25000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828800"/>
            <a:ext cx="61356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ticket_api/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084064" y="2624328"/>
            <a:ext cx="1847088" cy="612648"/>
          </a:xfrm>
          <a:prstGeom prst="roundRect">
            <a:avLst>
              <a:gd name="adj" fmla="val 2537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2688336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__init__.py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14032" y="2624328"/>
            <a:ext cx="1847088" cy="612648"/>
          </a:xfrm>
          <a:prstGeom prst="roundRect">
            <a:avLst>
              <a:gd name="adj" fmla="val 2537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2688336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models.py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0" y="2624328"/>
            <a:ext cx="1847088" cy="612648"/>
          </a:xfrm>
          <a:prstGeom prst="roundRect">
            <a:avLst>
              <a:gd name="adj" fmla="val 2537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53728" y="2688336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services.py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84064" y="3465576"/>
            <a:ext cx="1847088" cy="612648"/>
          </a:xfrm>
          <a:prstGeom prst="roundRect">
            <a:avLst>
              <a:gd name="adj" fmla="val 2537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3529584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routes.py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14032" y="3465576"/>
            <a:ext cx="1847088" cy="612648"/>
          </a:xfrm>
          <a:prstGeom prst="roundRect">
            <a:avLst>
              <a:gd name="adj" fmla="val 2537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3529584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65192" y="467258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= related modules grouped together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68680" y="5321808"/>
            <a:ext cx="10451592" cy="676656"/>
          </a:xfrm>
          <a:prstGeom prst="roundRect">
            <a:avLst>
              <a:gd name="adj" fmla="val 21622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321808"/>
            <a:ext cx="68580" cy="676656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5477256"/>
            <a:ext cx="9994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IMPORT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4712" y="5852160"/>
            <a:ext cx="993038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4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Ticket, TicketResult</a:t>
            </a:r>
            <a:endParaRPr lang="en-US" sz="4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MODULAR PROGRAMMING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refactored Ticket API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sec-02 unchanged so students can compare before and after.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1792224"/>
            <a:ext cx="5166360" cy="3566160"/>
          </a:xfrm>
          <a:prstGeom prst="roundRect">
            <a:avLst>
              <a:gd name="adj" fmla="val 4103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792224"/>
            <a:ext cx="68580" cy="356616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94767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2322576"/>
            <a:ext cx="4645152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71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sec-03/</a:t>
            </a:r>
            <a:endParaRPr lang="en-US" sz="171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1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ticket_api/</a:t>
            </a:r>
            <a:endParaRPr lang="en-US" sz="171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1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__init__.py</a:t>
            </a:r>
            <a:endParaRPr lang="en-US" sz="171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1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models.py</a:t>
            </a:r>
            <a:endParaRPr lang="en-US" sz="171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1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services.py</a:t>
            </a:r>
            <a:endParaRPr lang="en-US" sz="171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1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routes.py</a:t>
            </a:r>
            <a:endParaRPr lang="en-US" sz="171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1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main.py</a:t>
            </a:r>
            <a:endParaRPr lang="en-US" sz="1715" dirty="0"/>
          </a:p>
        </p:txBody>
      </p:sp>
      <p:sp>
        <p:nvSpPr>
          <p:cNvPr id="13" name="Shape 11"/>
          <p:cNvSpPr/>
          <p:nvPr/>
        </p:nvSpPr>
        <p:spPr>
          <a:xfrm>
            <a:off x="6181344" y="1792224"/>
            <a:ext cx="5248656" cy="4142232"/>
          </a:xfrm>
          <a:prstGeom prst="roundRect">
            <a:avLst>
              <a:gd name="adj" fmla="val 375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792224"/>
            <a:ext cx="65837" cy="4142232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1975104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Separation of Concerns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91656" y="2450592"/>
            <a:ext cx="4855464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models.py → Structure and validation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services.py → Classification rules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routes.py → HTTP endpoints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 → App setup and router registration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MODULAR PROGRAMMING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models.py — validated data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describes the incoming ticket and the classification result.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1737360"/>
            <a:ext cx="7406640" cy="4462272"/>
          </a:xfrm>
          <a:prstGeom prst="roundRect">
            <a:avLst>
              <a:gd name="adj" fmla="val 3279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737360"/>
            <a:ext cx="68580" cy="4462272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89280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TICKET_API / MODELS.PY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23544" y="2267712"/>
            <a:ext cx="688543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Literal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Ticket(BaseModel):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customer_name: str = Field(min_length=2)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str = Field(min_length=5)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urgent: bool = False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TicketResult(BaseModel):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category: Literal['billing', 'technical', 'general']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priority: Literal['high', 'normal']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0" y="1984248"/>
            <a:ext cx="3255264" cy="2880360"/>
          </a:xfrm>
          <a:prstGeom prst="roundRect">
            <a:avLst>
              <a:gd name="adj" fmla="val 5397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984248"/>
            <a:ext cx="65837" cy="2880360"/>
          </a:xfrm>
          <a:prstGeom prst="rect">
            <a:avLst/>
          </a:prstGeom>
          <a:solidFill>
            <a:srgbClr val="3B71C6"/>
          </a:solidFill>
          <a:ln w="12700">
            <a:solidFill>
              <a:srgbClr val="3B71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2167128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question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39912" y="2642616"/>
            <a:ext cx="286207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Ticket need to know how an HTTP request is handled?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— it is a reusable data contract.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MODULAR PROGRAMMING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services.py — ticket rules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must not depend on HTTP or a specific LLM.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691640"/>
            <a:ext cx="9162288" cy="4599432"/>
          </a:xfrm>
          <a:prstGeom prst="roundRect">
            <a:avLst>
              <a:gd name="adj" fmla="val 3181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91640"/>
            <a:ext cx="68580" cy="4599432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47088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TICKET_API / SERVICES.PY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" y="2221992"/>
            <a:ext cx="8641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Ticket, TicketResult</a:t>
            </a: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classify_ticket(ticket: Ticket) -&gt; TicketResult:</a:t>
            </a: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"""Classify a support ticket."""</a:t>
            </a: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ticket.message.lower()</a:t>
            </a: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'payment' in text or 'invoice' in text:</a:t>
            </a: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category = 'billing'</a:t>
            </a: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'login' in text or 'error' in text:</a:t>
            </a: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category = 'technical'</a:t>
            </a: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category = 'general'</a:t>
            </a: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 = 'high' if ticket.urgent else 'normal'</a:t>
            </a:r>
            <a:endParaRPr lang="en-US" sz="162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2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TicketResult(category=category, priority=priority)</a:t>
            </a:r>
            <a:endParaRPr lang="en-US" sz="1621" dirty="0"/>
          </a:p>
        </p:txBody>
      </p:sp>
      <p:sp>
        <p:nvSpPr>
          <p:cNvPr id="13" name="Shape 11"/>
          <p:cNvSpPr/>
          <p:nvPr/>
        </p:nvSpPr>
        <p:spPr>
          <a:xfrm>
            <a:off x="10021824" y="2286000"/>
            <a:ext cx="1700784" cy="310896"/>
          </a:xfrm>
          <a:prstGeom prst="roundRect">
            <a:avLst>
              <a:gd name="adj" fmla="val 29412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0696" y="23225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in future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985248" y="3072384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FastAPI import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MODULAR PROGRAMMING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routes.py — the HTTP boundary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APIRouter groups related endpoints outside main.py.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1746504"/>
            <a:ext cx="8714232" cy="4572000"/>
          </a:xfrm>
          <a:prstGeom prst="roundRect">
            <a:avLst>
              <a:gd name="adj" fmla="val 3200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746504"/>
            <a:ext cx="68580" cy="457200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1901952"/>
            <a:ext cx="8257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TICKET_API / ROUTES.PY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2276856"/>
            <a:ext cx="8193024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APIRouter</a:t>
            </a: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Ticket, TicketResult</a:t>
            </a: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.services import classify_ticket</a:t>
            </a: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= APIRouter()</a:t>
            </a: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@router.get('/')</a:t>
            </a: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home() -&gt; dict[str, str]:</a:t>
            </a: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{'message': 'CS415 Ticket API is running'}</a:t>
            </a: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@router.post('/tickets/classify', response_model=TicketResult)</a:t>
            </a: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classify_ticket_endpoint(ticket: Ticket) -&gt; TicketResult:</a:t>
            </a:r>
            <a:endParaRPr lang="en-US" sz="160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classify_ticket(ticket)</a:t>
            </a:r>
            <a:endParaRPr lang="en-US" sz="1609" dirty="0"/>
          </a:p>
        </p:txBody>
      </p:sp>
      <p:sp>
        <p:nvSpPr>
          <p:cNvPr id="13" name="Shape 11"/>
          <p:cNvSpPr/>
          <p:nvPr/>
        </p:nvSpPr>
        <p:spPr>
          <a:xfrm>
            <a:off x="9573768" y="1947672"/>
            <a:ext cx="1993392" cy="3904488"/>
          </a:xfrm>
          <a:prstGeom prst="roundRect">
            <a:avLst>
              <a:gd name="adj" fmla="val 7798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73768" y="1947672"/>
            <a:ext cx="65837" cy="3904488"/>
          </a:xfrm>
          <a:prstGeom prst="rect">
            <a:avLst/>
          </a:prstGeom>
          <a:solidFill>
            <a:srgbClr val="3B71C6"/>
          </a:solidFill>
          <a:ln w="12700">
            <a:solidFill>
              <a:srgbClr val="3B71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0" y="21305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vs service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784080" y="2606040"/>
            <a:ext cx="1600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Endpoint: receives HTTP input.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Service: applies ticket rules.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work together, but their responsibilities differ.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MODULAR PROGRAMMING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 — initialize and assemble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create FastAPI and register routes.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1901952"/>
            <a:ext cx="7452360" cy="3291840"/>
          </a:xfrm>
          <a:prstGeom prst="roundRect">
            <a:avLst>
              <a:gd name="adj" fmla="val 4444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901952"/>
            <a:ext cx="68580" cy="32918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057400"/>
            <a:ext cx="699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TICKET_API / MAIN.PY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704" y="2432304"/>
            <a:ext cx="6931152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6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406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6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.routes import router</a:t>
            </a:r>
            <a:endParaRPr lang="en-US" sz="1406" dirty="0"/>
          </a:p>
          <a:p>
            <a:pPr indent="0" marL="0">
              <a:lnSpc>
                <a:spcPct val="105000"/>
              </a:lnSpc>
              <a:buNone/>
            </a:pPr>
            <a:endParaRPr lang="en-US" sz="1406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6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</a:t>
            </a:r>
            <a:endParaRPr lang="en-US" sz="1406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6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title='CS415 Ticket API',</a:t>
            </a:r>
            <a:endParaRPr lang="en-US" sz="1406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6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description='Lab 2 example: Pydantic + FastAPI',</a:t>
            </a:r>
            <a:endParaRPr lang="en-US" sz="1406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6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version='1.0.0',</a:t>
            </a:r>
            <a:endParaRPr lang="en-US" sz="1406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6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6" dirty="0"/>
          </a:p>
          <a:p>
            <a:pPr indent="0" marL="0">
              <a:lnSpc>
                <a:spcPct val="105000"/>
              </a:lnSpc>
              <a:buNone/>
            </a:pPr>
            <a:endParaRPr lang="en-US" sz="1406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6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app.include_router(router)</a:t>
            </a:r>
            <a:endParaRPr lang="en-US" sz="1406" dirty="0"/>
          </a:p>
        </p:txBody>
      </p:sp>
      <p:sp>
        <p:nvSpPr>
          <p:cNvPr id="13" name="Shape 11"/>
          <p:cNvSpPr/>
          <p:nvPr/>
        </p:nvSpPr>
        <p:spPr>
          <a:xfrm>
            <a:off x="8421624" y="1901952"/>
            <a:ext cx="2944368" cy="3291840"/>
          </a:xfrm>
          <a:prstGeom prst="roundRect">
            <a:avLst>
              <a:gd name="adj" fmla="val 5280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1624" y="1901952"/>
            <a:ext cx="65837" cy="3291840"/>
          </a:xfrm>
          <a:prstGeom prst="rect">
            <a:avLst/>
          </a:prstGeom>
          <a:solidFill>
            <a:srgbClr val="E8A335"/>
          </a:solidFill>
          <a:ln w="12700">
            <a:solidFill>
              <a:srgbClr val="E8A3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1936" y="208483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question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31936" y="2560320"/>
            <a:ext cx="255117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if we remove include_router()?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still starts, but these routes are not registered.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577840"/>
            <a:ext cx="10917936" cy="548640"/>
          </a:xfrm>
          <a:prstGeom prst="roundRect">
            <a:avLst>
              <a:gd name="adj" fmla="val 28333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69671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 is the composition root — not a place for all business logic.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MODULAR PROGRAMMING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one request across files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response still comes from the original classification rules.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2011680"/>
            <a:ext cx="2871216" cy="786384"/>
          </a:xfrm>
          <a:prstGeom prst="roundRect">
            <a:avLst>
              <a:gd name="adj" fmla="val 19767"/>
            </a:avLst>
          </a:prstGeom>
          <a:solidFill>
            <a:srgbClr val="E7F0FF"/>
          </a:solidFill>
          <a:ln w="11430">
            <a:solidFill>
              <a:srgbClr val="E7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756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/tickets/classify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584448" y="2395728"/>
            <a:ext cx="493776" cy="0"/>
          </a:xfrm>
          <a:prstGeom prst="line">
            <a:avLst/>
          </a:prstGeom>
          <a:noFill/>
          <a:ln w="25400">
            <a:solidFill>
              <a:srgbClr val="0C9F9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33088" y="2011680"/>
            <a:ext cx="1993392" cy="786384"/>
          </a:xfrm>
          <a:prstGeom prst="roundRect">
            <a:avLst>
              <a:gd name="adj" fmla="val 19767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207568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routes.py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53912" y="2395728"/>
            <a:ext cx="475488" cy="0"/>
          </a:xfrm>
          <a:prstGeom prst="line">
            <a:avLst/>
          </a:prstGeom>
          <a:noFill/>
          <a:ln w="25400">
            <a:solidFill>
              <a:srgbClr val="0C9F9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84264" y="2011680"/>
            <a:ext cx="2103120" cy="786384"/>
          </a:xfrm>
          <a:prstGeom prst="roundRect">
            <a:avLst>
              <a:gd name="adj" fmla="val 19767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3992" y="207568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services.py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833104" y="2395728"/>
            <a:ext cx="521208" cy="0"/>
          </a:xfrm>
          <a:prstGeom prst="line">
            <a:avLst/>
          </a:prstGeom>
          <a:noFill/>
          <a:ln w="25400">
            <a:solidFill>
              <a:srgbClr val="0C9F9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00032" y="2011680"/>
            <a:ext cx="2029968" cy="786384"/>
          </a:xfrm>
          <a:prstGeom prst="roundRect">
            <a:avLst>
              <a:gd name="adj" fmla="val 19767"/>
            </a:avLst>
          </a:prstGeom>
          <a:solidFill>
            <a:srgbClr val="FFF2D9"/>
          </a:solidFill>
          <a:ln w="11430">
            <a:solidFill>
              <a:srgbClr val="FFF2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07568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TicketResult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3364992"/>
            <a:ext cx="10543032" cy="2039112"/>
          </a:xfrm>
          <a:prstGeom prst="roundRect">
            <a:avLst>
              <a:gd name="adj" fmla="val 7175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364992"/>
            <a:ext cx="68580" cy="2039112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3520440"/>
            <a:ext cx="10085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UNCHANGED BEHAVIOR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895344"/>
            <a:ext cx="100218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7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Request:  {"customer_name":"Ahmed",</a:t>
            </a:r>
            <a:endParaRPr lang="en-US" sz="14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"message":"I have a payment issue",</a:t>
            </a:r>
            <a:endParaRPr lang="en-US" sz="14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"urgent":true}</a:t>
            </a:r>
            <a:endParaRPr lang="en-US" sz="1470" dirty="0"/>
          </a:p>
          <a:p>
            <a:pPr indent="0" marL="0">
              <a:lnSpc>
                <a:spcPct val="105000"/>
              </a:lnSpc>
              <a:buNone/>
            </a:pPr>
            <a:endParaRPr lang="en-US" sz="147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 {"category":"billing","priority":"high"}</a:t>
            </a:r>
            <a:endParaRPr lang="en-US" sz="14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01 / MODULAR PROGRAMMING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the refactoring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declare success just because the project imports.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19656"/>
            <a:ext cx="10625328" cy="1572768"/>
          </a:xfrm>
          <a:prstGeom prst="roundRect">
            <a:avLst>
              <a:gd name="adj" fmla="val 9302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819656"/>
            <a:ext cx="68580" cy="1572768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975104"/>
            <a:ext cx="10168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MODULAR 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2350008"/>
            <a:ext cx="10104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1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the repository root</a:t>
            </a:r>
            <a:endParaRPr lang="en-US" sz="161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1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sec-03</a:t>
            </a:r>
            <a:endParaRPr lang="en-US" sz="161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1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uvicorn ticket_api.main:app --reload</a:t>
            </a:r>
            <a:endParaRPr lang="en-US" sz="1617" dirty="0"/>
          </a:p>
        </p:txBody>
      </p:sp>
      <p:sp>
        <p:nvSpPr>
          <p:cNvPr id="13" name="Shape 11"/>
          <p:cNvSpPr/>
          <p:nvPr/>
        </p:nvSpPr>
        <p:spPr>
          <a:xfrm>
            <a:off x="768096" y="3794760"/>
            <a:ext cx="2834640" cy="941832"/>
          </a:xfrm>
          <a:prstGeom prst="roundRect">
            <a:avLst>
              <a:gd name="adj" fmla="val 16505"/>
            </a:avLst>
          </a:prstGeom>
          <a:solidFill>
            <a:srgbClr val="E7F0FF"/>
          </a:solidFill>
          <a:ln w="11430">
            <a:solidFill>
              <a:srgbClr val="E7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858768"/>
            <a:ext cx="261518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/docs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032504" y="3794760"/>
            <a:ext cx="3794760" cy="941832"/>
          </a:xfrm>
          <a:prstGeom prst="roundRect">
            <a:avLst>
              <a:gd name="adj" fmla="val 16505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2232" y="3858768"/>
            <a:ext cx="35753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POST /tickets/classify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11312" y="3794760"/>
            <a:ext cx="3154680" cy="941832"/>
          </a:xfrm>
          <a:prstGeom prst="roundRect">
            <a:avLst>
              <a:gd name="adj" fmla="val 16505"/>
            </a:avLst>
          </a:prstGeom>
          <a:solidFill>
            <a:srgbClr val="FFF2D9"/>
          </a:solidFill>
          <a:ln w="11430">
            <a:solidFill>
              <a:srgbClr val="FFF2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3858768"/>
            <a:ext cx="293522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JSON output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917936" cy="548640"/>
          </a:xfrm>
          <a:prstGeom prst="roundRect">
            <a:avLst>
              <a:gd name="adj" fmla="val 28333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3766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Refactoring = same functionality, clearer internal structure.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118872" cy="530352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6968" y="832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5D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PART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6968" y="15087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6C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ENVIRONMENT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86968" y="2103120"/>
            <a:ext cx="104241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+ Google Colab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86968" y="40050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B9C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real LLM and access it from a local Python application.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27080" y="626364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99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02 / OLLAMA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LLM, Ollama, and Agent are different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Knowing the roles prevents us from calling a chatbot an agent.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837944"/>
            <a:ext cx="3502152" cy="2999232"/>
          </a:xfrm>
          <a:prstGeom prst="roundRect">
            <a:avLst>
              <a:gd name="adj" fmla="val 518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837944"/>
            <a:ext cx="65837" cy="2999232"/>
          </a:xfrm>
          <a:prstGeom prst="rect">
            <a:avLst/>
          </a:prstGeom>
          <a:solidFill>
            <a:srgbClr val="3B71C6"/>
          </a:solidFill>
          <a:ln w="12700">
            <a:solidFill>
              <a:srgbClr val="3B71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020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96112" y="2496312"/>
            <a:ext cx="31089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trained model that processes prompts and generates outputs.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GPT-OSS 120B.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52544" y="1837944"/>
            <a:ext cx="3502152" cy="2999232"/>
          </a:xfrm>
          <a:prstGeom prst="roundRect">
            <a:avLst>
              <a:gd name="adj" fmla="val 518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1837944"/>
            <a:ext cx="65837" cy="2999232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2020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62856" y="2496312"/>
            <a:ext cx="31089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that manages and serves LLMs through a local HTTP API.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/api/chat.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19288" y="1837944"/>
            <a:ext cx="3502152" cy="2999232"/>
          </a:xfrm>
          <a:prstGeom prst="roundRect">
            <a:avLst>
              <a:gd name="adj" fmla="val 518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9288" y="1837944"/>
            <a:ext cx="65837" cy="2999232"/>
          </a:xfrm>
          <a:prstGeom prst="rect">
            <a:avLst/>
          </a:prstGeom>
          <a:solidFill>
            <a:srgbClr val="6851B8"/>
          </a:solidFill>
          <a:ln w="12700">
            <a:solidFill>
              <a:srgbClr val="6851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020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29600" y="2496312"/>
            <a:ext cx="310896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logic that uses a model and tools to take actions toward a goal.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Coming later.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266944"/>
            <a:ext cx="10917936" cy="548640"/>
          </a:xfrm>
          <a:prstGeom prst="roundRect">
            <a:avLst>
              <a:gd name="adj" fmla="val 28333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38581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working API access. Next labs: tool execution and the agent loop.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02 / OLLAMA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model that fits the hardware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size and context both affect memory usage.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4965192" cy="3099816"/>
          </a:xfrm>
          <a:prstGeom prst="roundRect">
            <a:avLst>
              <a:gd name="adj" fmla="val 5015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828800"/>
            <a:ext cx="65837" cy="3099816"/>
          </a:xfrm>
          <a:prstGeom prst="rect">
            <a:avLst/>
          </a:prstGeom>
          <a:solidFill>
            <a:srgbClr val="3B71C6"/>
          </a:solidFill>
          <a:ln w="12700">
            <a:solidFill>
              <a:srgbClr val="3B71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setup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7552" y="2487168"/>
            <a:ext cx="45720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Colab T4 (when available)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 model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Aim: learn the API workflow.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25896" y="1828800"/>
            <a:ext cx="5340096" cy="3099816"/>
          </a:xfrm>
          <a:prstGeom prst="roundRect">
            <a:avLst>
              <a:gd name="adj" fmla="val 5015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5896" y="1828800"/>
            <a:ext cx="65837" cy="3099816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2011680"/>
            <a:ext cx="4946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demo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36208" y="2487168"/>
            <a:ext cx="494690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A100 80GB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GPT-OSS 120B (~65GB downloaded)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Verified: 100% GPU; 8192 context.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321808"/>
            <a:ext cx="10917936" cy="548640"/>
          </a:xfrm>
          <a:prstGeom prst="roundRect">
            <a:avLst>
              <a:gd name="adj" fmla="val 28333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4406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 ≠ downloaded size: quantization reduces weight precision and memory.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02 / OLLAMA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Colab notebook workflow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reusable reference notebook rather than copying cells on the board.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709928"/>
            <a:ext cx="5257800" cy="1106424"/>
          </a:xfrm>
          <a:prstGeom prst="roundRect">
            <a:avLst>
              <a:gd name="adj" fmla="val 14050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929384"/>
            <a:ext cx="576072" cy="576072"/>
          </a:xfrm>
          <a:prstGeom prst="roundRect">
            <a:avLst>
              <a:gd name="adj" fmla="val 26984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1993392"/>
            <a:ext cx="356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09928" y="1883664"/>
            <a:ext cx="4069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GPU + verify nvidia-smi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36792" y="1709928"/>
            <a:ext cx="5257800" cy="1106424"/>
          </a:xfrm>
          <a:prstGeom prst="roundRect">
            <a:avLst>
              <a:gd name="adj" fmla="val 14050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9672" y="1929384"/>
            <a:ext cx="576072" cy="576072"/>
          </a:xfrm>
          <a:prstGeom prst="roundRect">
            <a:avLst>
              <a:gd name="adj" fmla="val 26984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993392"/>
            <a:ext cx="356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69480" y="1883664"/>
            <a:ext cx="4069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zstd and Ollama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3072384"/>
            <a:ext cx="5257800" cy="1106424"/>
          </a:xfrm>
          <a:prstGeom prst="roundRect">
            <a:avLst>
              <a:gd name="adj" fmla="val 14050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291840"/>
            <a:ext cx="576072" cy="576072"/>
          </a:xfrm>
          <a:prstGeom prst="roundRect">
            <a:avLst>
              <a:gd name="adj" fmla="val 26984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355848"/>
            <a:ext cx="356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09928" y="3246120"/>
            <a:ext cx="4069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ollama serve in background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336792" y="3072384"/>
            <a:ext cx="5257800" cy="1106424"/>
          </a:xfrm>
          <a:prstGeom prst="roundRect">
            <a:avLst>
              <a:gd name="adj" fmla="val 14050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9672" y="3291840"/>
            <a:ext cx="576072" cy="576072"/>
          </a:xfrm>
          <a:prstGeom prst="roundRect">
            <a:avLst>
              <a:gd name="adj" fmla="val 26984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355848"/>
            <a:ext cx="356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69480" y="3246120"/>
            <a:ext cx="4069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and test a model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7240" y="4434840"/>
            <a:ext cx="5257800" cy="1106424"/>
          </a:xfrm>
          <a:prstGeom prst="roundRect">
            <a:avLst>
              <a:gd name="adj" fmla="val 14050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654296"/>
            <a:ext cx="576072" cy="576072"/>
          </a:xfrm>
          <a:prstGeom prst="roundRect">
            <a:avLst>
              <a:gd name="adj" fmla="val 26984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718304"/>
            <a:ext cx="356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709928" y="4608576"/>
            <a:ext cx="4069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HTTPS endpoint with ngrok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336792" y="4434840"/>
            <a:ext cx="5257800" cy="1106424"/>
          </a:xfrm>
          <a:prstGeom prst="roundRect">
            <a:avLst>
              <a:gd name="adj" fmla="val 14050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9672" y="4654296"/>
            <a:ext cx="576072" cy="576072"/>
          </a:xfrm>
          <a:prstGeom prst="roundRect">
            <a:avLst>
              <a:gd name="adj" fmla="val 26984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718304"/>
            <a:ext cx="3566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69480" y="4608576"/>
            <a:ext cx="4069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401 without auth / 200 with auth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02 / OLLAMA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exposes an HTTP API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sends JSON; Ollama routes it to the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" y="1709928"/>
            <a:ext cx="8366760" cy="4599432"/>
          </a:xfrm>
          <a:prstGeom prst="roundRect">
            <a:avLst>
              <a:gd name="adj" fmla="val 3181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709928"/>
            <a:ext cx="68580" cy="4599432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865376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/API/CHAT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2240280"/>
            <a:ext cx="78455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requests.post(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'http://127.0.0.1:11434/api/chat',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json={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'model': 'gpt-oss:120b',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'messages': [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{'role': 'user', 'content': 'Help with a login issue'}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],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'stream': False,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timeout=600,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response.raise_for_status()</a:t>
            </a:r>
            <a:endParaRPr lang="en-US" sz="140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print(response.json()['message']['content'])</a:t>
            </a:r>
            <a:endParaRPr lang="en-US" sz="1405" dirty="0"/>
          </a:p>
        </p:txBody>
      </p:sp>
      <p:sp>
        <p:nvSpPr>
          <p:cNvPr id="13" name="Shape 11"/>
          <p:cNvSpPr/>
          <p:nvPr/>
        </p:nvSpPr>
        <p:spPr>
          <a:xfrm>
            <a:off x="9281160" y="2048256"/>
            <a:ext cx="2203704" cy="3438144"/>
          </a:xfrm>
          <a:prstGeom prst="roundRect">
            <a:avLst>
              <a:gd name="adj" fmla="val 7054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81160" y="2048256"/>
            <a:ext cx="65837" cy="3438144"/>
          </a:xfrm>
          <a:prstGeom prst="rect">
            <a:avLst/>
          </a:prstGeom>
          <a:solidFill>
            <a:srgbClr val="3B71C6"/>
          </a:solidFill>
          <a:ln w="12700">
            <a:solidFill>
              <a:srgbClr val="3B71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91472" y="2231136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Lab 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491472" y="2706624"/>
            <a:ext cx="18105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was the server.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Python acts as an HTTP client.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app can be both.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02 / REMOTE ACCESS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Colab localhost URL is not enough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localhost always refers to the machine making the request.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2157984" cy="1325880"/>
          </a:xfrm>
          <a:prstGeom prst="roundRect">
            <a:avLst>
              <a:gd name="adj" fmla="val 11724"/>
            </a:avLst>
          </a:prstGeom>
          <a:solidFill>
            <a:srgbClr val="E7F0FF"/>
          </a:solidFill>
          <a:ln w="11430">
            <a:solidFill>
              <a:srgbClr val="E7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95728"/>
            <a:ext cx="193852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client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898648" y="2980944"/>
            <a:ext cx="1069848" cy="0"/>
          </a:xfrm>
          <a:prstGeom prst="line">
            <a:avLst/>
          </a:prstGeom>
          <a:noFill/>
          <a:ln w="25400">
            <a:solidFill>
              <a:srgbClr val="0C9F9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59936" y="2331720"/>
            <a:ext cx="3127248" cy="1325880"/>
          </a:xfrm>
          <a:prstGeom prst="roundRect">
            <a:avLst>
              <a:gd name="adj" fmla="val 11724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2395728"/>
            <a:ext cx="290779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ngrok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+ auth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251192" y="2980944"/>
            <a:ext cx="1042416" cy="0"/>
          </a:xfrm>
          <a:prstGeom prst="line">
            <a:avLst/>
          </a:prstGeom>
          <a:noFill/>
          <a:ln w="25400">
            <a:solidFill>
              <a:srgbClr val="0C9F9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385048" y="2331720"/>
            <a:ext cx="3063240" cy="1325880"/>
          </a:xfrm>
          <a:prstGeom prst="roundRect">
            <a:avLst>
              <a:gd name="adj" fmla="val 11724"/>
            </a:avLst>
          </a:prstGeom>
          <a:solidFill>
            <a:srgbClr val="FFF2D9"/>
          </a:solidFill>
          <a:ln w="11430">
            <a:solidFill>
              <a:srgbClr val="FFF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4776" y="2395728"/>
            <a:ext cx="28437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Colab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:11434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063240" y="40507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HTTPS URL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056632"/>
            <a:ext cx="10917936" cy="548640"/>
          </a:xfrm>
          <a:prstGeom prst="roundRect">
            <a:avLst>
              <a:gd name="adj" fmla="val 28333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17550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ngrok forwards traffic — the GPU and model remain in Colab.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02 / REMOTE ACCESS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public Ollama endpoint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ngrok Basic Authentication restricts access before requests reach Ollama.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9264" y="1965960"/>
            <a:ext cx="4800600" cy="2880360"/>
          </a:xfrm>
          <a:prstGeom prst="roundRect">
            <a:avLst>
              <a:gd name="adj" fmla="val 5397"/>
            </a:avLst>
          </a:prstGeom>
          <a:solidFill>
            <a:srgbClr val="FFF7F7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65960"/>
            <a:ext cx="65837" cy="2880360"/>
          </a:xfrm>
          <a:prstGeom prst="rect">
            <a:avLst/>
          </a:prstGeom>
          <a:solidFill>
            <a:srgbClr val="C75057"/>
          </a:solidFill>
          <a:ln w="12700">
            <a:solidFill>
              <a:srgbClr val="C75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2148840"/>
            <a:ext cx="4407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credentials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79576" y="2624328"/>
            <a:ext cx="440740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/api/tags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401 Unauthorized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5352" y="1965960"/>
            <a:ext cx="4901184" cy="2880360"/>
          </a:xfrm>
          <a:prstGeom prst="roundRect">
            <a:avLst>
              <a:gd name="adj" fmla="val 5397"/>
            </a:avLst>
          </a:prstGeom>
          <a:solidFill>
            <a:srgbClr val="F3FCF9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965960"/>
            <a:ext cx="65837" cy="288036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148840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valid credentials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55664" y="2624328"/>
            <a:ext cx="450799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/api/tags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200 OK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list returned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340096"/>
            <a:ext cx="10917936" cy="548640"/>
          </a:xfrm>
          <a:prstGeom prst="roundRect">
            <a:avLst>
              <a:gd name="adj" fmla="val 28333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4589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Auth needs HTTPS; never commit tokens or passwords.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02 / REMOTE ACCESS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Colab setup as a reference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notebook deploys the model; the Python script consumes its API.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755648"/>
            <a:ext cx="10716768" cy="4178808"/>
          </a:xfrm>
          <a:prstGeom prst="roundRect">
            <a:avLst>
              <a:gd name="adj" fmla="val 3501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55648"/>
            <a:ext cx="68580" cy="4178808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911096"/>
            <a:ext cx="10259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MATERIALS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101955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references/ollama-colab/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Ollama_Colab.ipynb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test_ollama.py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.env.example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 the laptop, from the repository root: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--no-project --with requests --with python-dotenv \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 references/ollama-colab/test_ollama.py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6007608"/>
            <a:ext cx="10917936" cy="548640"/>
          </a:xfrm>
          <a:prstGeom prst="roundRect">
            <a:avLst>
              <a:gd name="adj" fmla="val 28333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61264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.env stays on each machine, not in Git.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118872" cy="530352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6968" y="832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5D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PART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6968" y="15087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6C9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API, MULTIPLE PROVIDERS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86968" y="2103120"/>
            <a:ext cx="1042416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Abstraction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86968" y="40050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B9CC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the Ticket System without coupling it to an LLM vendor.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27080" y="6263640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99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03 /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four connection choices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backend families, four connection modes.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" y="1847088"/>
            <a:ext cx="10735056" cy="813816"/>
          </a:xfrm>
          <a:prstGeom prst="roundRect">
            <a:avLst>
              <a:gd name="adj" fmla="val 19101"/>
            </a:avLst>
          </a:prstGeom>
          <a:solidFill>
            <a:srgbClr val="F0F4F9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2996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Local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69080" y="2057400"/>
            <a:ext cx="3886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laptop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0" y="205740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HTTP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2376" y="2843784"/>
            <a:ext cx="10735056" cy="813816"/>
          </a:xfrm>
          <a:prstGeom prst="roundRect">
            <a:avLst>
              <a:gd name="adj" fmla="val 19101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026664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Colab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69080" y="3054096"/>
            <a:ext cx="3886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Colab + ngrok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0" y="3054096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+ Basic Auth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2376" y="3840480"/>
            <a:ext cx="10735056" cy="813816"/>
          </a:xfrm>
          <a:prstGeom prst="roundRect">
            <a:avLst>
              <a:gd name="adj" fmla="val 19101"/>
            </a:avLst>
          </a:prstGeom>
          <a:solidFill>
            <a:srgbClr val="F0F4F9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023360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Groq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69080" y="4050792"/>
            <a:ext cx="3886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API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0" y="4050792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 (Bearer)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" y="4837176"/>
            <a:ext cx="10735056" cy="813816"/>
          </a:xfrm>
          <a:prstGeom prst="roundRect">
            <a:avLst>
              <a:gd name="adj" fmla="val 19101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5020056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SovereignEG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069080" y="5047488"/>
            <a:ext cx="3886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API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0" y="5047488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 (Bearer)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6053328"/>
            <a:ext cx="10917936" cy="548640"/>
          </a:xfrm>
          <a:prstGeom prst="roundRect">
            <a:avLst>
              <a:gd name="adj" fmla="val 28333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6172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Ticket System should not contain provider-specific authentication code.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03 /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the responsibilities again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principle applies outside ticket classification.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002536"/>
            <a:ext cx="3794760" cy="1078992"/>
          </a:xfrm>
          <a:prstGeom prst="roundRect">
            <a:avLst>
              <a:gd name="adj" fmla="val 14407"/>
            </a:avLst>
          </a:prstGeom>
          <a:solidFill>
            <a:srgbClr val="E7F0FF"/>
          </a:solidFill>
          <a:ln w="11430">
            <a:solidFill>
              <a:srgbClr val="E7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66544"/>
            <a:ext cx="35753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application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(models + services + routes)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2542032"/>
            <a:ext cx="630936" cy="0"/>
          </a:xfrm>
          <a:prstGeom prst="line">
            <a:avLst/>
          </a:prstGeom>
          <a:noFill/>
          <a:ln w="25400">
            <a:solidFill>
              <a:srgbClr val="0C9F9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85816" y="2002536"/>
            <a:ext cx="2569464" cy="1078992"/>
          </a:xfrm>
          <a:prstGeom prst="roundRect">
            <a:avLst>
              <a:gd name="adj" fmla="val 14407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5544" y="2066544"/>
            <a:ext cx="23500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LLMClient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(common interface)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10144" y="2542032"/>
            <a:ext cx="621792" cy="0"/>
          </a:xfrm>
          <a:prstGeom prst="line">
            <a:avLst/>
          </a:prstGeom>
          <a:noFill/>
          <a:ln w="25400">
            <a:solidFill>
              <a:srgbClr val="0C9F9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723376" y="2002536"/>
            <a:ext cx="2596896" cy="1078992"/>
          </a:xfrm>
          <a:prstGeom prst="roundRect">
            <a:avLst>
              <a:gd name="adj" fmla="val 14407"/>
            </a:avLst>
          </a:prstGeom>
          <a:solidFill>
            <a:srgbClr val="FFF2D9"/>
          </a:solidFill>
          <a:ln w="11430">
            <a:solidFill>
              <a:srgbClr val="FFF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33104" y="2066544"/>
            <a:ext cx="2377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(HTTP + auth)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2104" y="3840480"/>
            <a:ext cx="3328416" cy="1481328"/>
          </a:xfrm>
          <a:prstGeom prst="roundRect">
            <a:avLst>
              <a:gd name="adj" fmla="val 10494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" y="3840480"/>
            <a:ext cx="65837" cy="1481328"/>
          </a:xfrm>
          <a:prstGeom prst="rect">
            <a:avLst/>
          </a:prstGeom>
          <a:solidFill>
            <a:srgbClr val="3B71C6"/>
          </a:solidFill>
          <a:ln w="12700">
            <a:solidFill>
              <a:srgbClr val="3B71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402336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layer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42416" y="4498848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ticket data means and how to classify it.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416552" y="3840480"/>
            <a:ext cx="3319272" cy="1481328"/>
          </a:xfrm>
          <a:prstGeom prst="roundRect">
            <a:avLst>
              <a:gd name="adj" fmla="val 10494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16552" y="3840480"/>
            <a:ext cx="65837" cy="1481328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layer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626864" y="44988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application asks for a model response.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91856" y="3840480"/>
            <a:ext cx="3319272" cy="1481328"/>
          </a:xfrm>
          <a:prstGeom prst="roundRect">
            <a:avLst>
              <a:gd name="adj" fmla="val 10494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91856" y="3840480"/>
            <a:ext cx="65837" cy="1481328"/>
          </a:xfrm>
          <a:prstGeom prst="rect">
            <a:avLst/>
          </a:prstGeom>
          <a:solidFill>
            <a:srgbClr val="E8A335"/>
          </a:solidFill>
          <a:ln w="12700">
            <a:solidFill>
              <a:srgbClr val="E8A3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02168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layer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202168" y="44988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request goes and how it is authenticated.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03 /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new sec-03 package layout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Provider-specific communication stays inside llm/providers.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700784"/>
            <a:ext cx="10808208" cy="4517136"/>
          </a:xfrm>
          <a:prstGeom prst="roundRect">
            <a:avLst>
              <a:gd name="adj" fmla="val 3239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700784"/>
            <a:ext cx="68580" cy="4517136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56232"/>
            <a:ext cx="10351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" y="2231136"/>
            <a:ext cx="1028700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sec-03/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ticket_api/                 # Existing FastAPI ticket app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models.py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services.py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routes.py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main.py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llm/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config.py             # Choose / validate provider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client.py             # Unified LLMClient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providers/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ollama.py         # Local + Colab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groq.py           # Groq API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sovereign.py      # SovereignEG API</a:t>
            </a:r>
            <a:endParaRPr lang="en-US" sz="1474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74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.env.example</a:t>
            </a:r>
            <a:endParaRPr lang="en-US" sz="147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03 /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config.py — configuration, not communication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frozen dataclass captures the selected provider settings.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" y="1746504"/>
            <a:ext cx="7571232" cy="4443984"/>
          </a:xfrm>
          <a:prstGeom prst="roundRect">
            <a:avLst>
              <a:gd name="adj" fmla="val 3292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1746504"/>
            <a:ext cx="68580" cy="4443984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901952"/>
            <a:ext cx="711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/ CONFIG.PY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96696" y="2276856"/>
            <a:ext cx="7050024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@dataclass(frozen=True)</a:t>
            </a: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LLMConfig:</a:t>
            </a: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provider: str</a:t>
            </a: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str</a:t>
            </a: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</a:t>
            </a: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api_key: str | None = None</a:t>
            </a: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username: str | None = None</a:t>
            </a: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password: str | None = None</a:t>
            </a: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load_config() -&gt; LLMConfig:</a:t>
            </a: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provider = required_env('LLM_PROVIDER').lower()</a:t>
            </a: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Read only the variables required for that provider</a:t>
            </a:r>
            <a:endParaRPr lang="en-US" sz="15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557" dirty="0"/>
          </a:p>
        </p:txBody>
      </p:sp>
      <p:sp>
        <p:nvSpPr>
          <p:cNvPr id="13" name="Shape 11"/>
          <p:cNvSpPr/>
          <p:nvPr/>
        </p:nvSpPr>
        <p:spPr>
          <a:xfrm>
            <a:off x="8494776" y="1892808"/>
            <a:ext cx="2926080" cy="3749040"/>
          </a:xfrm>
          <a:prstGeom prst="roundRect">
            <a:avLst>
              <a:gd name="adj" fmla="val 531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94776" y="1892808"/>
            <a:ext cx="65837" cy="37490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05088" y="207568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contract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705088" y="2551176"/>
            <a:ext cx="2532888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one provider.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required values.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clearly when a key or password is missing.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03 /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the provider using .env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changes; application code stays the same.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673352"/>
            <a:ext cx="8375904" cy="4590288"/>
          </a:xfrm>
          <a:prstGeom prst="roundRect">
            <a:avLst>
              <a:gd name="adj" fmla="val 3187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673352"/>
            <a:ext cx="68580" cy="4590288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828800"/>
            <a:ext cx="7918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SEC-03 / .ENV.EXAMPLE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2203704"/>
            <a:ext cx="7854696" cy="3922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LLM_PROVIDER=ollama_colab</a:t>
            </a: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OLLAMA_LOCAL_URL=http://127.0.0.1:11434</a:t>
            </a: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OLLAMA_LOCAL_MODEL=qwen3.5:4b</a:t>
            </a: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OLLAMA_COLAB_URL=https://YOUR-TUNNEL.ngrok-free.dev</a:t>
            </a: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OLLAMA_COLAB_MODEL=gpt-oss:120b</a:t>
            </a: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OLLAMA_COLAB_USERNAME=colab</a:t>
            </a: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OLLAMA_COLAB_PASSWORD=</a:t>
            </a: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GROQ_API_KEY=</a:t>
            </a: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GROQ_MODEL=openai/gpt-oss-20b</a:t>
            </a: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SOVEREIGN_API_KEY=</a:t>
            </a:r>
            <a:endParaRPr lang="en-US" sz="140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SOVEREIGN_MODEL=gpt-oss-20b</a:t>
            </a:r>
            <a:endParaRPr lang="en-US" sz="1401" dirty="0"/>
          </a:p>
        </p:txBody>
      </p:sp>
      <p:sp>
        <p:nvSpPr>
          <p:cNvPr id="13" name="Shape 11"/>
          <p:cNvSpPr/>
          <p:nvPr/>
        </p:nvSpPr>
        <p:spPr>
          <a:xfrm>
            <a:off x="9253728" y="2121408"/>
            <a:ext cx="2304288" cy="3429000"/>
          </a:xfrm>
          <a:prstGeom prst="roundRect">
            <a:avLst>
              <a:gd name="adj" fmla="val 6746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53728" y="2121408"/>
            <a:ext cx="65837" cy="3429000"/>
          </a:xfrm>
          <a:prstGeom prst="rect">
            <a:avLst/>
          </a:prstGeom>
          <a:solidFill>
            <a:srgbClr val="3B71C6"/>
          </a:solidFill>
          <a:ln w="12700">
            <a:solidFill>
              <a:srgbClr val="3B71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4040" y="2304288"/>
            <a:ext cx="1911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changing only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464040" y="2779776"/>
            <a:ext cx="191109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LLM_PROVIDER=groq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LLM_PROVIDER=sovereign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03 /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OllamaProvider — same API, two locations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URL and the optional ngrok credentials differ.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1673352"/>
            <a:ext cx="10771632" cy="4599432"/>
          </a:xfrm>
          <a:prstGeom prst="roundRect">
            <a:avLst>
              <a:gd name="adj" fmla="val 3181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673352"/>
            <a:ext cx="68580" cy="4599432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1828800"/>
            <a:ext cx="10314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PROVIDERS / OLLAMA.PY — SELECTED LINES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2203704"/>
            <a:ext cx="102504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f"{config.base_url.rstrip('/')}/api/chat"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{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'model': config.model,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'messages': messages,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'stream': False,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'options': {'num_ctx': 8192},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tools is not None: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payload['tools'] = tools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config.provider == 'ollama_colab':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 = (config.username, config.password)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headers['ngrok-skip-browser-warning'] = 'true'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requests.post(url, json=payload,</a:t>
            </a:r>
            <a:endParaRPr lang="en-US" sz="1171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71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auth=auth, headers=headers, timeout=600)</a:t>
            </a:r>
            <a:endParaRPr lang="en-US" sz="117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03 /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Groq &amp; SovereignEG providers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follow the OpenAI-compatible chat response shape.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709928"/>
            <a:ext cx="8686800" cy="4553712"/>
          </a:xfrm>
          <a:prstGeom prst="roundRect">
            <a:avLst>
              <a:gd name="adj" fmla="val 3213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09928"/>
            <a:ext cx="68580" cy="4553712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8653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GROQ.PY / SOVEREIGN.PY — COMMON SHAPE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2240280"/>
            <a:ext cx="816559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providers use a similar request shape: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f"{config.base_url.rstrip('/')}/chat/completions"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{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'model': config.model,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'messages': messages,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'stream': False,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tools is not None: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payload['tools'] = tools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requests.post(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url, json=payload,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headers={'Authorization': f'Bearer {config.api_key}'},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timeout=120,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response.raise_for_status()</a:t>
            </a:r>
            <a:endParaRPr lang="en-US" sz="1157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7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response.json()['choices'][0]['message']</a:t>
            </a:r>
            <a:endParaRPr lang="en-US" sz="1157" dirty="0"/>
          </a:p>
        </p:txBody>
      </p:sp>
      <p:sp>
        <p:nvSpPr>
          <p:cNvPr id="13" name="Shape 11"/>
          <p:cNvSpPr/>
          <p:nvPr/>
        </p:nvSpPr>
        <p:spPr>
          <a:xfrm>
            <a:off x="9582912" y="2048256"/>
            <a:ext cx="1929384" cy="3081528"/>
          </a:xfrm>
          <a:prstGeom prst="roundRect">
            <a:avLst>
              <a:gd name="adj" fmla="val 8057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82912" y="2048256"/>
            <a:ext cx="65837" cy="3081528"/>
          </a:xfrm>
          <a:prstGeom prst="rect">
            <a:avLst/>
          </a:prstGeom>
          <a:solidFill>
            <a:srgbClr val="E8A335"/>
          </a:solidFill>
          <a:ln w="12700">
            <a:solidFill>
              <a:srgbClr val="E8A3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93224" y="2231136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 for next lab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793224" y="2706624"/>
            <a:ext cx="15361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can reduce this duplication.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today both provider classes remain separate.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03 /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LLMClient — one interface to call them all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client delegates to the selected provider.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1691640"/>
            <a:ext cx="10744200" cy="4572000"/>
          </a:xfrm>
          <a:prstGeom prst="roundRect">
            <a:avLst>
              <a:gd name="adj" fmla="val 3200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691640"/>
            <a:ext cx="68580" cy="457200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1847088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/ CLIENT.PY — ESSENTIAL FLOW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2221992"/>
            <a:ext cx="10222992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LLMClient: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self.config = load_config()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self.config.provider in ('ollama_local', 'ollama_colab'):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self.provider = OllamaProvider(self.config)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self.config.provider == 'groq':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self.provider = GroqProvider(self.config)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self.config.provider == 'sovereign':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self.provider = SovereignProvider(self.config)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NotImplementedError('Unsupported provider')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chat(self, messages: list[dict], tools=None):</a:t>
            </a:r>
            <a:endParaRPr lang="en-US" sz="149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95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self.provider.chat(messages=messages, tools=tools)</a:t>
            </a:r>
            <a:endParaRPr lang="en-US" sz="149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03 /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ticket-related prompt, any provider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LLM_PROVIDER in .env selects the target model service.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" y="1737360"/>
            <a:ext cx="8412480" cy="4498848"/>
          </a:xfrm>
          <a:prstGeom prst="roundRect">
            <a:avLst>
              <a:gd name="adj" fmla="val 3252"/>
            </a:avLst>
          </a:prstGeom>
          <a:solidFill>
            <a:srgbClr val="15263C"/>
          </a:solidFill>
          <a:ln w="11430">
            <a:solidFill>
              <a:srgbClr val="1526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1737360"/>
            <a:ext cx="68580" cy="4498848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8928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F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SAME PYTHON CALL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96696" y="2267712"/>
            <a:ext cx="7891272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llm.client import LLMClient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LLMClient()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client.chat([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'role': 'system',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'content': 'You are a helpful customer support assistant.'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'role': 'user',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'content': 'I cannot log into my account. Suggest a short reply.'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endParaRPr lang="en-US" sz="1369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69" dirty="0">
                <a:solidFill>
                  <a:srgbClr val="E9F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print(response['content'])</a:t>
            </a:r>
            <a:endParaRPr lang="en-US" sz="1369" dirty="0"/>
          </a:p>
        </p:txBody>
      </p:sp>
      <p:sp>
        <p:nvSpPr>
          <p:cNvPr id="13" name="Shape 11"/>
          <p:cNvSpPr/>
          <p:nvPr/>
        </p:nvSpPr>
        <p:spPr>
          <a:xfrm>
            <a:off x="9317736" y="2066544"/>
            <a:ext cx="2185416" cy="3429000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17736" y="2066544"/>
            <a:ext cx="65837" cy="342900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8048" y="2249424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in preparation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528048" y="2724912"/>
            <a:ext cx="179222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Colab — worked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Groq — worked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SovereignEG — worked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03 /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our real troubleshooting teach us?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integration failures are not model failures.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" y="1746504"/>
            <a:ext cx="10716768" cy="649224"/>
          </a:xfrm>
          <a:prstGeom prst="roundRect">
            <a:avLst>
              <a:gd name="adj" fmla="val 23944"/>
            </a:avLst>
          </a:prstGeom>
          <a:solidFill>
            <a:srgbClr val="F0F4F9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1109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install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85032" y="1901952"/>
            <a:ext cx="7534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zstd → install dependency before retrying.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664" y="2551176"/>
            <a:ext cx="10716768" cy="649224"/>
          </a:xfrm>
          <a:prstGeom prst="roundRect">
            <a:avLst>
              <a:gd name="adj" fmla="val 23944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71576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not visible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85032" y="2706624"/>
            <a:ext cx="7534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Colab GPU runtime; check nvidia-smi.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0664" y="3355848"/>
            <a:ext cx="10716768" cy="649224"/>
          </a:xfrm>
          <a:prstGeom prst="roundRect">
            <a:avLst>
              <a:gd name="adj" fmla="val 23944"/>
            </a:avLst>
          </a:prstGeom>
          <a:solidFill>
            <a:srgbClr val="F0F4F9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52044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Unauthorized: 401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85032" y="3511296"/>
            <a:ext cx="7534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ngrok Basic Auth is required; 401 can be expected.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0664" y="4160520"/>
            <a:ext cx="10716768" cy="649224"/>
          </a:xfrm>
          <a:prstGeom prst="roundRect">
            <a:avLst>
              <a:gd name="adj" fmla="val 23944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32511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failure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685032" y="4315968"/>
            <a:ext cx="7534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hostname resolving error happens before API authentication.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664" y="4965192"/>
            <a:ext cx="10716768" cy="649224"/>
          </a:xfrm>
          <a:prstGeom prst="roundRect">
            <a:avLst>
              <a:gd name="adj" fmla="val 23944"/>
            </a:avLst>
          </a:prstGeom>
          <a:solidFill>
            <a:srgbClr val="F0F4F9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51297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IPv4 vs IPv6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85032" y="5120640"/>
            <a:ext cx="7534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Temporary IPv4 tests helped isolate a local network issue.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6016752"/>
            <a:ext cx="10917936" cy="548640"/>
          </a:xfrm>
          <a:prstGeom prst="roundRect">
            <a:avLst>
              <a:gd name="adj" fmla="val 28333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613562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first. Do not hardcode IP addresses or secrets in course code.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03 /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foundations, ready to connect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deliberately kept ticket rules separate from LLM communication.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993392"/>
            <a:ext cx="2807208" cy="832104"/>
          </a:xfrm>
          <a:prstGeom prst="roundRect">
            <a:avLst>
              <a:gd name="adj" fmla="val 18681"/>
            </a:avLst>
          </a:prstGeom>
          <a:solidFill>
            <a:srgbClr val="E7F0FF"/>
          </a:solidFill>
          <a:ln w="11430">
            <a:solidFill>
              <a:srgbClr val="E7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57400"/>
            <a:ext cx="2587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API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476488" y="1993392"/>
            <a:ext cx="2898648" cy="832104"/>
          </a:xfrm>
          <a:prstGeom prst="roundRect">
            <a:avLst>
              <a:gd name="adj" fmla="val 18681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86216" y="2057400"/>
            <a:ext cx="2679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provider layer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3816" y="3136392"/>
            <a:ext cx="4864608" cy="758952"/>
          </a:xfrm>
          <a:prstGeom prst="roundRect">
            <a:avLst>
              <a:gd name="adj" fmla="val 20482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3200400"/>
            <a:ext cx="46451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models.py  •  services.py  •  routes.py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3136392"/>
            <a:ext cx="4892040" cy="758952"/>
          </a:xfrm>
          <a:prstGeom prst="roundRect">
            <a:avLst>
              <a:gd name="adj" fmla="val 20482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200400"/>
            <a:ext cx="4672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config.py  •  client.py  •  providers/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0" y="2139696"/>
            <a:ext cx="1554480" cy="530352"/>
          </a:xfrm>
          <a:prstGeom prst="roundRect">
            <a:avLst>
              <a:gd name="adj" fmla="val 29310"/>
            </a:avLst>
          </a:prstGeom>
          <a:solidFill>
            <a:srgbClr val="FFF2D9"/>
          </a:solidFill>
          <a:ln w="11430">
            <a:solidFill>
              <a:srgbClr val="FFF2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2249424"/>
            <a:ext cx="1307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LAB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12464" y="2395728"/>
            <a:ext cx="1481328" cy="0"/>
          </a:xfrm>
          <a:prstGeom prst="line">
            <a:avLst/>
          </a:prstGeom>
          <a:noFill/>
          <a:ln w="25400">
            <a:solidFill>
              <a:srgbClr val="E8A33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58584" y="2395728"/>
            <a:ext cx="1362456" cy="0"/>
          </a:xfrm>
          <a:prstGeom prst="line">
            <a:avLst/>
          </a:prstGeom>
          <a:noFill/>
          <a:ln w="25400">
            <a:solidFill>
              <a:srgbClr val="E8A33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0976" y="4599432"/>
            <a:ext cx="10268712" cy="1216152"/>
          </a:xfrm>
          <a:prstGeom prst="roundRect">
            <a:avLst>
              <a:gd name="adj" fmla="val 12782"/>
            </a:avLst>
          </a:prstGeom>
          <a:solidFill>
            <a:srgbClr val="FFFFFF"/>
          </a:solidFill>
          <a:ln w="11430">
            <a:solidFill>
              <a:srgbClr val="E3E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976" y="4599432"/>
            <a:ext cx="65837" cy="1216152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47823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ready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161288" y="5257800"/>
            <a:ext cx="9875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Ticket API  •  Colab reference  •  authenticated remote Ollama  •  multiple LLM providers  •  successful basic chat calls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9F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03 / CHECKPOINT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1208" y="58521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knowledge check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before closing the lab.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565392"/>
            <a:ext cx="11109960" cy="0"/>
          </a:xfrm>
          <a:prstGeom prst="line">
            <a:avLst/>
          </a:prstGeom>
          <a:noFill/>
          <a:ln w="10160">
            <a:solidFill>
              <a:srgbClr val="E3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415  /  LAB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18520" y="66019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" y="1755648"/>
            <a:ext cx="548640" cy="530352"/>
          </a:xfrm>
          <a:prstGeom prst="roundRect">
            <a:avLst>
              <a:gd name="adj" fmla="val 29310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819656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27048" y="1737360"/>
            <a:ext cx="9710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classify_ticket() in services.py?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6384" y="2560320"/>
            <a:ext cx="548640" cy="530352"/>
          </a:xfrm>
          <a:prstGeom prst="roundRect">
            <a:avLst>
              <a:gd name="adj" fmla="val 29310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624328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27048" y="2542032"/>
            <a:ext cx="9710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can’t our laptop call the Colab localhost address?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86384" y="3364992"/>
            <a:ext cx="548640" cy="530352"/>
          </a:xfrm>
          <a:prstGeom prst="roundRect">
            <a:avLst>
              <a:gd name="adj" fmla="val 29310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429000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27048" y="3346704"/>
            <a:ext cx="9710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when LLM_PROVIDER becomes groq?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86384" y="4169664"/>
            <a:ext cx="548640" cy="530352"/>
          </a:xfrm>
          <a:prstGeom prst="roundRect">
            <a:avLst>
              <a:gd name="adj" fmla="val 29310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233672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27048" y="4151376"/>
            <a:ext cx="9710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should ngrok passwords and API keys live?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86384" y="4974336"/>
            <a:ext cx="548640" cy="530352"/>
          </a:xfrm>
          <a:prstGeom prst="roundRect">
            <a:avLst>
              <a:gd name="adj" fmla="val 29310"/>
            </a:avLst>
          </a:prstGeom>
          <a:solidFill>
            <a:srgbClr val="DEF8F3"/>
          </a:solidFill>
          <a:ln w="11430">
            <a:solidFill>
              <a:srgbClr val="DEF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038344"/>
            <a:ext cx="329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27048" y="4956048"/>
            <a:ext cx="9710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a working LLM chat request mean we built an AI agent?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" y="795528"/>
            <a:ext cx="3657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150" kern="0" dirty="0">
                <a:solidFill>
                  <a:srgbClr val="7CE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LAB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95528" y="1353312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LLM calls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AI tools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832104" y="328269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4CA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intentionally postponed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05256" y="3995928"/>
            <a:ext cx="68580" cy="68580"/>
          </a:xfrm>
          <a:prstGeom prst="ellipse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3840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 repeated Groq / SovereignEG request code (DRY).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05256" y="4498848"/>
            <a:ext cx="68580" cy="68580"/>
          </a:xfrm>
          <a:prstGeom prst="ellipse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4343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a Ticket with an LLM (00_llm_only).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05256" y="5001768"/>
            <a:ext cx="68580" cy="68580"/>
          </a:xfrm>
          <a:prstGeom prst="ellipse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4846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a customer-support reply (01_streaming).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05256" y="5504688"/>
            <a:ext cx="68580" cy="68580"/>
          </a:xfrm>
          <a:prstGeom prst="ellipse">
            <a:avLst/>
          </a:prstGeom>
          <a:solidFill>
            <a:srgbClr val="0C9F94"/>
          </a:solidFill>
          <a:ln w="12700">
            <a:solidFill>
              <a:srgbClr val="0C9F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5349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the LLM request classify_ticket() as a tool (02_first_tool).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0392" y="618134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78DC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Ticket System continues.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415 — Lab 03: From Modular APIs to LLM Providers</dc:title>
  <dc:subject>Lab 03 – Modular Ticket API and multi-provider LLMs</dc:subject>
  <dc:creator>CS 415</dc:creator>
  <cp:lastModifiedBy>CS 415</cp:lastModifiedBy>
  <cp:revision>1</cp:revision>
  <dcterms:created xsi:type="dcterms:W3CDTF">2026-10-14T09:14:11Z</dcterms:created>
  <dcterms:modified xsi:type="dcterms:W3CDTF">2026-10-14T09:14:11Z</dcterms:modified>
</cp:coreProperties>
</file>