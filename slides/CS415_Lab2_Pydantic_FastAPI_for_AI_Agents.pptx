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students to Lab 2. Remind them that last week was not just about Python syntax; it was about writing small, typed, reusable functions. Today we turn those functions into structured contracts and then expose them as APIs. The main message is: a future agent tool is usually just a reliable function with a clear input schema, a clear output schema, and a way to call it from another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connect the course story. Week 1 gave us typed Python functions. Week 2 makes the data shape explicit with Pydantic and makes the function callable through HTTP with FastAPI. Tell students that we are not using LLMs today. That is intentional. If the tool is unreliable before the LLM arrives, the agent will only make the unreliability harder to debug.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these outcomes quickly. Emphasize that the goal is not to master all of Pydantic or FastAPI in one lab. The goal is to understand the pattern: define a contract, validate incoming data, execute deterministic logic, return structured output, and expose that logic as a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by praising what they already learned. Last week we made functions typed and documented. That was the right direction. Now point to the gap: the type hint tells the reader and the IDE that message should be a string, but if external JSON comes in with the wrong shape, Python will not protect us automatically. That is why we need Pydantic.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transition. Ask students: what do you expect greet(123) to do? Many will expect an error because of str. Then explain that Python type hints are mostly for readers, IDEs, and static checkers. When data comes from a web request or an LLM, we need runtime validation. That is what Pydantic gives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phrase data contract. A contract is not just storage. It says what fields are required, what types they must have, and which constraints they must satisfy. This is exactly what we need before exposing a function as a tool or API. It keeps the boundary between messy external input and clean internal logic.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live-code the first Pydantic model. Keep it simple. Do not introduce validators, config, inheritance, or advanced features yet. Students should understand that Ticket is an object with validated fields, and that urgent has a default value. Show dot access: ticket.message.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an invalid value and explain that Pydantic stops the data at the boundary. In agent systems, this is essential. If the agent sends bad arguments to a tool, we want a clean validation error, not a half-completed business operation.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Field with min_length only. Do not overcomplicate. The teaching point is that contracts can contain rules, not only field names. Mention that Field also improves generated API documentation in FastAPI.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Pydantic slide. Explain that input validation is only half the story. A tool should also return predictable structured output. Agents should not need to parse paragraphs if the result can be returned as JSON-like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the lesson clicks. Last week classify_ticket took a string and returned a string. Today it takes a Ticket model and returns a TicketResult model. Tell students: this is how we want tools to look. The model is the contract, and the function is the business logic.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serialization without spending too long. Most students need to understand that APIs send JSON. Pydantic models can be converted to dictionaries and JSON strings. This helps FastAPI receive and return data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transition to FastAPI. Do not start with code immediately. Start with the reason. A Python function on your laptop is not directly callable by another application. FastAPI lets us expose that function through HTTP. A future agent can call the endpoint as a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HTTP extremely light. Students only need GET, POST, and JSON body for this lab. Avoid detailed discussion of REST theory, authentication, headers, middleware, routing architecture, or async. Those can come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Live-code this from scratch. Make sure everyone sees uvicorn running and the browser response. Then open /docs and pause. This is a big moment: documentation appears because of type hints and Pydantic. It is not magic; it comes from the contracts we wrote.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central FastAPI slide. Show how little code is needed because we already did the hard part: defining the models and the function. The endpoint simply receives a Ticket and returns classify_ticket(ticket). Emphasize the chain at the bottom.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students use Swagger UI themselves. First send a valid request. Then send bad input. Let them see the validation error. This reinforces the message that Pydantic protects the boundary before the tool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we are deliberately keeping everything in one file. This makes the concept visible. In a real app, we would split models, routes, and services. Today, premature architecture would distract from the main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the main hands-on exercise. The students should build the same API, run it, test it, and then extend it. The extension can be simple: add shipping, refund, or account as categories. Keep the exercise achievable.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Offer this to students who finish early. It reinforces that structured output can grow over time. Also remind them not to add an LLM yet. The tool must be stable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Zoom back out. Tell students exactly why this lab matters. Later, the agent will not call a vague piece of code. It will call a tool with a schema. The LLM can be creative, but the tool boundary should be boring, typed, and reliable.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a review before students submit. It also corrects common conceptual mistakes: FastAPI is not the agent. Pydantic is not AI. These are infrastructure pieces that make future agents safe and callable.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session with these three sentences. Make students repeat the core chain: typed function, Pydantic contract, FastAPI service, future agent tool. Give the assignment: finish the Ticket Classifier API and be ready to explain one validation error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594360" y="6492240"/>
            <a:ext cx="11018520" cy="0"/>
          </a:xfrm>
          <a:prstGeom prst="line">
            <a:avLst/>
          </a:prstGeom>
          <a:noFill/>
          <a:ln w="12700">
            <a:solidFill>
              <a:srgbClr val="C7D2DE"/>
            </a:solidFill>
            <a:prstDash val="solid"/>
          </a:ln>
        </p:spPr>
      </p:sp>
      <p:sp>
        <p:nvSpPr>
          <p:cNvPr id="3" name="Text 1"/>
          <p:cNvSpPr/>
          <p:nvPr/>
        </p:nvSpPr>
        <p:spPr>
          <a:xfrm>
            <a:off x="658368" y="6547104"/>
            <a:ext cx="4389120" cy="146304"/>
          </a:xfrm>
          <a:prstGeom prst="rect">
            <a:avLst/>
          </a:prstGeom>
          <a:noFill/>
          <a:ln/>
        </p:spPr>
        <p:txBody>
          <a:bodyPr wrap="square" rtlCol="0" anchor="ctr"/>
          <a:lstStyle/>
          <a:p>
            <a:pPr indent="0" marL="0">
              <a:buNone/>
            </a:pPr>
            <a:r>
              <a:rPr lang="en-US" sz="780" dirty="0">
                <a:solidFill>
                  <a:srgbClr val="5B6B7A"/>
                </a:solidFill>
                <a:latin typeface="Aptos" pitchFamily="34" charset="0"/>
                <a:ea typeface="Aptos" pitchFamily="34" charset="-122"/>
                <a:cs typeface="Aptos" pitchFamily="34" charset="-120"/>
              </a:rPr>
              <a:t>CS415 · AI Agents Lab</a:t>
            </a:r>
            <a:endParaRPr lang="en-US" sz="780" dirty="0"/>
          </a:p>
        </p:txBody>
      </p:sp>
      <p:sp>
        <p:nvSpPr>
          <p:cNvPr id="4" name="Text 2"/>
          <p:cNvSpPr/>
          <p:nvPr/>
        </p:nvSpPr>
        <p:spPr>
          <a:xfrm>
            <a:off x="10744200" y="6547104"/>
            <a:ext cx="822960" cy="146304"/>
          </a:xfrm>
          <a:prstGeom prst="rect">
            <a:avLst/>
          </a:prstGeom>
          <a:noFill/>
          <a:ln/>
        </p:spPr>
        <p:txBody>
          <a:bodyPr wrap="square" rtlCol="0" anchor="ctr"/>
          <a:lstStyle/>
          <a:p>
            <a:pPr algn="r" indent="0" marL="0">
              <a:buNone/>
            </a:pPr>
            <a:r>
              <a:rPr lang="en-US" sz="780" dirty="0">
                <a:solidFill>
                  <a:srgbClr val="5B6B7A"/>
                </a:solidFill>
                <a:latin typeface="Aptos" pitchFamily="34" charset="0"/>
                <a:ea typeface="Aptos" pitchFamily="34" charset="-122"/>
                <a:cs typeface="Aptos" pitchFamily="34" charset="-120"/>
              </a:rPr>
              <a:t>Lab 2</a:t>
            </a:r>
            <a:endParaRPr lang="en-US" sz="780" dirty="0"/>
          </a:p>
        </p:txBody>
      </p:sp>
      <p:sp>
        <p:nvSpPr>
          <p:cNvPr id="25" name="Slide Number Placeholder 0"/>
          <p:cNvSpPr>
            <a:spLocks noGrp="1"/>
          </p:cNvSpPr>
          <p:nvPr>
            <p:ph type="sldNum" sz="quarter" idx="4294967295"/>
          </p:nvPr>
        </p:nvSpPr>
        <p:spPr>
          <a:xfrm>
            <a:off x="11612880" y="6547104"/>
            <a:ext cx="800000" cy="300000"/>
          </a:xfrm>
          <a:prstGeom prst="rect">
            <a:avLst/>
          </a:prstGeom>
          <a:extLst>
            <a:ext uri="{C572A759-6A51-4108-AA02-DFA0A04FC94B}">
              <ma14:wrappingTextBoxFlag xmlns:ma14="http://schemas.microsoft.com/office/mac/drawingml/2011/main" val="0"/>
            </a:ext>
          </a:extLst>
        </p:spPr>
        <p:txBody>
          <a:bodyPr/>
          <a:lstStyle>
            <a:lvl1pPr>
              <a:defRPr sz="780">
                <a:solidFill>
                  <a:srgbClr val="5B6B7A"/>
                </a:solidFill>
                <a:latin typeface="Aptos"/>
                <a:ea typeface="Aptos"/>
                <a:cs typeface="Aptos"/>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612880" y="6547104"/>
            <a:ext cx="800000" cy="300000"/>
          </a:xfrm>
          <a:prstGeom prst="rect">
            <a:avLst/>
          </a:prstGeom>
          <a:extLst>
            <a:ext uri="{C572A759-6A51-4108-AA02-DFA0A04FC94B}">
              <ma14:wrappingTextBoxFlag xmlns:ma14="http://schemas.microsoft.com/office/mac/drawingml/2011/main" val="0"/>
            </a:ext>
          </a:extLst>
        </p:spPr>
        <p:txBody>
          <a:bodyPr/>
          <a:lstStyle>
            <a:lvl1pPr>
              <a:defRPr sz="780">
                <a:solidFill>
                  <a:srgbClr val="5B6B7A"/>
                </a:solidFill>
                <a:latin typeface="Aptos"/>
                <a:ea typeface="Aptos"/>
                <a:cs typeface="Aptos"/>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3B5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23B52"/>
          </a:solidFill>
          <a:ln w="12700">
            <a:solidFill>
              <a:srgbClr val="123B52"/>
            </a:solidFill>
            <a:prstDash val="solid"/>
          </a:ln>
        </p:spPr>
      </p:sp>
      <p:sp>
        <p:nvSpPr>
          <p:cNvPr id="3" name="Text 1"/>
          <p:cNvSpPr/>
          <p:nvPr/>
        </p:nvSpPr>
        <p:spPr>
          <a:xfrm>
            <a:off x="731520" y="566928"/>
            <a:ext cx="5486400" cy="274320"/>
          </a:xfrm>
          <a:prstGeom prst="rect">
            <a:avLst/>
          </a:prstGeom>
          <a:noFill/>
          <a:ln/>
        </p:spPr>
        <p:txBody>
          <a:bodyPr wrap="square" lIns="0" tIns="0" rIns="0" bIns="0" rtlCol="0" anchor="ctr"/>
          <a:lstStyle/>
          <a:p>
            <a:pPr indent="0" marL="0">
              <a:buNone/>
            </a:pPr>
            <a:r>
              <a:rPr lang="en-US" sz="1200" b="1" dirty="0">
                <a:solidFill>
                  <a:srgbClr val="9FE6EF"/>
                </a:solidFill>
              </a:rPr>
              <a:t>CS415 AI Agents Lab</a:t>
            </a:r>
            <a:endParaRPr lang="en-US" sz="1200" dirty="0"/>
          </a:p>
        </p:txBody>
      </p:sp>
      <p:sp>
        <p:nvSpPr>
          <p:cNvPr id="4" name="Text 2"/>
          <p:cNvSpPr/>
          <p:nvPr/>
        </p:nvSpPr>
        <p:spPr>
          <a:xfrm>
            <a:off x="731520" y="1325880"/>
            <a:ext cx="2194560" cy="530352"/>
          </a:xfrm>
          <a:prstGeom prst="rect">
            <a:avLst/>
          </a:prstGeom>
          <a:noFill/>
          <a:ln/>
        </p:spPr>
        <p:txBody>
          <a:bodyPr wrap="square" lIns="0" tIns="0" rIns="0" bIns="0" rtlCol="0" anchor="ctr"/>
          <a:lstStyle/>
          <a:p>
            <a:pPr indent="0" marL="0">
              <a:buNone/>
            </a:pPr>
            <a:r>
              <a:rPr lang="en-US" sz="2800" b="1" dirty="0">
                <a:solidFill>
                  <a:srgbClr val="FFFFFF"/>
                </a:solidFill>
              </a:rPr>
              <a:t>Lab 2</a:t>
            </a:r>
            <a:endParaRPr lang="en-US" sz="2800" dirty="0"/>
          </a:p>
        </p:txBody>
      </p:sp>
      <p:sp>
        <p:nvSpPr>
          <p:cNvPr id="5" name="Text 3"/>
          <p:cNvSpPr/>
          <p:nvPr/>
        </p:nvSpPr>
        <p:spPr>
          <a:xfrm>
            <a:off x="731520" y="1965960"/>
            <a:ext cx="6858000" cy="1280160"/>
          </a:xfrm>
          <a:prstGeom prst="rect">
            <a:avLst/>
          </a:prstGeom>
          <a:noFill/>
          <a:ln/>
        </p:spPr>
        <p:txBody>
          <a:bodyPr wrap="square" lIns="0" tIns="0" rIns="0" bIns="0" rtlCol="0" anchor="ctr">
            <a:normAutofit/>
          </a:bodyPr>
          <a:lstStyle/>
          <a:p>
            <a:pPr indent="0" marL="0">
              <a:buNone/>
            </a:pPr>
            <a:r>
              <a:rPr lang="en-US" sz="3400" b="1" dirty="0">
                <a:solidFill>
                  <a:srgbClr val="FFFFFF"/>
                </a:solidFill>
              </a:rPr>
              <a:t>Structured Data &amp; APIs</a:t>
            </a:r>
            <a:endParaRPr lang="en-US" sz="3400" dirty="0"/>
          </a:p>
          <a:p>
            <a:pPr indent="0" marL="0">
              <a:buNone/>
            </a:pPr>
            <a:r>
              <a:rPr lang="en-US" sz="3400" b="1" dirty="0">
                <a:solidFill>
                  <a:srgbClr val="FFFFFF"/>
                </a:solidFill>
              </a:rPr>
              <a:t>for AI Agents</a:t>
            </a:r>
            <a:endParaRPr lang="en-US" sz="3400" dirty="0"/>
          </a:p>
        </p:txBody>
      </p:sp>
      <p:sp>
        <p:nvSpPr>
          <p:cNvPr id="6" name="Shape 4"/>
          <p:cNvSpPr/>
          <p:nvPr/>
        </p:nvSpPr>
        <p:spPr>
          <a:xfrm>
            <a:off x="749808" y="3493008"/>
            <a:ext cx="4206240" cy="0"/>
          </a:xfrm>
          <a:prstGeom prst="line">
            <a:avLst/>
          </a:prstGeom>
          <a:noFill/>
          <a:ln w="38100">
            <a:solidFill>
              <a:srgbClr val="18A7B5"/>
            </a:solidFill>
            <a:prstDash val="solid"/>
          </a:ln>
        </p:spPr>
      </p:sp>
      <p:sp>
        <p:nvSpPr>
          <p:cNvPr id="7" name="Text 5"/>
          <p:cNvSpPr/>
          <p:nvPr/>
        </p:nvSpPr>
        <p:spPr>
          <a:xfrm>
            <a:off x="749808" y="3730752"/>
            <a:ext cx="6949440" cy="475488"/>
          </a:xfrm>
          <a:prstGeom prst="rect">
            <a:avLst/>
          </a:prstGeom>
          <a:noFill/>
          <a:ln/>
        </p:spPr>
        <p:txBody>
          <a:bodyPr wrap="square" lIns="0" tIns="0" rIns="0" bIns="0" rtlCol="0" anchor="ctr"/>
          <a:lstStyle/>
          <a:p>
            <a:pPr indent="0" marL="0">
              <a:buNone/>
            </a:pPr>
            <a:r>
              <a:rPr lang="en-US" sz="1700" dirty="0">
                <a:solidFill>
                  <a:srgbClr val="DDEEF2"/>
                </a:solidFill>
              </a:rPr>
              <a:t>Pydantic + FastAPI as the bridge from typed Python functions to agent tools.</a:t>
            </a:r>
            <a:endParaRPr lang="en-US" sz="1700" dirty="0"/>
          </a:p>
        </p:txBody>
      </p:sp>
      <p:sp>
        <p:nvSpPr>
          <p:cNvPr id="8" name="Shape 6"/>
          <p:cNvSpPr/>
          <p:nvPr/>
        </p:nvSpPr>
        <p:spPr>
          <a:xfrm>
            <a:off x="3122676" y="5221224"/>
            <a:ext cx="182880" cy="0"/>
          </a:xfrm>
          <a:prstGeom prst="line">
            <a:avLst/>
          </a:prstGeom>
          <a:noFill/>
          <a:ln w="20320">
            <a:solidFill>
              <a:srgbClr val="18A7B5"/>
            </a:solidFill>
            <a:prstDash val="solid"/>
            <a:tailEnd type="triangle"/>
          </a:ln>
        </p:spPr>
      </p:sp>
      <p:sp>
        <p:nvSpPr>
          <p:cNvPr id="9" name="Shape 7"/>
          <p:cNvSpPr/>
          <p:nvPr/>
        </p:nvSpPr>
        <p:spPr>
          <a:xfrm>
            <a:off x="5678424" y="5221224"/>
            <a:ext cx="182880" cy="0"/>
          </a:xfrm>
          <a:prstGeom prst="line">
            <a:avLst/>
          </a:prstGeom>
          <a:noFill/>
          <a:ln w="20320">
            <a:solidFill>
              <a:srgbClr val="18A7B5"/>
            </a:solidFill>
            <a:prstDash val="solid"/>
            <a:tailEnd type="triangle"/>
          </a:ln>
        </p:spPr>
      </p:sp>
      <p:sp>
        <p:nvSpPr>
          <p:cNvPr id="10" name="Shape 8"/>
          <p:cNvSpPr/>
          <p:nvPr/>
        </p:nvSpPr>
        <p:spPr>
          <a:xfrm>
            <a:off x="8234172" y="5221224"/>
            <a:ext cx="182880" cy="0"/>
          </a:xfrm>
          <a:prstGeom prst="line">
            <a:avLst/>
          </a:prstGeom>
          <a:noFill/>
          <a:ln w="20320">
            <a:solidFill>
              <a:srgbClr val="18A7B5"/>
            </a:solidFill>
            <a:prstDash val="solid"/>
            <a:tailEnd type="triangle"/>
          </a:ln>
        </p:spPr>
      </p:sp>
      <p:sp>
        <p:nvSpPr>
          <p:cNvPr id="11" name="Shape 9"/>
          <p:cNvSpPr/>
          <p:nvPr/>
        </p:nvSpPr>
        <p:spPr>
          <a:xfrm>
            <a:off x="786384" y="4892040"/>
            <a:ext cx="2299716" cy="658368"/>
          </a:xfrm>
          <a:prstGeom prst="roundRect">
            <a:avLst>
              <a:gd name="adj" fmla="val 11111"/>
            </a:avLst>
          </a:prstGeom>
          <a:solidFill>
            <a:srgbClr val="FFFFFF"/>
          </a:solidFill>
          <a:ln w="13970">
            <a:solidFill>
              <a:srgbClr val="68B7C4"/>
            </a:solidFill>
            <a:prstDash val="solid"/>
          </a:ln>
        </p:spPr>
      </p:sp>
      <p:sp>
        <p:nvSpPr>
          <p:cNvPr id="12" name="Text 10"/>
          <p:cNvSpPr/>
          <p:nvPr/>
        </p:nvSpPr>
        <p:spPr>
          <a:xfrm>
            <a:off x="877824" y="5056632"/>
            <a:ext cx="2116836" cy="292608"/>
          </a:xfrm>
          <a:prstGeom prst="rect">
            <a:avLst/>
          </a:prstGeom>
          <a:noFill/>
          <a:ln/>
        </p:spPr>
        <p:txBody>
          <a:bodyPr wrap="square" lIns="0" tIns="0" rIns="0" bIns="0" rtlCol="0" anchor="ctr">
            <a:normAutofit/>
          </a:bodyPr>
          <a:lstStyle/>
          <a:p>
            <a:pPr algn="ctr" indent="0" marL="0">
              <a:buNone/>
            </a:pPr>
            <a:r>
              <a:rPr lang="en-US" sz="1250" b="1" dirty="0">
                <a:solidFill>
                  <a:srgbClr val="123B52"/>
                </a:solidFill>
              </a:rPr>
              <a:t>Typed</a:t>
            </a:r>
            <a:endParaRPr lang="en-US" sz="1250" dirty="0"/>
          </a:p>
          <a:p>
            <a:pPr algn="ctr" indent="0" marL="0">
              <a:buNone/>
            </a:pPr>
            <a:r>
              <a:rPr lang="en-US" sz="1250" b="1" dirty="0">
                <a:solidFill>
                  <a:srgbClr val="123B52"/>
                </a:solidFill>
              </a:rPr>
              <a:t>Function</a:t>
            </a:r>
            <a:endParaRPr lang="en-US" sz="1250" dirty="0"/>
          </a:p>
        </p:txBody>
      </p:sp>
      <p:sp>
        <p:nvSpPr>
          <p:cNvPr id="13" name="Shape 11"/>
          <p:cNvSpPr/>
          <p:nvPr/>
        </p:nvSpPr>
        <p:spPr>
          <a:xfrm>
            <a:off x="3342132" y="4892040"/>
            <a:ext cx="2299716" cy="658368"/>
          </a:xfrm>
          <a:prstGeom prst="roundRect">
            <a:avLst>
              <a:gd name="adj" fmla="val 11111"/>
            </a:avLst>
          </a:prstGeom>
          <a:solidFill>
            <a:srgbClr val="FFFFFF"/>
          </a:solidFill>
          <a:ln w="13970">
            <a:solidFill>
              <a:srgbClr val="68B7C4"/>
            </a:solidFill>
            <a:prstDash val="solid"/>
          </a:ln>
        </p:spPr>
      </p:sp>
      <p:sp>
        <p:nvSpPr>
          <p:cNvPr id="14" name="Text 12"/>
          <p:cNvSpPr/>
          <p:nvPr/>
        </p:nvSpPr>
        <p:spPr>
          <a:xfrm>
            <a:off x="3433572" y="5056632"/>
            <a:ext cx="2116836" cy="292608"/>
          </a:xfrm>
          <a:prstGeom prst="rect">
            <a:avLst/>
          </a:prstGeom>
          <a:noFill/>
          <a:ln/>
        </p:spPr>
        <p:txBody>
          <a:bodyPr wrap="square" lIns="0" tIns="0" rIns="0" bIns="0" rtlCol="0" anchor="ctr">
            <a:normAutofit/>
          </a:bodyPr>
          <a:lstStyle/>
          <a:p>
            <a:pPr algn="ctr" indent="0" marL="0">
              <a:buNone/>
            </a:pPr>
            <a:r>
              <a:rPr lang="en-US" sz="1250" b="1" dirty="0">
                <a:solidFill>
                  <a:srgbClr val="123B52"/>
                </a:solidFill>
              </a:rPr>
              <a:t>Pydantic</a:t>
            </a:r>
            <a:endParaRPr lang="en-US" sz="1250" dirty="0"/>
          </a:p>
          <a:p>
            <a:pPr algn="ctr" indent="0" marL="0">
              <a:buNone/>
            </a:pPr>
            <a:r>
              <a:rPr lang="en-US" sz="1250" b="1" dirty="0">
                <a:solidFill>
                  <a:srgbClr val="123B52"/>
                </a:solidFill>
              </a:rPr>
              <a:t>Contract</a:t>
            </a:r>
            <a:endParaRPr lang="en-US" sz="1250" dirty="0"/>
          </a:p>
        </p:txBody>
      </p:sp>
      <p:sp>
        <p:nvSpPr>
          <p:cNvPr id="15" name="Shape 13"/>
          <p:cNvSpPr/>
          <p:nvPr/>
        </p:nvSpPr>
        <p:spPr>
          <a:xfrm>
            <a:off x="5897880" y="4892040"/>
            <a:ext cx="2299716" cy="658368"/>
          </a:xfrm>
          <a:prstGeom prst="roundRect">
            <a:avLst>
              <a:gd name="adj" fmla="val 11111"/>
            </a:avLst>
          </a:prstGeom>
          <a:solidFill>
            <a:srgbClr val="FFFFFF"/>
          </a:solidFill>
          <a:ln w="13970">
            <a:solidFill>
              <a:srgbClr val="68B7C4"/>
            </a:solidFill>
            <a:prstDash val="solid"/>
          </a:ln>
        </p:spPr>
      </p:sp>
      <p:sp>
        <p:nvSpPr>
          <p:cNvPr id="16" name="Text 14"/>
          <p:cNvSpPr/>
          <p:nvPr/>
        </p:nvSpPr>
        <p:spPr>
          <a:xfrm>
            <a:off x="5989320" y="5056632"/>
            <a:ext cx="2116836" cy="292608"/>
          </a:xfrm>
          <a:prstGeom prst="rect">
            <a:avLst/>
          </a:prstGeom>
          <a:noFill/>
          <a:ln/>
        </p:spPr>
        <p:txBody>
          <a:bodyPr wrap="square" lIns="0" tIns="0" rIns="0" bIns="0" rtlCol="0" anchor="ctr">
            <a:normAutofit/>
          </a:bodyPr>
          <a:lstStyle/>
          <a:p>
            <a:pPr algn="ctr" indent="0" marL="0">
              <a:buNone/>
            </a:pPr>
            <a:r>
              <a:rPr lang="en-US" sz="1250" b="1" dirty="0">
                <a:solidFill>
                  <a:srgbClr val="123B52"/>
                </a:solidFill>
              </a:rPr>
              <a:t>FastAPI</a:t>
            </a:r>
            <a:endParaRPr lang="en-US" sz="1250" dirty="0"/>
          </a:p>
          <a:p>
            <a:pPr algn="ctr" indent="0" marL="0">
              <a:buNone/>
            </a:pPr>
            <a:r>
              <a:rPr lang="en-US" sz="1250" b="1" dirty="0">
                <a:solidFill>
                  <a:srgbClr val="123B52"/>
                </a:solidFill>
              </a:rPr>
              <a:t>Service</a:t>
            </a:r>
            <a:endParaRPr lang="en-US" sz="1250" dirty="0"/>
          </a:p>
        </p:txBody>
      </p:sp>
      <p:sp>
        <p:nvSpPr>
          <p:cNvPr id="17" name="Shape 15"/>
          <p:cNvSpPr/>
          <p:nvPr/>
        </p:nvSpPr>
        <p:spPr>
          <a:xfrm>
            <a:off x="8453628" y="4892040"/>
            <a:ext cx="2299716" cy="658368"/>
          </a:xfrm>
          <a:prstGeom prst="roundRect">
            <a:avLst>
              <a:gd name="adj" fmla="val 11111"/>
            </a:avLst>
          </a:prstGeom>
          <a:solidFill>
            <a:srgbClr val="18A7B5"/>
          </a:solidFill>
          <a:ln w="13970">
            <a:solidFill>
              <a:srgbClr val="68B7C4"/>
            </a:solidFill>
            <a:prstDash val="solid"/>
          </a:ln>
        </p:spPr>
      </p:sp>
      <p:sp>
        <p:nvSpPr>
          <p:cNvPr id="18" name="Text 16"/>
          <p:cNvSpPr/>
          <p:nvPr/>
        </p:nvSpPr>
        <p:spPr>
          <a:xfrm>
            <a:off x="8545068" y="5056632"/>
            <a:ext cx="2116836" cy="292608"/>
          </a:xfrm>
          <a:prstGeom prst="rect">
            <a:avLst/>
          </a:prstGeom>
          <a:noFill/>
          <a:ln/>
        </p:spPr>
        <p:txBody>
          <a:bodyPr wrap="square" lIns="0" tIns="0" rIns="0" bIns="0" rtlCol="0" anchor="ctr">
            <a:normAutofit/>
          </a:bodyPr>
          <a:lstStyle/>
          <a:p>
            <a:pPr algn="ctr" indent="0" marL="0">
              <a:buNone/>
            </a:pPr>
            <a:r>
              <a:rPr lang="en-US" sz="1250" b="1" dirty="0">
                <a:solidFill>
                  <a:srgbClr val="FFFFFF"/>
                </a:solidFill>
              </a:rPr>
              <a:t>Agent</a:t>
            </a:r>
            <a:endParaRPr lang="en-US" sz="1250" dirty="0"/>
          </a:p>
          <a:p>
            <a:pPr algn="ctr" indent="0" marL="0">
              <a:buNone/>
            </a:pPr>
            <a:r>
              <a:rPr lang="en-US" sz="1250" b="1" dirty="0">
                <a:solidFill>
                  <a:srgbClr val="FFFFFF"/>
                </a:solidFill>
              </a:rPr>
              <a:t>Tool</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AFC"/>
        </a:solidFill>
      </p:bgPr>
    </p:bg>
    <p:spTree>
      <p:nvGrpSpPr>
        <p:cNvPr id="1" name=""/>
        <p:cNvGrpSpPr/>
        <p:nvPr/>
      </p:nvGrpSpPr>
      <p:grpSpPr>
        <a:xfrm>
          <a:off x="0" y="0"/>
          <a:ext cx="0" cy="0"/>
          <a:chOff x="0" y="0"/>
          <a:chExt cx="0" cy="0"/>
        </a:xfrm>
      </p:grpSpPr>
      <p:sp>
        <p:nvSpPr>
          <p:cNvPr id="2" name="Text 0"/>
          <p:cNvSpPr/>
          <p:nvPr/>
        </p:nvSpPr>
        <p:spPr>
          <a:xfrm>
            <a:off x="658368" y="384048"/>
            <a:ext cx="5943600" cy="219456"/>
          </a:xfrm>
          <a:prstGeom prst="rect">
            <a:avLst/>
          </a:prstGeom>
          <a:noFill/>
          <a:ln/>
        </p:spPr>
        <p:txBody>
          <a:bodyPr wrap="square" lIns="0" tIns="0" rIns="0" bIns="0" rtlCol="0" anchor="ctr"/>
          <a:lstStyle/>
          <a:p>
            <a:pPr indent="0" marL="0">
              <a:buNone/>
            </a:pPr>
            <a:r>
              <a:rPr lang="en-US" sz="950" b="1" dirty="0">
                <a:solidFill>
                  <a:srgbClr val="18A7B5"/>
                </a:solidFill>
              </a:rPr>
              <a:t>8-WEEK BUILD PATH</a:t>
            </a:r>
            <a:endParaRPr lang="en-US" sz="950" dirty="0"/>
          </a:p>
        </p:txBody>
      </p:sp>
      <p:sp>
        <p:nvSpPr>
          <p:cNvPr id="3" name="Text 1"/>
          <p:cNvSpPr/>
          <p:nvPr/>
        </p:nvSpPr>
        <p:spPr>
          <a:xfrm>
            <a:off x="658368" y="658368"/>
            <a:ext cx="10698480" cy="475488"/>
          </a:xfrm>
          <a:prstGeom prst="rect">
            <a:avLst/>
          </a:prstGeom>
          <a:noFill/>
          <a:ln/>
        </p:spPr>
        <p:txBody>
          <a:bodyPr wrap="square" lIns="0" tIns="0" rIns="0" bIns="0" rtlCol="0" anchor="ctr">
            <a:normAutofit/>
          </a:bodyPr>
          <a:lstStyle/>
          <a:p>
            <a:pPr indent="0" marL="0">
              <a:buNone/>
            </a:pPr>
            <a:r>
              <a:rPr lang="en-US" sz="2700" b="1" dirty="0">
                <a:solidFill>
                  <a:srgbClr val="123B52"/>
                </a:solidFill>
              </a:rPr>
              <a:t>Where This Lab Fits</a:t>
            </a:r>
            <a:endParaRPr lang="en-US" sz="2700" dirty="0"/>
          </a:p>
        </p:txBody>
      </p:sp>
      <p:sp>
        <p:nvSpPr>
          <p:cNvPr id="4" name="Text 2"/>
          <p:cNvSpPr/>
          <p:nvPr/>
        </p:nvSpPr>
        <p:spPr>
          <a:xfrm>
            <a:off x="658368" y="1143000"/>
            <a:ext cx="9144000" cy="292608"/>
          </a:xfrm>
          <a:prstGeom prst="rect">
            <a:avLst/>
          </a:prstGeom>
          <a:noFill/>
          <a:ln/>
        </p:spPr>
        <p:txBody>
          <a:bodyPr wrap="square" lIns="0" tIns="0" rIns="0" bIns="0" rtlCol="0" anchor="ctr"/>
          <a:lstStyle/>
          <a:p>
            <a:pPr indent="0" marL="0">
              <a:buNone/>
            </a:pPr>
            <a:r>
              <a:rPr lang="en-US" sz="1550" dirty="0">
                <a:solidFill>
                  <a:srgbClr val="5B6B7A"/>
                </a:solidFill>
              </a:rPr>
              <a:t>We are still building one system, one layer at a time.</a:t>
            </a:r>
            <a:endParaRPr lang="en-US" sz="1550" dirty="0"/>
          </a:p>
        </p:txBody>
      </p:sp>
      <p:sp>
        <p:nvSpPr>
          <p:cNvPr id="5" name="Shape 3"/>
          <p:cNvSpPr/>
          <p:nvPr/>
        </p:nvSpPr>
        <p:spPr>
          <a:xfrm>
            <a:off x="731520" y="1965960"/>
            <a:ext cx="1215009" cy="2148840"/>
          </a:xfrm>
          <a:prstGeom prst="roundRect">
            <a:avLst>
              <a:gd name="adj" fmla="val 6021"/>
            </a:avLst>
          </a:prstGeom>
          <a:solidFill>
            <a:srgbClr val="FFFFFF"/>
          </a:solidFill>
          <a:ln w="12700">
            <a:solidFill>
              <a:srgbClr val="D8E1E8"/>
            </a:solidFill>
            <a:prstDash val="solid"/>
          </a:ln>
        </p:spPr>
      </p:sp>
      <p:sp>
        <p:nvSpPr>
          <p:cNvPr id="6" name="Text 4"/>
          <p:cNvSpPr/>
          <p:nvPr/>
        </p:nvSpPr>
        <p:spPr>
          <a:xfrm>
            <a:off x="804672" y="2112264"/>
            <a:ext cx="1068705" cy="210312"/>
          </a:xfrm>
          <a:prstGeom prst="rect">
            <a:avLst/>
          </a:prstGeom>
          <a:noFill/>
          <a:ln/>
        </p:spPr>
        <p:txBody>
          <a:bodyPr wrap="square" lIns="0" tIns="0" rIns="0" bIns="0" rtlCol="0" anchor="ctr"/>
          <a:lstStyle/>
          <a:p>
            <a:pPr algn="ctr" indent="0" marL="0">
              <a:buNone/>
            </a:pPr>
            <a:r>
              <a:rPr lang="en-US" sz="780" b="1" dirty="0">
                <a:solidFill>
                  <a:srgbClr val="2D9D78"/>
                </a:solidFill>
              </a:rPr>
              <a:t>WEEK 1</a:t>
            </a:r>
            <a:endParaRPr lang="en-US" sz="780" dirty="0"/>
          </a:p>
        </p:txBody>
      </p:sp>
      <p:sp>
        <p:nvSpPr>
          <p:cNvPr id="7" name="Text 5"/>
          <p:cNvSpPr/>
          <p:nvPr/>
        </p:nvSpPr>
        <p:spPr>
          <a:xfrm>
            <a:off x="841248" y="2651760"/>
            <a:ext cx="995553" cy="658368"/>
          </a:xfrm>
          <a:prstGeom prst="rect">
            <a:avLst/>
          </a:prstGeom>
          <a:noFill/>
          <a:ln/>
        </p:spPr>
        <p:txBody>
          <a:bodyPr wrap="square" lIns="0" tIns="0" rIns="0" bIns="0" rtlCol="0" anchor="ctr">
            <a:normAutofit/>
          </a:bodyPr>
          <a:lstStyle/>
          <a:p>
            <a:pPr algn="ctr" indent="0" marL="0">
              <a:buNone/>
            </a:pPr>
            <a:r>
              <a:rPr lang="en-US" sz="1230" b="1" dirty="0">
                <a:solidFill>
                  <a:srgbClr val="123B52"/>
                </a:solidFill>
              </a:rPr>
              <a:t>Python</a:t>
            </a:r>
            <a:endParaRPr lang="en-US" sz="1230" dirty="0"/>
          </a:p>
          <a:p>
            <a:pPr algn="ctr" indent="0" marL="0">
              <a:buNone/>
            </a:pPr>
            <a:r>
              <a:rPr lang="en-US" sz="1230" b="1" dirty="0">
                <a:solidFill>
                  <a:srgbClr val="123B52"/>
                </a:solidFill>
              </a:rPr>
              <a:t>Fundamentals</a:t>
            </a:r>
            <a:endParaRPr lang="en-US" sz="1230" dirty="0"/>
          </a:p>
        </p:txBody>
      </p:sp>
      <p:sp>
        <p:nvSpPr>
          <p:cNvPr id="8" name="Shape 6"/>
          <p:cNvSpPr/>
          <p:nvPr/>
        </p:nvSpPr>
        <p:spPr>
          <a:xfrm>
            <a:off x="2092833" y="1965960"/>
            <a:ext cx="1215009" cy="2148840"/>
          </a:xfrm>
          <a:prstGeom prst="roundRect">
            <a:avLst>
              <a:gd name="adj" fmla="val 6021"/>
            </a:avLst>
          </a:prstGeom>
          <a:solidFill>
            <a:srgbClr val="E8F8FA"/>
          </a:solidFill>
          <a:ln w="25400">
            <a:solidFill>
              <a:srgbClr val="18A7B5"/>
            </a:solidFill>
            <a:prstDash val="solid"/>
          </a:ln>
        </p:spPr>
      </p:sp>
      <p:sp>
        <p:nvSpPr>
          <p:cNvPr id="9" name="Text 7"/>
          <p:cNvSpPr/>
          <p:nvPr/>
        </p:nvSpPr>
        <p:spPr>
          <a:xfrm>
            <a:off x="2165985" y="2112264"/>
            <a:ext cx="1068705" cy="210312"/>
          </a:xfrm>
          <a:prstGeom prst="rect">
            <a:avLst/>
          </a:prstGeom>
          <a:noFill/>
          <a:ln/>
        </p:spPr>
        <p:txBody>
          <a:bodyPr wrap="square" lIns="0" tIns="0" rIns="0" bIns="0" rtlCol="0" anchor="ctr"/>
          <a:lstStyle/>
          <a:p>
            <a:pPr algn="ctr" indent="0" marL="0">
              <a:buNone/>
            </a:pPr>
            <a:r>
              <a:rPr lang="en-US" sz="780" b="1" dirty="0">
                <a:solidFill>
                  <a:srgbClr val="18A7B5"/>
                </a:solidFill>
              </a:rPr>
              <a:t>WEEK 2</a:t>
            </a:r>
            <a:endParaRPr lang="en-US" sz="780" dirty="0"/>
          </a:p>
        </p:txBody>
      </p:sp>
      <p:sp>
        <p:nvSpPr>
          <p:cNvPr id="10" name="Text 8"/>
          <p:cNvSpPr/>
          <p:nvPr/>
        </p:nvSpPr>
        <p:spPr>
          <a:xfrm>
            <a:off x="2202561" y="2651760"/>
            <a:ext cx="995553" cy="658368"/>
          </a:xfrm>
          <a:prstGeom prst="rect">
            <a:avLst/>
          </a:prstGeom>
          <a:noFill/>
          <a:ln/>
        </p:spPr>
        <p:txBody>
          <a:bodyPr wrap="square" lIns="0" tIns="0" rIns="0" bIns="0" rtlCol="0" anchor="ctr">
            <a:normAutofit/>
          </a:bodyPr>
          <a:lstStyle/>
          <a:p>
            <a:pPr algn="ctr" indent="0" marL="0">
              <a:buNone/>
            </a:pPr>
            <a:r>
              <a:rPr lang="en-US" sz="1230" b="1" dirty="0">
                <a:solidFill>
                  <a:srgbClr val="123B52"/>
                </a:solidFill>
              </a:rPr>
              <a:t>Pydantic</a:t>
            </a:r>
            <a:endParaRPr lang="en-US" sz="1230" dirty="0"/>
          </a:p>
          <a:p>
            <a:pPr algn="ctr" indent="0" marL="0">
              <a:buNone/>
            </a:pPr>
            <a:r>
              <a:rPr lang="en-US" sz="1230" b="1" dirty="0">
                <a:solidFill>
                  <a:srgbClr val="123B52"/>
                </a:solidFill>
              </a:rPr>
              <a:t>+ FastAPI</a:t>
            </a:r>
            <a:endParaRPr lang="en-US" sz="1230" dirty="0"/>
          </a:p>
        </p:txBody>
      </p:sp>
      <p:sp>
        <p:nvSpPr>
          <p:cNvPr id="11" name="Shape 9"/>
          <p:cNvSpPr/>
          <p:nvPr/>
        </p:nvSpPr>
        <p:spPr>
          <a:xfrm>
            <a:off x="3454146" y="1965960"/>
            <a:ext cx="1215009" cy="2148840"/>
          </a:xfrm>
          <a:prstGeom prst="roundRect">
            <a:avLst>
              <a:gd name="adj" fmla="val 6021"/>
            </a:avLst>
          </a:prstGeom>
          <a:solidFill>
            <a:srgbClr val="FFFFFF"/>
          </a:solidFill>
          <a:ln w="12700">
            <a:solidFill>
              <a:srgbClr val="D8E1E8"/>
            </a:solidFill>
            <a:prstDash val="solid"/>
          </a:ln>
        </p:spPr>
      </p:sp>
      <p:sp>
        <p:nvSpPr>
          <p:cNvPr id="12" name="Text 10"/>
          <p:cNvSpPr/>
          <p:nvPr/>
        </p:nvSpPr>
        <p:spPr>
          <a:xfrm>
            <a:off x="3527298" y="2112264"/>
            <a:ext cx="1068705" cy="210312"/>
          </a:xfrm>
          <a:prstGeom prst="rect">
            <a:avLst/>
          </a:prstGeom>
          <a:noFill/>
          <a:ln/>
        </p:spPr>
        <p:txBody>
          <a:bodyPr wrap="square" lIns="0" tIns="0" rIns="0" bIns="0" rtlCol="0" anchor="ctr"/>
          <a:lstStyle/>
          <a:p>
            <a:pPr algn="ctr" indent="0" marL="0">
              <a:buNone/>
            </a:pPr>
            <a:r>
              <a:rPr lang="en-US" sz="780" b="1" dirty="0">
                <a:solidFill>
                  <a:srgbClr val="0B5C7A"/>
                </a:solidFill>
              </a:rPr>
              <a:t>WEEK 3</a:t>
            </a:r>
            <a:endParaRPr lang="en-US" sz="780" dirty="0"/>
          </a:p>
        </p:txBody>
      </p:sp>
      <p:sp>
        <p:nvSpPr>
          <p:cNvPr id="13" name="Text 11"/>
          <p:cNvSpPr/>
          <p:nvPr/>
        </p:nvSpPr>
        <p:spPr>
          <a:xfrm>
            <a:off x="3563874" y="2651760"/>
            <a:ext cx="995553" cy="658368"/>
          </a:xfrm>
          <a:prstGeom prst="rect">
            <a:avLst/>
          </a:prstGeom>
          <a:noFill/>
          <a:ln/>
        </p:spPr>
        <p:txBody>
          <a:bodyPr wrap="square" lIns="0" tIns="0" rIns="0" bIns="0" rtlCol="0" anchor="ctr">
            <a:normAutofit/>
          </a:bodyPr>
          <a:lstStyle/>
          <a:p>
            <a:pPr algn="ctr" indent="0" marL="0">
              <a:buNone/>
            </a:pPr>
            <a:r>
              <a:rPr lang="en-US" sz="1230" b="1" dirty="0">
                <a:solidFill>
                  <a:srgbClr val="123B52"/>
                </a:solidFill>
              </a:rPr>
              <a:t>APIs</a:t>
            </a:r>
            <a:endParaRPr lang="en-US" sz="1230" dirty="0"/>
          </a:p>
          <a:p>
            <a:pPr algn="ctr" indent="0" marL="0">
              <a:buNone/>
            </a:pPr>
            <a:r>
              <a:rPr lang="en-US" sz="1230" b="1" dirty="0">
                <a:solidFill>
                  <a:srgbClr val="123B52"/>
                </a:solidFill>
              </a:rPr>
              <a:t>Practice</a:t>
            </a:r>
            <a:endParaRPr lang="en-US" sz="1230" dirty="0"/>
          </a:p>
        </p:txBody>
      </p:sp>
      <p:sp>
        <p:nvSpPr>
          <p:cNvPr id="14" name="Shape 12"/>
          <p:cNvSpPr/>
          <p:nvPr/>
        </p:nvSpPr>
        <p:spPr>
          <a:xfrm>
            <a:off x="4815459" y="1965960"/>
            <a:ext cx="1215009" cy="2148840"/>
          </a:xfrm>
          <a:prstGeom prst="roundRect">
            <a:avLst>
              <a:gd name="adj" fmla="val 6021"/>
            </a:avLst>
          </a:prstGeom>
          <a:solidFill>
            <a:srgbClr val="FFFFFF"/>
          </a:solidFill>
          <a:ln w="12700">
            <a:solidFill>
              <a:srgbClr val="D8E1E8"/>
            </a:solidFill>
            <a:prstDash val="solid"/>
          </a:ln>
        </p:spPr>
      </p:sp>
      <p:sp>
        <p:nvSpPr>
          <p:cNvPr id="15" name="Text 13"/>
          <p:cNvSpPr/>
          <p:nvPr/>
        </p:nvSpPr>
        <p:spPr>
          <a:xfrm>
            <a:off x="4888611" y="2112264"/>
            <a:ext cx="1068705" cy="210312"/>
          </a:xfrm>
          <a:prstGeom prst="rect">
            <a:avLst/>
          </a:prstGeom>
          <a:noFill/>
          <a:ln/>
        </p:spPr>
        <p:txBody>
          <a:bodyPr wrap="square" lIns="0" tIns="0" rIns="0" bIns="0" rtlCol="0" anchor="ctr"/>
          <a:lstStyle/>
          <a:p>
            <a:pPr algn="ctr" indent="0" marL="0">
              <a:buNone/>
            </a:pPr>
            <a:r>
              <a:rPr lang="en-US" sz="780" b="1" dirty="0">
                <a:solidFill>
                  <a:srgbClr val="6554C0"/>
                </a:solidFill>
              </a:rPr>
              <a:t>WEEK 4</a:t>
            </a:r>
            <a:endParaRPr lang="en-US" sz="780" dirty="0"/>
          </a:p>
        </p:txBody>
      </p:sp>
      <p:sp>
        <p:nvSpPr>
          <p:cNvPr id="16" name="Text 14"/>
          <p:cNvSpPr/>
          <p:nvPr/>
        </p:nvSpPr>
        <p:spPr>
          <a:xfrm>
            <a:off x="4925187" y="2651760"/>
            <a:ext cx="995553" cy="658368"/>
          </a:xfrm>
          <a:prstGeom prst="rect">
            <a:avLst/>
          </a:prstGeom>
          <a:noFill/>
          <a:ln/>
        </p:spPr>
        <p:txBody>
          <a:bodyPr wrap="square" lIns="0" tIns="0" rIns="0" bIns="0" rtlCol="0" anchor="ctr">
            <a:normAutofit/>
          </a:bodyPr>
          <a:lstStyle/>
          <a:p>
            <a:pPr algn="ctr" indent="0" marL="0">
              <a:buNone/>
            </a:pPr>
            <a:r>
              <a:rPr lang="en-US" sz="1230" b="1" dirty="0">
                <a:solidFill>
                  <a:srgbClr val="123B52"/>
                </a:solidFill>
              </a:rPr>
              <a:t>LLMs</a:t>
            </a:r>
            <a:endParaRPr lang="en-US" sz="1230" dirty="0"/>
          </a:p>
          <a:p>
            <a:pPr algn="ctr" indent="0" marL="0">
              <a:buNone/>
            </a:pPr>
            <a:r>
              <a:rPr lang="en-US" sz="1230" b="1" dirty="0">
                <a:solidFill>
                  <a:srgbClr val="123B52"/>
                </a:solidFill>
              </a:rPr>
              <a:t>+ Ollama</a:t>
            </a:r>
            <a:endParaRPr lang="en-US" sz="1230" dirty="0"/>
          </a:p>
        </p:txBody>
      </p:sp>
      <p:sp>
        <p:nvSpPr>
          <p:cNvPr id="17" name="Shape 15"/>
          <p:cNvSpPr/>
          <p:nvPr/>
        </p:nvSpPr>
        <p:spPr>
          <a:xfrm>
            <a:off x="6176772" y="1965960"/>
            <a:ext cx="1215009" cy="2148840"/>
          </a:xfrm>
          <a:prstGeom prst="roundRect">
            <a:avLst>
              <a:gd name="adj" fmla="val 6021"/>
            </a:avLst>
          </a:prstGeom>
          <a:solidFill>
            <a:srgbClr val="FFFFFF"/>
          </a:solidFill>
          <a:ln w="12700">
            <a:solidFill>
              <a:srgbClr val="D8E1E8"/>
            </a:solidFill>
            <a:prstDash val="solid"/>
          </a:ln>
        </p:spPr>
      </p:sp>
      <p:sp>
        <p:nvSpPr>
          <p:cNvPr id="18" name="Text 16"/>
          <p:cNvSpPr/>
          <p:nvPr/>
        </p:nvSpPr>
        <p:spPr>
          <a:xfrm>
            <a:off x="6249924" y="2112264"/>
            <a:ext cx="1068705" cy="210312"/>
          </a:xfrm>
          <a:prstGeom prst="rect">
            <a:avLst/>
          </a:prstGeom>
          <a:noFill/>
          <a:ln/>
        </p:spPr>
        <p:txBody>
          <a:bodyPr wrap="square" lIns="0" tIns="0" rIns="0" bIns="0" rtlCol="0" anchor="ctr"/>
          <a:lstStyle/>
          <a:p>
            <a:pPr algn="ctr" indent="0" marL="0">
              <a:buNone/>
            </a:pPr>
            <a:r>
              <a:rPr lang="en-US" sz="780" b="1" dirty="0">
                <a:solidFill>
                  <a:srgbClr val="E09F3E"/>
                </a:solidFill>
              </a:rPr>
              <a:t>WEEK 5</a:t>
            </a:r>
            <a:endParaRPr lang="en-US" sz="780" dirty="0"/>
          </a:p>
        </p:txBody>
      </p:sp>
      <p:sp>
        <p:nvSpPr>
          <p:cNvPr id="19" name="Text 17"/>
          <p:cNvSpPr/>
          <p:nvPr/>
        </p:nvSpPr>
        <p:spPr>
          <a:xfrm>
            <a:off x="6286500" y="2651760"/>
            <a:ext cx="995553" cy="658368"/>
          </a:xfrm>
          <a:prstGeom prst="rect">
            <a:avLst/>
          </a:prstGeom>
          <a:noFill/>
          <a:ln/>
        </p:spPr>
        <p:txBody>
          <a:bodyPr wrap="square" lIns="0" tIns="0" rIns="0" bIns="0" rtlCol="0" anchor="ctr">
            <a:normAutofit/>
          </a:bodyPr>
          <a:lstStyle/>
          <a:p>
            <a:pPr algn="ctr" indent="0" marL="0">
              <a:buNone/>
            </a:pPr>
            <a:r>
              <a:rPr lang="en-US" sz="1230" b="1" dirty="0">
                <a:solidFill>
                  <a:srgbClr val="123B52"/>
                </a:solidFill>
              </a:rPr>
              <a:t>Basic</a:t>
            </a:r>
            <a:endParaRPr lang="en-US" sz="1230" dirty="0"/>
          </a:p>
          <a:p>
            <a:pPr algn="ctr" indent="0" marL="0">
              <a:buNone/>
            </a:pPr>
            <a:r>
              <a:rPr lang="en-US" sz="1230" b="1" dirty="0">
                <a:solidFill>
                  <a:srgbClr val="123B52"/>
                </a:solidFill>
              </a:rPr>
              <a:t>Agent</a:t>
            </a:r>
            <a:endParaRPr lang="en-US" sz="1230" dirty="0"/>
          </a:p>
        </p:txBody>
      </p:sp>
      <p:sp>
        <p:nvSpPr>
          <p:cNvPr id="20" name="Shape 18"/>
          <p:cNvSpPr/>
          <p:nvPr/>
        </p:nvSpPr>
        <p:spPr>
          <a:xfrm>
            <a:off x="7538085" y="1965960"/>
            <a:ext cx="1215009" cy="2148840"/>
          </a:xfrm>
          <a:prstGeom prst="roundRect">
            <a:avLst>
              <a:gd name="adj" fmla="val 6021"/>
            </a:avLst>
          </a:prstGeom>
          <a:solidFill>
            <a:srgbClr val="FFFFFF"/>
          </a:solidFill>
          <a:ln w="12700">
            <a:solidFill>
              <a:srgbClr val="D8E1E8"/>
            </a:solidFill>
            <a:prstDash val="solid"/>
          </a:ln>
        </p:spPr>
      </p:sp>
      <p:sp>
        <p:nvSpPr>
          <p:cNvPr id="21" name="Text 19"/>
          <p:cNvSpPr/>
          <p:nvPr/>
        </p:nvSpPr>
        <p:spPr>
          <a:xfrm>
            <a:off x="7611237" y="2112264"/>
            <a:ext cx="1068705" cy="210312"/>
          </a:xfrm>
          <a:prstGeom prst="rect">
            <a:avLst/>
          </a:prstGeom>
          <a:noFill/>
          <a:ln/>
        </p:spPr>
        <p:txBody>
          <a:bodyPr wrap="square" lIns="0" tIns="0" rIns="0" bIns="0" rtlCol="0" anchor="ctr"/>
          <a:lstStyle/>
          <a:p>
            <a:pPr algn="ctr" indent="0" marL="0">
              <a:buNone/>
            </a:pPr>
            <a:r>
              <a:rPr lang="en-US" sz="780" b="1" dirty="0">
                <a:solidFill>
                  <a:srgbClr val="E09F3E"/>
                </a:solidFill>
              </a:rPr>
              <a:t>WEEK 6</a:t>
            </a:r>
            <a:endParaRPr lang="en-US" sz="780" dirty="0"/>
          </a:p>
        </p:txBody>
      </p:sp>
      <p:sp>
        <p:nvSpPr>
          <p:cNvPr id="22" name="Text 20"/>
          <p:cNvSpPr/>
          <p:nvPr/>
        </p:nvSpPr>
        <p:spPr>
          <a:xfrm>
            <a:off x="7647813" y="2651760"/>
            <a:ext cx="995553" cy="658368"/>
          </a:xfrm>
          <a:prstGeom prst="rect">
            <a:avLst/>
          </a:prstGeom>
          <a:noFill/>
          <a:ln/>
        </p:spPr>
        <p:txBody>
          <a:bodyPr wrap="square" lIns="0" tIns="0" rIns="0" bIns="0" rtlCol="0" anchor="ctr">
            <a:normAutofit/>
          </a:bodyPr>
          <a:lstStyle/>
          <a:p>
            <a:pPr algn="ctr" indent="0" marL="0">
              <a:buNone/>
            </a:pPr>
            <a:r>
              <a:rPr lang="en-US" sz="1230" b="1" dirty="0">
                <a:solidFill>
                  <a:srgbClr val="123B52"/>
                </a:solidFill>
              </a:rPr>
              <a:t>Agent</a:t>
            </a:r>
            <a:endParaRPr lang="en-US" sz="1230" dirty="0"/>
          </a:p>
          <a:p>
            <a:pPr algn="ctr" indent="0" marL="0">
              <a:buNone/>
            </a:pPr>
            <a:r>
              <a:rPr lang="en-US" sz="1230" b="1" dirty="0">
                <a:solidFill>
                  <a:srgbClr val="123B52"/>
                </a:solidFill>
              </a:rPr>
              <a:t>Loop</a:t>
            </a:r>
            <a:endParaRPr lang="en-US" sz="1230" dirty="0"/>
          </a:p>
        </p:txBody>
      </p:sp>
      <p:sp>
        <p:nvSpPr>
          <p:cNvPr id="23" name="Shape 21"/>
          <p:cNvSpPr/>
          <p:nvPr/>
        </p:nvSpPr>
        <p:spPr>
          <a:xfrm>
            <a:off x="8899398" y="1965960"/>
            <a:ext cx="1215009" cy="2148840"/>
          </a:xfrm>
          <a:prstGeom prst="roundRect">
            <a:avLst>
              <a:gd name="adj" fmla="val 6021"/>
            </a:avLst>
          </a:prstGeom>
          <a:solidFill>
            <a:srgbClr val="FFFFFF"/>
          </a:solidFill>
          <a:ln w="12700">
            <a:solidFill>
              <a:srgbClr val="D8E1E8"/>
            </a:solidFill>
            <a:prstDash val="solid"/>
          </a:ln>
        </p:spPr>
      </p:sp>
      <p:sp>
        <p:nvSpPr>
          <p:cNvPr id="24" name="Text 22"/>
          <p:cNvSpPr/>
          <p:nvPr/>
        </p:nvSpPr>
        <p:spPr>
          <a:xfrm>
            <a:off x="8972550" y="2112264"/>
            <a:ext cx="1068705" cy="210312"/>
          </a:xfrm>
          <a:prstGeom prst="rect">
            <a:avLst/>
          </a:prstGeom>
          <a:noFill/>
          <a:ln/>
        </p:spPr>
        <p:txBody>
          <a:bodyPr wrap="square" lIns="0" tIns="0" rIns="0" bIns="0" rtlCol="0" anchor="ctr"/>
          <a:lstStyle/>
          <a:p>
            <a:pPr algn="ctr" indent="0" marL="0">
              <a:buNone/>
            </a:pPr>
            <a:r>
              <a:rPr lang="en-US" sz="780" b="1" dirty="0">
                <a:solidFill>
                  <a:srgbClr val="C74B50"/>
                </a:solidFill>
              </a:rPr>
              <a:t>WEEK 7</a:t>
            </a:r>
            <a:endParaRPr lang="en-US" sz="780" dirty="0"/>
          </a:p>
        </p:txBody>
      </p:sp>
      <p:sp>
        <p:nvSpPr>
          <p:cNvPr id="25" name="Text 23"/>
          <p:cNvSpPr/>
          <p:nvPr/>
        </p:nvSpPr>
        <p:spPr>
          <a:xfrm>
            <a:off x="9009126" y="2651760"/>
            <a:ext cx="995553" cy="658368"/>
          </a:xfrm>
          <a:prstGeom prst="rect">
            <a:avLst/>
          </a:prstGeom>
          <a:noFill/>
          <a:ln/>
        </p:spPr>
        <p:txBody>
          <a:bodyPr wrap="square" lIns="0" tIns="0" rIns="0" bIns="0" rtlCol="0" anchor="ctr">
            <a:normAutofit/>
          </a:bodyPr>
          <a:lstStyle/>
          <a:p>
            <a:pPr algn="ctr" indent="0" marL="0">
              <a:buNone/>
            </a:pPr>
            <a:r>
              <a:rPr lang="en-US" sz="1230" b="1" dirty="0">
                <a:solidFill>
                  <a:srgbClr val="123B52"/>
                </a:solidFill>
              </a:rPr>
              <a:t>Human</a:t>
            </a:r>
            <a:endParaRPr lang="en-US" sz="1230" dirty="0"/>
          </a:p>
          <a:p>
            <a:pPr algn="ctr" indent="0" marL="0">
              <a:buNone/>
            </a:pPr>
            <a:r>
              <a:rPr lang="en-US" sz="1230" b="1" dirty="0">
                <a:solidFill>
                  <a:srgbClr val="123B52"/>
                </a:solidFill>
              </a:rPr>
              <a:t>in Loop</a:t>
            </a:r>
            <a:endParaRPr lang="en-US" sz="1230" dirty="0"/>
          </a:p>
        </p:txBody>
      </p:sp>
      <p:sp>
        <p:nvSpPr>
          <p:cNvPr id="26" name="Shape 24"/>
          <p:cNvSpPr/>
          <p:nvPr/>
        </p:nvSpPr>
        <p:spPr>
          <a:xfrm>
            <a:off x="10260711" y="1965960"/>
            <a:ext cx="1215009" cy="2148840"/>
          </a:xfrm>
          <a:prstGeom prst="roundRect">
            <a:avLst>
              <a:gd name="adj" fmla="val 6021"/>
            </a:avLst>
          </a:prstGeom>
          <a:solidFill>
            <a:srgbClr val="FFFFFF"/>
          </a:solidFill>
          <a:ln w="12700">
            <a:solidFill>
              <a:srgbClr val="D8E1E8"/>
            </a:solidFill>
            <a:prstDash val="solid"/>
          </a:ln>
        </p:spPr>
      </p:sp>
      <p:sp>
        <p:nvSpPr>
          <p:cNvPr id="27" name="Text 25"/>
          <p:cNvSpPr/>
          <p:nvPr/>
        </p:nvSpPr>
        <p:spPr>
          <a:xfrm>
            <a:off x="10333863" y="2112264"/>
            <a:ext cx="1068705" cy="210312"/>
          </a:xfrm>
          <a:prstGeom prst="rect">
            <a:avLst/>
          </a:prstGeom>
          <a:noFill/>
          <a:ln/>
        </p:spPr>
        <p:txBody>
          <a:bodyPr wrap="square" lIns="0" tIns="0" rIns="0" bIns="0" rtlCol="0" anchor="ctr"/>
          <a:lstStyle/>
          <a:p>
            <a:pPr algn="ctr" indent="0" marL="0">
              <a:buNone/>
            </a:pPr>
            <a:r>
              <a:rPr lang="en-US" sz="780" b="1" dirty="0">
                <a:solidFill>
                  <a:srgbClr val="123B52"/>
                </a:solidFill>
              </a:rPr>
              <a:t>WEEK 8</a:t>
            </a:r>
            <a:endParaRPr lang="en-US" sz="780" dirty="0"/>
          </a:p>
        </p:txBody>
      </p:sp>
      <p:sp>
        <p:nvSpPr>
          <p:cNvPr id="28" name="Text 26"/>
          <p:cNvSpPr/>
          <p:nvPr/>
        </p:nvSpPr>
        <p:spPr>
          <a:xfrm>
            <a:off x="10370439" y="2651760"/>
            <a:ext cx="995553" cy="658368"/>
          </a:xfrm>
          <a:prstGeom prst="rect">
            <a:avLst/>
          </a:prstGeom>
          <a:noFill/>
          <a:ln/>
        </p:spPr>
        <p:txBody>
          <a:bodyPr wrap="square" lIns="0" tIns="0" rIns="0" bIns="0" rtlCol="0" anchor="ctr">
            <a:normAutofit/>
          </a:bodyPr>
          <a:lstStyle/>
          <a:p>
            <a:pPr algn="ctr" indent="0" marL="0">
              <a:buNone/>
            </a:pPr>
            <a:r>
              <a:rPr lang="en-US" sz="1230" b="1" dirty="0">
                <a:solidFill>
                  <a:srgbClr val="123B52"/>
                </a:solidFill>
              </a:rPr>
              <a:t>Complete</a:t>
            </a:r>
            <a:endParaRPr lang="en-US" sz="1230" dirty="0"/>
          </a:p>
          <a:p>
            <a:pPr algn="ctr" indent="0" marL="0">
              <a:buNone/>
            </a:pPr>
            <a:r>
              <a:rPr lang="en-US" sz="1230" b="1" dirty="0">
                <a:solidFill>
                  <a:srgbClr val="123B52"/>
                </a:solidFill>
              </a:rPr>
              <a:t>System</a:t>
            </a:r>
            <a:endParaRPr lang="en-US" sz="1230" dirty="0"/>
          </a:p>
        </p:txBody>
      </p:sp>
      <p:sp>
        <p:nvSpPr>
          <p:cNvPr id="29" name="Shape 27"/>
          <p:cNvSpPr/>
          <p:nvPr/>
        </p:nvSpPr>
        <p:spPr>
          <a:xfrm>
            <a:off x="822960" y="4800600"/>
            <a:ext cx="10561320" cy="420624"/>
          </a:xfrm>
          <a:prstGeom prst="rect">
            <a:avLst/>
          </a:prstGeom>
          <a:solidFill>
            <a:srgbClr val="123B52"/>
          </a:solidFill>
          <a:ln w="12700">
            <a:solidFill>
              <a:srgbClr val="123B52"/>
            </a:solidFill>
            <a:prstDash val="solid"/>
          </a:ln>
        </p:spPr>
      </p:sp>
      <p:sp>
        <p:nvSpPr>
          <p:cNvPr id="30" name="Text 28"/>
          <p:cNvSpPr/>
          <p:nvPr/>
        </p:nvSpPr>
        <p:spPr>
          <a:xfrm>
            <a:off x="987552" y="4892040"/>
            <a:ext cx="411480" cy="228600"/>
          </a:xfrm>
          <a:prstGeom prst="rect">
            <a:avLst/>
          </a:prstGeom>
          <a:noFill/>
          <a:ln/>
        </p:spPr>
        <p:txBody>
          <a:bodyPr wrap="square" lIns="0" tIns="0" rIns="0" bIns="0" rtlCol="0" anchor="ctr"/>
          <a:lstStyle/>
          <a:p>
            <a:pPr indent="0" marL="0">
              <a:buNone/>
            </a:pPr>
            <a:r>
              <a:rPr lang="en-US" sz="950" b="1" dirty="0">
                <a:solidFill>
                  <a:srgbClr val="FFFFFF"/>
                </a:solidFill>
              </a:rPr>
              <a:t>01</a:t>
            </a:r>
            <a:endParaRPr lang="en-US" sz="950" dirty="0"/>
          </a:p>
        </p:txBody>
      </p:sp>
      <p:sp>
        <p:nvSpPr>
          <p:cNvPr id="31" name="Text 29"/>
          <p:cNvSpPr/>
          <p:nvPr/>
        </p:nvSpPr>
        <p:spPr>
          <a:xfrm>
            <a:off x="1536192" y="4873752"/>
            <a:ext cx="9601200" cy="274320"/>
          </a:xfrm>
          <a:prstGeom prst="rect">
            <a:avLst/>
          </a:prstGeom>
          <a:noFill/>
          <a:ln/>
        </p:spPr>
        <p:txBody>
          <a:bodyPr wrap="square" lIns="0" tIns="0" rIns="0" bIns="0" rtlCol="0" anchor="ctr"/>
          <a:lstStyle/>
          <a:p>
            <a:pPr indent="0" marL="0">
              <a:buNone/>
            </a:pPr>
            <a:r>
              <a:rPr lang="en-US" sz="1500" b="1" dirty="0">
                <a:solidFill>
                  <a:srgbClr val="FFFFFF"/>
                </a:solidFill>
              </a:rPr>
              <a:t>Today: data contracts first, APIs second. Do not jump to LLMs yet.</a:t>
            </a:r>
            <a:endParaRPr lang="en-US" sz="1500" dirty="0"/>
          </a:p>
        </p:txBody>
      </p:sp>
      <p:sp>
        <p:nvSpPr>
          <p:cNvPr id="25" name="Slide Number Placeholder 0"/>
          <p:cNvSpPr>
            <a:spLocks noGrp="1"/>
          </p:cNvSpPr>
          <p:nvPr>
            <p:ph type="sldNum" sz="quarter" idx="4294967295"/>
          </p:nvPr>
        </p:nvSpPr>
        <p:spPr>
          <a:xfrm>
            <a:off x="11612880" y="6547104"/>
            <a:ext cx="800000" cy="300000"/>
          </a:xfrm>
          <a:prstGeom prst="rect">
            <a:avLst/>
          </a:prstGeom>
          <a:extLst>
            <a:ext uri="{C572A759-6A51-4108-AA02-DFA0A04FC94B}">
              <ma14:wrappingTextBoxFlag xmlns:ma14="http://schemas.microsoft.com/office/mac/drawingml/2011/main" val="0"/>
            </a:ext>
          </a:extLst>
        </p:spPr>
        <p:txBody>
          <a:bodyPr/>
          <a:lstStyle>
            <a:lvl1pPr>
              <a:defRPr sz="780">
                <a:solidFill>
                  <a:srgbClr val="5B6B7A"/>
                </a:solidFill>
                <a:latin typeface="Aptos"/>
                <a:ea typeface="Aptos"/>
                <a:cs typeface="Aptos"/>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AFC"/>
        </a:solidFill>
      </p:bgPr>
    </p:bg>
    <p:spTree>
      <p:nvGrpSpPr>
        <p:cNvPr id="1" name=""/>
        <p:cNvGrpSpPr/>
        <p:nvPr/>
      </p:nvGrpSpPr>
      <p:grpSpPr>
        <a:xfrm>
          <a:off x="0" y="0"/>
          <a:ext cx="0" cy="0"/>
          <a:chOff x="0" y="0"/>
          <a:chExt cx="0" cy="0"/>
        </a:xfrm>
      </p:grpSpPr>
      <p:sp>
        <p:nvSpPr>
          <p:cNvPr id="2" name="Text 0"/>
          <p:cNvSpPr/>
          <p:nvPr/>
        </p:nvSpPr>
        <p:spPr>
          <a:xfrm>
            <a:off x="658368" y="384048"/>
            <a:ext cx="5943600" cy="219456"/>
          </a:xfrm>
          <a:prstGeom prst="rect">
            <a:avLst/>
          </a:prstGeom>
          <a:noFill/>
          <a:ln/>
        </p:spPr>
        <p:txBody>
          <a:bodyPr wrap="square" lIns="0" tIns="0" rIns="0" bIns="0" rtlCol="0" anchor="ctr"/>
          <a:lstStyle/>
          <a:p>
            <a:pPr indent="0" marL="0">
              <a:buNone/>
            </a:pPr>
            <a:r>
              <a:rPr lang="en-US" sz="950" b="1" dirty="0">
                <a:solidFill>
                  <a:srgbClr val="18A7B5"/>
                </a:solidFill>
              </a:rPr>
              <a:t>BY THE END OF TODAY</a:t>
            </a:r>
            <a:endParaRPr lang="en-US" sz="950" dirty="0"/>
          </a:p>
        </p:txBody>
      </p:sp>
      <p:sp>
        <p:nvSpPr>
          <p:cNvPr id="3" name="Text 1"/>
          <p:cNvSpPr/>
          <p:nvPr/>
        </p:nvSpPr>
        <p:spPr>
          <a:xfrm>
            <a:off x="658368" y="658368"/>
            <a:ext cx="10698480" cy="475488"/>
          </a:xfrm>
          <a:prstGeom prst="rect">
            <a:avLst/>
          </a:prstGeom>
          <a:noFill/>
          <a:ln/>
        </p:spPr>
        <p:txBody>
          <a:bodyPr wrap="square" lIns="0" tIns="0" rIns="0" bIns="0" rtlCol="0" anchor="ctr">
            <a:normAutofit/>
          </a:bodyPr>
          <a:lstStyle/>
          <a:p>
            <a:pPr indent="0" marL="0">
              <a:buNone/>
            </a:pPr>
            <a:r>
              <a:rPr lang="en-US" sz="2700" b="1" dirty="0">
                <a:solidFill>
                  <a:srgbClr val="123B52"/>
                </a:solidFill>
              </a:rPr>
              <a:t>Learning Outcomes</a:t>
            </a:r>
            <a:endParaRPr lang="en-US" sz="2700" dirty="0"/>
          </a:p>
        </p:txBody>
      </p:sp>
      <p:sp>
        <p:nvSpPr>
          <p:cNvPr id="4" name="Shape 2"/>
          <p:cNvSpPr/>
          <p:nvPr/>
        </p:nvSpPr>
        <p:spPr>
          <a:xfrm>
            <a:off x="731520" y="1417320"/>
            <a:ext cx="3520440" cy="1417320"/>
          </a:xfrm>
          <a:prstGeom prst="roundRect">
            <a:avLst>
              <a:gd name="adj" fmla="val 4516"/>
            </a:avLst>
          </a:prstGeom>
          <a:solidFill>
            <a:srgbClr val="FFFFFF"/>
          </a:solidFill>
          <a:ln w="12700">
            <a:solidFill>
              <a:srgbClr val="D8E1E8"/>
            </a:solidFill>
            <a:prstDash val="solid"/>
          </a:ln>
        </p:spPr>
      </p:sp>
      <p:sp>
        <p:nvSpPr>
          <p:cNvPr id="5" name="Shape 3"/>
          <p:cNvSpPr/>
          <p:nvPr/>
        </p:nvSpPr>
        <p:spPr>
          <a:xfrm>
            <a:off x="932688" y="1618488"/>
            <a:ext cx="411480" cy="283464"/>
          </a:xfrm>
          <a:prstGeom prst="roundRect">
            <a:avLst>
              <a:gd name="adj" fmla="val 25806"/>
            </a:avLst>
          </a:prstGeom>
          <a:solidFill>
            <a:srgbClr val="18A7B5"/>
          </a:solidFill>
          <a:ln w="12700">
            <a:solidFill>
              <a:srgbClr val="18A7B5"/>
            </a:solidFill>
            <a:prstDash val="solid"/>
          </a:ln>
        </p:spPr>
      </p:sp>
      <p:sp>
        <p:nvSpPr>
          <p:cNvPr id="6" name="Text 4"/>
          <p:cNvSpPr/>
          <p:nvPr/>
        </p:nvSpPr>
        <p:spPr>
          <a:xfrm>
            <a:off x="932688" y="1677924"/>
            <a:ext cx="411480" cy="137160"/>
          </a:xfrm>
          <a:prstGeom prst="rect">
            <a:avLst/>
          </a:prstGeom>
          <a:noFill/>
          <a:ln/>
        </p:spPr>
        <p:txBody>
          <a:bodyPr wrap="square" lIns="0" tIns="0" rIns="0" bIns="0" rtlCol="0" anchor="ctr"/>
          <a:lstStyle/>
          <a:p>
            <a:pPr algn="ctr" indent="0" marL="0">
              <a:buNone/>
            </a:pPr>
            <a:r>
              <a:rPr lang="en-US" sz="850" b="1" dirty="0">
                <a:solidFill>
                  <a:srgbClr val="FFFFFF"/>
                </a:solidFill>
              </a:rPr>
              <a:t>01</a:t>
            </a:r>
            <a:endParaRPr lang="en-US" sz="850" dirty="0"/>
          </a:p>
        </p:txBody>
      </p:sp>
      <p:sp>
        <p:nvSpPr>
          <p:cNvPr id="7" name="Text 5"/>
          <p:cNvSpPr/>
          <p:nvPr/>
        </p:nvSpPr>
        <p:spPr>
          <a:xfrm>
            <a:off x="1481328" y="1618488"/>
            <a:ext cx="2532888" cy="256032"/>
          </a:xfrm>
          <a:prstGeom prst="rect">
            <a:avLst/>
          </a:prstGeom>
          <a:noFill/>
          <a:ln/>
        </p:spPr>
        <p:txBody>
          <a:bodyPr wrap="square" lIns="0" tIns="0" rIns="0" bIns="0" rtlCol="0" anchor="ctr">
            <a:normAutofit/>
          </a:bodyPr>
          <a:lstStyle/>
          <a:p>
            <a:pPr indent="0" marL="0">
              <a:buNone/>
            </a:pPr>
            <a:r>
              <a:rPr lang="en-US" sz="1400" b="1" dirty="0">
                <a:solidFill>
                  <a:srgbClr val="123B52"/>
                </a:solidFill>
              </a:rPr>
              <a:t>Define structured input data</a:t>
            </a:r>
            <a:endParaRPr lang="en-US" sz="1400" dirty="0"/>
          </a:p>
        </p:txBody>
      </p:sp>
      <p:sp>
        <p:nvSpPr>
          <p:cNvPr id="8" name="Text 6"/>
          <p:cNvSpPr/>
          <p:nvPr/>
        </p:nvSpPr>
        <p:spPr>
          <a:xfrm>
            <a:off x="969264" y="2029968"/>
            <a:ext cx="3044952" cy="630936"/>
          </a:xfrm>
          <a:prstGeom prst="rect">
            <a:avLst/>
          </a:prstGeom>
          <a:noFill/>
          <a:ln/>
        </p:spPr>
        <p:txBody>
          <a:bodyPr wrap="square" lIns="254" tIns="254" rIns="254" bIns="254" rtlCol="0" anchor="t">
            <a:normAutofit/>
          </a:bodyPr>
          <a:lstStyle/>
          <a:p>
            <a:pPr indent="0" marL="0">
              <a:buNone/>
            </a:pPr>
            <a:r>
              <a:rPr lang="en-US" sz="1220" dirty="0">
                <a:solidFill>
                  <a:srgbClr val="17202A"/>
                </a:solidFill>
              </a:rPr>
              <a:t>Create Pydantic models for data received from users, frontends, APIs, or future agents.</a:t>
            </a:r>
            <a:endParaRPr lang="en-US" sz="1220" dirty="0"/>
          </a:p>
        </p:txBody>
      </p:sp>
      <p:sp>
        <p:nvSpPr>
          <p:cNvPr id="9" name="Shape 7"/>
          <p:cNvSpPr/>
          <p:nvPr/>
        </p:nvSpPr>
        <p:spPr>
          <a:xfrm>
            <a:off x="4462272" y="1417320"/>
            <a:ext cx="3520440" cy="1417320"/>
          </a:xfrm>
          <a:prstGeom prst="roundRect">
            <a:avLst>
              <a:gd name="adj" fmla="val 4516"/>
            </a:avLst>
          </a:prstGeom>
          <a:solidFill>
            <a:srgbClr val="FFFFFF"/>
          </a:solidFill>
          <a:ln w="12700">
            <a:solidFill>
              <a:srgbClr val="D8E1E8"/>
            </a:solidFill>
            <a:prstDash val="solid"/>
          </a:ln>
        </p:spPr>
      </p:sp>
      <p:sp>
        <p:nvSpPr>
          <p:cNvPr id="10" name="Shape 8"/>
          <p:cNvSpPr/>
          <p:nvPr/>
        </p:nvSpPr>
        <p:spPr>
          <a:xfrm>
            <a:off x="4663440" y="1618488"/>
            <a:ext cx="411480" cy="283464"/>
          </a:xfrm>
          <a:prstGeom prst="roundRect">
            <a:avLst>
              <a:gd name="adj" fmla="val 25806"/>
            </a:avLst>
          </a:prstGeom>
          <a:solidFill>
            <a:srgbClr val="2D9D78"/>
          </a:solidFill>
          <a:ln w="12700">
            <a:solidFill>
              <a:srgbClr val="2D9D78"/>
            </a:solidFill>
            <a:prstDash val="solid"/>
          </a:ln>
        </p:spPr>
      </p:sp>
      <p:sp>
        <p:nvSpPr>
          <p:cNvPr id="11" name="Text 9"/>
          <p:cNvSpPr/>
          <p:nvPr/>
        </p:nvSpPr>
        <p:spPr>
          <a:xfrm>
            <a:off x="4663440" y="1677924"/>
            <a:ext cx="411480" cy="137160"/>
          </a:xfrm>
          <a:prstGeom prst="rect">
            <a:avLst/>
          </a:prstGeom>
          <a:noFill/>
          <a:ln/>
        </p:spPr>
        <p:txBody>
          <a:bodyPr wrap="square" lIns="0" tIns="0" rIns="0" bIns="0" rtlCol="0" anchor="ctr"/>
          <a:lstStyle/>
          <a:p>
            <a:pPr algn="ctr" indent="0" marL="0">
              <a:buNone/>
            </a:pPr>
            <a:r>
              <a:rPr lang="en-US" sz="850" b="1" dirty="0">
                <a:solidFill>
                  <a:srgbClr val="FFFFFF"/>
                </a:solidFill>
              </a:rPr>
              <a:t>02</a:t>
            </a:r>
            <a:endParaRPr lang="en-US" sz="850" dirty="0"/>
          </a:p>
        </p:txBody>
      </p:sp>
      <p:sp>
        <p:nvSpPr>
          <p:cNvPr id="12" name="Text 10"/>
          <p:cNvSpPr/>
          <p:nvPr/>
        </p:nvSpPr>
        <p:spPr>
          <a:xfrm>
            <a:off x="5212080" y="1618488"/>
            <a:ext cx="2532888" cy="256032"/>
          </a:xfrm>
          <a:prstGeom prst="rect">
            <a:avLst/>
          </a:prstGeom>
          <a:noFill/>
          <a:ln/>
        </p:spPr>
        <p:txBody>
          <a:bodyPr wrap="square" lIns="0" tIns="0" rIns="0" bIns="0" rtlCol="0" anchor="ctr">
            <a:normAutofit/>
          </a:bodyPr>
          <a:lstStyle/>
          <a:p>
            <a:pPr indent="0" marL="0">
              <a:buNone/>
            </a:pPr>
            <a:r>
              <a:rPr lang="en-US" sz="1400" b="1" dirty="0">
                <a:solidFill>
                  <a:srgbClr val="123B52"/>
                </a:solidFill>
              </a:rPr>
              <a:t>Validate before execution</a:t>
            </a:r>
            <a:endParaRPr lang="en-US" sz="1400" dirty="0"/>
          </a:p>
        </p:txBody>
      </p:sp>
      <p:sp>
        <p:nvSpPr>
          <p:cNvPr id="13" name="Text 11"/>
          <p:cNvSpPr/>
          <p:nvPr/>
        </p:nvSpPr>
        <p:spPr>
          <a:xfrm>
            <a:off x="4700016" y="2029968"/>
            <a:ext cx="3044952" cy="630936"/>
          </a:xfrm>
          <a:prstGeom prst="rect">
            <a:avLst/>
          </a:prstGeom>
          <a:noFill/>
          <a:ln/>
        </p:spPr>
        <p:txBody>
          <a:bodyPr wrap="square" lIns="254" tIns="254" rIns="254" bIns="254" rtlCol="0" anchor="t">
            <a:normAutofit/>
          </a:bodyPr>
          <a:lstStyle/>
          <a:p>
            <a:pPr indent="0" marL="0">
              <a:buNone/>
            </a:pPr>
            <a:r>
              <a:rPr lang="en-US" sz="1220" dirty="0">
                <a:solidFill>
                  <a:srgbClr val="17202A"/>
                </a:solidFill>
              </a:rPr>
              <a:t>Explain the difference between type hints and runtime validation, and read validation errors.</a:t>
            </a:r>
            <a:endParaRPr lang="en-US" sz="1220" dirty="0"/>
          </a:p>
        </p:txBody>
      </p:sp>
      <p:sp>
        <p:nvSpPr>
          <p:cNvPr id="14" name="Shape 12"/>
          <p:cNvSpPr/>
          <p:nvPr/>
        </p:nvSpPr>
        <p:spPr>
          <a:xfrm>
            <a:off x="8193024" y="1417320"/>
            <a:ext cx="3246120" cy="1417320"/>
          </a:xfrm>
          <a:prstGeom prst="roundRect">
            <a:avLst>
              <a:gd name="adj" fmla="val 4516"/>
            </a:avLst>
          </a:prstGeom>
          <a:solidFill>
            <a:srgbClr val="FFFFFF"/>
          </a:solidFill>
          <a:ln w="12700">
            <a:solidFill>
              <a:srgbClr val="D8E1E8"/>
            </a:solidFill>
            <a:prstDash val="solid"/>
          </a:ln>
        </p:spPr>
      </p:sp>
      <p:sp>
        <p:nvSpPr>
          <p:cNvPr id="15" name="Shape 13"/>
          <p:cNvSpPr/>
          <p:nvPr/>
        </p:nvSpPr>
        <p:spPr>
          <a:xfrm>
            <a:off x="8394192" y="1618488"/>
            <a:ext cx="411480" cy="283464"/>
          </a:xfrm>
          <a:prstGeom prst="roundRect">
            <a:avLst>
              <a:gd name="adj" fmla="val 25806"/>
            </a:avLst>
          </a:prstGeom>
          <a:solidFill>
            <a:srgbClr val="E09F3E"/>
          </a:solidFill>
          <a:ln w="12700">
            <a:solidFill>
              <a:srgbClr val="E09F3E"/>
            </a:solidFill>
            <a:prstDash val="solid"/>
          </a:ln>
        </p:spPr>
      </p:sp>
      <p:sp>
        <p:nvSpPr>
          <p:cNvPr id="16" name="Text 14"/>
          <p:cNvSpPr/>
          <p:nvPr/>
        </p:nvSpPr>
        <p:spPr>
          <a:xfrm>
            <a:off x="8394192" y="1677924"/>
            <a:ext cx="411480" cy="137160"/>
          </a:xfrm>
          <a:prstGeom prst="rect">
            <a:avLst/>
          </a:prstGeom>
          <a:noFill/>
          <a:ln/>
        </p:spPr>
        <p:txBody>
          <a:bodyPr wrap="square" lIns="0" tIns="0" rIns="0" bIns="0" rtlCol="0" anchor="ctr"/>
          <a:lstStyle/>
          <a:p>
            <a:pPr algn="ctr" indent="0" marL="0">
              <a:buNone/>
            </a:pPr>
            <a:r>
              <a:rPr lang="en-US" sz="850" b="1" dirty="0">
                <a:solidFill>
                  <a:srgbClr val="FFFFFF"/>
                </a:solidFill>
              </a:rPr>
              <a:t>03</a:t>
            </a:r>
            <a:endParaRPr lang="en-US" sz="850" dirty="0"/>
          </a:p>
        </p:txBody>
      </p:sp>
      <p:sp>
        <p:nvSpPr>
          <p:cNvPr id="17" name="Text 15"/>
          <p:cNvSpPr/>
          <p:nvPr/>
        </p:nvSpPr>
        <p:spPr>
          <a:xfrm>
            <a:off x="8942832" y="1618488"/>
            <a:ext cx="2258568" cy="256032"/>
          </a:xfrm>
          <a:prstGeom prst="rect">
            <a:avLst/>
          </a:prstGeom>
          <a:noFill/>
          <a:ln/>
        </p:spPr>
        <p:txBody>
          <a:bodyPr wrap="square" lIns="0" tIns="0" rIns="0" bIns="0" rtlCol="0" anchor="ctr">
            <a:normAutofit/>
          </a:bodyPr>
          <a:lstStyle/>
          <a:p>
            <a:pPr indent="0" marL="0">
              <a:buNone/>
            </a:pPr>
            <a:r>
              <a:rPr lang="en-US" sz="1400" b="1" dirty="0">
                <a:solidFill>
                  <a:srgbClr val="123B52"/>
                </a:solidFill>
              </a:rPr>
              <a:t>Return structured output</a:t>
            </a:r>
            <a:endParaRPr lang="en-US" sz="1400" dirty="0"/>
          </a:p>
        </p:txBody>
      </p:sp>
      <p:sp>
        <p:nvSpPr>
          <p:cNvPr id="18" name="Text 16"/>
          <p:cNvSpPr/>
          <p:nvPr/>
        </p:nvSpPr>
        <p:spPr>
          <a:xfrm>
            <a:off x="8430768" y="2029968"/>
            <a:ext cx="2770632" cy="630936"/>
          </a:xfrm>
          <a:prstGeom prst="rect">
            <a:avLst/>
          </a:prstGeom>
          <a:noFill/>
          <a:ln/>
        </p:spPr>
        <p:txBody>
          <a:bodyPr wrap="square" lIns="254" tIns="254" rIns="254" bIns="254" rtlCol="0" anchor="t">
            <a:normAutofit/>
          </a:bodyPr>
          <a:lstStyle/>
          <a:p>
            <a:pPr indent="0" marL="0">
              <a:buNone/>
            </a:pPr>
            <a:r>
              <a:rPr lang="en-US" sz="1220" dirty="0">
                <a:solidFill>
                  <a:srgbClr val="17202A"/>
                </a:solidFill>
              </a:rPr>
              <a:t>Use output models so a tool returns predictable data instead of random strings.</a:t>
            </a:r>
            <a:endParaRPr lang="en-US" sz="1220" dirty="0"/>
          </a:p>
        </p:txBody>
      </p:sp>
      <p:sp>
        <p:nvSpPr>
          <p:cNvPr id="19" name="Shape 17"/>
          <p:cNvSpPr/>
          <p:nvPr/>
        </p:nvSpPr>
        <p:spPr>
          <a:xfrm>
            <a:off x="1463040" y="3429000"/>
            <a:ext cx="4389120" cy="1417320"/>
          </a:xfrm>
          <a:prstGeom prst="roundRect">
            <a:avLst>
              <a:gd name="adj" fmla="val 4516"/>
            </a:avLst>
          </a:prstGeom>
          <a:solidFill>
            <a:srgbClr val="FFFFFF"/>
          </a:solidFill>
          <a:ln w="12700">
            <a:solidFill>
              <a:srgbClr val="D8E1E8"/>
            </a:solidFill>
            <a:prstDash val="solid"/>
          </a:ln>
        </p:spPr>
      </p:sp>
      <p:sp>
        <p:nvSpPr>
          <p:cNvPr id="20" name="Shape 18"/>
          <p:cNvSpPr/>
          <p:nvPr/>
        </p:nvSpPr>
        <p:spPr>
          <a:xfrm>
            <a:off x="1664208" y="3630168"/>
            <a:ext cx="411480" cy="283464"/>
          </a:xfrm>
          <a:prstGeom prst="roundRect">
            <a:avLst>
              <a:gd name="adj" fmla="val 25806"/>
            </a:avLst>
          </a:prstGeom>
          <a:solidFill>
            <a:srgbClr val="6554C0"/>
          </a:solidFill>
          <a:ln w="12700">
            <a:solidFill>
              <a:srgbClr val="6554C0"/>
            </a:solidFill>
            <a:prstDash val="solid"/>
          </a:ln>
        </p:spPr>
      </p:sp>
      <p:sp>
        <p:nvSpPr>
          <p:cNvPr id="21" name="Text 19"/>
          <p:cNvSpPr/>
          <p:nvPr/>
        </p:nvSpPr>
        <p:spPr>
          <a:xfrm>
            <a:off x="1664208" y="3689604"/>
            <a:ext cx="411480" cy="137160"/>
          </a:xfrm>
          <a:prstGeom prst="rect">
            <a:avLst/>
          </a:prstGeom>
          <a:noFill/>
          <a:ln/>
        </p:spPr>
        <p:txBody>
          <a:bodyPr wrap="square" lIns="0" tIns="0" rIns="0" bIns="0" rtlCol="0" anchor="ctr"/>
          <a:lstStyle/>
          <a:p>
            <a:pPr algn="ctr" indent="0" marL="0">
              <a:buNone/>
            </a:pPr>
            <a:r>
              <a:rPr lang="en-US" sz="850" b="1" dirty="0">
                <a:solidFill>
                  <a:srgbClr val="FFFFFF"/>
                </a:solidFill>
              </a:rPr>
              <a:t>04</a:t>
            </a:r>
            <a:endParaRPr lang="en-US" sz="850" dirty="0"/>
          </a:p>
        </p:txBody>
      </p:sp>
      <p:sp>
        <p:nvSpPr>
          <p:cNvPr id="22" name="Text 20"/>
          <p:cNvSpPr/>
          <p:nvPr/>
        </p:nvSpPr>
        <p:spPr>
          <a:xfrm>
            <a:off x="2212848" y="3630168"/>
            <a:ext cx="3401568" cy="256032"/>
          </a:xfrm>
          <a:prstGeom prst="rect">
            <a:avLst/>
          </a:prstGeom>
          <a:noFill/>
          <a:ln/>
        </p:spPr>
        <p:txBody>
          <a:bodyPr wrap="square" lIns="0" tIns="0" rIns="0" bIns="0" rtlCol="0" anchor="ctr">
            <a:normAutofit/>
          </a:bodyPr>
          <a:lstStyle/>
          <a:p>
            <a:pPr indent="0" marL="0">
              <a:buNone/>
            </a:pPr>
            <a:r>
              <a:rPr lang="en-US" sz="1400" b="1" dirty="0">
                <a:solidFill>
                  <a:srgbClr val="123B52"/>
                </a:solidFill>
              </a:rPr>
              <a:t>Expose a function as an API</a:t>
            </a:r>
            <a:endParaRPr lang="en-US" sz="1400" dirty="0"/>
          </a:p>
        </p:txBody>
      </p:sp>
      <p:sp>
        <p:nvSpPr>
          <p:cNvPr id="23" name="Text 21"/>
          <p:cNvSpPr/>
          <p:nvPr/>
        </p:nvSpPr>
        <p:spPr>
          <a:xfrm>
            <a:off x="1700784" y="4041648"/>
            <a:ext cx="3913632" cy="630936"/>
          </a:xfrm>
          <a:prstGeom prst="rect">
            <a:avLst/>
          </a:prstGeom>
          <a:noFill/>
          <a:ln/>
        </p:spPr>
        <p:txBody>
          <a:bodyPr wrap="square" lIns="254" tIns="254" rIns="254" bIns="254" rtlCol="0" anchor="t">
            <a:normAutofit/>
          </a:bodyPr>
          <a:lstStyle/>
          <a:p>
            <a:pPr indent="0" marL="0">
              <a:buNone/>
            </a:pPr>
            <a:r>
              <a:rPr lang="en-US" sz="1220" dirty="0">
                <a:solidFill>
                  <a:srgbClr val="17202A"/>
                </a:solidFill>
              </a:rPr>
              <a:t>Build a FastAPI endpoint that receives a Ticket model and returns a TicketResult model.</a:t>
            </a:r>
            <a:endParaRPr lang="en-US" sz="1220" dirty="0"/>
          </a:p>
        </p:txBody>
      </p:sp>
      <p:sp>
        <p:nvSpPr>
          <p:cNvPr id="24" name="Shape 22"/>
          <p:cNvSpPr/>
          <p:nvPr/>
        </p:nvSpPr>
        <p:spPr>
          <a:xfrm>
            <a:off x="6355080" y="3429000"/>
            <a:ext cx="4389120" cy="1417320"/>
          </a:xfrm>
          <a:prstGeom prst="roundRect">
            <a:avLst>
              <a:gd name="adj" fmla="val 4516"/>
            </a:avLst>
          </a:prstGeom>
          <a:solidFill>
            <a:srgbClr val="FFFFFF"/>
          </a:solidFill>
          <a:ln w="12700">
            <a:solidFill>
              <a:srgbClr val="D8E1E8"/>
            </a:solidFill>
            <a:prstDash val="solid"/>
          </a:ln>
        </p:spPr>
      </p:sp>
      <p:sp>
        <p:nvSpPr>
          <p:cNvPr id="25" name="Shape 23"/>
          <p:cNvSpPr/>
          <p:nvPr/>
        </p:nvSpPr>
        <p:spPr>
          <a:xfrm>
            <a:off x="6556248" y="3630168"/>
            <a:ext cx="411480" cy="283464"/>
          </a:xfrm>
          <a:prstGeom prst="roundRect">
            <a:avLst>
              <a:gd name="adj" fmla="val 25806"/>
            </a:avLst>
          </a:prstGeom>
          <a:solidFill>
            <a:srgbClr val="C74B50"/>
          </a:solidFill>
          <a:ln w="12700">
            <a:solidFill>
              <a:srgbClr val="C74B50"/>
            </a:solidFill>
            <a:prstDash val="solid"/>
          </a:ln>
        </p:spPr>
      </p:sp>
      <p:sp>
        <p:nvSpPr>
          <p:cNvPr id="26" name="Text 24"/>
          <p:cNvSpPr/>
          <p:nvPr/>
        </p:nvSpPr>
        <p:spPr>
          <a:xfrm>
            <a:off x="6556248" y="3689604"/>
            <a:ext cx="411480" cy="137160"/>
          </a:xfrm>
          <a:prstGeom prst="rect">
            <a:avLst/>
          </a:prstGeom>
          <a:noFill/>
          <a:ln/>
        </p:spPr>
        <p:txBody>
          <a:bodyPr wrap="square" lIns="0" tIns="0" rIns="0" bIns="0" rtlCol="0" anchor="ctr"/>
          <a:lstStyle/>
          <a:p>
            <a:pPr algn="ctr" indent="0" marL="0">
              <a:buNone/>
            </a:pPr>
            <a:r>
              <a:rPr lang="en-US" sz="850" b="1" dirty="0">
                <a:solidFill>
                  <a:srgbClr val="FFFFFF"/>
                </a:solidFill>
              </a:rPr>
              <a:t>05</a:t>
            </a:r>
            <a:endParaRPr lang="en-US" sz="850" dirty="0"/>
          </a:p>
        </p:txBody>
      </p:sp>
      <p:sp>
        <p:nvSpPr>
          <p:cNvPr id="27" name="Text 25"/>
          <p:cNvSpPr/>
          <p:nvPr/>
        </p:nvSpPr>
        <p:spPr>
          <a:xfrm>
            <a:off x="7104888" y="3630168"/>
            <a:ext cx="3401568" cy="256032"/>
          </a:xfrm>
          <a:prstGeom prst="rect">
            <a:avLst/>
          </a:prstGeom>
          <a:noFill/>
          <a:ln/>
        </p:spPr>
        <p:txBody>
          <a:bodyPr wrap="square" lIns="0" tIns="0" rIns="0" bIns="0" rtlCol="0" anchor="ctr">
            <a:normAutofit/>
          </a:bodyPr>
          <a:lstStyle/>
          <a:p>
            <a:pPr indent="0" marL="0">
              <a:buNone/>
            </a:pPr>
            <a:r>
              <a:rPr lang="en-US" sz="1400" b="1" dirty="0">
                <a:solidFill>
                  <a:srgbClr val="123B52"/>
                </a:solidFill>
              </a:rPr>
              <a:t>See the agent-tool bridge</a:t>
            </a:r>
            <a:endParaRPr lang="en-US" sz="1400" dirty="0"/>
          </a:p>
        </p:txBody>
      </p:sp>
      <p:sp>
        <p:nvSpPr>
          <p:cNvPr id="28" name="Text 26"/>
          <p:cNvSpPr/>
          <p:nvPr/>
        </p:nvSpPr>
        <p:spPr>
          <a:xfrm>
            <a:off x="6592824" y="4041648"/>
            <a:ext cx="3913632" cy="630936"/>
          </a:xfrm>
          <a:prstGeom prst="rect">
            <a:avLst/>
          </a:prstGeom>
          <a:noFill/>
          <a:ln/>
        </p:spPr>
        <p:txBody>
          <a:bodyPr wrap="square" lIns="254" tIns="254" rIns="254" bIns="254" rtlCol="0" anchor="t">
            <a:normAutofit/>
          </a:bodyPr>
          <a:lstStyle/>
          <a:p>
            <a:pPr indent="0" marL="0">
              <a:buNone/>
            </a:pPr>
            <a:r>
              <a:rPr lang="en-US" sz="1220" dirty="0">
                <a:solidFill>
                  <a:srgbClr val="17202A"/>
                </a:solidFill>
              </a:rPr>
              <a:t>Understand why schema + API documentation matters when another program, or an agent, will call your code.</a:t>
            </a:r>
            <a:endParaRPr lang="en-US" sz="1220" dirty="0"/>
          </a:p>
        </p:txBody>
      </p:sp>
      <p:sp>
        <p:nvSpPr>
          <p:cNvPr id="25" name="Slide Number Placeholder 0"/>
          <p:cNvSpPr>
            <a:spLocks noGrp="1"/>
          </p:cNvSpPr>
          <p:nvPr>
            <p:ph type="sldNum" sz="quarter" idx="4294967295"/>
          </p:nvPr>
        </p:nvSpPr>
        <p:spPr>
          <a:xfrm>
            <a:off x="11612880" y="6547104"/>
            <a:ext cx="800000" cy="300000"/>
          </a:xfrm>
          <a:prstGeom prst="rect">
            <a:avLst/>
          </a:prstGeom>
          <a:extLst>
            <a:ext uri="{C572A759-6A51-4108-AA02-DFA0A04FC94B}">
              <ma14:wrappingTextBoxFlag xmlns:ma14="http://schemas.microsoft.com/office/mac/drawingml/2011/main" val="0"/>
            </a:ext>
          </a:extLst>
        </p:spPr>
        <p:txBody>
          <a:bodyPr/>
          <a:lstStyle>
            <a:lvl1pPr>
              <a:defRPr sz="780">
                <a:solidFill>
                  <a:srgbClr val="5B6B7A"/>
                </a:solidFill>
                <a:latin typeface="Aptos"/>
                <a:ea typeface="Aptos"/>
                <a:cs typeface="Aptos"/>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AFC"/>
        </a:solidFill>
      </p:bgPr>
    </p:bg>
    <p:spTree>
      <p:nvGrpSpPr>
        <p:cNvPr id="1" name=""/>
        <p:cNvGrpSpPr/>
        <p:nvPr/>
      </p:nvGrpSpPr>
      <p:grpSpPr>
        <a:xfrm>
          <a:off x="0" y="0"/>
          <a:ext cx="0" cy="0"/>
          <a:chOff x="0" y="0"/>
          <a:chExt cx="0" cy="0"/>
        </a:xfrm>
      </p:grpSpPr>
      <p:sp>
        <p:nvSpPr>
          <p:cNvPr id="2" name="Text 0"/>
          <p:cNvSpPr/>
          <p:nvPr/>
        </p:nvSpPr>
        <p:spPr>
          <a:xfrm>
            <a:off x="658368" y="384048"/>
            <a:ext cx="5943600" cy="219456"/>
          </a:xfrm>
          <a:prstGeom prst="rect">
            <a:avLst/>
          </a:prstGeom>
          <a:noFill/>
          <a:ln/>
        </p:spPr>
        <p:txBody>
          <a:bodyPr wrap="square" lIns="0" tIns="0" rIns="0" bIns="0" rtlCol="0" anchor="ctr"/>
          <a:lstStyle/>
          <a:p>
            <a:pPr indent="0" marL="0">
              <a:buNone/>
            </a:pPr>
            <a:r>
              <a:rPr lang="en-US" sz="950" b="1" dirty="0">
                <a:solidFill>
                  <a:srgbClr val="18A7B5"/>
                </a:solidFill>
              </a:rPr>
              <a:t>FROM ORDINARY FUNCTION TO AGENT-READY FUNCTION</a:t>
            </a:r>
            <a:endParaRPr lang="en-US" sz="950" dirty="0"/>
          </a:p>
        </p:txBody>
      </p:sp>
      <p:sp>
        <p:nvSpPr>
          <p:cNvPr id="3" name="Text 1"/>
          <p:cNvSpPr/>
          <p:nvPr/>
        </p:nvSpPr>
        <p:spPr>
          <a:xfrm>
            <a:off x="658368" y="658368"/>
            <a:ext cx="10698480" cy="475488"/>
          </a:xfrm>
          <a:prstGeom prst="rect">
            <a:avLst/>
          </a:prstGeom>
          <a:noFill/>
          <a:ln/>
        </p:spPr>
        <p:txBody>
          <a:bodyPr wrap="square" lIns="0" tIns="0" rIns="0" bIns="0" rtlCol="0" anchor="ctr">
            <a:normAutofit/>
          </a:bodyPr>
          <a:lstStyle/>
          <a:p>
            <a:pPr indent="0" marL="0">
              <a:buNone/>
            </a:pPr>
            <a:r>
              <a:rPr lang="en-US" sz="2700" b="1" dirty="0">
                <a:solidFill>
                  <a:srgbClr val="123B52"/>
                </a:solidFill>
              </a:rPr>
              <a:t>Quick Recap: Week 1 Function Style</a:t>
            </a:r>
            <a:endParaRPr lang="en-US" sz="2700" dirty="0"/>
          </a:p>
        </p:txBody>
      </p:sp>
      <p:sp>
        <p:nvSpPr>
          <p:cNvPr id="4" name="Shape 2"/>
          <p:cNvSpPr/>
          <p:nvPr/>
        </p:nvSpPr>
        <p:spPr>
          <a:xfrm>
            <a:off x="685800" y="1325880"/>
            <a:ext cx="5715000" cy="4480560"/>
          </a:xfrm>
          <a:prstGeom prst="roundRect">
            <a:avLst>
              <a:gd name="adj" fmla="val 1020"/>
            </a:avLst>
          </a:prstGeom>
          <a:solidFill>
            <a:srgbClr val="0E1720"/>
          </a:solidFill>
          <a:ln w="12700">
            <a:solidFill>
              <a:srgbClr val="1E2A35"/>
            </a:solidFill>
            <a:prstDash val="solid"/>
          </a:ln>
        </p:spPr>
      </p:sp>
      <p:sp>
        <p:nvSpPr>
          <p:cNvPr id="5" name="Text 3"/>
          <p:cNvSpPr/>
          <p:nvPr/>
        </p:nvSpPr>
        <p:spPr>
          <a:xfrm>
            <a:off x="905256" y="1490472"/>
            <a:ext cx="5276088" cy="4151376"/>
          </a:xfrm>
          <a:prstGeom prst="rect">
            <a:avLst/>
          </a:prstGeom>
          <a:noFill/>
          <a:ln/>
        </p:spPr>
        <p:txBody>
          <a:bodyPr wrap="square" lIns="0" tIns="0" rIns="0" bIns="0" rtlCol="0" anchor="ctr">
            <a:normAutofit/>
          </a:bodyPr>
          <a:lstStyle/>
          <a:p>
            <a:pPr indent="0" marL="0">
              <a:buNone/>
            </a:pPr>
            <a:r>
              <a:rPr lang="en-US" sz="1280" dirty="0">
                <a:solidFill>
                  <a:srgbClr val="EAF2F8"/>
                </a:solidFill>
                <a:latin typeface="Aptos Mono" pitchFamily="34" charset="0"/>
                <a:ea typeface="Aptos Mono" pitchFamily="34" charset="-122"/>
                <a:cs typeface="Aptos Mono" pitchFamily="34" charset="-120"/>
              </a:rPr>
              <a:t>def classify_ticket(message: str) -&gt; str:</a:t>
            </a:r>
            <a:endParaRPr lang="en-US" sz="1280" dirty="0"/>
          </a:p>
          <a:p>
            <a:pPr indent="0" marL="0">
              <a:buNone/>
            </a:pPr>
            <a:r>
              <a:rPr lang="en-US" sz="1280" dirty="0">
                <a:solidFill>
                  <a:srgbClr val="EAF2F8"/>
                </a:solidFill>
                <a:latin typeface="Aptos Mono" pitchFamily="34" charset="0"/>
                <a:ea typeface="Aptos Mono" pitchFamily="34" charset="-122"/>
                <a:cs typeface="Aptos Mono" pitchFamily="34" charset="-120"/>
              </a:rPr>
              <a:t>    """Classify a support ticket message.</a:t>
            </a:r>
            <a:endParaRPr lang="en-US" sz="1280" dirty="0"/>
          </a:p>
          <a:p>
            <a:pPr indent="0" marL="0">
              <a:buNone/>
            </a:pPr>
            <a:endParaRPr lang="en-US" sz="1280" dirty="0"/>
          </a:p>
          <a:p>
            <a:pPr indent="0" marL="0">
              <a:buNone/>
            </a:pPr>
            <a:r>
              <a:rPr lang="en-US" sz="1280" dirty="0">
                <a:solidFill>
                  <a:srgbClr val="EAF2F8"/>
                </a:solidFill>
                <a:latin typeface="Aptos Mono" pitchFamily="34" charset="0"/>
                <a:ea typeface="Aptos Mono" pitchFamily="34" charset="-122"/>
                <a:cs typeface="Aptos Mono" pitchFamily="34" charset="-120"/>
              </a:rPr>
              <a:t>    Args:</a:t>
            </a:r>
            <a:endParaRPr lang="en-US" sz="1280" dirty="0"/>
          </a:p>
          <a:p>
            <a:pPr indent="0" marL="0">
              <a:buNone/>
            </a:pPr>
            <a:r>
              <a:rPr lang="en-US" sz="1280" dirty="0">
                <a:solidFill>
                  <a:srgbClr val="EAF2F8"/>
                </a:solidFill>
                <a:latin typeface="Aptos Mono" pitchFamily="34" charset="0"/>
                <a:ea typeface="Aptos Mono" pitchFamily="34" charset="-122"/>
                <a:cs typeface="Aptos Mono" pitchFamily="34" charset="-120"/>
              </a:rPr>
              <a:t>        message: The customer message.</a:t>
            </a:r>
            <a:endParaRPr lang="en-US" sz="1280" dirty="0"/>
          </a:p>
          <a:p>
            <a:pPr indent="0" marL="0">
              <a:buNone/>
            </a:pPr>
            <a:endParaRPr lang="en-US" sz="1280" dirty="0"/>
          </a:p>
          <a:p>
            <a:pPr indent="0" marL="0">
              <a:buNone/>
            </a:pPr>
            <a:r>
              <a:rPr lang="en-US" sz="1280" dirty="0">
                <a:solidFill>
                  <a:srgbClr val="EAF2F8"/>
                </a:solidFill>
                <a:latin typeface="Aptos Mono" pitchFamily="34" charset="0"/>
                <a:ea typeface="Aptos Mono" pitchFamily="34" charset="-122"/>
                <a:cs typeface="Aptos Mono" pitchFamily="34" charset="-120"/>
              </a:rPr>
              <a:t>    Returns:</a:t>
            </a:r>
            <a:endParaRPr lang="en-US" sz="1280" dirty="0"/>
          </a:p>
          <a:p>
            <a:pPr indent="0" marL="0">
              <a:buNone/>
            </a:pPr>
            <a:r>
              <a:rPr lang="en-US" sz="1280" dirty="0">
                <a:solidFill>
                  <a:srgbClr val="EAF2F8"/>
                </a:solidFill>
                <a:latin typeface="Aptos Mono" pitchFamily="34" charset="0"/>
                <a:ea typeface="Aptos Mono" pitchFamily="34" charset="-122"/>
                <a:cs typeface="Aptos Mono" pitchFamily="34" charset="-120"/>
              </a:rPr>
              <a:t>        The ticket category.</a:t>
            </a:r>
            <a:endParaRPr lang="en-US" sz="1280" dirty="0"/>
          </a:p>
          <a:p>
            <a:pPr indent="0" marL="0">
              <a:buNone/>
            </a:pPr>
            <a:r>
              <a:rPr lang="en-US" sz="1280" dirty="0">
                <a:solidFill>
                  <a:srgbClr val="EAF2F8"/>
                </a:solidFill>
                <a:latin typeface="Aptos Mono" pitchFamily="34" charset="0"/>
                <a:ea typeface="Aptos Mono" pitchFamily="34" charset="-122"/>
                <a:cs typeface="Aptos Mono" pitchFamily="34" charset="-120"/>
              </a:rPr>
              <a:t>    """</a:t>
            </a:r>
            <a:endParaRPr lang="en-US" sz="1280" dirty="0"/>
          </a:p>
          <a:p>
            <a:pPr indent="0" marL="0">
              <a:buNone/>
            </a:pPr>
            <a:r>
              <a:rPr lang="en-US" sz="1280" dirty="0">
                <a:solidFill>
                  <a:srgbClr val="EAF2F8"/>
                </a:solidFill>
                <a:latin typeface="Aptos Mono" pitchFamily="34" charset="0"/>
                <a:ea typeface="Aptos Mono" pitchFamily="34" charset="-122"/>
                <a:cs typeface="Aptos Mono" pitchFamily="34" charset="-120"/>
              </a:rPr>
              <a:t>    text = message.lower()</a:t>
            </a:r>
            <a:endParaRPr lang="en-US" sz="1280" dirty="0"/>
          </a:p>
          <a:p>
            <a:pPr indent="0" marL="0">
              <a:buNone/>
            </a:pPr>
            <a:endParaRPr lang="en-US" sz="1280" dirty="0"/>
          </a:p>
          <a:p>
            <a:pPr indent="0" marL="0">
              <a:buNone/>
            </a:pPr>
            <a:r>
              <a:rPr lang="en-US" sz="1280" dirty="0">
                <a:solidFill>
                  <a:srgbClr val="EAF2F8"/>
                </a:solidFill>
                <a:latin typeface="Aptos Mono" pitchFamily="34" charset="0"/>
                <a:ea typeface="Aptos Mono" pitchFamily="34" charset="-122"/>
                <a:cs typeface="Aptos Mono" pitchFamily="34" charset="-120"/>
              </a:rPr>
              <a:t>    if "payment" in text or "invoice" in text:</a:t>
            </a:r>
            <a:endParaRPr lang="en-US" sz="1280" dirty="0"/>
          </a:p>
          <a:p>
            <a:pPr indent="0" marL="0">
              <a:buNone/>
            </a:pPr>
            <a:r>
              <a:rPr lang="en-US" sz="1280" dirty="0">
                <a:solidFill>
                  <a:srgbClr val="EAF2F8"/>
                </a:solidFill>
                <a:latin typeface="Aptos Mono" pitchFamily="34" charset="0"/>
                <a:ea typeface="Aptos Mono" pitchFamily="34" charset="-122"/>
                <a:cs typeface="Aptos Mono" pitchFamily="34" charset="-120"/>
              </a:rPr>
              <a:t>        return "billing"</a:t>
            </a:r>
            <a:endParaRPr lang="en-US" sz="1280" dirty="0"/>
          </a:p>
          <a:p>
            <a:pPr indent="0" marL="0">
              <a:buNone/>
            </a:pPr>
            <a:endParaRPr lang="en-US" sz="1280" dirty="0"/>
          </a:p>
          <a:p>
            <a:pPr indent="0" marL="0">
              <a:buNone/>
            </a:pPr>
            <a:r>
              <a:rPr lang="en-US" sz="1280" dirty="0">
                <a:solidFill>
                  <a:srgbClr val="EAF2F8"/>
                </a:solidFill>
                <a:latin typeface="Aptos Mono" pitchFamily="34" charset="0"/>
                <a:ea typeface="Aptos Mono" pitchFamily="34" charset="-122"/>
                <a:cs typeface="Aptos Mono" pitchFamily="34" charset="-120"/>
              </a:rPr>
              <a:t>    if "login" in text or "error" in text:</a:t>
            </a:r>
            <a:endParaRPr lang="en-US" sz="1280" dirty="0"/>
          </a:p>
          <a:p>
            <a:pPr indent="0" marL="0">
              <a:buNone/>
            </a:pPr>
            <a:r>
              <a:rPr lang="en-US" sz="1280" dirty="0">
                <a:solidFill>
                  <a:srgbClr val="EAF2F8"/>
                </a:solidFill>
                <a:latin typeface="Aptos Mono" pitchFamily="34" charset="0"/>
                <a:ea typeface="Aptos Mono" pitchFamily="34" charset="-122"/>
                <a:cs typeface="Aptos Mono" pitchFamily="34" charset="-120"/>
              </a:rPr>
              <a:t>        return "technical"</a:t>
            </a:r>
            <a:endParaRPr lang="en-US" sz="1280" dirty="0"/>
          </a:p>
          <a:p>
            <a:pPr indent="0" marL="0">
              <a:buNone/>
            </a:pPr>
            <a:endParaRPr lang="en-US" sz="1280" dirty="0"/>
          </a:p>
          <a:p>
            <a:pPr indent="0" marL="0">
              <a:buNone/>
            </a:pPr>
            <a:r>
              <a:rPr lang="en-US" sz="1280" dirty="0">
                <a:solidFill>
                  <a:srgbClr val="EAF2F8"/>
                </a:solidFill>
                <a:latin typeface="Aptos Mono" pitchFamily="34" charset="0"/>
                <a:ea typeface="Aptos Mono" pitchFamily="34" charset="-122"/>
                <a:cs typeface="Aptos Mono" pitchFamily="34" charset="-120"/>
              </a:rPr>
              <a:t>    return "general"</a:t>
            </a:r>
            <a:endParaRPr lang="en-US" sz="1280" dirty="0"/>
          </a:p>
        </p:txBody>
      </p:sp>
      <p:sp>
        <p:nvSpPr>
          <p:cNvPr id="6" name="Shape 4"/>
          <p:cNvSpPr/>
          <p:nvPr/>
        </p:nvSpPr>
        <p:spPr>
          <a:xfrm>
            <a:off x="6720840" y="1417320"/>
            <a:ext cx="4526280" cy="1737360"/>
          </a:xfrm>
          <a:prstGeom prst="roundRect">
            <a:avLst>
              <a:gd name="adj" fmla="val 3684"/>
            </a:avLst>
          </a:prstGeom>
          <a:solidFill>
            <a:srgbClr val="FFFFFF"/>
          </a:solidFill>
          <a:ln w="12700">
            <a:solidFill>
              <a:srgbClr val="D8E1E8"/>
            </a:solidFill>
            <a:prstDash val="solid"/>
          </a:ln>
        </p:spPr>
      </p:sp>
      <p:sp>
        <p:nvSpPr>
          <p:cNvPr id="7" name="Text 5"/>
          <p:cNvSpPr/>
          <p:nvPr/>
        </p:nvSpPr>
        <p:spPr>
          <a:xfrm>
            <a:off x="6958584" y="1618488"/>
            <a:ext cx="4050792" cy="256032"/>
          </a:xfrm>
          <a:prstGeom prst="rect">
            <a:avLst/>
          </a:prstGeom>
          <a:noFill/>
          <a:ln/>
        </p:spPr>
        <p:txBody>
          <a:bodyPr wrap="square" lIns="0" tIns="0" rIns="0" bIns="0" rtlCol="0" anchor="ctr">
            <a:normAutofit/>
          </a:bodyPr>
          <a:lstStyle/>
          <a:p>
            <a:pPr indent="0" marL="0">
              <a:buNone/>
            </a:pPr>
            <a:r>
              <a:rPr lang="en-US" sz="1400" b="1" dirty="0">
                <a:solidFill>
                  <a:srgbClr val="123B52"/>
                </a:solidFill>
              </a:rPr>
              <a:t>Agent-ready habits</a:t>
            </a:r>
            <a:endParaRPr lang="en-US" sz="1400" dirty="0"/>
          </a:p>
        </p:txBody>
      </p:sp>
      <p:sp>
        <p:nvSpPr>
          <p:cNvPr id="8" name="Text 6"/>
          <p:cNvSpPr/>
          <p:nvPr/>
        </p:nvSpPr>
        <p:spPr>
          <a:xfrm>
            <a:off x="6958584" y="2029968"/>
            <a:ext cx="4050792" cy="950976"/>
          </a:xfrm>
          <a:prstGeom prst="rect">
            <a:avLst/>
          </a:prstGeom>
          <a:noFill/>
          <a:ln/>
        </p:spPr>
        <p:txBody>
          <a:bodyPr wrap="square" lIns="254" tIns="254" rIns="254" bIns="254" rtlCol="0" anchor="t">
            <a:normAutofit/>
          </a:bodyPr>
          <a:lstStyle/>
          <a:p>
            <a:pPr indent="0" marL="0">
              <a:buNone/>
            </a:pPr>
            <a:r>
              <a:rPr lang="en-US" sz="1500" dirty="0">
                <a:solidFill>
                  <a:srgbClr val="17202A"/>
                </a:solidFill>
              </a:rPr>
              <a:t>Typed input</a:t>
            </a:r>
            <a:endParaRPr lang="en-US" sz="1500" dirty="0"/>
          </a:p>
          <a:p>
            <a:pPr indent="0" marL="0">
              <a:buNone/>
            </a:pPr>
            <a:r>
              <a:rPr lang="en-US" sz="1500" dirty="0">
                <a:solidFill>
                  <a:srgbClr val="17202A"/>
                </a:solidFill>
              </a:rPr>
              <a:t>Typed output</a:t>
            </a:r>
            <a:endParaRPr lang="en-US" sz="1500" dirty="0"/>
          </a:p>
          <a:p>
            <a:pPr indent="0" marL="0">
              <a:buNone/>
            </a:pPr>
            <a:r>
              <a:rPr lang="en-US" sz="1500" dirty="0">
                <a:solidFill>
                  <a:srgbClr val="17202A"/>
                </a:solidFill>
              </a:rPr>
              <a:t>Docstring</a:t>
            </a:r>
            <a:endParaRPr lang="en-US" sz="1500" dirty="0"/>
          </a:p>
          <a:p>
            <a:pPr indent="0" marL="0">
              <a:buNone/>
            </a:pPr>
            <a:r>
              <a:rPr lang="en-US" sz="1500" dirty="0">
                <a:solidFill>
                  <a:srgbClr val="17202A"/>
                </a:solidFill>
              </a:rPr>
              <a:t>Small responsibility</a:t>
            </a:r>
            <a:endParaRPr lang="en-US" sz="1500" dirty="0"/>
          </a:p>
          <a:p>
            <a:pPr indent="0" marL="0">
              <a:buNone/>
            </a:pPr>
            <a:r>
              <a:rPr lang="en-US" sz="1500" dirty="0">
                <a:solidFill>
                  <a:srgbClr val="17202A"/>
                </a:solidFill>
              </a:rPr>
              <a:t>Deterministic behavior</a:t>
            </a:r>
            <a:endParaRPr lang="en-US" sz="1500" dirty="0"/>
          </a:p>
        </p:txBody>
      </p:sp>
      <p:sp>
        <p:nvSpPr>
          <p:cNvPr id="9" name="Shape 7"/>
          <p:cNvSpPr/>
          <p:nvPr/>
        </p:nvSpPr>
        <p:spPr>
          <a:xfrm>
            <a:off x="6720840" y="3611880"/>
            <a:ext cx="4526280" cy="1371600"/>
          </a:xfrm>
          <a:prstGeom prst="roundRect">
            <a:avLst>
              <a:gd name="adj" fmla="val 4667"/>
            </a:avLst>
          </a:prstGeom>
          <a:solidFill>
            <a:srgbClr val="FFFFFF"/>
          </a:solidFill>
          <a:ln w="12700">
            <a:solidFill>
              <a:srgbClr val="D8E1E8"/>
            </a:solidFill>
            <a:prstDash val="solid"/>
          </a:ln>
        </p:spPr>
      </p:sp>
      <p:sp>
        <p:nvSpPr>
          <p:cNvPr id="10" name="Text 8"/>
          <p:cNvSpPr/>
          <p:nvPr/>
        </p:nvSpPr>
        <p:spPr>
          <a:xfrm>
            <a:off x="6958584" y="3813048"/>
            <a:ext cx="4050792" cy="256032"/>
          </a:xfrm>
          <a:prstGeom prst="rect">
            <a:avLst/>
          </a:prstGeom>
          <a:noFill/>
          <a:ln/>
        </p:spPr>
        <p:txBody>
          <a:bodyPr wrap="square" lIns="0" tIns="0" rIns="0" bIns="0" rtlCol="0" anchor="ctr">
            <a:normAutofit/>
          </a:bodyPr>
          <a:lstStyle/>
          <a:p>
            <a:pPr indent="0" marL="0">
              <a:buNone/>
            </a:pPr>
            <a:r>
              <a:rPr lang="en-US" sz="1400" b="1" dirty="0">
                <a:solidFill>
                  <a:srgbClr val="123B52"/>
                </a:solidFill>
              </a:rPr>
              <a:t>But there is a gap</a:t>
            </a:r>
            <a:endParaRPr lang="en-US" sz="1400" dirty="0"/>
          </a:p>
        </p:txBody>
      </p:sp>
      <p:sp>
        <p:nvSpPr>
          <p:cNvPr id="11" name="Text 9"/>
          <p:cNvSpPr/>
          <p:nvPr/>
        </p:nvSpPr>
        <p:spPr>
          <a:xfrm>
            <a:off x="6958584" y="4224528"/>
            <a:ext cx="4050792" cy="585216"/>
          </a:xfrm>
          <a:prstGeom prst="rect">
            <a:avLst/>
          </a:prstGeom>
          <a:noFill/>
          <a:ln/>
        </p:spPr>
        <p:txBody>
          <a:bodyPr wrap="square" lIns="254" tIns="254" rIns="254" bIns="254" rtlCol="0" anchor="t">
            <a:normAutofit/>
          </a:bodyPr>
          <a:lstStyle/>
          <a:p>
            <a:pPr indent="0" marL="0">
              <a:buNone/>
            </a:pPr>
            <a:r>
              <a:rPr lang="en-US" sz="1450" dirty="0">
                <a:solidFill>
                  <a:srgbClr val="17202A"/>
                </a:solidFill>
              </a:rPr>
              <a:t>Python type hints describe what we expect. They do not automatically validate external data at runtime.</a:t>
            </a:r>
            <a:endParaRPr lang="en-US" sz="1450" dirty="0"/>
          </a:p>
        </p:txBody>
      </p:sp>
      <p:sp>
        <p:nvSpPr>
          <p:cNvPr id="25" name="Slide Number Placeholder 0"/>
          <p:cNvSpPr>
            <a:spLocks noGrp="1"/>
          </p:cNvSpPr>
          <p:nvPr>
            <p:ph type="sldNum" sz="quarter" idx="4294967295"/>
          </p:nvPr>
        </p:nvSpPr>
        <p:spPr>
          <a:xfrm>
            <a:off x="11612880" y="6547104"/>
            <a:ext cx="800000" cy="300000"/>
          </a:xfrm>
          <a:prstGeom prst="rect">
            <a:avLst/>
          </a:prstGeom>
          <a:extLst>
            <a:ext uri="{C572A759-6A51-4108-AA02-DFA0A04FC94B}">
              <ma14:wrappingTextBoxFlag xmlns:ma14="http://schemas.microsoft.com/office/mac/drawingml/2011/main" val="0"/>
            </a:ext>
          </a:extLst>
        </p:spPr>
        <p:txBody>
          <a:bodyPr/>
          <a:lstStyle>
            <a:lvl1pPr>
              <a:defRPr sz="780">
                <a:solidFill>
                  <a:srgbClr val="5B6B7A"/>
                </a:solidFill>
                <a:latin typeface="Aptos"/>
                <a:ea typeface="Aptos"/>
                <a:cs typeface="Aptos"/>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AFC"/>
        </a:solidFill>
      </p:bgPr>
    </p:bg>
    <p:spTree>
      <p:nvGrpSpPr>
        <p:cNvPr id="1" name=""/>
        <p:cNvGrpSpPr/>
        <p:nvPr/>
      </p:nvGrpSpPr>
      <p:grpSpPr>
        <a:xfrm>
          <a:off x="0" y="0"/>
          <a:ext cx="0" cy="0"/>
          <a:chOff x="0" y="0"/>
          <a:chExt cx="0" cy="0"/>
        </a:xfrm>
      </p:grpSpPr>
      <p:sp>
        <p:nvSpPr>
          <p:cNvPr id="2" name="Text 0"/>
          <p:cNvSpPr/>
          <p:nvPr/>
        </p:nvSpPr>
        <p:spPr>
          <a:xfrm>
            <a:off x="658368" y="384048"/>
            <a:ext cx="5943600" cy="219456"/>
          </a:xfrm>
          <a:prstGeom prst="rect">
            <a:avLst/>
          </a:prstGeom>
          <a:noFill/>
          <a:ln/>
        </p:spPr>
        <p:txBody>
          <a:bodyPr wrap="square" lIns="0" tIns="0" rIns="0" bIns="0" rtlCol="0" anchor="ctr"/>
          <a:lstStyle/>
          <a:p>
            <a:pPr indent="0" marL="0">
              <a:buNone/>
            </a:pPr>
            <a:r>
              <a:rPr lang="en-US" sz="950" b="1" dirty="0">
                <a:solidFill>
                  <a:srgbClr val="18A7B5"/>
                </a:solidFill>
              </a:rPr>
              <a:t>WHY PYDANTIC EXISTS</a:t>
            </a:r>
            <a:endParaRPr lang="en-US" sz="950" dirty="0"/>
          </a:p>
        </p:txBody>
      </p:sp>
      <p:sp>
        <p:nvSpPr>
          <p:cNvPr id="3" name="Text 1"/>
          <p:cNvSpPr/>
          <p:nvPr/>
        </p:nvSpPr>
        <p:spPr>
          <a:xfrm>
            <a:off x="658368" y="658368"/>
            <a:ext cx="10698480" cy="475488"/>
          </a:xfrm>
          <a:prstGeom prst="rect">
            <a:avLst/>
          </a:prstGeom>
          <a:noFill/>
          <a:ln/>
        </p:spPr>
        <p:txBody>
          <a:bodyPr wrap="square" lIns="0" tIns="0" rIns="0" bIns="0" rtlCol="0" anchor="ctr">
            <a:normAutofit/>
          </a:bodyPr>
          <a:lstStyle/>
          <a:p>
            <a:pPr indent="0" marL="0">
              <a:buNone/>
            </a:pPr>
            <a:r>
              <a:rPr lang="en-US" sz="2700" b="1" dirty="0">
                <a:solidFill>
                  <a:srgbClr val="123B52"/>
                </a:solidFill>
              </a:rPr>
              <a:t>Problem: Type Hints Are Not Validation</a:t>
            </a:r>
            <a:endParaRPr lang="en-US" sz="2700" dirty="0"/>
          </a:p>
        </p:txBody>
      </p:sp>
      <p:sp>
        <p:nvSpPr>
          <p:cNvPr id="4" name="Shape 2"/>
          <p:cNvSpPr/>
          <p:nvPr/>
        </p:nvSpPr>
        <p:spPr>
          <a:xfrm>
            <a:off x="731520" y="1417320"/>
            <a:ext cx="5166360" cy="2011680"/>
          </a:xfrm>
          <a:prstGeom prst="roundRect">
            <a:avLst>
              <a:gd name="adj" fmla="val 2273"/>
            </a:avLst>
          </a:prstGeom>
          <a:solidFill>
            <a:srgbClr val="0E1720"/>
          </a:solidFill>
          <a:ln w="12700">
            <a:solidFill>
              <a:srgbClr val="1E2A35"/>
            </a:solidFill>
            <a:prstDash val="solid"/>
          </a:ln>
        </p:spPr>
      </p:sp>
      <p:sp>
        <p:nvSpPr>
          <p:cNvPr id="5" name="Text 3"/>
          <p:cNvSpPr/>
          <p:nvPr/>
        </p:nvSpPr>
        <p:spPr>
          <a:xfrm>
            <a:off x="950976" y="1581912"/>
            <a:ext cx="4727448" cy="1682496"/>
          </a:xfrm>
          <a:prstGeom prst="rect">
            <a:avLst/>
          </a:prstGeom>
          <a:noFill/>
          <a:ln/>
        </p:spPr>
        <p:txBody>
          <a:bodyPr wrap="square" lIns="0" tIns="0" rIns="0" bIns="0" rtlCol="0" anchor="ctr">
            <a:normAutofit/>
          </a:bodyPr>
          <a:lstStyle/>
          <a:p>
            <a:pPr indent="0" marL="0">
              <a:buNone/>
            </a:pPr>
            <a:r>
              <a:rPr lang="en-US" sz="1450" dirty="0">
                <a:solidFill>
                  <a:srgbClr val="EAF2F8"/>
                </a:solidFill>
                <a:latin typeface="Aptos Mono" pitchFamily="34" charset="0"/>
                <a:ea typeface="Aptos Mono" pitchFamily="34" charset="-122"/>
                <a:cs typeface="Aptos Mono" pitchFamily="34" charset="-120"/>
              </a:rPr>
              <a:t>def greet(name: str) -&gt; str:</a:t>
            </a:r>
            <a:endParaRPr lang="en-US" sz="1450" dirty="0"/>
          </a:p>
          <a:p>
            <a:pPr indent="0" marL="0">
              <a:buNone/>
            </a:pPr>
            <a:r>
              <a:rPr lang="en-US" sz="1450" dirty="0">
                <a:solidFill>
                  <a:srgbClr val="EAF2F8"/>
                </a:solidFill>
                <a:latin typeface="Aptos Mono" pitchFamily="34" charset="0"/>
                <a:ea typeface="Aptos Mono" pitchFamily="34" charset="-122"/>
                <a:cs typeface="Aptos Mono" pitchFamily="34" charset="-120"/>
              </a:rPr>
              <a:t>    """Return a greeting for a person."""</a:t>
            </a:r>
            <a:endParaRPr lang="en-US" sz="1450" dirty="0"/>
          </a:p>
          <a:p>
            <a:pPr indent="0" marL="0">
              <a:buNone/>
            </a:pPr>
            <a:r>
              <a:rPr lang="en-US" sz="1450" dirty="0">
                <a:solidFill>
                  <a:srgbClr val="EAF2F8"/>
                </a:solidFill>
                <a:latin typeface="Aptos Mono" pitchFamily="34" charset="0"/>
                <a:ea typeface="Aptos Mono" pitchFamily="34" charset="-122"/>
                <a:cs typeface="Aptos Mono" pitchFamily="34" charset="-120"/>
              </a:rPr>
              <a:t>    return f"Hello, {name}"</a:t>
            </a:r>
            <a:endParaRPr lang="en-US" sz="1450" dirty="0"/>
          </a:p>
          <a:p>
            <a:pPr indent="0" marL="0">
              <a:buNone/>
            </a:pPr>
            <a:endParaRPr lang="en-US" sz="1450" dirty="0"/>
          </a:p>
          <a:p>
            <a:pPr indent="0" marL="0">
              <a:buNone/>
            </a:pPr>
            <a:r>
              <a:rPr lang="en-US" sz="1450" dirty="0">
                <a:solidFill>
                  <a:srgbClr val="EAF2F8"/>
                </a:solidFill>
                <a:latin typeface="Aptos Mono" pitchFamily="34" charset="0"/>
                <a:ea typeface="Aptos Mono" pitchFamily="34" charset="-122"/>
                <a:cs typeface="Aptos Mono" pitchFamily="34" charset="-120"/>
              </a:rPr>
              <a:t>print(greet("Ahmed"))   # OK</a:t>
            </a:r>
            <a:endParaRPr lang="en-US" sz="1450" dirty="0"/>
          </a:p>
          <a:p>
            <a:pPr indent="0" marL="0">
              <a:buNone/>
            </a:pPr>
            <a:r>
              <a:rPr lang="en-US" sz="1450" dirty="0">
                <a:solidFill>
                  <a:srgbClr val="EAF2F8"/>
                </a:solidFill>
                <a:latin typeface="Aptos Mono" pitchFamily="34" charset="0"/>
                <a:ea typeface="Aptos Mono" pitchFamily="34" charset="-122"/>
                <a:cs typeface="Aptos Mono" pitchFamily="34" charset="-120"/>
              </a:rPr>
              <a:t>print(greet(123))       # Python still runs</a:t>
            </a:r>
            <a:endParaRPr lang="en-US" sz="1450" dirty="0"/>
          </a:p>
        </p:txBody>
      </p:sp>
      <p:sp>
        <p:nvSpPr>
          <p:cNvPr id="6" name="Text 4"/>
          <p:cNvSpPr/>
          <p:nvPr/>
        </p:nvSpPr>
        <p:spPr>
          <a:xfrm>
            <a:off x="6400800" y="1417320"/>
            <a:ext cx="4023360" cy="292608"/>
          </a:xfrm>
          <a:prstGeom prst="rect">
            <a:avLst/>
          </a:prstGeom>
          <a:noFill/>
          <a:ln/>
        </p:spPr>
        <p:txBody>
          <a:bodyPr wrap="square" lIns="0" tIns="0" rIns="0" bIns="0" rtlCol="0" anchor="ctr"/>
          <a:lstStyle/>
          <a:p>
            <a:pPr indent="0" marL="0">
              <a:buNone/>
            </a:pPr>
            <a:r>
              <a:rPr lang="en-US" sz="1900" b="1" dirty="0">
                <a:solidFill>
                  <a:srgbClr val="123B52"/>
                </a:solidFill>
              </a:rPr>
              <a:t>What went wrong?</a:t>
            </a:r>
            <a:endParaRPr lang="en-US" sz="1900" dirty="0"/>
          </a:p>
        </p:txBody>
      </p:sp>
      <p:sp>
        <p:nvSpPr>
          <p:cNvPr id="7" name="Text 5"/>
          <p:cNvSpPr/>
          <p:nvPr/>
        </p:nvSpPr>
        <p:spPr>
          <a:xfrm>
            <a:off x="6492240" y="1901952"/>
            <a:ext cx="4800600" cy="1463040"/>
          </a:xfrm>
          <a:prstGeom prst="rect">
            <a:avLst/>
          </a:prstGeom>
          <a:noFill/>
          <a:ln/>
        </p:spPr>
        <p:txBody>
          <a:bodyPr wrap="square" lIns="635" tIns="635" rIns="635" bIns="635" rtlCol="0" anchor="ctr">
            <a:normAutofit/>
          </a:bodyPr>
          <a:lstStyle/>
          <a:p>
            <a:r>
              <a:rPr lang="en-US" sz="1600" dirty="0">
                <a:solidFill>
                  <a:srgbClr val="17202A"/>
                </a:solidFill>
              </a:rPr>
              <a:t>A type hint is a promise, not a runtime gate.</a:t>
            </a:r>
            <a:endParaRPr lang="en-US" sz="1600" dirty="0"/>
          </a:p>
          <a:p>
            <a:r>
              <a:rPr lang="en-US" sz="1600" dirty="0">
                <a:solidFill>
                  <a:srgbClr val="17202A"/>
                </a:solidFill>
              </a:rPr>
              <a:t>External input usually arrives as JSON, not as trusted Python objects.</a:t>
            </a:r>
            <a:endParaRPr lang="en-US" sz="1600" dirty="0"/>
          </a:p>
          <a:p>
            <a:r>
              <a:rPr lang="en-US" sz="1600" dirty="0">
                <a:solidFill>
                  <a:srgbClr val="17202A"/>
                </a:solidFill>
              </a:rPr>
              <a:t>An agent tool must reject bad input before it performs an action.</a:t>
            </a:r>
            <a:endParaRPr lang="en-US" sz="1600" dirty="0"/>
          </a:p>
        </p:txBody>
      </p:sp>
      <p:sp>
        <p:nvSpPr>
          <p:cNvPr id="8" name="Shape 6"/>
          <p:cNvSpPr/>
          <p:nvPr/>
        </p:nvSpPr>
        <p:spPr>
          <a:xfrm>
            <a:off x="1051560" y="4251960"/>
            <a:ext cx="9966960" cy="658368"/>
          </a:xfrm>
          <a:prstGeom prst="roundRect">
            <a:avLst>
              <a:gd name="adj" fmla="val 11111"/>
            </a:avLst>
          </a:prstGeom>
          <a:solidFill>
            <a:srgbClr val="FFF4E3"/>
          </a:solidFill>
          <a:ln w="12700">
            <a:solidFill>
              <a:srgbClr val="F1C27D"/>
            </a:solidFill>
            <a:prstDash val="solid"/>
          </a:ln>
        </p:spPr>
      </p:sp>
      <p:sp>
        <p:nvSpPr>
          <p:cNvPr id="9" name="Text 7"/>
          <p:cNvSpPr/>
          <p:nvPr/>
        </p:nvSpPr>
        <p:spPr>
          <a:xfrm>
            <a:off x="1234440" y="4453128"/>
            <a:ext cx="9601200" cy="210312"/>
          </a:xfrm>
          <a:prstGeom prst="rect">
            <a:avLst/>
          </a:prstGeom>
          <a:noFill/>
          <a:ln/>
        </p:spPr>
        <p:txBody>
          <a:bodyPr wrap="square" lIns="0" tIns="0" rIns="0" bIns="0" rtlCol="0" anchor="ctr"/>
          <a:lstStyle/>
          <a:p>
            <a:pPr algn="ctr" indent="0" marL="0">
              <a:buNone/>
            </a:pPr>
            <a:r>
              <a:rPr lang="en-US" sz="1700" b="1" dirty="0">
                <a:solidFill>
                  <a:srgbClr val="704A0E"/>
                </a:solidFill>
              </a:rPr>
              <a:t>Type hints describe the contract. Pydantic enforces the contract.</a:t>
            </a:r>
            <a:endParaRPr lang="en-US" sz="1700" dirty="0"/>
          </a:p>
        </p:txBody>
      </p:sp>
      <p:sp>
        <p:nvSpPr>
          <p:cNvPr id="25" name="Slide Number Placeholder 0"/>
          <p:cNvSpPr>
            <a:spLocks noGrp="1"/>
          </p:cNvSpPr>
          <p:nvPr>
            <p:ph type="sldNum" sz="quarter" idx="4294967295"/>
          </p:nvPr>
        </p:nvSpPr>
        <p:spPr>
          <a:xfrm>
            <a:off x="11612880" y="6547104"/>
            <a:ext cx="800000" cy="300000"/>
          </a:xfrm>
          <a:prstGeom prst="rect">
            <a:avLst/>
          </a:prstGeom>
          <a:extLst>
            <a:ext uri="{C572A759-6A51-4108-AA02-DFA0A04FC94B}">
              <ma14:wrappingTextBoxFlag xmlns:ma14="http://schemas.microsoft.com/office/mac/drawingml/2011/main" val="0"/>
            </a:ext>
          </a:extLst>
        </p:spPr>
        <p:txBody>
          <a:bodyPr/>
          <a:lstStyle>
            <a:lvl1pPr>
              <a:defRPr sz="780">
                <a:solidFill>
                  <a:srgbClr val="5B6B7A"/>
                </a:solidFill>
                <a:latin typeface="Aptos"/>
                <a:ea typeface="Aptos"/>
                <a:cs typeface="Aptos"/>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AFC"/>
        </a:solidFill>
      </p:bgPr>
    </p:bg>
    <p:spTree>
      <p:nvGrpSpPr>
        <p:cNvPr id="1" name=""/>
        <p:cNvGrpSpPr/>
        <p:nvPr/>
      </p:nvGrpSpPr>
      <p:grpSpPr>
        <a:xfrm>
          <a:off x="0" y="0"/>
          <a:ext cx="0" cy="0"/>
          <a:chOff x="0" y="0"/>
          <a:chExt cx="0" cy="0"/>
        </a:xfrm>
      </p:grpSpPr>
      <p:sp>
        <p:nvSpPr>
          <p:cNvPr id="2" name="Text 0"/>
          <p:cNvSpPr/>
          <p:nvPr/>
        </p:nvSpPr>
        <p:spPr>
          <a:xfrm>
            <a:off x="658368" y="384048"/>
            <a:ext cx="5943600" cy="219456"/>
          </a:xfrm>
          <a:prstGeom prst="rect">
            <a:avLst/>
          </a:prstGeom>
          <a:noFill/>
          <a:ln/>
        </p:spPr>
        <p:txBody>
          <a:bodyPr wrap="square" lIns="0" tIns="0" rIns="0" bIns="0" rtlCol="0" anchor="ctr"/>
          <a:lstStyle/>
          <a:p>
            <a:pPr indent="0" marL="0">
              <a:buNone/>
            </a:pPr>
            <a:r>
              <a:rPr lang="en-US" sz="950" b="1" dirty="0">
                <a:solidFill>
                  <a:srgbClr val="18A7B5"/>
                </a:solidFill>
              </a:rPr>
              <a:t>STRUCTURED INPUT FOR TOOLS</a:t>
            </a:r>
            <a:endParaRPr lang="en-US" sz="950" dirty="0"/>
          </a:p>
        </p:txBody>
      </p:sp>
      <p:sp>
        <p:nvSpPr>
          <p:cNvPr id="3" name="Text 1"/>
          <p:cNvSpPr/>
          <p:nvPr/>
        </p:nvSpPr>
        <p:spPr>
          <a:xfrm>
            <a:off x="658368" y="658368"/>
            <a:ext cx="10698480" cy="475488"/>
          </a:xfrm>
          <a:prstGeom prst="rect">
            <a:avLst/>
          </a:prstGeom>
          <a:noFill/>
          <a:ln/>
        </p:spPr>
        <p:txBody>
          <a:bodyPr wrap="square" lIns="0" tIns="0" rIns="0" bIns="0" rtlCol="0" anchor="ctr">
            <a:normAutofit/>
          </a:bodyPr>
          <a:lstStyle/>
          <a:p>
            <a:pPr indent="0" marL="0">
              <a:buNone/>
            </a:pPr>
            <a:r>
              <a:rPr lang="en-US" sz="2700" b="1" dirty="0">
                <a:solidFill>
                  <a:srgbClr val="123B52"/>
                </a:solidFill>
              </a:rPr>
              <a:t>Pydantic = Data Contracts</a:t>
            </a:r>
            <a:endParaRPr lang="en-US" sz="2700" dirty="0"/>
          </a:p>
        </p:txBody>
      </p:sp>
      <p:sp>
        <p:nvSpPr>
          <p:cNvPr id="4" name="Text 2"/>
          <p:cNvSpPr/>
          <p:nvPr/>
        </p:nvSpPr>
        <p:spPr>
          <a:xfrm>
            <a:off x="777240" y="1234440"/>
            <a:ext cx="8229600" cy="320040"/>
          </a:xfrm>
          <a:prstGeom prst="rect">
            <a:avLst/>
          </a:prstGeom>
          <a:noFill/>
          <a:ln/>
        </p:spPr>
        <p:txBody>
          <a:bodyPr wrap="square" lIns="0" tIns="0" rIns="0" bIns="0" rtlCol="0" anchor="ctr"/>
          <a:lstStyle/>
          <a:p>
            <a:pPr indent="0" marL="0">
              <a:buNone/>
            </a:pPr>
            <a:r>
              <a:rPr lang="en-US" sz="1600" dirty="0">
                <a:solidFill>
                  <a:srgbClr val="5B6B7A"/>
                </a:solidFill>
              </a:rPr>
              <a:t>A data contract answers three questions:</a:t>
            </a:r>
            <a:endParaRPr lang="en-US" sz="1600" dirty="0"/>
          </a:p>
        </p:txBody>
      </p:sp>
      <p:sp>
        <p:nvSpPr>
          <p:cNvPr id="5" name="Shape 3"/>
          <p:cNvSpPr/>
          <p:nvPr/>
        </p:nvSpPr>
        <p:spPr>
          <a:xfrm>
            <a:off x="777240" y="1828800"/>
            <a:ext cx="3200400" cy="1828800"/>
          </a:xfrm>
          <a:prstGeom prst="roundRect">
            <a:avLst>
              <a:gd name="adj" fmla="val 3500"/>
            </a:avLst>
          </a:prstGeom>
          <a:solidFill>
            <a:srgbClr val="FFFFFF"/>
          </a:solidFill>
          <a:ln w="12700">
            <a:solidFill>
              <a:srgbClr val="D8E1E8"/>
            </a:solidFill>
            <a:prstDash val="solid"/>
          </a:ln>
        </p:spPr>
      </p:sp>
      <p:sp>
        <p:nvSpPr>
          <p:cNvPr id="6" name="Shape 4"/>
          <p:cNvSpPr/>
          <p:nvPr/>
        </p:nvSpPr>
        <p:spPr>
          <a:xfrm>
            <a:off x="978408" y="2029968"/>
            <a:ext cx="411480" cy="283464"/>
          </a:xfrm>
          <a:prstGeom prst="roundRect">
            <a:avLst>
              <a:gd name="adj" fmla="val 25806"/>
            </a:avLst>
          </a:prstGeom>
          <a:solidFill>
            <a:srgbClr val="18A7B5"/>
          </a:solidFill>
          <a:ln w="12700">
            <a:solidFill>
              <a:srgbClr val="18A7B5"/>
            </a:solidFill>
            <a:prstDash val="solid"/>
          </a:ln>
        </p:spPr>
      </p:sp>
      <p:sp>
        <p:nvSpPr>
          <p:cNvPr id="7" name="Text 5"/>
          <p:cNvSpPr/>
          <p:nvPr/>
        </p:nvSpPr>
        <p:spPr>
          <a:xfrm>
            <a:off x="978408" y="2089404"/>
            <a:ext cx="411480" cy="137160"/>
          </a:xfrm>
          <a:prstGeom prst="rect">
            <a:avLst/>
          </a:prstGeom>
          <a:noFill/>
          <a:ln/>
        </p:spPr>
        <p:txBody>
          <a:bodyPr wrap="square" lIns="0" tIns="0" rIns="0" bIns="0" rtlCol="0" anchor="ctr"/>
          <a:lstStyle/>
          <a:p>
            <a:pPr algn="ctr" indent="0" marL="0">
              <a:buNone/>
            </a:pPr>
            <a:r>
              <a:rPr lang="en-US" sz="850" b="1" dirty="0">
                <a:solidFill>
                  <a:srgbClr val="FFFFFF"/>
                </a:solidFill>
              </a:rPr>
              <a:t>01</a:t>
            </a:r>
            <a:endParaRPr lang="en-US" sz="850" dirty="0"/>
          </a:p>
        </p:txBody>
      </p:sp>
      <p:sp>
        <p:nvSpPr>
          <p:cNvPr id="8" name="Text 6"/>
          <p:cNvSpPr/>
          <p:nvPr/>
        </p:nvSpPr>
        <p:spPr>
          <a:xfrm>
            <a:off x="1527048" y="2029968"/>
            <a:ext cx="2212848" cy="256032"/>
          </a:xfrm>
          <a:prstGeom prst="rect">
            <a:avLst/>
          </a:prstGeom>
          <a:noFill/>
          <a:ln/>
        </p:spPr>
        <p:txBody>
          <a:bodyPr wrap="square" lIns="0" tIns="0" rIns="0" bIns="0" rtlCol="0" anchor="ctr">
            <a:normAutofit/>
          </a:bodyPr>
          <a:lstStyle/>
          <a:p>
            <a:pPr indent="0" marL="0">
              <a:buNone/>
            </a:pPr>
            <a:r>
              <a:rPr lang="en-US" sz="1400" b="1" dirty="0">
                <a:solidFill>
                  <a:srgbClr val="123B52"/>
                </a:solidFill>
              </a:rPr>
              <a:t>What fields exist?</a:t>
            </a:r>
            <a:endParaRPr lang="en-US" sz="1400" dirty="0"/>
          </a:p>
        </p:txBody>
      </p:sp>
      <p:sp>
        <p:nvSpPr>
          <p:cNvPr id="9" name="Text 7"/>
          <p:cNvSpPr/>
          <p:nvPr/>
        </p:nvSpPr>
        <p:spPr>
          <a:xfrm>
            <a:off x="1014984" y="2441448"/>
            <a:ext cx="2724912" cy="1042416"/>
          </a:xfrm>
          <a:prstGeom prst="rect">
            <a:avLst/>
          </a:prstGeom>
          <a:noFill/>
          <a:ln/>
        </p:spPr>
        <p:txBody>
          <a:bodyPr wrap="square" lIns="254" tIns="254" rIns="254" bIns="254" rtlCol="0" anchor="t">
            <a:normAutofit/>
          </a:bodyPr>
          <a:lstStyle/>
          <a:p>
            <a:pPr indent="0" marL="0">
              <a:buNone/>
            </a:pPr>
            <a:r>
              <a:rPr lang="en-US" sz="1700" dirty="0">
                <a:solidFill>
                  <a:srgbClr val="17202A"/>
                </a:solidFill>
              </a:rPr>
              <a:t>customer_name</a:t>
            </a:r>
            <a:endParaRPr lang="en-US" sz="1700" dirty="0"/>
          </a:p>
          <a:p>
            <a:pPr indent="0" marL="0">
              <a:buNone/>
            </a:pPr>
            <a:r>
              <a:rPr lang="en-US" sz="1700" dirty="0">
                <a:solidFill>
                  <a:srgbClr val="17202A"/>
                </a:solidFill>
              </a:rPr>
              <a:t>message</a:t>
            </a:r>
            <a:endParaRPr lang="en-US" sz="1700" dirty="0"/>
          </a:p>
          <a:p>
            <a:pPr indent="0" marL="0">
              <a:buNone/>
            </a:pPr>
            <a:r>
              <a:rPr lang="en-US" sz="1700" dirty="0">
                <a:solidFill>
                  <a:srgbClr val="17202A"/>
                </a:solidFill>
              </a:rPr>
              <a:t>urgent</a:t>
            </a:r>
            <a:endParaRPr lang="en-US" sz="1700" dirty="0"/>
          </a:p>
        </p:txBody>
      </p:sp>
      <p:sp>
        <p:nvSpPr>
          <p:cNvPr id="10" name="Shape 8"/>
          <p:cNvSpPr/>
          <p:nvPr/>
        </p:nvSpPr>
        <p:spPr>
          <a:xfrm>
            <a:off x="4480560" y="1828800"/>
            <a:ext cx="2926080" cy="1828800"/>
          </a:xfrm>
          <a:prstGeom prst="roundRect">
            <a:avLst>
              <a:gd name="adj" fmla="val 3500"/>
            </a:avLst>
          </a:prstGeom>
          <a:solidFill>
            <a:srgbClr val="FFFFFF"/>
          </a:solidFill>
          <a:ln w="12700">
            <a:solidFill>
              <a:srgbClr val="D8E1E8"/>
            </a:solidFill>
            <a:prstDash val="solid"/>
          </a:ln>
        </p:spPr>
      </p:sp>
      <p:sp>
        <p:nvSpPr>
          <p:cNvPr id="11" name="Shape 9"/>
          <p:cNvSpPr/>
          <p:nvPr/>
        </p:nvSpPr>
        <p:spPr>
          <a:xfrm>
            <a:off x="4681728" y="2029968"/>
            <a:ext cx="411480" cy="283464"/>
          </a:xfrm>
          <a:prstGeom prst="roundRect">
            <a:avLst>
              <a:gd name="adj" fmla="val 25806"/>
            </a:avLst>
          </a:prstGeom>
          <a:solidFill>
            <a:srgbClr val="2D9D78"/>
          </a:solidFill>
          <a:ln w="12700">
            <a:solidFill>
              <a:srgbClr val="2D9D78"/>
            </a:solidFill>
            <a:prstDash val="solid"/>
          </a:ln>
        </p:spPr>
      </p:sp>
      <p:sp>
        <p:nvSpPr>
          <p:cNvPr id="12" name="Text 10"/>
          <p:cNvSpPr/>
          <p:nvPr/>
        </p:nvSpPr>
        <p:spPr>
          <a:xfrm>
            <a:off x="4681728" y="2089404"/>
            <a:ext cx="411480" cy="137160"/>
          </a:xfrm>
          <a:prstGeom prst="rect">
            <a:avLst/>
          </a:prstGeom>
          <a:noFill/>
          <a:ln/>
        </p:spPr>
        <p:txBody>
          <a:bodyPr wrap="square" lIns="0" tIns="0" rIns="0" bIns="0" rtlCol="0" anchor="ctr"/>
          <a:lstStyle/>
          <a:p>
            <a:pPr algn="ctr" indent="0" marL="0">
              <a:buNone/>
            </a:pPr>
            <a:r>
              <a:rPr lang="en-US" sz="850" b="1" dirty="0">
                <a:solidFill>
                  <a:srgbClr val="FFFFFF"/>
                </a:solidFill>
              </a:rPr>
              <a:t>02</a:t>
            </a:r>
            <a:endParaRPr lang="en-US" sz="850" dirty="0"/>
          </a:p>
        </p:txBody>
      </p:sp>
      <p:sp>
        <p:nvSpPr>
          <p:cNvPr id="13" name="Text 11"/>
          <p:cNvSpPr/>
          <p:nvPr/>
        </p:nvSpPr>
        <p:spPr>
          <a:xfrm>
            <a:off x="5230368" y="2029968"/>
            <a:ext cx="1938528" cy="256032"/>
          </a:xfrm>
          <a:prstGeom prst="rect">
            <a:avLst/>
          </a:prstGeom>
          <a:noFill/>
          <a:ln/>
        </p:spPr>
        <p:txBody>
          <a:bodyPr wrap="square" lIns="0" tIns="0" rIns="0" bIns="0" rtlCol="0" anchor="ctr">
            <a:normAutofit/>
          </a:bodyPr>
          <a:lstStyle/>
          <a:p>
            <a:pPr indent="0" marL="0">
              <a:buNone/>
            </a:pPr>
            <a:r>
              <a:rPr lang="en-US" sz="1400" b="1" dirty="0">
                <a:solidFill>
                  <a:srgbClr val="123B52"/>
                </a:solidFill>
              </a:rPr>
              <a:t>What types are allowed?</a:t>
            </a:r>
            <a:endParaRPr lang="en-US" sz="1400" dirty="0"/>
          </a:p>
        </p:txBody>
      </p:sp>
      <p:sp>
        <p:nvSpPr>
          <p:cNvPr id="14" name="Text 12"/>
          <p:cNvSpPr/>
          <p:nvPr/>
        </p:nvSpPr>
        <p:spPr>
          <a:xfrm>
            <a:off x="4718304" y="2441448"/>
            <a:ext cx="2450592" cy="1042416"/>
          </a:xfrm>
          <a:prstGeom prst="rect">
            <a:avLst/>
          </a:prstGeom>
          <a:noFill/>
          <a:ln/>
        </p:spPr>
        <p:txBody>
          <a:bodyPr wrap="square" lIns="254" tIns="254" rIns="254" bIns="254" rtlCol="0" anchor="t">
            <a:normAutofit/>
          </a:bodyPr>
          <a:lstStyle/>
          <a:p>
            <a:pPr indent="0" marL="0">
              <a:buNone/>
            </a:pPr>
            <a:r>
              <a:rPr lang="en-US" sz="1700" dirty="0">
                <a:solidFill>
                  <a:srgbClr val="17202A"/>
                </a:solidFill>
              </a:rPr>
              <a:t>str</a:t>
            </a:r>
            <a:endParaRPr lang="en-US" sz="1700" dirty="0"/>
          </a:p>
          <a:p>
            <a:pPr indent="0" marL="0">
              <a:buNone/>
            </a:pPr>
            <a:r>
              <a:rPr lang="en-US" sz="1700" dirty="0">
                <a:solidFill>
                  <a:srgbClr val="17202A"/>
                </a:solidFill>
              </a:rPr>
              <a:t>str</a:t>
            </a:r>
            <a:endParaRPr lang="en-US" sz="1700" dirty="0"/>
          </a:p>
          <a:p>
            <a:pPr indent="0" marL="0">
              <a:buNone/>
            </a:pPr>
            <a:r>
              <a:rPr lang="en-US" sz="1700" dirty="0">
                <a:solidFill>
                  <a:srgbClr val="17202A"/>
                </a:solidFill>
              </a:rPr>
              <a:t>bool</a:t>
            </a:r>
            <a:endParaRPr lang="en-US" sz="1700" dirty="0"/>
          </a:p>
        </p:txBody>
      </p:sp>
      <p:sp>
        <p:nvSpPr>
          <p:cNvPr id="15" name="Shape 13"/>
          <p:cNvSpPr/>
          <p:nvPr/>
        </p:nvSpPr>
        <p:spPr>
          <a:xfrm>
            <a:off x="7909560" y="1828800"/>
            <a:ext cx="3474720" cy="1828800"/>
          </a:xfrm>
          <a:prstGeom prst="roundRect">
            <a:avLst>
              <a:gd name="adj" fmla="val 3500"/>
            </a:avLst>
          </a:prstGeom>
          <a:solidFill>
            <a:srgbClr val="FFFFFF"/>
          </a:solidFill>
          <a:ln w="12700">
            <a:solidFill>
              <a:srgbClr val="D8E1E8"/>
            </a:solidFill>
            <a:prstDash val="solid"/>
          </a:ln>
        </p:spPr>
      </p:sp>
      <p:sp>
        <p:nvSpPr>
          <p:cNvPr id="16" name="Shape 14"/>
          <p:cNvSpPr/>
          <p:nvPr/>
        </p:nvSpPr>
        <p:spPr>
          <a:xfrm>
            <a:off x="8110728" y="2029968"/>
            <a:ext cx="411480" cy="283464"/>
          </a:xfrm>
          <a:prstGeom prst="roundRect">
            <a:avLst>
              <a:gd name="adj" fmla="val 25806"/>
            </a:avLst>
          </a:prstGeom>
          <a:solidFill>
            <a:srgbClr val="E09F3E"/>
          </a:solidFill>
          <a:ln w="12700">
            <a:solidFill>
              <a:srgbClr val="E09F3E"/>
            </a:solidFill>
            <a:prstDash val="solid"/>
          </a:ln>
        </p:spPr>
      </p:sp>
      <p:sp>
        <p:nvSpPr>
          <p:cNvPr id="17" name="Text 15"/>
          <p:cNvSpPr/>
          <p:nvPr/>
        </p:nvSpPr>
        <p:spPr>
          <a:xfrm>
            <a:off x="8110728" y="2089404"/>
            <a:ext cx="411480" cy="137160"/>
          </a:xfrm>
          <a:prstGeom prst="rect">
            <a:avLst/>
          </a:prstGeom>
          <a:noFill/>
          <a:ln/>
        </p:spPr>
        <p:txBody>
          <a:bodyPr wrap="square" lIns="0" tIns="0" rIns="0" bIns="0" rtlCol="0" anchor="ctr"/>
          <a:lstStyle/>
          <a:p>
            <a:pPr algn="ctr" indent="0" marL="0">
              <a:buNone/>
            </a:pPr>
            <a:r>
              <a:rPr lang="en-US" sz="850" b="1" dirty="0">
                <a:solidFill>
                  <a:srgbClr val="FFFFFF"/>
                </a:solidFill>
              </a:rPr>
              <a:t>03</a:t>
            </a:r>
            <a:endParaRPr lang="en-US" sz="850" dirty="0"/>
          </a:p>
        </p:txBody>
      </p:sp>
      <p:sp>
        <p:nvSpPr>
          <p:cNvPr id="18" name="Text 16"/>
          <p:cNvSpPr/>
          <p:nvPr/>
        </p:nvSpPr>
        <p:spPr>
          <a:xfrm>
            <a:off x="8659368" y="2029968"/>
            <a:ext cx="2487168" cy="256032"/>
          </a:xfrm>
          <a:prstGeom prst="rect">
            <a:avLst/>
          </a:prstGeom>
          <a:noFill/>
          <a:ln/>
        </p:spPr>
        <p:txBody>
          <a:bodyPr wrap="square" lIns="0" tIns="0" rIns="0" bIns="0" rtlCol="0" anchor="ctr">
            <a:normAutofit/>
          </a:bodyPr>
          <a:lstStyle/>
          <a:p>
            <a:pPr indent="0" marL="0">
              <a:buNone/>
            </a:pPr>
            <a:r>
              <a:rPr lang="en-US" sz="1400" b="1" dirty="0">
                <a:solidFill>
                  <a:srgbClr val="123B52"/>
                </a:solidFill>
              </a:rPr>
              <a:t>What rules must pass?</a:t>
            </a:r>
            <a:endParaRPr lang="en-US" sz="1400" dirty="0"/>
          </a:p>
        </p:txBody>
      </p:sp>
      <p:sp>
        <p:nvSpPr>
          <p:cNvPr id="19" name="Text 17"/>
          <p:cNvSpPr/>
          <p:nvPr/>
        </p:nvSpPr>
        <p:spPr>
          <a:xfrm>
            <a:off x="8147304" y="2441448"/>
            <a:ext cx="2999232" cy="1042416"/>
          </a:xfrm>
          <a:prstGeom prst="rect">
            <a:avLst/>
          </a:prstGeom>
          <a:noFill/>
          <a:ln/>
        </p:spPr>
        <p:txBody>
          <a:bodyPr wrap="square" lIns="254" tIns="254" rIns="254" bIns="254" rtlCol="0" anchor="t">
            <a:normAutofit/>
          </a:bodyPr>
          <a:lstStyle/>
          <a:p>
            <a:pPr indent="0" marL="0">
              <a:buNone/>
            </a:pPr>
            <a:r>
              <a:rPr lang="en-US" sz="1700" dirty="0">
                <a:solidFill>
                  <a:srgbClr val="17202A"/>
                </a:solidFill>
              </a:rPr>
              <a:t>name length</a:t>
            </a:r>
            <a:endParaRPr lang="en-US" sz="1700" dirty="0"/>
          </a:p>
          <a:p>
            <a:pPr indent="0" marL="0">
              <a:buNone/>
            </a:pPr>
            <a:r>
              <a:rPr lang="en-US" sz="1700" dirty="0">
                <a:solidFill>
                  <a:srgbClr val="17202A"/>
                </a:solidFill>
              </a:rPr>
              <a:t>message length</a:t>
            </a:r>
            <a:endParaRPr lang="en-US" sz="1700" dirty="0"/>
          </a:p>
          <a:p>
            <a:pPr indent="0" marL="0">
              <a:buNone/>
            </a:pPr>
            <a:r>
              <a:rPr lang="en-US" sz="1700" dirty="0">
                <a:solidFill>
                  <a:srgbClr val="17202A"/>
                </a:solidFill>
              </a:rPr>
              <a:t>valid values</a:t>
            </a:r>
            <a:endParaRPr lang="en-US" sz="1700" dirty="0"/>
          </a:p>
        </p:txBody>
      </p:sp>
      <p:sp>
        <p:nvSpPr>
          <p:cNvPr id="20" name="Shape 18"/>
          <p:cNvSpPr/>
          <p:nvPr/>
        </p:nvSpPr>
        <p:spPr>
          <a:xfrm>
            <a:off x="960120" y="4645152"/>
            <a:ext cx="10241280" cy="420624"/>
          </a:xfrm>
          <a:prstGeom prst="rect">
            <a:avLst/>
          </a:prstGeom>
          <a:solidFill>
            <a:srgbClr val="123B52"/>
          </a:solidFill>
          <a:ln w="12700">
            <a:solidFill>
              <a:srgbClr val="123B52"/>
            </a:solidFill>
            <a:prstDash val="solid"/>
          </a:ln>
        </p:spPr>
      </p:sp>
      <p:sp>
        <p:nvSpPr>
          <p:cNvPr id="21" name="Text 19"/>
          <p:cNvSpPr/>
          <p:nvPr/>
        </p:nvSpPr>
        <p:spPr>
          <a:xfrm>
            <a:off x="1124712" y="4736592"/>
            <a:ext cx="411480" cy="228600"/>
          </a:xfrm>
          <a:prstGeom prst="rect">
            <a:avLst/>
          </a:prstGeom>
          <a:noFill/>
          <a:ln/>
        </p:spPr>
        <p:txBody>
          <a:bodyPr wrap="square" lIns="0" tIns="0" rIns="0" bIns="0" rtlCol="0" anchor="ctr"/>
          <a:lstStyle/>
          <a:p>
            <a:pPr indent="0" marL="0">
              <a:buNone/>
            </a:pPr>
            <a:r>
              <a:rPr lang="en-US" sz="950" b="1" dirty="0">
                <a:solidFill>
                  <a:srgbClr val="FFFFFF"/>
                </a:solidFill>
              </a:rPr>
              <a:t>01</a:t>
            </a:r>
            <a:endParaRPr lang="en-US" sz="950" dirty="0"/>
          </a:p>
        </p:txBody>
      </p:sp>
      <p:sp>
        <p:nvSpPr>
          <p:cNvPr id="22" name="Text 20"/>
          <p:cNvSpPr/>
          <p:nvPr/>
        </p:nvSpPr>
        <p:spPr>
          <a:xfrm>
            <a:off x="1673352" y="4718304"/>
            <a:ext cx="9281160" cy="274320"/>
          </a:xfrm>
          <a:prstGeom prst="rect">
            <a:avLst/>
          </a:prstGeom>
          <a:noFill/>
          <a:ln/>
        </p:spPr>
        <p:txBody>
          <a:bodyPr wrap="square" lIns="0" tIns="0" rIns="0" bIns="0" rtlCol="0" anchor="ctr"/>
          <a:lstStyle/>
          <a:p>
            <a:pPr indent="0" marL="0">
              <a:buNone/>
            </a:pPr>
            <a:r>
              <a:rPr lang="en-US" sz="1500" b="1" dirty="0">
                <a:solidFill>
                  <a:srgbClr val="FFFFFF"/>
                </a:solidFill>
              </a:rPr>
              <a:t>For agents, clear contracts make tools safer and easier to call.</a:t>
            </a:r>
            <a:endParaRPr lang="en-US" sz="1500" dirty="0"/>
          </a:p>
        </p:txBody>
      </p:sp>
      <p:sp>
        <p:nvSpPr>
          <p:cNvPr id="25" name="Slide Number Placeholder 0"/>
          <p:cNvSpPr>
            <a:spLocks noGrp="1"/>
          </p:cNvSpPr>
          <p:nvPr>
            <p:ph type="sldNum" sz="quarter" idx="4294967295"/>
          </p:nvPr>
        </p:nvSpPr>
        <p:spPr>
          <a:xfrm>
            <a:off x="11612880" y="6547104"/>
            <a:ext cx="800000" cy="300000"/>
          </a:xfrm>
          <a:prstGeom prst="rect">
            <a:avLst/>
          </a:prstGeom>
          <a:extLst>
            <a:ext uri="{C572A759-6A51-4108-AA02-DFA0A04FC94B}">
              <ma14:wrappingTextBoxFlag xmlns:ma14="http://schemas.microsoft.com/office/mac/drawingml/2011/main" val="0"/>
            </a:ext>
          </a:extLst>
        </p:spPr>
        <p:txBody>
          <a:bodyPr/>
          <a:lstStyle>
            <a:lvl1pPr>
              <a:defRPr sz="780">
                <a:solidFill>
                  <a:srgbClr val="5B6B7A"/>
                </a:solidFill>
                <a:latin typeface="Aptos"/>
                <a:ea typeface="Aptos"/>
                <a:cs typeface="Aptos"/>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AFC"/>
        </a:solidFill>
      </p:bgPr>
    </p:bg>
    <p:spTree>
      <p:nvGrpSpPr>
        <p:cNvPr id="1" name=""/>
        <p:cNvGrpSpPr/>
        <p:nvPr/>
      </p:nvGrpSpPr>
      <p:grpSpPr>
        <a:xfrm>
          <a:off x="0" y="0"/>
          <a:ext cx="0" cy="0"/>
          <a:chOff x="0" y="0"/>
          <a:chExt cx="0" cy="0"/>
        </a:xfrm>
      </p:grpSpPr>
      <p:sp>
        <p:nvSpPr>
          <p:cNvPr id="2" name="Text 0"/>
          <p:cNvSpPr/>
          <p:nvPr/>
        </p:nvSpPr>
        <p:spPr>
          <a:xfrm>
            <a:off x="658368" y="384048"/>
            <a:ext cx="5943600" cy="219456"/>
          </a:xfrm>
          <a:prstGeom prst="rect">
            <a:avLst/>
          </a:prstGeom>
          <a:noFill/>
          <a:ln/>
        </p:spPr>
        <p:txBody>
          <a:bodyPr wrap="square" lIns="0" tIns="0" rIns="0" bIns="0" rtlCol="0" anchor="ctr"/>
          <a:lstStyle/>
          <a:p>
            <a:pPr indent="0" marL="0">
              <a:buNone/>
            </a:pPr>
            <a:r>
              <a:rPr lang="en-US" sz="950" b="1" dirty="0">
                <a:solidFill>
                  <a:srgbClr val="18A7B5"/>
                </a:solidFill>
              </a:rPr>
              <a:t>BASEMODEL BASICS</a:t>
            </a:r>
            <a:endParaRPr lang="en-US" sz="950" dirty="0"/>
          </a:p>
        </p:txBody>
      </p:sp>
      <p:sp>
        <p:nvSpPr>
          <p:cNvPr id="3" name="Text 1"/>
          <p:cNvSpPr/>
          <p:nvPr/>
        </p:nvSpPr>
        <p:spPr>
          <a:xfrm>
            <a:off x="658368" y="658368"/>
            <a:ext cx="10698480" cy="475488"/>
          </a:xfrm>
          <a:prstGeom prst="rect">
            <a:avLst/>
          </a:prstGeom>
          <a:noFill/>
          <a:ln/>
        </p:spPr>
        <p:txBody>
          <a:bodyPr wrap="square" lIns="0" tIns="0" rIns="0" bIns="0" rtlCol="0" anchor="ctr">
            <a:normAutofit/>
          </a:bodyPr>
          <a:lstStyle/>
          <a:p>
            <a:pPr indent="0" marL="0">
              <a:buNone/>
            </a:pPr>
            <a:r>
              <a:rPr lang="en-US" sz="2700" b="1" dirty="0">
                <a:solidFill>
                  <a:srgbClr val="123B52"/>
                </a:solidFill>
              </a:rPr>
              <a:t>First Pydantic Model: Ticket</a:t>
            </a:r>
            <a:endParaRPr lang="en-US" sz="2700" dirty="0"/>
          </a:p>
        </p:txBody>
      </p:sp>
      <p:sp>
        <p:nvSpPr>
          <p:cNvPr id="4" name="Shape 2"/>
          <p:cNvSpPr/>
          <p:nvPr/>
        </p:nvSpPr>
        <p:spPr>
          <a:xfrm>
            <a:off x="777240" y="1325880"/>
            <a:ext cx="5577840" cy="4434840"/>
          </a:xfrm>
          <a:prstGeom prst="roundRect">
            <a:avLst>
              <a:gd name="adj" fmla="val 1031"/>
            </a:avLst>
          </a:prstGeom>
          <a:solidFill>
            <a:srgbClr val="0E1720"/>
          </a:solidFill>
          <a:ln w="12700">
            <a:solidFill>
              <a:srgbClr val="1E2A35"/>
            </a:solidFill>
            <a:prstDash val="solid"/>
          </a:ln>
        </p:spPr>
      </p:sp>
      <p:sp>
        <p:nvSpPr>
          <p:cNvPr id="5" name="Text 3"/>
          <p:cNvSpPr/>
          <p:nvPr/>
        </p:nvSpPr>
        <p:spPr>
          <a:xfrm>
            <a:off x="996696" y="1490472"/>
            <a:ext cx="5138928" cy="4105656"/>
          </a:xfrm>
          <a:prstGeom prst="rect">
            <a:avLst/>
          </a:prstGeom>
          <a:noFill/>
          <a:ln/>
        </p:spPr>
        <p:txBody>
          <a:bodyPr wrap="square" lIns="0" tIns="0" rIns="0" bIns="0" rtlCol="0" anchor="ctr">
            <a:normAutofit/>
          </a:bodyPr>
          <a:lstStyle/>
          <a:p>
            <a:pPr indent="0" marL="0">
              <a:buNone/>
            </a:pPr>
            <a:r>
              <a:rPr lang="en-US" sz="1350" dirty="0">
                <a:solidFill>
                  <a:srgbClr val="EAF2F8"/>
                </a:solidFill>
                <a:latin typeface="Aptos Mono" pitchFamily="34" charset="0"/>
                <a:ea typeface="Aptos Mono" pitchFamily="34" charset="-122"/>
                <a:cs typeface="Aptos Mono" pitchFamily="34" charset="-120"/>
              </a:rPr>
              <a:t>from pydantic import BaseModel</a:t>
            </a:r>
            <a:endParaRPr lang="en-US" sz="1350" dirty="0"/>
          </a:p>
          <a:p>
            <a:pPr indent="0" marL="0">
              <a:buNone/>
            </a:pPr>
            <a:endParaRPr lang="en-US" sz="1350" dirty="0"/>
          </a:p>
          <a:p>
            <a:pPr indent="0" marL="0">
              <a:buNone/>
            </a:pPr>
            <a:endParaRPr lang="en-US" sz="1350" dirty="0"/>
          </a:p>
          <a:p>
            <a:pPr indent="0" marL="0">
              <a:buNone/>
            </a:pPr>
            <a:r>
              <a:rPr lang="en-US" sz="1350" dirty="0">
                <a:solidFill>
                  <a:srgbClr val="EAF2F8"/>
                </a:solidFill>
                <a:latin typeface="Aptos Mono" pitchFamily="34" charset="0"/>
                <a:ea typeface="Aptos Mono" pitchFamily="34" charset="-122"/>
                <a:cs typeface="Aptos Mono" pitchFamily="34" charset="-120"/>
              </a:rPr>
              <a:t>class Ticket(BaseModel):</a:t>
            </a:r>
            <a:endParaRPr lang="en-US" sz="1350" dirty="0"/>
          </a:p>
          <a:p>
            <a:pPr indent="0" marL="0">
              <a:buNone/>
            </a:pPr>
            <a:r>
              <a:rPr lang="en-US" sz="1350" dirty="0">
                <a:solidFill>
                  <a:srgbClr val="EAF2F8"/>
                </a:solidFill>
                <a:latin typeface="Aptos Mono" pitchFamily="34" charset="0"/>
                <a:ea typeface="Aptos Mono" pitchFamily="34" charset="-122"/>
                <a:cs typeface="Aptos Mono" pitchFamily="34" charset="-120"/>
              </a:rPr>
              <a:t>    customer_name: str</a:t>
            </a:r>
            <a:endParaRPr lang="en-US" sz="1350" dirty="0"/>
          </a:p>
          <a:p>
            <a:pPr indent="0" marL="0">
              <a:buNone/>
            </a:pPr>
            <a:r>
              <a:rPr lang="en-US" sz="1350" dirty="0">
                <a:solidFill>
                  <a:srgbClr val="EAF2F8"/>
                </a:solidFill>
                <a:latin typeface="Aptos Mono" pitchFamily="34" charset="0"/>
                <a:ea typeface="Aptos Mono" pitchFamily="34" charset="-122"/>
                <a:cs typeface="Aptos Mono" pitchFamily="34" charset="-120"/>
              </a:rPr>
              <a:t>    message: str</a:t>
            </a:r>
            <a:endParaRPr lang="en-US" sz="1350" dirty="0"/>
          </a:p>
          <a:p>
            <a:pPr indent="0" marL="0">
              <a:buNone/>
            </a:pPr>
            <a:r>
              <a:rPr lang="en-US" sz="1350" dirty="0">
                <a:solidFill>
                  <a:srgbClr val="EAF2F8"/>
                </a:solidFill>
                <a:latin typeface="Aptos Mono" pitchFamily="34" charset="0"/>
                <a:ea typeface="Aptos Mono" pitchFamily="34" charset="-122"/>
                <a:cs typeface="Aptos Mono" pitchFamily="34" charset="-120"/>
              </a:rPr>
              <a:t>    urgent: bool = False</a:t>
            </a:r>
            <a:endParaRPr lang="en-US" sz="1350" dirty="0"/>
          </a:p>
          <a:p>
            <a:pPr indent="0" marL="0">
              <a:buNone/>
            </a:pPr>
            <a:endParaRPr lang="en-US" sz="1350" dirty="0"/>
          </a:p>
          <a:p>
            <a:pPr indent="0" marL="0">
              <a:buNone/>
            </a:pPr>
            <a:endParaRPr lang="en-US" sz="1350" dirty="0"/>
          </a:p>
          <a:p>
            <a:pPr indent="0" marL="0">
              <a:buNone/>
            </a:pPr>
            <a:r>
              <a:rPr lang="en-US" sz="1350" dirty="0">
                <a:solidFill>
                  <a:srgbClr val="EAF2F8"/>
                </a:solidFill>
                <a:latin typeface="Aptos Mono" pitchFamily="34" charset="0"/>
                <a:ea typeface="Aptos Mono" pitchFamily="34" charset="-122"/>
                <a:cs typeface="Aptos Mono" pitchFamily="34" charset="-120"/>
              </a:rPr>
              <a:t>ticket = Ticket(</a:t>
            </a:r>
            <a:endParaRPr lang="en-US" sz="1350" dirty="0"/>
          </a:p>
          <a:p>
            <a:pPr indent="0" marL="0">
              <a:buNone/>
            </a:pPr>
            <a:r>
              <a:rPr lang="en-US" sz="1350" dirty="0">
                <a:solidFill>
                  <a:srgbClr val="EAF2F8"/>
                </a:solidFill>
                <a:latin typeface="Aptos Mono" pitchFamily="34" charset="0"/>
                <a:ea typeface="Aptos Mono" pitchFamily="34" charset="-122"/>
                <a:cs typeface="Aptos Mono" pitchFamily="34" charset="-120"/>
              </a:rPr>
              <a:t>    customer_name="Ahmed",</a:t>
            </a:r>
            <a:endParaRPr lang="en-US" sz="1350" dirty="0"/>
          </a:p>
          <a:p>
            <a:pPr indent="0" marL="0">
              <a:buNone/>
            </a:pPr>
            <a:r>
              <a:rPr lang="en-US" sz="1350" dirty="0">
                <a:solidFill>
                  <a:srgbClr val="EAF2F8"/>
                </a:solidFill>
                <a:latin typeface="Aptos Mono" pitchFamily="34" charset="0"/>
                <a:ea typeface="Aptos Mono" pitchFamily="34" charset="-122"/>
                <a:cs typeface="Aptos Mono" pitchFamily="34" charset="-120"/>
              </a:rPr>
              <a:t>    message="My payment failed",</a:t>
            </a:r>
            <a:endParaRPr lang="en-US" sz="1350" dirty="0"/>
          </a:p>
          <a:p>
            <a:pPr indent="0" marL="0">
              <a:buNone/>
            </a:pPr>
            <a:r>
              <a:rPr lang="en-US" sz="1350" dirty="0">
                <a:solidFill>
                  <a:srgbClr val="EAF2F8"/>
                </a:solidFill>
                <a:latin typeface="Aptos Mono" pitchFamily="34" charset="0"/>
                <a:ea typeface="Aptos Mono" pitchFamily="34" charset="-122"/>
                <a:cs typeface="Aptos Mono" pitchFamily="34" charset="-120"/>
              </a:rPr>
              <a:t>    urgent=True,</a:t>
            </a:r>
            <a:endParaRPr lang="en-US" sz="1350" dirty="0"/>
          </a:p>
          <a:p>
            <a:pPr indent="0" marL="0">
              <a:buNone/>
            </a:pPr>
            <a:r>
              <a:rPr lang="en-US" sz="1350" dirty="0">
                <a:solidFill>
                  <a:srgbClr val="EAF2F8"/>
                </a:solidFill>
                <a:latin typeface="Aptos Mono" pitchFamily="34" charset="0"/>
                <a:ea typeface="Aptos Mono" pitchFamily="34" charset="-122"/>
                <a:cs typeface="Aptos Mono" pitchFamily="34" charset="-120"/>
              </a:rPr>
              <a:t>)</a:t>
            </a:r>
            <a:endParaRPr lang="en-US" sz="1350" dirty="0"/>
          </a:p>
          <a:p>
            <a:pPr indent="0" marL="0">
              <a:buNone/>
            </a:pPr>
            <a:endParaRPr lang="en-US" sz="1350" dirty="0"/>
          </a:p>
          <a:p>
            <a:pPr indent="0" marL="0">
              <a:buNone/>
            </a:pPr>
            <a:r>
              <a:rPr lang="en-US" sz="1350" dirty="0">
                <a:solidFill>
                  <a:srgbClr val="EAF2F8"/>
                </a:solidFill>
                <a:latin typeface="Aptos Mono" pitchFamily="34" charset="0"/>
                <a:ea typeface="Aptos Mono" pitchFamily="34" charset="-122"/>
                <a:cs typeface="Aptos Mono" pitchFamily="34" charset="-120"/>
              </a:rPr>
              <a:t>print(ticket.message)</a:t>
            </a:r>
            <a:endParaRPr lang="en-US" sz="1350" dirty="0"/>
          </a:p>
        </p:txBody>
      </p:sp>
      <p:sp>
        <p:nvSpPr>
          <p:cNvPr id="6" name="Shape 4"/>
          <p:cNvSpPr/>
          <p:nvPr/>
        </p:nvSpPr>
        <p:spPr>
          <a:xfrm>
            <a:off x="6720840" y="1463040"/>
            <a:ext cx="4389120" cy="1737360"/>
          </a:xfrm>
          <a:prstGeom prst="roundRect">
            <a:avLst>
              <a:gd name="adj" fmla="val 3684"/>
            </a:avLst>
          </a:prstGeom>
          <a:solidFill>
            <a:srgbClr val="FFFFFF"/>
          </a:solidFill>
          <a:ln w="12700">
            <a:solidFill>
              <a:srgbClr val="D8E1E8"/>
            </a:solidFill>
            <a:prstDash val="solid"/>
          </a:ln>
        </p:spPr>
      </p:sp>
      <p:sp>
        <p:nvSpPr>
          <p:cNvPr id="7" name="Text 5"/>
          <p:cNvSpPr/>
          <p:nvPr/>
        </p:nvSpPr>
        <p:spPr>
          <a:xfrm>
            <a:off x="6958584" y="1664208"/>
            <a:ext cx="3913632" cy="256032"/>
          </a:xfrm>
          <a:prstGeom prst="rect">
            <a:avLst/>
          </a:prstGeom>
          <a:noFill/>
          <a:ln/>
        </p:spPr>
        <p:txBody>
          <a:bodyPr wrap="square" lIns="0" tIns="0" rIns="0" bIns="0" rtlCol="0" anchor="ctr">
            <a:normAutofit/>
          </a:bodyPr>
          <a:lstStyle/>
          <a:p>
            <a:pPr indent="0" marL="0">
              <a:buNone/>
            </a:pPr>
            <a:r>
              <a:rPr lang="en-US" sz="1400" b="1" dirty="0">
                <a:solidFill>
                  <a:srgbClr val="123B52"/>
                </a:solidFill>
              </a:rPr>
              <a:t>What students should notice</a:t>
            </a:r>
            <a:endParaRPr lang="en-US" sz="1400" dirty="0"/>
          </a:p>
        </p:txBody>
      </p:sp>
      <p:sp>
        <p:nvSpPr>
          <p:cNvPr id="8" name="Text 6"/>
          <p:cNvSpPr/>
          <p:nvPr/>
        </p:nvSpPr>
        <p:spPr>
          <a:xfrm>
            <a:off x="6958584" y="2075688"/>
            <a:ext cx="3913632" cy="950976"/>
          </a:xfrm>
          <a:prstGeom prst="rect">
            <a:avLst/>
          </a:prstGeom>
          <a:noFill/>
          <a:ln/>
        </p:spPr>
        <p:txBody>
          <a:bodyPr wrap="square" lIns="254" tIns="254" rIns="254" bIns="254" rtlCol="0" anchor="t">
            <a:normAutofit/>
          </a:bodyPr>
          <a:lstStyle/>
          <a:p>
            <a:pPr indent="0" marL="0">
              <a:buNone/>
            </a:pPr>
            <a:r>
              <a:rPr lang="en-US" sz="1460" dirty="0">
                <a:solidFill>
                  <a:srgbClr val="17202A"/>
                </a:solidFill>
              </a:rPr>
              <a:t>This looks like a class, but it behaves like a validated data object.</a:t>
            </a:r>
            <a:endParaRPr lang="en-US" sz="1460" dirty="0"/>
          </a:p>
          <a:p>
            <a:pPr indent="0" marL="0">
              <a:buNone/>
            </a:pPr>
            <a:endParaRPr lang="en-US" sz="1460" dirty="0"/>
          </a:p>
          <a:p>
            <a:pPr indent="0" marL="0">
              <a:buNone/>
            </a:pPr>
            <a:r>
              <a:rPr lang="en-US" sz="1460" dirty="0">
                <a:solidFill>
                  <a:srgbClr val="17202A"/>
                </a:solidFill>
              </a:rPr>
              <a:t>Each field has a name, a type, and optionally a default value.</a:t>
            </a:r>
            <a:endParaRPr lang="en-US" sz="1460" dirty="0"/>
          </a:p>
        </p:txBody>
      </p:sp>
      <p:sp>
        <p:nvSpPr>
          <p:cNvPr id="9" name="Shape 7"/>
          <p:cNvSpPr/>
          <p:nvPr/>
        </p:nvSpPr>
        <p:spPr>
          <a:xfrm>
            <a:off x="6720840" y="3703320"/>
            <a:ext cx="4389120" cy="960120"/>
          </a:xfrm>
          <a:prstGeom prst="roundRect">
            <a:avLst>
              <a:gd name="adj" fmla="val 6667"/>
            </a:avLst>
          </a:prstGeom>
          <a:solidFill>
            <a:srgbClr val="EAF7F9"/>
          </a:solidFill>
          <a:ln w="12700">
            <a:solidFill>
              <a:srgbClr val="B9E4EA"/>
            </a:solidFill>
            <a:prstDash val="solid"/>
          </a:ln>
        </p:spPr>
      </p:sp>
      <p:sp>
        <p:nvSpPr>
          <p:cNvPr id="10" name="Text 8"/>
          <p:cNvSpPr/>
          <p:nvPr/>
        </p:nvSpPr>
        <p:spPr>
          <a:xfrm>
            <a:off x="6958584" y="3904488"/>
            <a:ext cx="3913632" cy="256032"/>
          </a:xfrm>
          <a:prstGeom prst="rect">
            <a:avLst/>
          </a:prstGeom>
          <a:noFill/>
          <a:ln/>
        </p:spPr>
        <p:txBody>
          <a:bodyPr wrap="square" lIns="0" tIns="0" rIns="0" bIns="0" rtlCol="0" anchor="ctr">
            <a:normAutofit/>
          </a:bodyPr>
          <a:lstStyle/>
          <a:p>
            <a:pPr indent="0" marL="0">
              <a:buNone/>
            </a:pPr>
            <a:r>
              <a:rPr lang="en-US" sz="1400" b="1" dirty="0">
                <a:solidFill>
                  <a:srgbClr val="18A7B5"/>
                </a:solidFill>
              </a:rPr>
              <a:t>Teaching line</a:t>
            </a:r>
            <a:endParaRPr lang="en-US" sz="1400" dirty="0"/>
          </a:p>
        </p:txBody>
      </p:sp>
      <p:sp>
        <p:nvSpPr>
          <p:cNvPr id="11" name="Text 9"/>
          <p:cNvSpPr/>
          <p:nvPr/>
        </p:nvSpPr>
        <p:spPr>
          <a:xfrm>
            <a:off x="6958584" y="4315968"/>
            <a:ext cx="3913632" cy="173736"/>
          </a:xfrm>
          <a:prstGeom prst="rect">
            <a:avLst/>
          </a:prstGeom>
          <a:noFill/>
          <a:ln/>
        </p:spPr>
        <p:txBody>
          <a:bodyPr wrap="square" lIns="254" tIns="254" rIns="254" bIns="254" rtlCol="0" anchor="t">
            <a:normAutofit/>
          </a:bodyPr>
          <a:lstStyle/>
          <a:p>
            <a:pPr indent="0" marL="0">
              <a:buNone/>
            </a:pPr>
            <a:r>
              <a:rPr lang="en-US" sz="1520" dirty="0">
                <a:solidFill>
                  <a:srgbClr val="17202A"/>
                </a:solidFill>
              </a:rPr>
              <a:t>A Pydantic model is the shape of data that our function expects to receive.</a:t>
            </a:r>
            <a:endParaRPr lang="en-US" sz="1520" dirty="0"/>
          </a:p>
        </p:txBody>
      </p:sp>
      <p:sp>
        <p:nvSpPr>
          <p:cNvPr id="25" name="Slide Number Placeholder 0"/>
          <p:cNvSpPr>
            <a:spLocks noGrp="1"/>
          </p:cNvSpPr>
          <p:nvPr>
            <p:ph type="sldNum" sz="quarter" idx="4294967295"/>
          </p:nvPr>
        </p:nvSpPr>
        <p:spPr>
          <a:xfrm>
            <a:off x="11612880" y="6547104"/>
            <a:ext cx="800000" cy="300000"/>
          </a:xfrm>
          <a:prstGeom prst="rect">
            <a:avLst/>
          </a:prstGeom>
          <a:extLst>
            <a:ext uri="{C572A759-6A51-4108-AA02-DFA0A04FC94B}">
              <ma14:wrappingTextBoxFlag xmlns:ma14="http://schemas.microsoft.com/office/mac/drawingml/2011/main" val="0"/>
            </a:ext>
          </a:extLst>
        </p:spPr>
        <p:txBody>
          <a:bodyPr/>
          <a:lstStyle>
            <a:lvl1pPr>
              <a:defRPr sz="780">
                <a:solidFill>
                  <a:srgbClr val="5B6B7A"/>
                </a:solidFill>
                <a:latin typeface="Aptos"/>
                <a:ea typeface="Aptos"/>
                <a:cs typeface="Aptos"/>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AFC"/>
        </a:solidFill>
      </p:bgPr>
    </p:bg>
    <p:spTree>
      <p:nvGrpSpPr>
        <p:cNvPr id="1" name=""/>
        <p:cNvGrpSpPr/>
        <p:nvPr/>
      </p:nvGrpSpPr>
      <p:grpSpPr>
        <a:xfrm>
          <a:off x="0" y="0"/>
          <a:ext cx="0" cy="0"/>
          <a:chOff x="0" y="0"/>
          <a:chExt cx="0" cy="0"/>
        </a:xfrm>
      </p:grpSpPr>
      <p:sp>
        <p:nvSpPr>
          <p:cNvPr id="2" name="Text 0"/>
          <p:cNvSpPr/>
          <p:nvPr/>
        </p:nvSpPr>
        <p:spPr>
          <a:xfrm>
            <a:off x="658368" y="384048"/>
            <a:ext cx="5943600" cy="219456"/>
          </a:xfrm>
          <a:prstGeom prst="rect">
            <a:avLst/>
          </a:prstGeom>
          <a:noFill/>
          <a:ln/>
        </p:spPr>
        <p:txBody>
          <a:bodyPr wrap="square" lIns="0" tIns="0" rIns="0" bIns="0" rtlCol="0" anchor="ctr"/>
          <a:lstStyle/>
          <a:p>
            <a:pPr indent="0" marL="0">
              <a:buNone/>
            </a:pPr>
            <a:r>
              <a:rPr lang="en-US" sz="950" b="1" dirty="0">
                <a:solidFill>
                  <a:srgbClr val="18A7B5"/>
                </a:solidFill>
              </a:rPr>
              <a:t>BAD DATA SHOULD STOP HERE</a:t>
            </a:r>
            <a:endParaRPr lang="en-US" sz="950" dirty="0"/>
          </a:p>
        </p:txBody>
      </p:sp>
      <p:sp>
        <p:nvSpPr>
          <p:cNvPr id="3" name="Text 1"/>
          <p:cNvSpPr/>
          <p:nvPr/>
        </p:nvSpPr>
        <p:spPr>
          <a:xfrm>
            <a:off x="658368" y="658368"/>
            <a:ext cx="10698480" cy="475488"/>
          </a:xfrm>
          <a:prstGeom prst="rect">
            <a:avLst/>
          </a:prstGeom>
          <a:noFill/>
          <a:ln/>
        </p:spPr>
        <p:txBody>
          <a:bodyPr wrap="square" lIns="0" tIns="0" rIns="0" bIns="0" rtlCol="0" anchor="ctr">
            <a:normAutofit/>
          </a:bodyPr>
          <a:lstStyle/>
          <a:p>
            <a:pPr indent="0" marL="0">
              <a:buNone/>
            </a:pPr>
            <a:r>
              <a:rPr lang="en-US" sz="2700" b="1" dirty="0">
                <a:solidFill>
                  <a:srgbClr val="123B52"/>
                </a:solidFill>
              </a:rPr>
              <a:t>Validation: Fail Fast Before the Tool Runs</a:t>
            </a:r>
            <a:endParaRPr lang="en-US" sz="2700" dirty="0"/>
          </a:p>
        </p:txBody>
      </p:sp>
      <p:sp>
        <p:nvSpPr>
          <p:cNvPr id="4" name="Shape 2"/>
          <p:cNvSpPr/>
          <p:nvPr/>
        </p:nvSpPr>
        <p:spPr>
          <a:xfrm>
            <a:off x="777240" y="1325880"/>
            <a:ext cx="4983480" cy="1325880"/>
          </a:xfrm>
          <a:prstGeom prst="roundRect">
            <a:avLst>
              <a:gd name="adj" fmla="val 3448"/>
            </a:avLst>
          </a:prstGeom>
          <a:solidFill>
            <a:srgbClr val="0E1720"/>
          </a:solidFill>
          <a:ln w="12700">
            <a:solidFill>
              <a:srgbClr val="1E2A35"/>
            </a:solidFill>
            <a:prstDash val="solid"/>
          </a:ln>
        </p:spPr>
      </p:sp>
      <p:sp>
        <p:nvSpPr>
          <p:cNvPr id="5" name="Text 3"/>
          <p:cNvSpPr/>
          <p:nvPr/>
        </p:nvSpPr>
        <p:spPr>
          <a:xfrm>
            <a:off x="996696" y="1490472"/>
            <a:ext cx="4544568" cy="996696"/>
          </a:xfrm>
          <a:prstGeom prst="rect">
            <a:avLst/>
          </a:prstGeom>
          <a:noFill/>
          <a:ln/>
        </p:spPr>
        <p:txBody>
          <a:bodyPr wrap="square" lIns="0" tIns="0" rIns="0" bIns="0" rtlCol="0" anchor="ctr">
            <a:normAutofit/>
          </a:bodyPr>
          <a:lstStyle/>
          <a:p>
            <a:pPr indent="0" marL="0">
              <a:buNone/>
            </a:pPr>
            <a:r>
              <a:rPr lang="en-US" sz="1450" dirty="0">
                <a:solidFill>
                  <a:srgbClr val="EAF2F8"/>
                </a:solidFill>
                <a:latin typeface="Aptos Mono" pitchFamily="34" charset="0"/>
                <a:ea typeface="Aptos Mono" pitchFamily="34" charset="-122"/>
                <a:cs typeface="Aptos Mono" pitchFamily="34" charset="-120"/>
              </a:rPr>
              <a:t>bad_ticket = Ticket(</a:t>
            </a:r>
            <a:endParaRPr lang="en-US" sz="1450" dirty="0"/>
          </a:p>
          <a:p>
            <a:pPr indent="0" marL="0">
              <a:buNone/>
            </a:pPr>
            <a:r>
              <a:rPr lang="en-US" sz="1450" dirty="0">
                <a:solidFill>
                  <a:srgbClr val="EAF2F8"/>
                </a:solidFill>
                <a:latin typeface="Aptos Mono" pitchFamily="34" charset="0"/>
                <a:ea typeface="Aptos Mono" pitchFamily="34" charset="-122"/>
                <a:cs typeface="Aptos Mono" pitchFamily="34" charset="-120"/>
              </a:rPr>
              <a:t>    customer_name="Ahmed",</a:t>
            </a:r>
            <a:endParaRPr lang="en-US" sz="1450" dirty="0"/>
          </a:p>
          <a:p>
            <a:pPr indent="0" marL="0">
              <a:buNone/>
            </a:pPr>
            <a:r>
              <a:rPr lang="en-US" sz="1450" dirty="0">
                <a:solidFill>
                  <a:srgbClr val="EAF2F8"/>
                </a:solidFill>
                <a:latin typeface="Aptos Mono" pitchFamily="34" charset="0"/>
                <a:ea typeface="Aptos Mono" pitchFamily="34" charset="-122"/>
                <a:cs typeface="Aptos Mono" pitchFamily="34" charset="-120"/>
              </a:rPr>
              <a:t>    message="My payment failed",</a:t>
            </a:r>
            <a:endParaRPr lang="en-US" sz="1450" dirty="0"/>
          </a:p>
          <a:p>
            <a:pPr indent="0" marL="0">
              <a:buNone/>
            </a:pPr>
            <a:r>
              <a:rPr lang="en-US" sz="1450" dirty="0">
                <a:solidFill>
                  <a:srgbClr val="EAF2F8"/>
                </a:solidFill>
                <a:latin typeface="Aptos Mono" pitchFamily="34" charset="0"/>
                <a:ea typeface="Aptos Mono" pitchFamily="34" charset="-122"/>
                <a:cs typeface="Aptos Mono" pitchFamily="34" charset="-120"/>
              </a:rPr>
              <a:t>    urgent="not sure",</a:t>
            </a:r>
            <a:endParaRPr lang="en-US" sz="1450" dirty="0"/>
          </a:p>
          <a:p>
            <a:pPr indent="0" marL="0">
              <a:buNone/>
            </a:pPr>
            <a:r>
              <a:rPr lang="en-US" sz="1450" dirty="0">
                <a:solidFill>
                  <a:srgbClr val="EAF2F8"/>
                </a:solidFill>
                <a:latin typeface="Aptos Mono" pitchFamily="34" charset="0"/>
                <a:ea typeface="Aptos Mono" pitchFamily="34" charset="-122"/>
                <a:cs typeface="Aptos Mono" pitchFamily="34" charset="-120"/>
              </a:rPr>
              <a:t>)</a:t>
            </a:r>
            <a:endParaRPr lang="en-US" sz="1450" dirty="0"/>
          </a:p>
        </p:txBody>
      </p:sp>
      <p:sp>
        <p:nvSpPr>
          <p:cNvPr id="6" name="Shape 4"/>
          <p:cNvSpPr/>
          <p:nvPr/>
        </p:nvSpPr>
        <p:spPr>
          <a:xfrm>
            <a:off x="777240" y="3063240"/>
            <a:ext cx="4983480" cy="786384"/>
          </a:xfrm>
          <a:prstGeom prst="roundRect">
            <a:avLst>
              <a:gd name="adj" fmla="val 5814"/>
            </a:avLst>
          </a:prstGeom>
          <a:solidFill>
            <a:srgbClr val="0E1720"/>
          </a:solidFill>
          <a:ln w="12700">
            <a:solidFill>
              <a:srgbClr val="1E2A35"/>
            </a:solidFill>
            <a:prstDash val="solid"/>
          </a:ln>
        </p:spPr>
      </p:sp>
      <p:sp>
        <p:nvSpPr>
          <p:cNvPr id="7" name="Text 5"/>
          <p:cNvSpPr/>
          <p:nvPr/>
        </p:nvSpPr>
        <p:spPr>
          <a:xfrm>
            <a:off x="996696" y="3227832"/>
            <a:ext cx="4544568" cy="457200"/>
          </a:xfrm>
          <a:prstGeom prst="rect">
            <a:avLst/>
          </a:prstGeom>
          <a:noFill/>
          <a:ln/>
        </p:spPr>
        <p:txBody>
          <a:bodyPr wrap="square" lIns="0" tIns="0" rIns="0" bIns="0" rtlCol="0" anchor="ctr">
            <a:normAutofit/>
          </a:bodyPr>
          <a:lstStyle/>
          <a:p>
            <a:pPr indent="0" marL="0">
              <a:buNone/>
            </a:pPr>
            <a:r>
              <a:rPr lang="en-US" sz="1450" dirty="0">
                <a:solidFill>
                  <a:srgbClr val="EAF2F8"/>
                </a:solidFill>
                <a:latin typeface="Aptos Mono" pitchFamily="34" charset="0"/>
                <a:ea typeface="Aptos Mono" pitchFamily="34" charset="-122"/>
                <a:cs typeface="Aptos Mono" pitchFamily="34" charset="-120"/>
              </a:rPr>
              <a:t># Pydantic raises a validation error</a:t>
            </a:r>
            <a:endParaRPr lang="en-US" sz="1450" dirty="0"/>
          </a:p>
          <a:p>
            <a:pPr indent="0" marL="0">
              <a:buNone/>
            </a:pPr>
            <a:r>
              <a:rPr lang="en-US" sz="1450" dirty="0">
                <a:solidFill>
                  <a:srgbClr val="EAF2F8"/>
                </a:solidFill>
                <a:latin typeface="Aptos Mono" pitchFamily="34" charset="0"/>
                <a:ea typeface="Aptos Mono" pitchFamily="34" charset="-122"/>
                <a:cs typeface="Aptos Mono" pitchFamily="34" charset="-120"/>
              </a:rPr>
              <a:t># before classify_ticket() ever runs.</a:t>
            </a:r>
            <a:endParaRPr lang="en-US" sz="1450" dirty="0"/>
          </a:p>
        </p:txBody>
      </p:sp>
      <p:sp>
        <p:nvSpPr>
          <p:cNvPr id="8" name="Text 6"/>
          <p:cNvSpPr/>
          <p:nvPr/>
        </p:nvSpPr>
        <p:spPr>
          <a:xfrm>
            <a:off x="6400800" y="1325880"/>
            <a:ext cx="4754880" cy="292608"/>
          </a:xfrm>
          <a:prstGeom prst="rect">
            <a:avLst/>
          </a:prstGeom>
          <a:noFill/>
          <a:ln/>
        </p:spPr>
        <p:txBody>
          <a:bodyPr wrap="square" lIns="0" tIns="0" rIns="0" bIns="0" rtlCol="0" anchor="ctr"/>
          <a:lstStyle/>
          <a:p>
            <a:pPr indent="0" marL="0">
              <a:buNone/>
            </a:pPr>
            <a:r>
              <a:rPr lang="en-US" sz="2000" b="1" dirty="0">
                <a:solidFill>
                  <a:srgbClr val="123B52"/>
                </a:solidFill>
              </a:rPr>
              <a:t>Why this matters for agents</a:t>
            </a:r>
            <a:endParaRPr lang="en-US" sz="2000" dirty="0"/>
          </a:p>
        </p:txBody>
      </p:sp>
      <p:sp>
        <p:nvSpPr>
          <p:cNvPr id="9" name="Text 7"/>
          <p:cNvSpPr/>
          <p:nvPr/>
        </p:nvSpPr>
        <p:spPr>
          <a:xfrm>
            <a:off x="6446520" y="1828800"/>
            <a:ext cx="4754880" cy="1920240"/>
          </a:xfrm>
          <a:prstGeom prst="rect">
            <a:avLst/>
          </a:prstGeom>
          <a:noFill/>
          <a:ln/>
        </p:spPr>
        <p:txBody>
          <a:bodyPr wrap="square" lIns="635" tIns="635" rIns="635" bIns="635" rtlCol="0" anchor="ctr">
            <a:normAutofit/>
          </a:bodyPr>
          <a:lstStyle/>
          <a:p>
            <a:r>
              <a:rPr lang="en-US" sz="1550" dirty="0">
                <a:solidFill>
                  <a:srgbClr val="17202A"/>
                </a:solidFill>
              </a:rPr>
              <a:t>The agent may send incomplete or malformed arguments.</a:t>
            </a:r>
            <a:endParaRPr lang="en-US" sz="1550" dirty="0"/>
          </a:p>
          <a:p>
            <a:r>
              <a:rPr lang="en-US" sz="1550" dirty="0">
                <a:solidFill>
                  <a:srgbClr val="17202A"/>
                </a:solidFill>
              </a:rPr>
              <a:t>A frontend may send invalid JSON.</a:t>
            </a:r>
            <a:endParaRPr lang="en-US" sz="1550" dirty="0"/>
          </a:p>
          <a:p>
            <a:r>
              <a:rPr lang="en-US" sz="1550" dirty="0">
                <a:solidFill>
                  <a:srgbClr val="17202A"/>
                </a:solidFill>
              </a:rPr>
              <a:t>A tool must reject invalid input before changing system state.</a:t>
            </a:r>
            <a:endParaRPr lang="en-US" sz="1550" dirty="0"/>
          </a:p>
          <a:p>
            <a:r>
              <a:rPr lang="en-US" sz="1550" dirty="0">
                <a:solidFill>
                  <a:srgbClr val="17202A"/>
                </a:solidFill>
              </a:rPr>
              <a:t>Validation errors are safer than silent wrong actions.</a:t>
            </a:r>
            <a:endParaRPr lang="en-US" sz="1550" dirty="0"/>
          </a:p>
        </p:txBody>
      </p:sp>
      <p:sp>
        <p:nvSpPr>
          <p:cNvPr id="25" name="Slide Number Placeholder 0"/>
          <p:cNvSpPr>
            <a:spLocks noGrp="1"/>
          </p:cNvSpPr>
          <p:nvPr>
            <p:ph type="sldNum" sz="quarter" idx="4294967295"/>
          </p:nvPr>
        </p:nvSpPr>
        <p:spPr>
          <a:xfrm>
            <a:off x="11612880" y="6547104"/>
            <a:ext cx="800000" cy="300000"/>
          </a:xfrm>
          <a:prstGeom prst="rect">
            <a:avLst/>
          </a:prstGeom>
          <a:extLst>
            <a:ext uri="{C572A759-6A51-4108-AA02-DFA0A04FC94B}">
              <ma14:wrappingTextBoxFlag xmlns:ma14="http://schemas.microsoft.com/office/mac/drawingml/2011/main" val="0"/>
            </a:ext>
          </a:extLst>
        </p:spPr>
        <p:txBody>
          <a:bodyPr/>
          <a:lstStyle>
            <a:lvl1pPr>
              <a:defRPr sz="780">
                <a:solidFill>
                  <a:srgbClr val="5B6B7A"/>
                </a:solidFill>
                <a:latin typeface="Aptos"/>
                <a:ea typeface="Aptos"/>
                <a:cs typeface="Aptos"/>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AFC"/>
        </a:solidFill>
      </p:bgPr>
    </p:bg>
    <p:spTree>
      <p:nvGrpSpPr>
        <p:cNvPr id="1" name=""/>
        <p:cNvGrpSpPr/>
        <p:nvPr/>
      </p:nvGrpSpPr>
      <p:grpSpPr>
        <a:xfrm>
          <a:off x="0" y="0"/>
          <a:ext cx="0" cy="0"/>
          <a:chOff x="0" y="0"/>
          <a:chExt cx="0" cy="0"/>
        </a:xfrm>
      </p:grpSpPr>
      <p:sp>
        <p:nvSpPr>
          <p:cNvPr id="2" name="Text 0"/>
          <p:cNvSpPr/>
          <p:nvPr/>
        </p:nvSpPr>
        <p:spPr>
          <a:xfrm>
            <a:off x="658368" y="384048"/>
            <a:ext cx="5943600" cy="219456"/>
          </a:xfrm>
          <a:prstGeom prst="rect">
            <a:avLst/>
          </a:prstGeom>
          <a:noFill/>
          <a:ln/>
        </p:spPr>
        <p:txBody>
          <a:bodyPr wrap="square" lIns="0" tIns="0" rIns="0" bIns="0" rtlCol="0" anchor="ctr"/>
          <a:lstStyle/>
          <a:p>
            <a:pPr indent="0" marL="0">
              <a:buNone/>
            </a:pPr>
            <a:r>
              <a:rPr lang="en-US" sz="950" b="1" dirty="0">
                <a:solidFill>
                  <a:srgbClr val="18A7B5"/>
                </a:solidFill>
              </a:rPr>
              <a:t>SMALL RULES, BIG SAFETY</a:t>
            </a:r>
            <a:endParaRPr lang="en-US" sz="950" dirty="0"/>
          </a:p>
        </p:txBody>
      </p:sp>
      <p:sp>
        <p:nvSpPr>
          <p:cNvPr id="3" name="Text 1"/>
          <p:cNvSpPr/>
          <p:nvPr/>
        </p:nvSpPr>
        <p:spPr>
          <a:xfrm>
            <a:off x="658368" y="658368"/>
            <a:ext cx="10698480" cy="475488"/>
          </a:xfrm>
          <a:prstGeom prst="rect">
            <a:avLst/>
          </a:prstGeom>
          <a:noFill/>
          <a:ln/>
        </p:spPr>
        <p:txBody>
          <a:bodyPr wrap="square" lIns="0" tIns="0" rIns="0" bIns="0" rtlCol="0" anchor="ctr">
            <a:normAutofit/>
          </a:bodyPr>
          <a:lstStyle/>
          <a:p>
            <a:pPr indent="0" marL="0">
              <a:buNone/>
            </a:pPr>
            <a:r>
              <a:rPr lang="en-US" sz="2700" b="1" dirty="0">
                <a:solidFill>
                  <a:srgbClr val="123B52"/>
                </a:solidFill>
              </a:rPr>
              <a:t>Add Simple Constraints with Field()</a:t>
            </a:r>
            <a:endParaRPr lang="en-US" sz="2700" dirty="0"/>
          </a:p>
        </p:txBody>
      </p:sp>
      <p:sp>
        <p:nvSpPr>
          <p:cNvPr id="4" name="Shape 2"/>
          <p:cNvSpPr/>
          <p:nvPr/>
        </p:nvSpPr>
        <p:spPr>
          <a:xfrm>
            <a:off x="777240" y="1325880"/>
            <a:ext cx="5760720" cy="2377440"/>
          </a:xfrm>
          <a:prstGeom prst="roundRect">
            <a:avLst>
              <a:gd name="adj" fmla="val 1923"/>
            </a:avLst>
          </a:prstGeom>
          <a:solidFill>
            <a:srgbClr val="0E1720"/>
          </a:solidFill>
          <a:ln w="12700">
            <a:solidFill>
              <a:srgbClr val="1E2A35"/>
            </a:solidFill>
            <a:prstDash val="solid"/>
          </a:ln>
        </p:spPr>
      </p:sp>
      <p:sp>
        <p:nvSpPr>
          <p:cNvPr id="5" name="Text 3"/>
          <p:cNvSpPr/>
          <p:nvPr/>
        </p:nvSpPr>
        <p:spPr>
          <a:xfrm>
            <a:off x="996696" y="1490472"/>
            <a:ext cx="5321808" cy="2048256"/>
          </a:xfrm>
          <a:prstGeom prst="rect">
            <a:avLst/>
          </a:prstGeom>
          <a:noFill/>
          <a:ln/>
        </p:spPr>
        <p:txBody>
          <a:bodyPr wrap="square" lIns="0" tIns="0" rIns="0" bIns="0" rtlCol="0" anchor="ctr">
            <a:normAutofit/>
          </a:bodyPr>
          <a:lstStyle/>
          <a:p>
            <a:pPr indent="0" marL="0">
              <a:buNone/>
            </a:pPr>
            <a:r>
              <a:rPr lang="en-US" sz="1440" dirty="0">
                <a:solidFill>
                  <a:srgbClr val="EAF2F8"/>
                </a:solidFill>
                <a:latin typeface="Aptos Mono" pitchFamily="34" charset="0"/>
                <a:ea typeface="Aptos Mono" pitchFamily="34" charset="-122"/>
                <a:cs typeface="Aptos Mono" pitchFamily="34" charset="-120"/>
              </a:rPr>
              <a:t>from pydantic import BaseModel, Field</a:t>
            </a:r>
            <a:endParaRPr lang="en-US" sz="1440" dirty="0"/>
          </a:p>
          <a:p>
            <a:pPr indent="0" marL="0">
              <a:buNone/>
            </a:pPr>
            <a:endParaRPr lang="en-US" sz="1440" dirty="0"/>
          </a:p>
          <a:p>
            <a:pPr indent="0" marL="0">
              <a:buNone/>
            </a:pPr>
            <a:endParaRPr lang="en-US" sz="1440" dirty="0"/>
          </a:p>
          <a:p>
            <a:pPr indent="0" marL="0">
              <a:buNone/>
            </a:pPr>
            <a:r>
              <a:rPr lang="en-US" sz="1440" dirty="0">
                <a:solidFill>
                  <a:srgbClr val="EAF2F8"/>
                </a:solidFill>
                <a:latin typeface="Aptos Mono" pitchFamily="34" charset="0"/>
                <a:ea typeface="Aptos Mono" pitchFamily="34" charset="-122"/>
                <a:cs typeface="Aptos Mono" pitchFamily="34" charset="-120"/>
              </a:rPr>
              <a:t>class Ticket(BaseModel):</a:t>
            </a:r>
            <a:endParaRPr lang="en-US" sz="1440" dirty="0"/>
          </a:p>
          <a:p>
            <a:pPr indent="0" marL="0">
              <a:buNone/>
            </a:pPr>
            <a:r>
              <a:rPr lang="en-US" sz="1440" dirty="0">
                <a:solidFill>
                  <a:srgbClr val="EAF2F8"/>
                </a:solidFill>
                <a:latin typeface="Aptos Mono" pitchFamily="34" charset="0"/>
                <a:ea typeface="Aptos Mono" pitchFamily="34" charset="-122"/>
                <a:cs typeface="Aptos Mono" pitchFamily="34" charset="-120"/>
              </a:rPr>
              <a:t>    customer_name: str = Field(min_length=2)</a:t>
            </a:r>
            <a:endParaRPr lang="en-US" sz="1440" dirty="0"/>
          </a:p>
          <a:p>
            <a:pPr indent="0" marL="0">
              <a:buNone/>
            </a:pPr>
            <a:r>
              <a:rPr lang="en-US" sz="1440" dirty="0">
                <a:solidFill>
                  <a:srgbClr val="EAF2F8"/>
                </a:solidFill>
                <a:latin typeface="Aptos Mono" pitchFamily="34" charset="0"/>
                <a:ea typeface="Aptos Mono" pitchFamily="34" charset="-122"/>
                <a:cs typeface="Aptos Mono" pitchFamily="34" charset="-120"/>
              </a:rPr>
              <a:t>    message: str = Field(min_length=5)</a:t>
            </a:r>
            <a:endParaRPr lang="en-US" sz="1440" dirty="0"/>
          </a:p>
          <a:p>
            <a:pPr indent="0" marL="0">
              <a:buNone/>
            </a:pPr>
            <a:r>
              <a:rPr lang="en-US" sz="1440" dirty="0">
                <a:solidFill>
                  <a:srgbClr val="EAF2F8"/>
                </a:solidFill>
                <a:latin typeface="Aptos Mono" pitchFamily="34" charset="0"/>
                <a:ea typeface="Aptos Mono" pitchFamily="34" charset="-122"/>
                <a:cs typeface="Aptos Mono" pitchFamily="34" charset="-120"/>
              </a:rPr>
              <a:t>    urgent: bool = False</a:t>
            </a:r>
            <a:endParaRPr lang="en-US" sz="1440" dirty="0"/>
          </a:p>
        </p:txBody>
      </p:sp>
      <p:sp>
        <p:nvSpPr>
          <p:cNvPr id="6" name="Shape 4"/>
          <p:cNvSpPr/>
          <p:nvPr/>
        </p:nvSpPr>
        <p:spPr>
          <a:xfrm>
            <a:off x="6995160" y="1325880"/>
            <a:ext cx="4160520" cy="1691640"/>
          </a:xfrm>
          <a:prstGeom prst="roundRect">
            <a:avLst>
              <a:gd name="adj" fmla="val 3784"/>
            </a:avLst>
          </a:prstGeom>
          <a:solidFill>
            <a:srgbClr val="FFFFFF"/>
          </a:solidFill>
          <a:ln w="12700">
            <a:solidFill>
              <a:srgbClr val="D8E1E8"/>
            </a:solidFill>
            <a:prstDash val="solid"/>
          </a:ln>
        </p:spPr>
      </p:sp>
      <p:sp>
        <p:nvSpPr>
          <p:cNvPr id="7" name="Text 5"/>
          <p:cNvSpPr/>
          <p:nvPr/>
        </p:nvSpPr>
        <p:spPr>
          <a:xfrm>
            <a:off x="7232904" y="1527048"/>
            <a:ext cx="3685032" cy="256032"/>
          </a:xfrm>
          <a:prstGeom prst="rect">
            <a:avLst/>
          </a:prstGeom>
          <a:noFill/>
          <a:ln/>
        </p:spPr>
        <p:txBody>
          <a:bodyPr wrap="square" lIns="0" tIns="0" rIns="0" bIns="0" rtlCol="0" anchor="ctr">
            <a:normAutofit/>
          </a:bodyPr>
          <a:lstStyle/>
          <a:p>
            <a:pPr indent="0" marL="0">
              <a:buNone/>
            </a:pPr>
            <a:r>
              <a:rPr lang="en-US" sz="1400" b="1" dirty="0">
                <a:solidFill>
                  <a:srgbClr val="123B52"/>
                </a:solidFill>
              </a:rPr>
              <a:t>What Field() gives us</a:t>
            </a:r>
            <a:endParaRPr lang="en-US" sz="1400" dirty="0"/>
          </a:p>
        </p:txBody>
      </p:sp>
      <p:sp>
        <p:nvSpPr>
          <p:cNvPr id="8" name="Text 6"/>
          <p:cNvSpPr/>
          <p:nvPr/>
        </p:nvSpPr>
        <p:spPr>
          <a:xfrm>
            <a:off x="7232904" y="1938528"/>
            <a:ext cx="3685032" cy="905256"/>
          </a:xfrm>
          <a:prstGeom prst="rect">
            <a:avLst/>
          </a:prstGeom>
          <a:noFill/>
          <a:ln/>
        </p:spPr>
        <p:txBody>
          <a:bodyPr wrap="square" lIns="254" tIns="254" rIns="254" bIns="254" rtlCol="0" anchor="t">
            <a:normAutofit/>
          </a:bodyPr>
          <a:lstStyle/>
          <a:p>
            <a:pPr indent="0" marL="0">
              <a:buNone/>
            </a:pPr>
            <a:r>
              <a:rPr lang="en-US" sz="1550" dirty="0">
                <a:solidFill>
                  <a:srgbClr val="17202A"/>
                </a:solidFill>
              </a:rPr>
              <a:t>Minimum length</a:t>
            </a:r>
            <a:endParaRPr lang="en-US" sz="1550" dirty="0"/>
          </a:p>
          <a:p>
            <a:pPr indent="0" marL="0">
              <a:buNone/>
            </a:pPr>
            <a:r>
              <a:rPr lang="en-US" sz="1550" dirty="0">
                <a:solidFill>
                  <a:srgbClr val="17202A"/>
                </a:solidFill>
              </a:rPr>
              <a:t>Default values</a:t>
            </a:r>
            <a:endParaRPr lang="en-US" sz="1550" dirty="0"/>
          </a:p>
          <a:p>
            <a:pPr indent="0" marL="0">
              <a:buNone/>
            </a:pPr>
            <a:r>
              <a:rPr lang="en-US" sz="1550" dirty="0">
                <a:solidFill>
                  <a:srgbClr val="17202A"/>
                </a:solidFill>
              </a:rPr>
              <a:t>Descriptions for API docs</a:t>
            </a:r>
            <a:endParaRPr lang="en-US" sz="1550" dirty="0"/>
          </a:p>
          <a:p>
            <a:pPr indent="0" marL="0">
              <a:buNone/>
            </a:pPr>
            <a:r>
              <a:rPr lang="en-US" sz="1550" dirty="0">
                <a:solidFill>
                  <a:srgbClr val="17202A"/>
                </a:solidFill>
              </a:rPr>
              <a:t>Validation metadata</a:t>
            </a:r>
            <a:endParaRPr lang="en-US" sz="1550" dirty="0"/>
          </a:p>
        </p:txBody>
      </p:sp>
      <p:sp>
        <p:nvSpPr>
          <p:cNvPr id="9" name="Shape 7"/>
          <p:cNvSpPr/>
          <p:nvPr/>
        </p:nvSpPr>
        <p:spPr>
          <a:xfrm>
            <a:off x="777240" y="4343400"/>
            <a:ext cx="5760720" cy="868680"/>
          </a:xfrm>
          <a:prstGeom prst="roundRect">
            <a:avLst>
              <a:gd name="adj" fmla="val 5263"/>
            </a:avLst>
          </a:prstGeom>
          <a:solidFill>
            <a:srgbClr val="0E1720"/>
          </a:solidFill>
          <a:ln w="12700">
            <a:solidFill>
              <a:srgbClr val="1E2A35"/>
            </a:solidFill>
            <a:prstDash val="solid"/>
          </a:ln>
        </p:spPr>
      </p:sp>
      <p:sp>
        <p:nvSpPr>
          <p:cNvPr id="10" name="Text 8"/>
          <p:cNvSpPr/>
          <p:nvPr/>
        </p:nvSpPr>
        <p:spPr>
          <a:xfrm>
            <a:off x="996696" y="4507992"/>
            <a:ext cx="5321808" cy="539496"/>
          </a:xfrm>
          <a:prstGeom prst="rect">
            <a:avLst/>
          </a:prstGeom>
          <a:noFill/>
          <a:ln/>
        </p:spPr>
        <p:txBody>
          <a:bodyPr wrap="square" lIns="0" tIns="0" rIns="0" bIns="0" rtlCol="0" anchor="ctr">
            <a:normAutofit/>
          </a:bodyPr>
          <a:lstStyle/>
          <a:p>
            <a:pPr indent="0" marL="0">
              <a:buNone/>
            </a:pPr>
            <a:r>
              <a:rPr lang="en-US" sz="1420" dirty="0">
                <a:solidFill>
                  <a:srgbClr val="EAF2F8"/>
                </a:solidFill>
                <a:latin typeface="Aptos Mono" pitchFamily="34" charset="0"/>
                <a:ea typeface="Aptos Mono" pitchFamily="34" charset="-122"/>
                <a:cs typeface="Aptos Mono" pitchFamily="34" charset="-120"/>
              </a:rPr>
              <a:t>Ticket(customer_name="A", message="Hi")</a:t>
            </a:r>
            <a:endParaRPr lang="en-US" sz="1420" dirty="0"/>
          </a:p>
          <a:p>
            <a:pPr indent="0" marL="0">
              <a:buNone/>
            </a:pPr>
            <a:r>
              <a:rPr lang="en-US" sz="1420" dirty="0">
                <a:solidFill>
                  <a:srgbClr val="EAF2F8"/>
                </a:solidFill>
                <a:latin typeface="Aptos Mono" pitchFamily="34" charset="0"/>
                <a:ea typeface="Aptos Mono" pitchFamily="34" charset="-122"/>
                <a:cs typeface="Aptos Mono" pitchFamily="34" charset="-120"/>
              </a:rPr>
              <a:t># Error: name too short, message too short</a:t>
            </a:r>
            <a:endParaRPr lang="en-US" sz="1420" dirty="0"/>
          </a:p>
        </p:txBody>
      </p:sp>
      <p:sp>
        <p:nvSpPr>
          <p:cNvPr id="11" name="Shape 9"/>
          <p:cNvSpPr/>
          <p:nvPr/>
        </p:nvSpPr>
        <p:spPr>
          <a:xfrm>
            <a:off x="6995160" y="3886200"/>
            <a:ext cx="4160520" cy="1051560"/>
          </a:xfrm>
          <a:prstGeom prst="roundRect">
            <a:avLst>
              <a:gd name="adj" fmla="val 6087"/>
            </a:avLst>
          </a:prstGeom>
          <a:solidFill>
            <a:srgbClr val="FFFFFF"/>
          </a:solidFill>
          <a:ln w="12700">
            <a:solidFill>
              <a:srgbClr val="D8E1E8"/>
            </a:solidFill>
            <a:prstDash val="solid"/>
          </a:ln>
        </p:spPr>
      </p:sp>
      <p:sp>
        <p:nvSpPr>
          <p:cNvPr id="12" name="Text 10"/>
          <p:cNvSpPr/>
          <p:nvPr/>
        </p:nvSpPr>
        <p:spPr>
          <a:xfrm>
            <a:off x="7232904" y="4087368"/>
            <a:ext cx="3685032" cy="256032"/>
          </a:xfrm>
          <a:prstGeom prst="rect">
            <a:avLst/>
          </a:prstGeom>
          <a:noFill/>
          <a:ln/>
        </p:spPr>
        <p:txBody>
          <a:bodyPr wrap="square" lIns="0" tIns="0" rIns="0" bIns="0" rtlCol="0" anchor="ctr">
            <a:normAutofit/>
          </a:bodyPr>
          <a:lstStyle/>
          <a:p>
            <a:pPr indent="0" marL="0">
              <a:buNone/>
            </a:pPr>
            <a:r>
              <a:rPr lang="en-US" sz="1400" b="1" dirty="0">
                <a:solidFill>
                  <a:srgbClr val="123B52"/>
                </a:solidFill>
              </a:rPr>
              <a:t>Keep it simple today</a:t>
            </a:r>
            <a:endParaRPr lang="en-US" sz="1400" dirty="0"/>
          </a:p>
        </p:txBody>
      </p:sp>
      <p:sp>
        <p:nvSpPr>
          <p:cNvPr id="13" name="Text 11"/>
          <p:cNvSpPr/>
          <p:nvPr/>
        </p:nvSpPr>
        <p:spPr>
          <a:xfrm>
            <a:off x="7232904" y="4498848"/>
            <a:ext cx="3685032" cy="265176"/>
          </a:xfrm>
          <a:prstGeom prst="rect">
            <a:avLst/>
          </a:prstGeom>
          <a:noFill/>
          <a:ln/>
        </p:spPr>
        <p:txBody>
          <a:bodyPr wrap="square" lIns="254" tIns="254" rIns="254" bIns="254" rtlCol="0" anchor="t">
            <a:normAutofit/>
          </a:bodyPr>
          <a:lstStyle/>
          <a:p>
            <a:pPr indent="0" marL="0">
              <a:buNone/>
            </a:pPr>
            <a:r>
              <a:rPr lang="en-US" sz="1430" dirty="0">
                <a:solidFill>
                  <a:srgbClr val="17202A"/>
                </a:solidFill>
              </a:rPr>
              <a:t>We only need enough constraints to protect the tool boundary. Advanced validators can wait.</a:t>
            </a:r>
            <a:endParaRPr lang="en-US" sz="1430" dirty="0"/>
          </a:p>
        </p:txBody>
      </p:sp>
      <p:sp>
        <p:nvSpPr>
          <p:cNvPr id="25" name="Slide Number Placeholder 0"/>
          <p:cNvSpPr>
            <a:spLocks noGrp="1"/>
          </p:cNvSpPr>
          <p:nvPr>
            <p:ph type="sldNum" sz="quarter" idx="4294967295"/>
          </p:nvPr>
        </p:nvSpPr>
        <p:spPr>
          <a:xfrm>
            <a:off x="11612880" y="6547104"/>
            <a:ext cx="800000" cy="300000"/>
          </a:xfrm>
          <a:prstGeom prst="rect">
            <a:avLst/>
          </a:prstGeom>
          <a:extLst>
            <a:ext uri="{C572A759-6A51-4108-AA02-DFA0A04FC94B}">
              <ma14:wrappingTextBoxFlag xmlns:ma14="http://schemas.microsoft.com/office/mac/drawingml/2011/main" val="0"/>
            </a:ext>
          </a:extLst>
        </p:spPr>
        <p:txBody>
          <a:bodyPr/>
          <a:lstStyle>
            <a:lvl1pPr>
              <a:defRPr sz="780">
                <a:solidFill>
                  <a:srgbClr val="5B6B7A"/>
                </a:solidFill>
                <a:latin typeface="Aptos"/>
                <a:ea typeface="Aptos"/>
                <a:cs typeface="Aptos"/>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AFC"/>
        </a:solidFill>
      </p:bgPr>
    </p:bg>
    <p:spTree>
      <p:nvGrpSpPr>
        <p:cNvPr id="1" name=""/>
        <p:cNvGrpSpPr/>
        <p:nvPr/>
      </p:nvGrpSpPr>
      <p:grpSpPr>
        <a:xfrm>
          <a:off x="0" y="0"/>
          <a:ext cx="0" cy="0"/>
          <a:chOff x="0" y="0"/>
          <a:chExt cx="0" cy="0"/>
        </a:xfrm>
      </p:grpSpPr>
      <p:sp>
        <p:nvSpPr>
          <p:cNvPr id="2" name="Text 0"/>
          <p:cNvSpPr/>
          <p:nvPr/>
        </p:nvSpPr>
        <p:spPr>
          <a:xfrm>
            <a:off x="658368" y="384048"/>
            <a:ext cx="5943600" cy="219456"/>
          </a:xfrm>
          <a:prstGeom prst="rect">
            <a:avLst/>
          </a:prstGeom>
          <a:noFill/>
          <a:ln/>
        </p:spPr>
        <p:txBody>
          <a:bodyPr wrap="square" lIns="0" tIns="0" rIns="0" bIns="0" rtlCol="0" anchor="ctr"/>
          <a:lstStyle/>
          <a:p>
            <a:pPr indent="0" marL="0">
              <a:buNone/>
            </a:pPr>
            <a:r>
              <a:rPr lang="en-US" sz="950" b="1" dirty="0">
                <a:solidFill>
                  <a:srgbClr val="18A7B5"/>
                </a:solidFill>
              </a:rPr>
              <a:t>TOOL CONTRACTS GO BOTH WAYS</a:t>
            </a:r>
            <a:endParaRPr lang="en-US" sz="950" dirty="0"/>
          </a:p>
        </p:txBody>
      </p:sp>
      <p:sp>
        <p:nvSpPr>
          <p:cNvPr id="3" name="Text 1"/>
          <p:cNvSpPr/>
          <p:nvPr/>
        </p:nvSpPr>
        <p:spPr>
          <a:xfrm>
            <a:off x="658368" y="658368"/>
            <a:ext cx="10698480" cy="475488"/>
          </a:xfrm>
          <a:prstGeom prst="rect">
            <a:avLst/>
          </a:prstGeom>
          <a:noFill/>
          <a:ln/>
        </p:spPr>
        <p:txBody>
          <a:bodyPr wrap="square" lIns="0" tIns="0" rIns="0" bIns="0" rtlCol="0" anchor="ctr">
            <a:normAutofit/>
          </a:bodyPr>
          <a:lstStyle/>
          <a:p>
            <a:pPr indent="0" marL="0">
              <a:buNone/>
            </a:pPr>
            <a:r>
              <a:rPr lang="en-US" sz="2700" b="1" dirty="0">
                <a:solidFill>
                  <a:srgbClr val="123B52"/>
                </a:solidFill>
              </a:rPr>
              <a:t>Input Model + Output Model</a:t>
            </a:r>
            <a:endParaRPr lang="en-US" sz="2700" dirty="0"/>
          </a:p>
        </p:txBody>
      </p:sp>
      <p:sp>
        <p:nvSpPr>
          <p:cNvPr id="4" name="Shape 2"/>
          <p:cNvSpPr/>
          <p:nvPr/>
        </p:nvSpPr>
        <p:spPr>
          <a:xfrm>
            <a:off x="713232" y="1325880"/>
            <a:ext cx="6400800" cy="4480560"/>
          </a:xfrm>
          <a:prstGeom prst="roundRect">
            <a:avLst>
              <a:gd name="adj" fmla="val 1020"/>
            </a:avLst>
          </a:prstGeom>
          <a:solidFill>
            <a:srgbClr val="0E1720"/>
          </a:solidFill>
          <a:ln w="12700">
            <a:solidFill>
              <a:srgbClr val="1E2A35"/>
            </a:solidFill>
            <a:prstDash val="solid"/>
          </a:ln>
        </p:spPr>
      </p:sp>
      <p:sp>
        <p:nvSpPr>
          <p:cNvPr id="5" name="Text 3"/>
          <p:cNvSpPr/>
          <p:nvPr/>
        </p:nvSpPr>
        <p:spPr>
          <a:xfrm>
            <a:off x="932688" y="1490472"/>
            <a:ext cx="5961888" cy="4151376"/>
          </a:xfrm>
          <a:prstGeom prst="rect">
            <a:avLst/>
          </a:prstGeom>
          <a:noFill/>
          <a:ln/>
        </p:spPr>
        <p:txBody>
          <a:bodyPr wrap="square" lIns="0" tIns="0" rIns="0" bIns="0" rtlCol="0" anchor="ctr">
            <a:normAutofit/>
          </a:bodyPr>
          <a:lstStyle/>
          <a:p>
            <a:pPr indent="0" marL="0">
              <a:buNone/>
            </a:pPr>
            <a:r>
              <a:rPr lang="en-US" sz="1250" dirty="0">
                <a:solidFill>
                  <a:srgbClr val="EAF2F8"/>
                </a:solidFill>
                <a:latin typeface="Aptos Mono" pitchFamily="34" charset="0"/>
                <a:ea typeface="Aptos Mono" pitchFamily="34" charset="-122"/>
                <a:cs typeface="Aptos Mono" pitchFamily="34" charset="-120"/>
              </a:rPr>
              <a:t>from typing import Literal</a:t>
            </a:r>
            <a:endParaRPr lang="en-US" sz="1250" dirty="0"/>
          </a:p>
          <a:p>
            <a:pPr indent="0" marL="0">
              <a:buNone/>
            </a:pPr>
            <a:r>
              <a:rPr lang="en-US" sz="1250" dirty="0">
                <a:solidFill>
                  <a:srgbClr val="EAF2F8"/>
                </a:solidFill>
                <a:latin typeface="Aptos Mono" pitchFamily="34" charset="0"/>
                <a:ea typeface="Aptos Mono" pitchFamily="34" charset="-122"/>
                <a:cs typeface="Aptos Mono" pitchFamily="34" charset="-120"/>
              </a:rPr>
              <a:t>from pydantic import BaseModel, Field</a:t>
            </a:r>
            <a:endParaRPr lang="en-US" sz="1250" dirty="0"/>
          </a:p>
          <a:p>
            <a:pPr indent="0" marL="0">
              <a:buNone/>
            </a:pPr>
            <a:endParaRPr lang="en-US" sz="1250" dirty="0"/>
          </a:p>
          <a:p>
            <a:pPr indent="0" marL="0">
              <a:buNone/>
            </a:pPr>
            <a:endParaRPr lang="en-US" sz="1250" dirty="0"/>
          </a:p>
          <a:p>
            <a:pPr indent="0" marL="0">
              <a:buNone/>
            </a:pPr>
            <a:r>
              <a:rPr lang="en-US" sz="1250" dirty="0">
                <a:solidFill>
                  <a:srgbClr val="EAF2F8"/>
                </a:solidFill>
                <a:latin typeface="Aptos Mono" pitchFamily="34" charset="0"/>
                <a:ea typeface="Aptos Mono" pitchFamily="34" charset="-122"/>
                <a:cs typeface="Aptos Mono" pitchFamily="34" charset="-120"/>
              </a:rPr>
              <a:t>class Ticket(BaseModel):</a:t>
            </a:r>
            <a:endParaRPr lang="en-US" sz="1250" dirty="0"/>
          </a:p>
          <a:p>
            <a:pPr indent="0" marL="0">
              <a:buNone/>
            </a:pPr>
            <a:r>
              <a:rPr lang="en-US" sz="1250" dirty="0">
                <a:solidFill>
                  <a:srgbClr val="EAF2F8"/>
                </a:solidFill>
                <a:latin typeface="Aptos Mono" pitchFamily="34" charset="0"/>
                <a:ea typeface="Aptos Mono" pitchFamily="34" charset="-122"/>
                <a:cs typeface="Aptos Mono" pitchFamily="34" charset="-120"/>
              </a:rPr>
              <a:t>    customer_name: str = Field(min_length=2)</a:t>
            </a:r>
            <a:endParaRPr lang="en-US" sz="1250" dirty="0"/>
          </a:p>
          <a:p>
            <a:pPr indent="0" marL="0">
              <a:buNone/>
            </a:pPr>
            <a:r>
              <a:rPr lang="en-US" sz="1250" dirty="0">
                <a:solidFill>
                  <a:srgbClr val="EAF2F8"/>
                </a:solidFill>
                <a:latin typeface="Aptos Mono" pitchFamily="34" charset="0"/>
                <a:ea typeface="Aptos Mono" pitchFamily="34" charset="-122"/>
                <a:cs typeface="Aptos Mono" pitchFamily="34" charset="-120"/>
              </a:rPr>
              <a:t>    message: str = Field(min_length=5)</a:t>
            </a:r>
            <a:endParaRPr lang="en-US" sz="1250" dirty="0"/>
          </a:p>
          <a:p>
            <a:pPr indent="0" marL="0">
              <a:buNone/>
            </a:pPr>
            <a:r>
              <a:rPr lang="en-US" sz="1250" dirty="0">
                <a:solidFill>
                  <a:srgbClr val="EAF2F8"/>
                </a:solidFill>
                <a:latin typeface="Aptos Mono" pitchFamily="34" charset="0"/>
                <a:ea typeface="Aptos Mono" pitchFamily="34" charset="-122"/>
                <a:cs typeface="Aptos Mono" pitchFamily="34" charset="-120"/>
              </a:rPr>
              <a:t>    urgent: bool = False</a:t>
            </a:r>
            <a:endParaRPr lang="en-US" sz="1250" dirty="0"/>
          </a:p>
          <a:p>
            <a:pPr indent="0" marL="0">
              <a:buNone/>
            </a:pPr>
            <a:endParaRPr lang="en-US" sz="1250" dirty="0"/>
          </a:p>
          <a:p>
            <a:pPr indent="0" marL="0">
              <a:buNone/>
            </a:pPr>
            <a:endParaRPr lang="en-US" sz="1250" dirty="0"/>
          </a:p>
          <a:p>
            <a:pPr indent="0" marL="0">
              <a:buNone/>
            </a:pPr>
            <a:r>
              <a:rPr lang="en-US" sz="1250" dirty="0">
                <a:solidFill>
                  <a:srgbClr val="EAF2F8"/>
                </a:solidFill>
                <a:latin typeface="Aptos Mono" pitchFamily="34" charset="0"/>
                <a:ea typeface="Aptos Mono" pitchFamily="34" charset="-122"/>
                <a:cs typeface="Aptos Mono" pitchFamily="34" charset="-120"/>
              </a:rPr>
              <a:t>class TicketResult(BaseModel):</a:t>
            </a:r>
            <a:endParaRPr lang="en-US" sz="1250" dirty="0"/>
          </a:p>
          <a:p>
            <a:pPr indent="0" marL="0">
              <a:buNone/>
            </a:pPr>
            <a:r>
              <a:rPr lang="en-US" sz="1250" dirty="0">
                <a:solidFill>
                  <a:srgbClr val="EAF2F8"/>
                </a:solidFill>
                <a:latin typeface="Aptos Mono" pitchFamily="34" charset="0"/>
                <a:ea typeface="Aptos Mono" pitchFamily="34" charset="-122"/>
                <a:cs typeface="Aptos Mono" pitchFamily="34" charset="-120"/>
              </a:rPr>
              <a:t>    category: Literal["billing", "technical", "general"]</a:t>
            </a:r>
            <a:endParaRPr lang="en-US" sz="1250" dirty="0"/>
          </a:p>
          <a:p>
            <a:pPr indent="0" marL="0">
              <a:buNone/>
            </a:pPr>
            <a:r>
              <a:rPr lang="en-US" sz="1250" dirty="0">
                <a:solidFill>
                  <a:srgbClr val="EAF2F8"/>
                </a:solidFill>
                <a:latin typeface="Aptos Mono" pitchFamily="34" charset="0"/>
                <a:ea typeface="Aptos Mono" pitchFamily="34" charset="-122"/>
                <a:cs typeface="Aptos Mono" pitchFamily="34" charset="-120"/>
              </a:rPr>
              <a:t>    priority: Literal["high", "normal"]</a:t>
            </a:r>
            <a:endParaRPr lang="en-US" sz="1250" dirty="0"/>
          </a:p>
        </p:txBody>
      </p:sp>
      <p:sp>
        <p:nvSpPr>
          <p:cNvPr id="6" name="Text 4"/>
          <p:cNvSpPr/>
          <p:nvPr/>
        </p:nvSpPr>
        <p:spPr>
          <a:xfrm>
            <a:off x="7543800" y="1417320"/>
            <a:ext cx="4114800" cy="274320"/>
          </a:xfrm>
          <a:prstGeom prst="rect">
            <a:avLst/>
          </a:prstGeom>
          <a:noFill/>
          <a:ln/>
        </p:spPr>
        <p:txBody>
          <a:bodyPr wrap="square" lIns="0" tIns="0" rIns="0" bIns="0" rtlCol="0" anchor="ctr"/>
          <a:lstStyle/>
          <a:p>
            <a:pPr indent="0" marL="0">
              <a:buNone/>
            </a:pPr>
            <a:r>
              <a:rPr lang="en-US" sz="2000" b="1" dirty="0">
                <a:solidFill>
                  <a:srgbClr val="123B52"/>
                </a:solidFill>
              </a:rPr>
              <a:t>Why output models?</a:t>
            </a:r>
            <a:endParaRPr lang="en-US" sz="2000" dirty="0"/>
          </a:p>
        </p:txBody>
      </p:sp>
      <p:sp>
        <p:nvSpPr>
          <p:cNvPr id="7" name="Text 5"/>
          <p:cNvSpPr/>
          <p:nvPr/>
        </p:nvSpPr>
        <p:spPr>
          <a:xfrm>
            <a:off x="7589520" y="1901952"/>
            <a:ext cx="4023360" cy="1828800"/>
          </a:xfrm>
          <a:prstGeom prst="rect">
            <a:avLst/>
          </a:prstGeom>
          <a:noFill/>
          <a:ln/>
        </p:spPr>
        <p:txBody>
          <a:bodyPr wrap="square" lIns="635" tIns="635" rIns="635" bIns="635" rtlCol="0" anchor="ctr">
            <a:normAutofit/>
          </a:bodyPr>
          <a:lstStyle/>
          <a:p>
            <a:r>
              <a:rPr lang="en-US" sz="1520" dirty="0">
                <a:solidFill>
                  <a:srgbClr val="17202A"/>
                </a:solidFill>
              </a:rPr>
              <a:t>The caller knows what to expect.</a:t>
            </a:r>
            <a:endParaRPr lang="en-US" sz="1520" dirty="0"/>
          </a:p>
          <a:p>
            <a:r>
              <a:rPr lang="en-US" sz="1520" dirty="0">
                <a:solidFill>
                  <a:srgbClr val="17202A"/>
                </a:solidFill>
              </a:rPr>
              <a:t>FastAPI can document the response automatically.</a:t>
            </a:r>
            <a:endParaRPr lang="en-US" sz="1520" dirty="0"/>
          </a:p>
          <a:p>
            <a:r>
              <a:rPr lang="en-US" sz="1520" dirty="0">
                <a:solidFill>
                  <a:srgbClr val="17202A"/>
                </a:solidFill>
              </a:rPr>
              <a:t>Agents work better with structured outputs than free text.</a:t>
            </a:r>
            <a:endParaRPr lang="en-US" sz="1520" dirty="0"/>
          </a:p>
          <a:p>
            <a:r>
              <a:rPr lang="en-US" sz="1520" dirty="0">
                <a:solidFill>
                  <a:srgbClr val="17202A"/>
                </a:solidFill>
              </a:rPr>
              <a:t>Invalid return values are easier to detect.</a:t>
            </a:r>
            <a:endParaRPr lang="en-US" sz="1520" dirty="0"/>
          </a:p>
        </p:txBody>
      </p:sp>
      <p:sp>
        <p:nvSpPr>
          <p:cNvPr id="8" name="Shape 6"/>
          <p:cNvSpPr/>
          <p:nvPr/>
        </p:nvSpPr>
        <p:spPr>
          <a:xfrm>
            <a:off x="7680960" y="4709160"/>
            <a:ext cx="3611880" cy="530352"/>
          </a:xfrm>
          <a:prstGeom prst="roundRect">
            <a:avLst>
              <a:gd name="adj" fmla="val 13793"/>
            </a:avLst>
          </a:prstGeom>
          <a:solidFill>
            <a:srgbClr val="D9EFF4"/>
          </a:solidFill>
          <a:ln w="12700">
            <a:solidFill>
              <a:srgbClr val="B9E4EA"/>
            </a:solidFill>
            <a:prstDash val="solid"/>
          </a:ln>
        </p:spPr>
      </p:sp>
      <p:sp>
        <p:nvSpPr>
          <p:cNvPr id="9" name="Text 7"/>
          <p:cNvSpPr/>
          <p:nvPr/>
        </p:nvSpPr>
        <p:spPr>
          <a:xfrm>
            <a:off x="7818120" y="4882896"/>
            <a:ext cx="3337560" cy="146304"/>
          </a:xfrm>
          <a:prstGeom prst="rect">
            <a:avLst/>
          </a:prstGeom>
          <a:noFill/>
          <a:ln/>
        </p:spPr>
        <p:txBody>
          <a:bodyPr wrap="square" lIns="0" tIns="0" rIns="0" bIns="0" rtlCol="0" anchor="ctr"/>
          <a:lstStyle/>
          <a:p>
            <a:pPr algn="ctr" indent="0" marL="0">
              <a:buNone/>
            </a:pPr>
            <a:r>
              <a:rPr lang="en-US" sz="1380" b="1" dirty="0">
                <a:solidFill>
                  <a:srgbClr val="123B52"/>
                </a:solidFill>
              </a:rPr>
              <a:t>Ticket → function → TicketResult</a:t>
            </a:r>
            <a:endParaRPr lang="en-US" sz="1380" dirty="0"/>
          </a:p>
        </p:txBody>
      </p:sp>
      <p:sp>
        <p:nvSpPr>
          <p:cNvPr id="25" name="Slide Number Placeholder 0"/>
          <p:cNvSpPr>
            <a:spLocks noGrp="1"/>
          </p:cNvSpPr>
          <p:nvPr>
            <p:ph type="sldNum" sz="quarter" idx="4294967295"/>
          </p:nvPr>
        </p:nvSpPr>
        <p:spPr>
          <a:xfrm>
            <a:off x="11612880" y="6547104"/>
            <a:ext cx="800000" cy="300000"/>
          </a:xfrm>
          <a:prstGeom prst="rect">
            <a:avLst/>
          </a:prstGeom>
          <a:extLst>
            <a:ext uri="{C572A759-6A51-4108-AA02-DFA0A04FC94B}">
              <ma14:wrappingTextBoxFlag xmlns:ma14="http://schemas.microsoft.com/office/mac/drawingml/2011/main" val="0"/>
            </a:ext>
          </a:extLst>
        </p:spPr>
        <p:txBody>
          <a:bodyPr/>
          <a:lstStyle>
            <a:lvl1pPr>
              <a:defRPr sz="780">
                <a:solidFill>
                  <a:srgbClr val="5B6B7A"/>
                </a:solidFill>
                <a:latin typeface="Aptos"/>
                <a:ea typeface="Aptos"/>
                <a:cs typeface="Aptos"/>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AFC"/>
        </a:solidFill>
      </p:bgPr>
    </p:bg>
    <p:spTree>
      <p:nvGrpSpPr>
        <p:cNvPr id="1" name=""/>
        <p:cNvGrpSpPr/>
        <p:nvPr/>
      </p:nvGrpSpPr>
      <p:grpSpPr>
        <a:xfrm>
          <a:off x="0" y="0"/>
          <a:ext cx="0" cy="0"/>
          <a:chOff x="0" y="0"/>
          <a:chExt cx="0" cy="0"/>
        </a:xfrm>
      </p:grpSpPr>
      <p:sp>
        <p:nvSpPr>
          <p:cNvPr id="2" name="Text 0"/>
          <p:cNvSpPr/>
          <p:nvPr/>
        </p:nvSpPr>
        <p:spPr>
          <a:xfrm>
            <a:off x="658368" y="384048"/>
            <a:ext cx="5943600" cy="219456"/>
          </a:xfrm>
          <a:prstGeom prst="rect">
            <a:avLst/>
          </a:prstGeom>
          <a:noFill/>
          <a:ln/>
        </p:spPr>
        <p:txBody>
          <a:bodyPr wrap="square" lIns="0" tIns="0" rIns="0" bIns="0" rtlCol="0" anchor="ctr"/>
          <a:lstStyle/>
          <a:p>
            <a:pPr indent="0" marL="0">
              <a:buNone/>
            </a:pPr>
            <a:r>
              <a:rPr lang="en-US" sz="950" b="1" dirty="0">
                <a:solidFill>
                  <a:srgbClr val="18A7B5"/>
                </a:solidFill>
              </a:rPr>
              <a:t>FROM STRING IN/OUT TO MODEL IN/OUT</a:t>
            </a:r>
            <a:endParaRPr lang="en-US" sz="950" dirty="0"/>
          </a:p>
        </p:txBody>
      </p:sp>
      <p:sp>
        <p:nvSpPr>
          <p:cNvPr id="3" name="Text 1"/>
          <p:cNvSpPr/>
          <p:nvPr/>
        </p:nvSpPr>
        <p:spPr>
          <a:xfrm>
            <a:off x="658368" y="658368"/>
            <a:ext cx="10698480" cy="475488"/>
          </a:xfrm>
          <a:prstGeom prst="rect">
            <a:avLst/>
          </a:prstGeom>
          <a:noFill/>
          <a:ln/>
        </p:spPr>
        <p:txBody>
          <a:bodyPr wrap="square" lIns="0" tIns="0" rIns="0" bIns="0" rtlCol="0" anchor="ctr">
            <a:normAutofit/>
          </a:bodyPr>
          <a:lstStyle/>
          <a:p>
            <a:pPr indent="0" marL="0">
              <a:buNone/>
            </a:pPr>
            <a:r>
              <a:rPr lang="en-US" sz="2700" b="1" dirty="0">
                <a:solidFill>
                  <a:srgbClr val="123B52"/>
                </a:solidFill>
              </a:rPr>
              <a:t>Refactor the Classifier</a:t>
            </a:r>
            <a:endParaRPr lang="en-US" sz="2700" dirty="0"/>
          </a:p>
        </p:txBody>
      </p:sp>
      <p:sp>
        <p:nvSpPr>
          <p:cNvPr id="4" name="Shape 2"/>
          <p:cNvSpPr/>
          <p:nvPr/>
        </p:nvSpPr>
        <p:spPr>
          <a:xfrm>
            <a:off x="685800" y="1261872"/>
            <a:ext cx="6263640" cy="4800600"/>
          </a:xfrm>
          <a:prstGeom prst="roundRect">
            <a:avLst>
              <a:gd name="adj" fmla="val 952"/>
            </a:avLst>
          </a:prstGeom>
          <a:solidFill>
            <a:srgbClr val="0E1720"/>
          </a:solidFill>
          <a:ln w="12700">
            <a:solidFill>
              <a:srgbClr val="1E2A35"/>
            </a:solidFill>
            <a:prstDash val="solid"/>
          </a:ln>
        </p:spPr>
      </p:sp>
      <p:sp>
        <p:nvSpPr>
          <p:cNvPr id="5" name="Text 3"/>
          <p:cNvSpPr/>
          <p:nvPr/>
        </p:nvSpPr>
        <p:spPr>
          <a:xfrm>
            <a:off x="905256" y="1426464"/>
            <a:ext cx="5824728" cy="4471416"/>
          </a:xfrm>
          <a:prstGeom prst="rect">
            <a:avLst/>
          </a:prstGeom>
          <a:noFill/>
          <a:ln/>
        </p:spPr>
        <p:txBody>
          <a:bodyPr wrap="square" lIns="0" tIns="0" rIns="0" bIns="0" rtlCol="0" anchor="ctr">
            <a:normAutofit/>
          </a:bodyPr>
          <a:lstStyle/>
          <a:p>
            <a:pPr indent="0" marL="0">
              <a:buNone/>
            </a:pPr>
            <a:r>
              <a:rPr lang="en-US" sz="1250" dirty="0">
                <a:solidFill>
                  <a:srgbClr val="EAF2F8"/>
                </a:solidFill>
                <a:latin typeface="Aptos Mono" pitchFamily="34" charset="0"/>
                <a:ea typeface="Aptos Mono" pitchFamily="34" charset="-122"/>
                <a:cs typeface="Aptos Mono" pitchFamily="34" charset="-120"/>
              </a:rPr>
              <a:t>def classify_ticket(ticket: Ticket) -&gt; TicketResult:</a:t>
            </a:r>
            <a:endParaRPr lang="en-US" sz="1250" dirty="0"/>
          </a:p>
          <a:p>
            <a:pPr indent="0" marL="0">
              <a:buNone/>
            </a:pPr>
            <a:r>
              <a:rPr lang="en-US" sz="1250" dirty="0">
                <a:solidFill>
                  <a:srgbClr val="EAF2F8"/>
                </a:solidFill>
                <a:latin typeface="Aptos Mono" pitchFamily="34" charset="0"/>
                <a:ea typeface="Aptos Mono" pitchFamily="34" charset="-122"/>
                <a:cs typeface="Aptos Mono" pitchFamily="34" charset="-120"/>
              </a:rPr>
              <a:t>    """Classify a support ticket and determine priority."""</a:t>
            </a:r>
            <a:endParaRPr lang="en-US" sz="1250" dirty="0"/>
          </a:p>
          <a:p>
            <a:pPr indent="0" marL="0">
              <a:buNone/>
            </a:pPr>
            <a:endParaRPr lang="en-US" sz="1250" dirty="0"/>
          </a:p>
          <a:p>
            <a:pPr indent="0" marL="0">
              <a:buNone/>
            </a:pPr>
            <a:r>
              <a:rPr lang="en-US" sz="1250" dirty="0">
                <a:solidFill>
                  <a:srgbClr val="EAF2F8"/>
                </a:solidFill>
                <a:latin typeface="Aptos Mono" pitchFamily="34" charset="0"/>
                <a:ea typeface="Aptos Mono" pitchFamily="34" charset="-122"/>
                <a:cs typeface="Aptos Mono" pitchFamily="34" charset="-120"/>
              </a:rPr>
              <a:t>    text = ticket.message.lower()</a:t>
            </a:r>
            <a:endParaRPr lang="en-US" sz="1250" dirty="0"/>
          </a:p>
          <a:p>
            <a:pPr indent="0" marL="0">
              <a:buNone/>
            </a:pPr>
            <a:endParaRPr lang="en-US" sz="1250" dirty="0"/>
          </a:p>
          <a:p>
            <a:pPr indent="0" marL="0">
              <a:buNone/>
            </a:pPr>
            <a:r>
              <a:rPr lang="en-US" sz="1250" dirty="0">
                <a:solidFill>
                  <a:srgbClr val="EAF2F8"/>
                </a:solidFill>
                <a:latin typeface="Aptos Mono" pitchFamily="34" charset="0"/>
                <a:ea typeface="Aptos Mono" pitchFamily="34" charset="-122"/>
                <a:cs typeface="Aptos Mono" pitchFamily="34" charset="-120"/>
              </a:rPr>
              <a:t>    if "payment" in text or "invoice" in text:</a:t>
            </a:r>
            <a:endParaRPr lang="en-US" sz="1250" dirty="0"/>
          </a:p>
          <a:p>
            <a:pPr indent="0" marL="0">
              <a:buNone/>
            </a:pPr>
            <a:r>
              <a:rPr lang="en-US" sz="1250" dirty="0">
                <a:solidFill>
                  <a:srgbClr val="EAF2F8"/>
                </a:solidFill>
                <a:latin typeface="Aptos Mono" pitchFamily="34" charset="0"/>
                <a:ea typeface="Aptos Mono" pitchFamily="34" charset="-122"/>
                <a:cs typeface="Aptos Mono" pitchFamily="34" charset="-120"/>
              </a:rPr>
              <a:t>        category = "billing"</a:t>
            </a:r>
            <a:endParaRPr lang="en-US" sz="1250" dirty="0"/>
          </a:p>
          <a:p>
            <a:pPr indent="0" marL="0">
              <a:buNone/>
            </a:pPr>
            <a:r>
              <a:rPr lang="en-US" sz="1250" dirty="0">
                <a:solidFill>
                  <a:srgbClr val="EAF2F8"/>
                </a:solidFill>
                <a:latin typeface="Aptos Mono" pitchFamily="34" charset="0"/>
                <a:ea typeface="Aptos Mono" pitchFamily="34" charset="-122"/>
                <a:cs typeface="Aptos Mono" pitchFamily="34" charset="-120"/>
              </a:rPr>
              <a:t>    elif "login" in text or "error" in text:</a:t>
            </a:r>
            <a:endParaRPr lang="en-US" sz="1250" dirty="0"/>
          </a:p>
          <a:p>
            <a:pPr indent="0" marL="0">
              <a:buNone/>
            </a:pPr>
            <a:r>
              <a:rPr lang="en-US" sz="1250" dirty="0">
                <a:solidFill>
                  <a:srgbClr val="EAF2F8"/>
                </a:solidFill>
                <a:latin typeface="Aptos Mono" pitchFamily="34" charset="0"/>
                <a:ea typeface="Aptos Mono" pitchFamily="34" charset="-122"/>
                <a:cs typeface="Aptos Mono" pitchFamily="34" charset="-120"/>
              </a:rPr>
              <a:t>        category = "technical"</a:t>
            </a:r>
            <a:endParaRPr lang="en-US" sz="1250" dirty="0"/>
          </a:p>
          <a:p>
            <a:pPr indent="0" marL="0">
              <a:buNone/>
            </a:pPr>
            <a:r>
              <a:rPr lang="en-US" sz="1250" dirty="0">
                <a:solidFill>
                  <a:srgbClr val="EAF2F8"/>
                </a:solidFill>
                <a:latin typeface="Aptos Mono" pitchFamily="34" charset="0"/>
                <a:ea typeface="Aptos Mono" pitchFamily="34" charset="-122"/>
                <a:cs typeface="Aptos Mono" pitchFamily="34" charset="-120"/>
              </a:rPr>
              <a:t>    else:</a:t>
            </a:r>
            <a:endParaRPr lang="en-US" sz="1250" dirty="0"/>
          </a:p>
          <a:p>
            <a:pPr indent="0" marL="0">
              <a:buNone/>
            </a:pPr>
            <a:r>
              <a:rPr lang="en-US" sz="1250" dirty="0">
                <a:solidFill>
                  <a:srgbClr val="EAF2F8"/>
                </a:solidFill>
                <a:latin typeface="Aptos Mono" pitchFamily="34" charset="0"/>
                <a:ea typeface="Aptos Mono" pitchFamily="34" charset="-122"/>
                <a:cs typeface="Aptos Mono" pitchFamily="34" charset="-120"/>
              </a:rPr>
              <a:t>        category = "general"</a:t>
            </a:r>
            <a:endParaRPr lang="en-US" sz="1250" dirty="0"/>
          </a:p>
          <a:p>
            <a:pPr indent="0" marL="0">
              <a:buNone/>
            </a:pPr>
            <a:endParaRPr lang="en-US" sz="1250" dirty="0"/>
          </a:p>
          <a:p>
            <a:pPr indent="0" marL="0">
              <a:buNone/>
            </a:pPr>
            <a:r>
              <a:rPr lang="en-US" sz="1250" dirty="0">
                <a:solidFill>
                  <a:srgbClr val="EAF2F8"/>
                </a:solidFill>
                <a:latin typeface="Aptos Mono" pitchFamily="34" charset="0"/>
                <a:ea typeface="Aptos Mono" pitchFamily="34" charset="-122"/>
                <a:cs typeface="Aptos Mono" pitchFamily="34" charset="-120"/>
              </a:rPr>
              <a:t>    priority = "high" if ticket.urgent else "normal"</a:t>
            </a:r>
            <a:endParaRPr lang="en-US" sz="1250" dirty="0"/>
          </a:p>
          <a:p>
            <a:pPr indent="0" marL="0">
              <a:buNone/>
            </a:pPr>
            <a:endParaRPr lang="en-US" sz="1250" dirty="0"/>
          </a:p>
          <a:p>
            <a:pPr indent="0" marL="0">
              <a:buNone/>
            </a:pPr>
            <a:r>
              <a:rPr lang="en-US" sz="1250" dirty="0">
                <a:solidFill>
                  <a:srgbClr val="EAF2F8"/>
                </a:solidFill>
                <a:latin typeface="Aptos Mono" pitchFamily="34" charset="0"/>
                <a:ea typeface="Aptos Mono" pitchFamily="34" charset="-122"/>
                <a:cs typeface="Aptos Mono" pitchFamily="34" charset="-120"/>
              </a:rPr>
              <a:t>    return TicketResult(category=category, priority=priority)</a:t>
            </a:r>
            <a:endParaRPr lang="en-US" sz="1250" dirty="0"/>
          </a:p>
        </p:txBody>
      </p:sp>
      <p:sp>
        <p:nvSpPr>
          <p:cNvPr id="6" name="Shape 4"/>
          <p:cNvSpPr/>
          <p:nvPr/>
        </p:nvSpPr>
        <p:spPr>
          <a:xfrm>
            <a:off x="8540496" y="2203704"/>
            <a:ext cx="109728" cy="0"/>
          </a:xfrm>
          <a:prstGeom prst="line">
            <a:avLst/>
          </a:prstGeom>
          <a:noFill/>
          <a:ln w="20320">
            <a:solidFill>
              <a:srgbClr val="18A7B5"/>
            </a:solidFill>
            <a:prstDash val="solid"/>
            <a:tailEnd type="triangle"/>
          </a:ln>
        </p:spPr>
      </p:sp>
      <p:sp>
        <p:nvSpPr>
          <p:cNvPr id="7" name="Shape 5"/>
          <p:cNvSpPr/>
          <p:nvPr/>
        </p:nvSpPr>
        <p:spPr>
          <a:xfrm>
            <a:off x="9912096" y="2203704"/>
            <a:ext cx="109728" cy="0"/>
          </a:xfrm>
          <a:prstGeom prst="line">
            <a:avLst/>
          </a:prstGeom>
          <a:noFill/>
          <a:ln w="20320">
            <a:solidFill>
              <a:srgbClr val="18A7B5"/>
            </a:solidFill>
            <a:prstDash val="solid"/>
            <a:tailEnd type="triangle"/>
          </a:ln>
        </p:spPr>
      </p:sp>
      <p:sp>
        <p:nvSpPr>
          <p:cNvPr id="8" name="Shape 6"/>
          <p:cNvSpPr/>
          <p:nvPr/>
        </p:nvSpPr>
        <p:spPr>
          <a:xfrm>
            <a:off x="7315200" y="1874520"/>
            <a:ext cx="1188720" cy="658368"/>
          </a:xfrm>
          <a:prstGeom prst="roundRect">
            <a:avLst>
              <a:gd name="adj" fmla="val 11111"/>
            </a:avLst>
          </a:prstGeom>
          <a:solidFill>
            <a:srgbClr val="FFFFFF"/>
          </a:solidFill>
          <a:ln w="13970">
            <a:solidFill>
              <a:srgbClr val="C7D2DE"/>
            </a:solidFill>
            <a:prstDash val="solid"/>
          </a:ln>
        </p:spPr>
      </p:sp>
      <p:sp>
        <p:nvSpPr>
          <p:cNvPr id="9" name="Text 7"/>
          <p:cNvSpPr/>
          <p:nvPr/>
        </p:nvSpPr>
        <p:spPr>
          <a:xfrm>
            <a:off x="7406640" y="2039112"/>
            <a:ext cx="1005840" cy="292608"/>
          </a:xfrm>
          <a:prstGeom prst="rect">
            <a:avLst/>
          </a:prstGeom>
          <a:noFill/>
          <a:ln/>
        </p:spPr>
        <p:txBody>
          <a:bodyPr wrap="square" lIns="0" tIns="0" rIns="0" bIns="0" rtlCol="0" anchor="ctr">
            <a:normAutofit/>
          </a:bodyPr>
          <a:lstStyle/>
          <a:p>
            <a:pPr algn="ctr" indent="0" marL="0">
              <a:buNone/>
            </a:pPr>
            <a:r>
              <a:rPr lang="en-US" sz="1250" b="1" dirty="0">
                <a:solidFill>
                  <a:srgbClr val="123B52"/>
                </a:solidFill>
              </a:rPr>
              <a:t>Ticket</a:t>
            </a:r>
            <a:endParaRPr lang="en-US" sz="1250" dirty="0"/>
          </a:p>
          <a:p>
            <a:pPr algn="ctr" indent="0" marL="0">
              <a:buNone/>
            </a:pPr>
            <a:r>
              <a:rPr lang="en-US" sz="1250" b="1" dirty="0">
                <a:solidFill>
                  <a:srgbClr val="123B52"/>
                </a:solidFill>
              </a:rPr>
              <a:t>input</a:t>
            </a:r>
            <a:endParaRPr lang="en-US" sz="1250" dirty="0"/>
          </a:p>
        </p:txBody>
      </p:sp>
      <p:sp>
        <p:nvSpPr>
          <p:cNvPr id="10" name="Shape 8"/>
          <p:cNvSpPr/>
          <p:nvPr/>
        </p:nvSpPr>
        <p:spPr>
          <a:xfrm>
            <a:off x="8686800" y="1874520"/>
            <a:ext cx="1188720" cy="658368"/>
          </a:xfrm>
          <a:prstGeom prst="roundRect">
            <a:avLst>
              <a:gd name="adj" fmla="val 11111"/>
            </a:avLst>
          </a:prstGeom>
          <a:solidFill>
            <a:srgbClr val="FFFFFF"/>
          </a:solidFill>
          <a:ln w="13970">
            <a:solidFill>
              <a:srgbClr val="C7D2DE"/>
            </a:solidFill>
            <a:prstDash val="solid"/>
          </a:ln>
        </p:spPr>
      </p:sp>
      <p:sp>
        <p:nvSpPr>
          <p:cNvPr id="11" name="Text 9"/>
          <p:cNvSpPr/>
          <p:nvPr/>
        </p:nvSpPr>
        <p:spPr>
          <a:xfrm>
            <a:off x="8778240" y="2039112"/>
            <a:ext cx="1005840" cy="292608"/>
          </a:xfrm>
          <a:prstGeom prst="rect">
            <a:avLst/>
          </a:prstGeom>
          <a:noFill/>
          <a:ln/>
        </p:spPr>
        <p:txBody>
          <a:bodyPr wrap="square" lIns="0" tIns="0" rIns="0" bIns="0" rtlCol="0" anchor="ctr">
            <a:normAutofit/>
          </a:bodyPr>
          <a:lstStyle/>
          <a:p>
            <a:pPr algn="ctr" indent="0" marL="0">
              <a:buNone/>
            </a:pPr>
            <a:r>
              <a:rPr lang="en-US" sz="1250" b="1" dirty="0">
                <a:solidFill>
                  <a:srgbClr val="123B52"/>
                </a:solidFill>
              </a:rPr>
              <a:t>classify_ticket()</a:t>
            </a:r>
            <a:endParaRPr lang="en-US" sz="1250" dirty="0"/>
          </a:p>
        </p:txBody>
      </p:sp>
      <p:sp>
        <p:nvSpPr>
          <p:cNvPr id="12" name="Shape 10"/>
          <p:cNvSpPr/>
          <p:nvPr/>
        </p:nvSpPr>
        <p:spPr>
          <a:xfrm>
            <a:off x="10058400" y="1874520"/>
            <a:ext cx="1188720" cy="658368"/>
          </a:xfrm>
          <a:prstGeom prst="roundRect">
            <a:avLst>
              <a:gd name="adj" fmla="val 11111"/>
            </a:avLst>
          </a:prstGeom>
          <a:solidFill>
            <a:srgbClr val="18A7B5"/>
          </a:solidFill>
          <a:ln w="13970">
            <a:solidFill>
              <a:srgbClr val="C7D2DE"/>
            </a:solidFill>
            <a:prstDash val="solid"/>
          </a:ln>
        </p:spPr>
      </p:sp>
      <p:sp>
        <p:nvSpPr>
          <p:cNvPr id="13" name="Text 11"/>
          <p:cNvSpPr/>
          <p:nvPr/>
        </p:nvSpPr>
        <p:spPr>
          <a:xfrm>
            <a:off x="10149840" y="2039112"/>
            <a:ext cx="1005840" cy="292608"/>
          </a:xfrm>
          <a:prstGeom prst="rect">
            <a:avLst/>
          </a:prstGeom>
          <a:noFill/>
          <a:ln/>
        </p:spPr>
        <p:txBody>
          <a:bodyPr wrap="square" lIns="0" tIns="0" rIns="0" bIns="0" rtlCol="0" anchor="ctr">
            <a:normAutofit/>
          </a:bodyPr>
          <a:lstStyle/>
          <a:p>
            <a:pPr algn="ctr" indent="0" marL="0">
              <a:buNone/>
            </a:pPr>
            <a:r>
              <a:rPr lang="en-US" sz="1250" b="1" dirty="0">
                <a:solidFill>
                  <a:srgbClr val="FFFFFF"/>
                </a:solidFill>
              </a:rPr>
              <a:t>TicketResult</a:t>
            </a:r>
            <a:endParaRPr lang="en-US" sz="1250" dirty="0"/>
          </a:p>
          <a:p>
            <a:pPr algn="ctr" indent="0" marL="0">
              <a:buNone/>
            </a:pPr>
            <a:r>
              <a:rPr lang="en-US" sz="1250" b="1" dirty="0">
                <a:solidFill>
                  <a:srgbClr val="FFFFFF"/>
                </a:solidFill>
              </a:rPr>
              <a:t>output</a:t>
            </a:r>
            <a:endParaRPr lang="en-US" sz="1250" dirty="0"/>
          </a:p>
        </p:txBody>
      </p:sp>
      <p:sp>
        <p:nvSpPr>
          <p:cNvPr id="14" name="Shape 12"/>
          <p:cNvSpPr/>
          <p:nvPr/>
        </p:nvSpPr>
        <p:spPr>
          <a:xfrm>
            <a:off x="7315200" y="3429000"/>
            <a:ext cx="3931920" cy="1234440"/>
          </a:xfrm>
          <a:prstGeom prst="roundRect">
            <a:avLst>
              <a:gd name="adj" fmla="val 5185"/>
            </a:avLst>
          </a:prstGeom>
          <a:solidFill>
            <a:srgbClr val="FFFFFF"/>
          </a:solidFill>
          <a:ln w="12700">
            <a:solidFill>
              <a:srgbClr val="D8E1E8"/>
            </a:solidFill>
            <a:prstDash val="solid"/>
          </a:ln>
        </p:spPr>
      </p:sp>
      <p:sp>
        <p:nvSpPr>
          <p:cNvPr id="15" name="Text 13"/>
          <p:cNvSpPr/>
          <p:nvPr/>
        </p:nvSpPr>
        <p:spPr>
          <a:xfrm>
            <a:off x="7552944" y="3630168"/>
            <a:ext cx="3456432" cy="256032"/>
          </a:xfrm>
          <a:prstGeom prst="rect">
            <a:avLst/>
          </a:prstGeom>
          <a:noFill/>
          <a:ln/>
        </p:spPr>
        <p:txBody>
          <a:bodyPr wrap="square" lIns="0" tIns="0" rIns="0" bIns="0" rtlCol="0" anchor="ctr">
            <a:normAutofit/>
          </a:bodyPr>
          <a:lstStyle/>
          <a:p>
            <a:pPr indent="0" marL="0">
              <a:buNone/>
            </a:pPr>
            <a:r>
              <a:rPr lang="en-US" sz="1400" b="1" dirty="0">
                <a:solidFill>
                  <a:srgbClr val="123B52"/>
                </a:solidFill>
              </a:rPr>
              <a:t>Teaching point</a:t>
            </a:r>
            <a:endParaRPr lang="en-US" sz="1400" dirty="0"/>
          </a:p>
        </p:txBody>
      </p:sp>
      <p:sp>
        <p:nvSpPr>
          <p:cNvPr id="16" name="Text 14"/>
          <p:cNvSpPr/>
          <p:nvPr/>
        </p:nvSpPr>
        <p:spPr>
          <a:xfrm>
            <a:off x="7552944" y="4041648"/>
            <a:ext cx="3456432" cy="448056"/>
          </a:xfrm>
          <a:prstGeom prst="rect">
            <a:avLst/>
          </a:prstGeom>
          <a:noFill/>
          <a:ln/>
        </p:spPr>
        <p:txBody>
          <a:bodyPr wrap="square" lIns="254" tIns="254" rIns="254" bIns="254" rtlCol="0" anchor="t">
            <a:normAutofit/>
          </a:bodyPr>
          <a:lstStyle/>
          <a:p>
            <a:pPr indent="0" marL="0">
              <a:buNone/>
            </a:pPr>
            <a:r>
              <a:rPr lang="en-US" sz="1370" dirty="0">
                <a:solidFill>
                  <a:srgbClr val="17202A"/>
                </a:solidFill>
              </a:rPr>
              <a:t>This is now very close to an agent tool: clear input schema, clear output schema, and one focused responsibility.</a:t>
            </a:r>
            <a:endParaRPr lang="en-US" sz="1370" dirty="0"/>
          </a:p>
        </p:txBody>
      </p:sp>
      <p:sp>
        <p:nvSpPr>
          <p:cNvPr id="25" name="Slide Number Placeholder 0"/>
          <p:cNvSpPr>
            <a:spLocks noGrp="1"/>
          </p:cNvSpPr>
          <p:nvPr>
            <p:ph type="sldNum" sz="quarter" idx="4294967295"/>
          </p:nvPr>
        </p:nvSpPr>
        <p:spPr>
          <a:xfrm>
            <a:off x="11612880" y="6547104"/>
            <a:ext cx="800000" cy="300000"/>
          </a:xfrm>
          <a:prstGeom prst="rect">
            <a:avLst/>
          </a:prstGeom>
          <a:extLst>
            <a:ext uri="{C572A759-6A51-4108-AA02-DFA0A04FC94B}">
              <ma14:wrappingTextBoxFlag xmlns:ma14="http://schemas.microsoft.com/office/mac/drawingml/2011/main" val="0"/>
            </a:ext>
          </a:extLst>
        </p:spPr>
        <p:txBody>
          <a:bodyPr/>
          <a:lstStyle>
            <a:lvl1pPr>
              <a:defRPr sz="780">
                <a:solidFill>
                  <a:srgbClr val="5B6B7A"/>
                </a:solidFill>
                <a:latin typeface="Aptos"/>
                <a:ea typeface="Aptos"/>
                <a:cs typeface="Aptos"/>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AFC"/>
        </a:solidFill>
      </p:bgPr>
    </p:bg>
    <p:spTree>
      <p:nvGrpSpPr>
        <p:cNvPr id="1" name=""/>
        <p:cNvGrpSpPr/>
        <p:nvPr/>
      </p:nvGrpSpPr>
      <p:grpSpPr>
        <a:xfrm>
          <a:off x="0" y="0"/>
          <a:ext cx="0" cy="0"/>
          <a:chOff x="0" y="0"/>
          <a:chExt cx="0" cy="0"/>
        </a:xfrm>
      </p:grpSpPr>
      <p:sp>
        <p:nvSpPr>
          <p:cNvPr id="2" name="Text 0"/>
          <p:cNvSpPr/>
          <p:nvPr/>
        </p:nvSpPr>
        <p:spPr>
          <a:xfrm>
            <a:off x="658368" y="384048"/>
            <a:ext cx="5943600" cy="219456"/>
          </a:xfrm>
          <a:prstGeom prst="rect">
            <a:avLst/>
          </a:prstGeom>
          <a:noFill/>
          <a:ln/>
        </p:spPr>
        <p:txBody>
          <a:bodyPr wrap="square" lIns="0" tIns="0" rIns="0" bIns="0" rtlCol="0" anchor="ctr"/>
          <a:lstStyle/>
          <a:p>
            <a:pPr indent="0" marL="0">
              <a:buNone/>
            </a:pPr>
            <a:r>
              <a:rPr lang="en-US" sz="950" b="1" dirty="0">
                <a:solidFill>
                  <a:srgbClr val="18A7B5"/>
                </a:solidFill>
              </a:rPr>
              <a:t>MODEL_DUMP AND MODEL_DUMP_JSON</a:t>
            </a:r>
            <a:endParaRPr lang="en-US" sz="950" dirty="0"/>
          </a:p>
        </p:txBody>
      </p:sp>
      <p:sp>
        <p:nvSpPr>
          <p:cNvPr id="3" name="Text 1"/>
          <p:cNvSpPr/>
          <p:nvPr/>
        </p:nvSpPr>
        <p:spPr>
          <a:xfrm>
            <a:off x="658368" y="658368"/>
            <a:ext cx="10698480" cy="475488"/>
          </a:xfrm>
          <a:prstGeom prst="rect">
            <a:avLst/>
          </a:prstGeom>
          <a:noFill/>
          <a:ln/>
        </p:spPr>
        <p:txBody>
          <a:bodyPr wrap="square" lIns="0" tIns="0" rIns="0" bIns="0" rtlCol="0" anchor="ctr">
            <a:normAutofit/>
          </a:bodyPr>
          <a:lstStyle/>
          <a:p>
            <a:pPr indent="0" marL="0">
              <a:buNone/>
            </a:pPr>
            <a:r>
              <a:rPr lang="en-US" sz="2700" b="1" dirty="0">
                <a:solidFill>
                  <a:srgbClr val="123B52"/>
                </a:solidFill>
              </a:rPr>
              <a:t>Serialization: From Python Object to JSON</a:t>
            </a:r>
            <a:endParaRPr lang="en-US" sz="2700" dirty="0"/>
          </a:p>
        </p:txBody>
      </p:sp>
      <p:sp>
        <p:nvSpPr>
          <p:cNvPr id="4" name="Shape 2"/>
          <p:cNvSpPr/>
          <p:nvPr/>
        </p:nvSpPr>
        <p:spPr>
          <a:xfrm>
            <a:off x="731520" y="1325880"/>
            <a:ext cx="6355080" cy="4069080"/>
          </a:xfrm>
          <a:prstGeom prst="roundRect">
            <a:avLst>
              <a:gd name="adj" fmla="val 1124"/>
            </a:avLst>
          </a:prstGeom>
          <a:solidFill>
            <a:srgbClr val="0E1720"/>
          </a:solidFill>
          <a:ln w="12700">
            <a:solidFill>
              <a:srgbClr val="1E2A35"/>
            </a:solidFill>
            <a:prstDash val="solid"/>
          </a:ln>
        </p:spPr>
      </p:sp>
      <p:sp>
        <p:nvSpPr>
          <p:cNvPr id="5" name="Text 3"/>
          <p:cNvSpPr/>
          <p:nvPr/>
        </p:nvSpPr>
        <p:spPr>
          <a:xfrm>
            <a:off x="950976" y="1490472"/>
            <a:ext cx="5916168" cy="3739896"/>
          </a:xfrm>
          <a:prstGeom prst="rect">
            <a:avLst/>
          </a:prstGeom>
          <a:noFill/>
          <a:ln/>
        </p:spPr>
        <p:txBody>
          <a:bodyPr wrap="square" lIns="0" tIns="0" rIns="0" bIns="0" rtlCol="0" anchor="ctr">
            <a:normAutofit/>
          </a:bodyPr>
          <a:lstStyle/>
          <a:p>
            <a:pPr indent="0" marL="0">
              <a:buNone/>
            </a:pPr>
            <a:r>
              <a:rPr lang="en-US" sz="1340" dirty="0">
                <a:solidFill>
                  <a:srgbClr val="EAF2F8"/>
                </a:solidFill>
                <a:latin typeface="Aptos Mono" pitchFamily="34" charset="0"/>
                <a:ea typeface="Aptos Mono" pitchFamily="34" charset="-122"/>
                <a:cs typeface="Aptos Mono" pitchFamily="34" charset="-120"/>
              </a:rPr>
              <a:t>ticket = Ticket(</a:t>
            </a:r>
            <a:endParaRPr lang="en-US" sz="1340" dirty="0"/>
          </a:p>
          <a:p>
            <a:pPr indent="0" marL="0">
              <a:buNone/>
            </a:pPr>
            <a:r>
              <a:rPr lang="en-US" sz="1340" dirty="0">
                <a:solidFill>
                  <a:srgbClr val="EAF2F8"/>
                </a:solidFill>
                <a:latin typeface="Aptos Mono" pitchFamily="34" charset="0"/>
                <a:ea typeface="Aptos Mono" pitchFamily="34" charset="-122"/>
                <a:cs typeface="Aptos Mono" pitchFamily="34" charset="-120"/>
              </a:rPr>
              <a:t>    customer_name="Sara",</a:t>
            </a:r>
            <a:endParaRPr lang="en-US" sz="1340" dirty="0"/>
          </a:p>
          <a:p>
            <a:pPr indent="0" marL="0">
              <a:buNone/>
            </a:pPr>
            <a:r>
              <a:rPr lang="en-US" sz="1340" dirty="0">
                <a:solidFill>
                  <a:srgbClr val="EAF2F8"/>
                </a:solidFill>
                <a:latin typeface="Aptos Mono" pitchFamily="34" charset="0"/>
                <a:ea typeface="Aptos Mono" pitchFamily="34" charset="-122"/>
                <a:cs typeface="Aptos Mono" pitchFamily="34" charset="-120"/>
              </a:rPr>
              <a:t>    message="I cannot login",</a:t>
            </a:r>
            <a:endParaRPr lang="en-US" sz="1340" dirty="0"/>
          </a:p>
          <a:p>
            <a:pPr indent="0" marL="0">
              <a:buNone/>
            </a:pPr>
            <a:r>
              <a:rPr lang="en-US" sz="1340" dirty="0">
                <a:solidFill>
                  <a:srgbClr val="EAF2F8"/>
                </a:solidFill>
                <a:latin typeface="Aptos Mono" pitchFamily="34" charset="0"/>
                <a:ea typeface="Aptos Mono" pitchFamily="34" charset="-122"/>
                <a:cs typeface="Aptos Mono" pitchFamily="34" charset="-120"/>
              </a:rPr>
              <a:t>)</a:t>
            </a:r>
            <a:endParaRPr lang="en-US" sz="1340" dirty="0"/>
          </a:p>
          <a:p>
            <a:pPr indent="0" marL="0">
              <a:buNone/>
            </a:pPr>
            <a:endParaRPr lang="en-US" sz="1340" dirty="0"/>
          </a:p>
          <a:p>
            <a:pPr indent="0" marL="0">
              <a:buNone/>
            </a:pPr>
            <a:r>
              <a:rPr lang="en-US" sz="1340" dirty="0">
                <a:solidFill>
                  <a:srgbClr val="EAF2F8"/>
                </a:solidFill>
                <a:latin typeface="Aptos Mono" pitchFamily="34" charset="0"/>
                <a:ea typeface="Aptos Mono" pitchFamily="34" charset="-122"/>
                <a:cs typeface="Aptos Mono" pitchFamily="34" charset="-120"/>
              </a:rPr>
              <a:t>result = classify_ticket(ticket)</a:t>
            </a:r>
            <a:endParaRPr lang="en-US" sz="1340" dirty="0"/>
          </a:p>
          <a:p>
            <a:pPr indent="0" marL="0">
              <a:buNone/>
            </a:pPr>
            <a:endParaRPr lang="en-US" sz="1340" dirty="0"/>
          </a:p>
          <a:p>
            <a:pPr indent="0" marL="0">
              <a:buNone/>
            </a:pPr>
            <a:r>
              <a:rPr lang="en-US" sz="1340" dirty="0">
                <a:solidFill>
                  <a:srgbClr val="EAF2F8"/>
                </a:solidFill>
                <a:latin typeface="Aptos Mono" pitchFamily="34" charset="0"/>
                <a:ea typeface="Aptos Mono" pitchFamily="34" charset="-122"/>
                <a:cs typeface="Aptos Mono" pitchFamily="34" charset="-120"/>
              </a:rPr>
              <a:t>print(result.model_dump())</a:t>
            </a:r>
            <a:endParaRPr lang="en-US" sz="1340" dirty="0"/>
          </a:p>
          <a:p>
            <a:pPr indent="0" marL="0">
              <a:buNone/>
            </a:pPr>
            <a:r>
              <a:rPr lang="en-US" sz="1340" dirty="0">
                <a:solidFill>
                  <a:srgbClr val="EAF2F8"/>
                </a:solidFill>
                <a:latin typeface="Aptos Mono" pitchFamily="34" charset="0"/>
                <a:ea typeface="Aptos Mono" pitchFamily="34" charset="-122"/>
                <a:cs typeface="Aptos Mono" pitchFamily="34" charset="-120"/>
              </a:rPr>
              <a:t># {'category': 'technical', 'priority': 'normal'}</a:t>
            </a:r>
            <a:endParaRPr lang="en-US" sz="1340" dirty="0"/>
          </a:p>
          <a:p>
            <a:pPr indent="0" marL="0">
              <a:buNone/>
            </a:pPr>
            <a:endParaRPr lang="en-US" sz="1340" dirty="0"/>
          </a:p>
          <a:p>
            <a:pPr indent="0" marL="0">
              <a:buNone/>
            </a:pPr>
            <a:r>
              <a:rPr lang="en-US" sz="1340" dirty="0">
                <a:solidFill>
                  <a:srgbClr val="EAF2F8"/>
                </a:solidFill>
                <a:latin typeface="Aptos Mono" pitchFamily="34" charset="0"/>
                <a:ea typeface="Aptos Mono" pitchFamily="34" charset="-122"/>
                <a:cs typeface="Aptos Mono" pitchFamily="34" charset="-120"/>
              </a:rPr>
              <a:t>print(result.model_dump_json())</a:t>
            </a:r>
            <a:endParaRPr lang="en-US" sz="1340" dirty="0"/>
          </a:p>
          <a:p>
            <a:pPr indent="0" marL="0">
              <a:buNone/>
            </a:pPr>
            <a:r>
              <a:rPr lang="en-US" sz="1340" dirty="0">
                <a:solidFill>
                  <a:srgbClr val="EAF2F8"/>
                </a:solidFill>
                <a:latin typeface="Aptos Mono" pitchFamily="34" charset="0"/>
                <a:ea typeface="Aptos Mono" pitchFamily="34" charset="-122"/>
                <a:cs typeface="Aptos Mono" pitchFamily="34" charset="-120"/>
              </a:rPr>
              <a:t># {"category":"technical","priority":"normal"}</a:t>
            </a:r>
            <a:endParaRPr lang="en-US" sz="1340" dirty="0"/>
          </a:p>
        </p:txBody>
      </p:sp>
      <p:sp>
        <p:nvSpPr>
          <p:cNvPr id="6" name="Shape 4"/>
          <p:cNvSpPr/>
          <p:nvPr/>
        </p:nvSpPr>
        <p:spPr>
          <a:xfrm>
            <a:off x="7452360" y="1645920"/>
            <a:ext cx="3886200" cy="1965960"/>
          </a:xfrm>
          <a:prstGeom prst="roundRect">
            <a:avLst>
              <a:gd name="adj" fmla="val 3256"/>
            </a:avLst>
          </a:prstGeom>
          <a:solidFill>
            <a:srgbClr val="FFFFFF"/>
          </a:solidFill>
          <a:ln w="12700">
            <a:solidFill>
              <a:srgbClr val="D8E1E8"/>
            </a:solidFill>
            <a:prstDash val="solid"/>
          </a:ln>
        </p:spPr>
      </p:sp>
      <p:sp>
        <p:nvSpPr>
          <p:cNvPr id="7" name="Text 5"/>
          <p:cNvSpPr/>
          <p:nvPr/>
        </p:nvSpPr>
        <p:spPr>
          <a:xfrm>
            <a:off x="7690104" y="1847088"/>
            <a:ext cx="3410712" cy="256032"/>
          </a:xfrm>
          <a:prstGeom prst="rect">
            <a:avLst/>
          </a:prstGeom>
          <a:noFill/>
          <a:ln/>
        </p:spPr>
        <p:txBody>
          <a:bodyPr wrap="square" lIns="0" tIns="0" rIns="0" bIns="0" rtlCol="0" anchor="ctr">
            <a:normAutofit/>
          </a:bodyPr>
          <a:lstStyle/>
          <a:p>
            <a:pPr indent="0" marL="0">
              <a:buNone/>
            </a:pPr>
            <a:r>
              <a:rPr lang="en-US" sz="1400" b="1" dirty="0">
                <a:solidFill>
                  <a:srgbClr val="123B52"/>
                </a:solidFill>
              </a:rPr>
              <a:t>Why this matters</a:t>
            </a:r>
            <a:endParaRPr lang="en-US" sz="1400" dirty="0"/>
          </a:p>
        </p:txBody>
      </p:sp>
      <p:sp>
        <p:nvSpPr>
          <p:cNvPr id="8" name="Text 6"/>
          <p:cNvSpPr/>
          <p:nvPr/>
        </p:nvSpPr>
        <p:spPr>
          <a:xfrm>
            <a:off x="7690104" y="2258568"/>
            <a:ext cx="3410712" cy="1179576"/>
          </a:xfrm>
          <a:prstGeom prst="rect">
            <a:avLst/>
          </a:prstGeom>
          <a:noFill/>
          <a:ln/>
        </p:spPr>
        <p:txBody>
          <a:bodyPr wrap="square" lIns="254" tIns="254" rIns="254" bIns="254" rtlCol="0" anchor="t">
            <a:normAutofit/>
          </a:bodyPr>
          <a:lstStyle/>
          <a:p>
            <a:pPr indent="0" marL="0">
              <a:buNone/>
            </a:pPr>
            <a:r>
              <a:rPr lang="en-US" sz="1450" dirty="0">
                <a:solidFill>
                  <a:srgbClr val="17202A"/>
                </a:solidFill>
              </a:rPr>
              <a:t>APIs and agents do not pass Python objects directly. They usually exchange JSON. Pydantic gives us a clean bridge between Python objects and JSON data.</a:t>
            </a:r>
            <a:endParaRPr lang="en-US" sz="1450" dirty="0"/>
          </a:p>
        </p:txBody>
      </p:sp>
      <p:sp>
        <p:nvSpPr>
          <p:cNvPr id="9" name="Shape 7"/>
          <p:cNvSpPr/>
          <p:nvPr/>
        </p:nvSpPr>
        <p:spPr>
          <a:xfrm>
            <a:off x="7452360" y="4069080"/>
            <a:ext cx="3886200" cy="960120"/>
          </a:xfrm>
          <a:prstGeom prst="roundRect">
            <a:avLst>
              <a:gd name="adj" fmla="val 6667"/>
            </a:avLst>
          </a:prstGeom>
          <a:solidFill>
            <a:srgbClr val="F1EEFF"/>
          </a:solidFill>
          <a:ln w="12700">
            <a:solidFill>
              <a:srgbClr val="D8D0FF"/>
            </a:solidFill>
            <a:prstDash val="solid"/>
          </a:ln>
        </p:spPr>
      </p:sp>
      <p:sp>
        <p:nvSpPr>
          <p:cNvPr id="10" name="Text 8"/>
          <p:cNvSpPr/>
          <p:nvPr/>
        </p:nvSpPr>
        <p:spPr>
          <a:xfrm>
            <a:off x="7690104" y="4270248"/>
            <a:ext cx="3410712" cy="256032"/>
          </a:xfrm>
          <a:prstGeom prst="rect">
            <a:avLst/>
          </a:prstGeom>
          <a:noFill/>
          <a:ln/>
        </p:spPr>
        <p:txBody>
          <a:bodyPr wrap="square" lIns="0" tIns="0" rIns="0" bIns="0" rtlCol="0" anchor="ctr">
            <a:normAutofit/>
          </a:bodyPr>
          <a:lstStyle/>
          <a:p>
            <a:pPr indent="0" marL="0">
              <a:buNone/>
            </a:pPr>
            <a:r>
              <a:rPr lang="en-US" sz="1400" b="1" dirty="0">
                <a:solidFill>
                  <a:srgbClr val="6554C0"/>
                </a:solidFill>
              </a:rPr>
              <a:t>Phrase to say</a:t>
            </a:r>
            <a:endParaRPr lang="en-US" sz="1400" dirty="0"/>
          </a:p>
        </p:txBody>
      </p:sp>
      <p:sp>
        <p:nvSpPr>
          <p:cNvPr id="11" name="Text 9"/>
          <p:cNvSpPr/>
          <p:nvPr/>
        </p:nvSpPr>
        <p:spPr>
          <a:xfrm>
            <a:off x="7690104" y="4681728"/>
            <a:ext cx="3410712" cy="173736"/>
          </a:xfrm>
          <a:prstGeom prst="rect">
            <a:avLst/>
          </a:prstGeom>
          <a:noFill/>
          <a:ln/>
        </p:spPr>
        <p:txBody>
          <a:bodyPr wrap="square" lIns="254" tIns="254" rIns="254" bIns="254" rtlCol="0" anchor="t">
            <a:normAutofit/>
          </a:bodyPr>
          <a:lstStyle/>
          <a:p>
            <a:pPr indent="0" marL="0">
              <a:buNone/>
            </a:pPr>
            <a:r>
              <a:rPr lang="en-US" sz="1460" dirty="0">
                <a:solidFill>
                  <a:srgbClr val="17202A"/>
                </a:solidFill>
              </a:rPr>
              <a:t>Pydantic is the bridge between messy external data and clean internal Python logic.</a:t>
            </a:r>
            <a:endParaRPr lang="en-US" sz="1460" dirty="0"/>
          </a:p>
        </p:txBody>
      </p:sp>
      <p:sp>
        <p:nvSpPr>
          <p:cNvPr id="25" name="Slide Number Placeholder 0"/>
          <p:cNvSpPr>
            <a:spLocks noGrp="1"/>
          </p:cNvSpPr>
          <p:nvPr>
            <p:ph type="sldNum" sz="quarter" idx="4294967295"/>
          </p:nvPr>
        </p:nvSpPr>
        <p:spPr>
          <a:xfrm>
            <a:off x="11612880" y="6547104"/>
            <a:ext cx="800000" cy="300000"/>
          </a:xfrm>
          <a:prstGeom prst="rect">
            <a:avLst/>
          </a:prstGeom>
          <a:extLst>
            <a:ext uri="{C572A759-6A51-4108-AA02-DFA0A04FC94B}">
              <ma14:wrappingTextBoxFlag xmlns:ma14="http://schemas.microsoft.com/office/mac/drawingml/2011/main" val="0"/>
            </a:ext>
          </a:extLst>
        </p:spPr>
        <p:txBody>
          <a:bodyPr/>
          <a:lstStyle>
            <a:lvl1pPr>
              <a:defRPr sz="780">
                <a:solidFill>
                  <a:srgbClr val="5B6B7A"/>
                </a:solidFill>
                <a:latin typeface="Aptos"/>
                <a:ea typeface="Aptos"/>
                <a:cs typeface="Aptos"/>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AFC"/>
        </a:solidFill>
      </p:bgPr>
    </p:bg>
    <p:spTree>
      <p:nvGrpSpPr>
        <p:cNvPr id="1" name=""/>
        <p:cNvGrpSpPr/>
        <p:nvPr/>
      </p:nvGrpSpPr>
      <p:grpSpPr>
        <a:xfrm>
          <a:off x="0" y="0"/>
          <a:ext cx="0" cy="0"/>
          <a:chOff x="0" y="0"/>
          <a:chExt cx="0" cy="0"/>
        </a:xfrm>
      </p:grpSpPr>
      <p:sp>
        <p:nvSpPr>
          <p:cNvPr id="2" name="Text 0"/>
          <p:cNvSpPr/>
          <p:nvPr/>
        </p:nvSpPr>
        <p:spPr>
          <a:xfrm>
            <a:off x="658368" y="384048"/>
            <a:ext cx="5943600" cy="219456"/>
          </a:xfrm>
          <a:prstGeom prst="rect">
            <a:avLst/>
          </a:prstGeom>
          <a:noFill/>
          <a:ln/>
        </p:spPr>
        <p:txBody>
          <a:bodyPr wrap="square" lIns="0" tIns="0" rIns="0" bIns="0" rtlCol="0" anchor="ctr"/>
          <a:lstStyle/>
          <a:p>
            <a:pPr indent="0" marL="0">
              <a:buNone/>
            </a:pPr>
            <a:r>
              <a:rPr lang="en-US" sz="950" b="1" dirty="0">
                <a:solidFill>
                  <a:srgbClr val="18A7B5"/>
                </a:solidFill>
              </a:rPr>
              <a:t>FUNCTIONS NEED A NETWORK BOUNDARY</a:t>
            </a:r>
            <a:endParaRPr lang="en-US" sz="950" dirty="0"/>
          </a:p>
        </p:txBody>
      </p:sp>
      <p:sp>
        <p:nvSpPr>
          <p:cNvPr id="3" name="Text 1"/>
          <p:cNvSpPr/>
          <p:nvPr/>
        </p:nvSpPr>
        <p:spPr>
          <a:xfrm>
            <a:off x="658368" y="658368"/>
            <a:ext cx="10698480" cy="475488"/>
          </a:xfrm>
          <a:prstGeom prst="rect">
            <a:avLst/>
          </a:prstGeom>
          <a:noFill/>
          <a:ln/>
        </p:spPr>
        <p:txBody>
          <a:bodyPr wrap="square" lIns="0" tIns="0" rIns="0" bIns="0" rtlCol="0" anchor="ctr">
            <a:normAutofit/>
          </a:bodyPr>
          <a:lstStyle/>
          <a:p>
            <a:pPr indent="0" marL="0">
              <a:buNone/>
            </a:pPr>
            <a:r>
              <a:rPr lang="en-US" sz="2700" b="1" dirty="0">
                <a:solidFill>
                  <a:srgbClr val="123B52"/>
                </a:solidFill>
              </a:rPr>
              <a:t>Why FastAPI Next?</a:t>
            </a:r>
            <a:endParaRPr lang="en-US" sz="2700" dirty="0"/>
          </a:p>
        </p:txBody>
      </p:sp>
      <p:sp>
        <p:nvSpPr>
          <p:cNvPr id="4" name="Text 2"/>
          <p:cNvSpPr/>
          <p:nvPr/>
        </p:nvSpPr>
        <p:spPr>
          <a:xfrm>
            <a:off x="777240" y="1234440"/>
            <a:ext cx="9875520" cy="310896"/>
          </a:xfrm>
          <a:prstGeom prst="rect">
            <a:avLst/>
          </a:prstGeom>
          <a:noFill/>
          <a:ln/>
        </p:spPr>
        <p:txBody>
          <a:bodyPr wrap="square" lIns="0" tIns="0" rIns="0" bIns="0" rtlCol="0" anchor="ctr"/>
          <a:lstStyle/>
          <a:p>
            <a:pPr indent="0" marL="0">
              <a:buNone/>
            </a:pPr>
            <a:r>
              <a:rPr lang="en-US" sz="1750" dirty="0">
                <a:solidFill>
                  <a:srgbClr val="5B6B7A"/>
                </a:solidFill>
              </a:rPr>
              <a:t>If the future agent is in another process, how will it call our function?</a:t>
            </a:r>
            <a:endParaRPr lang="en-US" sz="1750" dirty="0"/>
          </a:p>
        </p:txBody>
      </p:sp>
      <p:sp>
        <p:nvSpPr>
          <p:cNvPr id="5" name="Shape 3"/>
          <p:cNvSpPr/>
          <p:nvPr/>
        </p:nvSpPr>
        <p:spPr>
          <a:xfrm>
            <a:off x="2816352" y="2295144"/>
            <a:ext cx="109728" cy="0"/>
          </a:xfrm>
          <a:prstGeom prst="line">
            <a:avLst/>
          </a:prstGeom>
          <a:noFill/>
          <a:ln w="20320">
            <a:solidFill>
              <a:srgbClr val="18A7B5"/>
            </a:solidFill>
            <a:prstDash val="solid"/>
            <a:tailEnd type="triangle"/>
          </a:ln>
        </p:spPr>
      </p:sp>
      <p:sp>
        <p:nvSpPr>
          <p:cNvPr id="6" name="Shape 4"/>
          <p:cNvSpPr/>
          <p:nvPr/>
        </p:nvSpPr>
        <p:spPr>
          <a:xfrm>
            <a:off x="4956048" y="2295144"/>
            <a:ext cx="109728" cy="0"/>
          </a:xfrm>
          <a:prstGeom prst="line">
            <a:avLst/>
          </a:prstGeom>
          <a:noFill/>
          <a:ln w="20320">
            <a:solidFill>
              <a:srgbClr val="18A7B5"/>
            </a:solidFill>
            <a:prstDash val="solid"/>
            <a:tailEnd type="triangle"/>
          </a:ln>
        </p:spPr>
      </p:sp>
      <p:sp>
        <p:nvSpPr>
          <p:cNvPr id="7" name="Shape 5"/>
          <p:cNvSpPr/>
          <p:nvPr/>
        </p:nvSpPr>
        <p:spPr>
          <a:xfrm>
            <a:off x="7095744" y="2295144"/>
            <a:ext cx="109728" cy="0"/>
          </a:xfrm>
          <a:prstGeom prst="line">
            <a:avLst/>
          </a:prstGeom>
          <a:noFill/>
          <a:ln w="20320">
            <a:solidFill>
              <a:srgbClr val="18A7B5"/>
            </a:solidFill>
            <a:prstDash val="solid"/>
            <a:tailEnd type="triangle"/>
          </a:ln>
        </p:spPr>
      </p:sp>
      <p:sp>
        <p:nvSpPr>
          <p:cNvPr id="8" name="Shape 6"/>
          <p:cNvSpPr/>
          <p:nvPr/>
        </p:nvSpPr>
        <p:spPr>
          <a:xfrm>
            <a:off x="9235440" y="2295144"/>
            <a:ext cx="109728" cy="0"/>
          </a:xfrm>
          <a:prstGeom prst="line">
            <a:avLst/>
          </a:prstGeom>
          <a:noFill/>
          <a:ln w="20320">
            <a:solidFill>
              <a:srgbClr val="18A7B5"/>
            </a:solidFill>
            <a:prstDash val="solid"/>
            <a:tailEnd type="triangle"/>
          </a:ln>
        </p:spPr>
      </p:sp>
      <p:sp>
        <p:nvSpPr>
          <p:cNvPr id="9" name="Shape 7"/>
          <p:cNvSpPr/>
          <p:nvPr/>
        </p:nvSpPr>
        <p:spPr>
          <a:xfrm>
            <a:off x="822960" y="1965960"/>
            <a:ext cx="1956816" cy="658368"/>
          </a:xfrm>
          <a:prstGeom prst="roundRect">
            <a:avLst>
              <a:gd name="adj" fmla="val 11111"/>
            </a:avLst>
          </a:prstGeom>
          <a:solidFill>
            <a:srgbClr val="FFFFFF"/>
          </a:solidFill>
          <a:ln w="13970">
            <a:solidFill>
              <a:srgbClr val="C7D2DE"/>
            </a:solidFill>
            <a:prstDash val="solid"/>
          </a:ln>
        </p:spPr>
      </p:sp>
      <p:sp>
        <p:nvSpPr>
          <p:cNvPr id="10" name="Text 8"/>
          <p:cNvSpPr/>
          <p:nvPr/>
        </p:nvSpPr>
        <p:spPr>
          <a:xfrm>
            <a:off x="914400" y="2130552"/>
            <a:ext cx="1773936" cy="292608"/>
          </a:xfrm>
          <a:prstGeom prst="rect">
            <a:avLst/>
          </a:prstGeom>
          <a:noFill/>
          <a:ln/>
        </p:spPr>
        <p:txBody>
          <a:bodyPr wrap="square" lIns="0" tIns="0" rIns="0" bIns="0" rtlCol="0" anchor="ctr">
            <a:normAutofit/>
          </a:bodyPr>
          <a:lstStyle/>
          <a:p>
            <a:pPr algn="ctr" indent="0" marL="0">
              <a:buNone/>
            </a:pPr>
            <a:r>
              <a:rPr lang="en-US" sz="1250" b="1" dirty="0">
                <a:solidFill>
                  <a:srgbClr val="123B52"/>
                </a:solidFill>
              </a:rPr>
              <a:t>Client</a:t>
            </a:r>
            <a:endParaRPr lang="en-US" sz="1250" dirty="0"/>
          </a:p>
          <a:p>
            <a:pPr algn="ctr" indent="0" marL="0">
              <a:buNone/>
            </a:pPr>
            <a:r>
              <a:rPr lang="en-US" sz="1250" b="1" dirty="0">
                <a:solidFill>
                  <a:srgbClr val="123B52"/>
                </a:solidFill>
              </a:rPr>
              <a:t>/ Agent</a:t>
            </a:r>
            <a:endParaRPr lang="en-US" sz="1250" dirty="0"/>
          </a:p>
        </p:txBody>
      </p:sp>
      <p:sp>
        <p:nvSpPr>
          <p:cNvPr id="11" name="Shape 9"/>
          <p:cNvSpPr/>
          <p:nvPr/>
        </p:nvSpPr>
        <p:spPr>
          <a:xfrm>
            <a:off x="2962656" y="1965960"/>
            <a:ext cx="1956816" cy="658368"/>
          </a:xfrm>
          <a:prstGeom prst="roundRect">
            <a:avLst>
              <a:gd name="adj" fmla="val 11111"/>
            </a:avLst>
          </a:prstGeom>
          <a:solidFill>
            <a:srgbClr val="FFFFFF"/>
          </a:solidFill>
          <a:ln w="13970">
            <a:solidFill>
              <a:srgbClr val="C7D2DE"/>
            </a:solidFill>
            <a:prstDash val="solid"/>
          </a:ln>
        </p:spPr>
      </p:sp>
      <p:sp>
        <p:nvSpPr>
          <p:cNvPr id="12" name="Text 10"/>
          <p:cNvSpPr/>
          <p:nvPr/>
        </p:nvSpPr>
        <p:spPr>
          <a:xfrm>
            <a:off x="3054096" y="2130552"/>
            <a:ext cx="1773936" cy="292608"/>
          </a:xfrm>
          <a:prstGeom prst="rect">
            <a:avLst/>
          </a:prstGeom>
          <a:noFill/>
          <a:ln/>
        </p:spPr>
        <p:txBody>
          <a:bodyPr wrap="square" lIns="0" tIns="0" rIns="0" bIns="0" rtlCol="0" anchor="ctr">
            <a:normAutofit/>
          </a:bodyPr>
          <a:lstStyle/>
          <a:p>
            <a:pPr algn="ctr" indent="0" marL="0">
              <a:buNone/>
            </a:pPr>
            <a:r>
              <a:rPr lang="en-US" sz="1250" b="1" dirty="0">
                <a:solidFill>
                  <a:srgbClr val="123B52"/>
                </a:solidFill>
              </a:rPr>
              <a:t>HTTP</a:t>
            </a:r>
            <a:endParaRPr lang="en-US" sz="1250" dirty="0"/>
          </a:p>
          <a:p>
            <a:pPr algn="ctr" indent="0" marL="0">
              <a:buNone/>
            </a:pPr>
            <a:r>
              <a:rPr lang="en-US" sz="1250" b="1" dirty="0">
                <a:solidFill>
                  <a:srgbClr val="123B52"/>
                </a:solidFill>
              </a:rPr>
              <a:t>Request</a:t>
            </a:r>
            <a:endParaRPr lang="en-US" sz="1250" dirty="0"/>
          </a:p>
        </p:txBody>
      </p:sp>
      <p:sp>
        <p:nvSpPr>
          <p:cNvPr id="13" name="Shape 11"/>
          <p:cNvSpPr/>
          <p:nvPr/>
        </p:nvSpPr>
        <p:spPr>
          <a:xfrm>
            <a:off x="5102352" y="1965960"/>
            <a:ext cx="1956816" cy="658368"/>
          </a:xfrm>
          <a:prstGeom prst="roundRect">
            <a:avLst>
              <a:gd name="adj" fmla="val 11111"/>
            </a:avLst>
          </a:prstGeom>
          <a:solidFill>
            <a:srgbClr val="FFFFFF"/>
          </a:solidFill>
          <a:ln w="13970">
            <a:solidFill>
              <a:srgbClr val="C7D2DE"/>
            </a:solidFill>
            <a:prstDash val="solid"/>
          </a:ln>
        </p:spPr>
      </p:sp>
      <p:sp>
        <p:nvSpPr>
          <p:cNvPr id="14" name="Text 12"/>
          <p:cNvSpPr/>
          <p:nvPr/>
        </p:nvSpPr>
        <p:spPr>
          <a:xfrm>
            <a:off x="5193792" y="2130552"/>
            <a:ext cx="1773936" cy="292608"/>
          </a:xfrm>
          <a:prstGeom prst="rect">
            <a:avLst/>
          </a:prstGeom>
          <a:noFill/>
          <a:ln/>
        </p:spPr>
        <p:txBody>
          <a:bodyPr wrap="square" lIns="0" tIns="0" rIns="0" bIns="0" rtlCol="0" anchor="ctr">
            <a:normAutofit/>
          </a:bodyPr>
          <a:lstStyle/>
          <a:p>
            <a:pPr algn="ctr" indent="0" marL="0">
              <a:buNone/>
            </a:pPr>
            <a:r>
              <a:rPr lang="en-US" sz="1250" b="1" dirty="0">
                <a:solidFill>
                  <a:srgbClr val="123B52"/>
                </a:solidFill>
              </a:rPr>
              <a:t>FastAPI</a:t>
            </a:r>
            <a:endParaRPr lang="en-US" sz="1250" dirty="0"/>
          </a:p>
          <a:p>
            <a:pPr algn="ctr" indent="0" marL="0">
              <a:buNone/>
            </a:pPr>
            <a:r>
              <a:rPr lang="en-US" sz="1250" b="1" dirty="0">
                <a:solidFill>
                  <a:srgbClr val="123B52"/>
                </a:solidFill>
              </a:rPr>
              <a:t>Endpoint</a:t>
            </a:r>
            <a:endParaRPr lang="en-US" sz="1250" dirty="0"/>
          </a:p>
        </p:txBody>
      </p:sp>
      <p:sp>
        <p:nvSpPr>
          <p:cNvPr id="15" name="Shape 13"/>
          <p:cNvSpPr/>
          <p:nvPr/>
        </p:nvSpPr>
        <p:spPr>
          <a:xfrm>
            <a:off x="7242048" y="1965960"/>
            <a:ext cx="1956816" cy="658368"/>
          </a:xfrm>
          <a:prstGeom prst="roundRect">
            <a:avLst>
              <a:gd name="adj" fmla="val 11111"/>
            </a:avLst>
          </a:prstGeom>
          <a:solidFill>
            <a:srgbClr val="FFFFFF"/>
          </a:solidFill>
          <a:ln w="13970">
            <a:solidFill>
              <a:srgbClr val="C7D2DE"/>
            </a:solidFill>
            <a:prstDash val="solid"/>
          </a:ln>
        </p:spPr>
      </p:sp>
      <p:sp>
        <p:nvSpPr>
          <p:cNvPr id="16" name="Text 14"/>
          <p:cNvSpPr/>
          <p:nvPr/>
        </p:nvSpPr>
        <p:spPr>
          <a:xfrm>
            <a:off x="7333488" y="2130552"/>
            <a:ext cx="1773936" cy="292608"/>
          </a:xfrm>
          <a:prstGeom prst="rect">
            <a:avLst/>
          </a:prstGeom>
          <a:noFill/>
          <a:ln/>
        </p:spPr>
        <p:txBody>
          <a:bodyPr wrap="square" lIns="0" tIns="0" rIns="0" bIns="0" rtlCol="0" anchor="ctr">
            <a:normAutofit/>
          </a:bodyPr>
          <a:lstStyle/>
          <a:p>
            <a:pPr algn="ctr" indent="0" marL="0">
              <a:buNone/>
            </a:pPr>
            <a:r>
              <a:rPr lang="en-US" sz="1250" b="1" dirty="0">
                <a:solidFill>
                  <a:srgbClr val="123B52"/>
                </a:solidFill>
              </a:rPr>
              <a:t>Python</a:t>
            </a:r>
            <a:endParaRPr lang="en-US" sz="1250" dirty="0"/>
          </a:p>
          <a:p>
            <a:pPr algn="ctr" indent="0" marL="0">
              <a:buNone/>
            </a:pPr>
            <a:r>
              <a:rPr lang="en-US" sz="1250" b="1" dirty="0">
                <a:solidFill>
                  <a:srgbClr val="123B52"/>
                </a:solidFill>
              </a:rPr>
              <a:t>Function</a:t>
            </a:r>
            <a:endParaRPr lang="en-US" sz="1250" dirty="0"/>
          </a:p>
        </p:txBody>
      </p:sp>
      <p:sp>
        <p:nvSpPr>
          <p:cNvPr id="17" name="Shape 15"/>
          <p:cNvSpPr/>
          <p:nvPr/>
        </p:nvSpPr>
        <p:spPr>
          <a:xfrm>
            <a:off x="9381744" y="1965960"/>
            <a:ext cx="1956816" cy="658368"/>
          </a:xfrm>
          <a:prstGeom prst="roundRect">
            <a:avLst>
              <a:gd name="adj" fmla="val 11111"/>
            </a:avLst>
          </a:prstGeom>
          <a:solidFill>
            <a:srgbClr val="2D9D78"/>
          </a:solidFill>
          <a:ln w="13970">
            <a:solidFill>
              <a:srgbClr val="C7D2DE"/>
            </a:solidFill>
            <a:prstDash val="solid"/>
          </a:ln>
        </p:spPr>
      </p:sp>
      <p:sp>
        <p:nvSpPr>
          <p:cNvPr id="18" name="Text 16"/>
          <p:cNvSpPr/>
          <p:nvPr/>
        </p:nvSpPr>
        <p:spPr>
          <a:xfrm>
            <a:off x="9473184" y="2130552"/>
            <a:ext cx="1773936" cy="292608"/>
          </a:xfrm>
          <a:prstGeom prst="rect">
            <a:avLst/>
          </a:prstGeom>
          <a:noFill/>
          <a:ln/>
        </p:spPr>
        <p:txBody>
          <a:bodyPr wrap="square" lIns="0" tIns="0" rIns="0" bIns="0" rtlCol="0" anchor="ctr">
            <a:normAutofit/>
          </a:bodyPr>
          <a:lstStyle/>
          <a:p>
            <a:pPr algn="ctr" indent="0" marL="0">
              <a:buNone/>
            </a:pPr>
            <a:r>
              <a:rPr lang="en-US" sz="1250" b="1" dirty="0">
                <a:solidFill>
                  <a:srgbClr val="FFFFFF"/>
                </a:solidFill>
              </a:rPr>
              <a:t>HTTP</a:t>
            </a:r>
            <a:endParaRPr lang="en-US" sz="1250" dirty="0"/>
          </a:p>
          <a:p>
            <a:pPr algn="ctr" indent="0" marL="0">
              <a:buNone/>
            </a:pPr>
            <a:r>
              <a:rPr lang="en-US" sz="1250" b="1" dirty="0">
                <a:solidFill>
                  <a:srgbClr val="FFFFFF"/>
                </a:solidFill>
              </a:rPr>
              <a:t>Response</a:t>
            </a:r>
            <a:endParaRPr lang="en-US" sz="1250" dirty="0"/>
          </a:p>
        </p:txBody>
      </p:sp>
      <p:sp>
        <p:nvSpPr>
          <p:cNvPr id="19" name="Shape 17"/>
          <p:cNvSpPr/>
          <p:nvPr/>
        </p:nvSpPr>
        <p:spPr>
          <a:xfrm>
            <a:off x="1097280" y="4069080"/>
            <a:ext cx="4572000" cy="1143000"/>
          </a:xfrm>
          <a:prstGeom prst="roundRect">
            <a:avLst>
              <a:gd name="adj" fmla="val 5600"/>
            </a:avLst>
          </a:prstGeom>
          <a:solidFill>
            <a:srgbClr val="FFFFFF"/>
          </a:solidFill>
          <a:ln w="12700">
            <a:solidFill>
              <a:srgbClr val="D8E1E8"/>
            </a:solidFill>
            <a:prstDash val="solid"/>
          </a:ln>
        </p:spPr>
      </p:sp>
      <p:sp>
        <p:nvSpPr>
          <p:cNvPr id="20" name="Text 18"/>
          <p:cNvSpPr/>
          <p:nvPr/>
        </p:nvSpPr>
        <p:spPr>
          <a:xfrm>
            <a:off x="1335024" y="4270248"/>
            <a:ext cx="4096512" cy="256032"/>
          </a:xfrm>
          <a:prstGeom prst="rect">
            <a:avLst/>
          </a:prstGeom>
          <a:noFill/>
          <a:ln/>
        </p:spPr>
        <p:txBody>
          <a:bodyPr wrap="square" lIns="0" tIns="0" rIns="0" bIns="0" rtlCol="0" anchor="ctr">
            <a:normAutofit/>
          </a:bodyPr>
          <a:lstStyle/>
          <a:p>
            <a:pPr indent="0" marL="0">
              <a:buNone/>
            </a:pPr>
            <a:r>
              <a:rPr lang="en-US" sz="1400" b="1" dirty="0">
                <a:solidFill>
                  <a:srgbClr val="123B52"/>
                </a:solidFill>
              </a:rPr>
              <a:t>API in one sentence</a:t>
            </a:r>
            <a:endParaRPr lang="en-US" sz="1400" dirty="0"/>
          </a:p>
        </p:txBody>
      </p:sp>
      <p:sp>
        <p:nvSpPr>
          <p:cNvPr id="21" name="Text 19"/>
          <p:cNvSpPr/>
          <p:nvPr/>
        </p:nvSpPr>
        <p:spPr>
          <a:xfrm>
            <a:off x="1335024" y="4681728"/>
            <a:ext cx="4096512" cy="356616"/>
          </a:xfrm>
          <a:prstGeom prst="rect">
            <a:avLst/>
          </a:prstGeom>
          <a:noFill/>
          <a:ln/>
        </p:spPr>
        <p:txBody>
          <a:bodyPr wrap="square" lIns="254" tIns="254" rIns="254" bIns="254" rtlCol="0" anchor="t">
            <a:normAutofit/>
          </a:bodyPr>
          <a:lstStyle/>
          <a:p>
            <a:pPr indent="0" marL="0">
              <a:buNone/>
            </a:pPr>
            <a:r>
              <a:rPr lang="en-US" sz="1540" dirty="0">
                <a:solidFill>
                  <a:srgbClr val="17202A"/>
                </a:solidFill>
              </a:rPr>
              <a:t>An API is a controlled doorway that lets another program ask your program to do something.</a:t>
            </a:r>
            <a:endParaRPr lang="en-US" sz="1540" dirty="0"/>
          </a:p>
        </p:txBody>
      </p:sp>
      <p:sp>
        <p:nvSpPr>
          <p:cNvPr id="22" name="Shape 20"/>
          <p:cNvSpPr/>
          <p:nvPr/>
        </p:nvSpPr>
        <p:spPr>
          <a:xfrm>
            <a:off x="6400800" y="4069080"/>
            <a:ext cx="4572000" cy="1143000"/>
          </a:xfrm>
          <a:prstGeom prst="roundRect">
            <a:avLst>
              <a:gd name="adj" fmla="val 5600"/>
            </a:avLst>
          </a:prstGeom>
          <a:solidFill>
            <a:srgbClr val="FFFFFF"/>
          </a:solidFill>
          <a:ln w="12700">
            <a:solidFill>
              <a:srgbClr val="D8E1E8"/>
            </a:solidFill>
            <a:prstDash val="solid"/>
          </a:ln>
        </p:spPr>
      </p:sp>
      <p:sp>
        <p:nvSpPr>
          <p:cNvPr id="23" name="Text 21"/>
          <p:cNvSpPr/>
          <p:nvPr/>
        </p:nvSpPr>
        <p:spPr>
          <a:xfrm>
            <a:off x="6638544" y="4270248"/>
            <a:ext cx="4096512" cy="256032"/>
          </a:xfrm>
          <a:prstGeom prst="rect">
            <a:avLst/>
          </a:prstGeom>
          <a:noFill/>
          <a:ln/>
        </p:spPr>
        <p:txBody>
          <a:bodyPr wrap="square" lIns="0" tIns="0" rIns="0" bIns="0" rtlCol="0" anchor="ctr">
            <a:normAutofit/>
          </a:bodyPr>
          <a:lstStyle/>
          <a:p>
            <a:pPr indent="0" marL="0">
              <a:buNone/>
            </a:pPr>
            <a:r>
              <a:rPr lang="en-US" sz="1400" b="1" dirty="0">
                <a:solidFill>
                  <a:srgbClr val="123B52"/>
                </a:solidFill>
              </a:rPr>
              <a:t>Today’s mission</a:t>
            </a:r>
            <a:endParaRPr lang="en-US" sz="1400" dirty="0"/>
          </a:p>
        </p:txBody>
      </p:sp>
      <p:sp>
        <p:nvSpPr>
          <p:cNvPr id="24" name="Text 22"/>
          <p:cNvSpPr/>
          <p:nvPr/>
        </p:nvSpPr>
        <p:spPr>
          <a:xfrm>
            <a:off x="6638544" y="4681728"/>
            <a:ext cx="4096512" cy="356616"/>
          </a:xfrm>
          <a:prstGeom prst="rect">
            <a:avLst/>
          </a:prstGeom>
          <a:noFill/>
          <a:ln/>
        </p:spPr>
        <p:txBody>
          <a:bodyPr wrap="square" lIns="254" tIns="254" rIns="254" bIns="254" rtlCol="0" anchor="t">
            <a:normAutofit/>
          </a:bodyPr>
          <a:lstStyle/>
          <a:p>
            <a:pPr indent="0" marL="0">
              <a:buNone/>
            </a:pPr>
            <a:r>
              <a:rPr lang="en-US" sz="1540" dirty="0">
                <a:solidFill>
                  <a:srgbClr val="17202A"/>
                </a:solidFill>
              </a:rPr>
              <a:t>Turn classify_ticket() into a small web service that receives a Ticket and returns a TicketResult.</a:t>
            </a:r>
            <a:endParaRPr lang="en-US" sz="1540" dirty="0"/>
          </a:p>
        </p:txBody>
      </p:sp>
      <p:sp>
        <p:nvSpPr>
          <p:cNvPr id="25" name="Slide Number Placeholder 0"/>
          <p:cNvSpPr>
            <a:spLocks noGrp="1"/>
          </p:cNvSpPr>
          <p:nvPr>
            <p:ph type="sldNum" sz="quarter" idx="4294967295"/>
          </p:nvPr>
        </p:nvSpPr>
        <p:spPr>
          <a:xfrm>
            <a:off x="11612880" y="6547104"/>
            <a:ext cx="800000" cy="300000"/>
          </a:xfrm>
          <a:prstGeom prst="rect">
            <a:avLst/>
          </a:prstGeom>
          <a:extLst>
            <a:ext uri="{C572A759-6A51-4108-AA02-DFA0A04FC94B}">
              <ma14:wrappingTextBoxFlag xmlns:ma14="http://schemas.microsoft.com/office/mac/drawingml/2011/main" val="0"/>
            </a:ext>
          </a:extLst>
        </p:spPr>
        <p:txBody>
          <a:bodyPr/>
          <a:lstStyle>
            <a:lvl1pPr>
              <a:defRPr sz="780">
                <a:solidFill>
                  <a:srgbClr val="5B6B7A"/>
                </a:solidFill>
                <a:latin typeface="Aptos"/>
                <a:ea typeface="Aptos"/>
                <a:cs typeface="Aptos"/>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AFC"/>
        </a:solidFill>
      </p:bgPr>
    </p:bg>
    <p:spTree>
      <p:nvGrpSpPr>
        <p:cNvPr id="1" name=""/>
        <p:cNvGrpSpPr/>
        <p:nvPr/>
      </p:nvGrpSpPr>
      <p:grpSpPr>
        <a:xfrm>
          <a:off x="0" y="0"/>
          <a:ext cx="0" cy="0"/>
          <a:chOff x="0" y="0"/>
          <a:chExt cx="0" cy="0"/>
        </a:xfrm>
      </p:grpSpPr>
      <p:sp>
        <p:nvSpPr>
          <p:cNvPr id="2" name="Text 0"/>
          <p:cNvSpPr/>
          <p:nvPr/>
        </p:nvSpPr>
        <p:spPr>
          <a:xfrm>
            <a:off x="658368" y="384048"/>
            <a:ext cx="5943600" cy="219456"/>
          </a:xfrm>
          <a:prstGeom prst="rect">
            <a:avLst/>
          </a:prstGeom>
          <a:noFill/>
          <a:ln/>
        </p:spPr>
        <p:txBody>
          <a:bodyPr wrap="square" lIns="0" tIns="0" rIns="0" bIns="0" rtlCol="0" anchor="ctr"/>
          <a:lstStyle/>
          <a:p>
            <a:pPr indent="0" marL="0">
              <a:buNone/>
            </a:pPr>
            <a:r>
              <a:rPr lang="en-US" sz="950" b="1" dirty="0">
                <a:solidFill>
                  <a:srgbClr val="18A7B5"/>
                </a:solidFill>
              </a:rPr>
              <a:t>ONLY THE MINIMUM</a:t>
            </a:r>
            <a:endParaRPr lang="en-US" sz="950" dirty="0"/>
          </a:p>
        </p:txBody>
      </p:sp>
      <p:sp>
        <p:nvSpPr>
          <p:cNvPr id="3" name="Text 1"/>
          <p:cNvSpPr/>
          <p:nvPr/>
        </p:nvSpPr>
        <p:spPr>
          <a:xfrm>
            <a:off x="658368" y="658368"/>
            <a:ext cx="10698480" cy="475488"/>
          </a:xfrm>
          <a:prstGeom prst="rect">
            <a:avLst/>
          </a:prstGeom>
          <a:noFill/>
          <a:ln/>
        </p:spPr>
        <p:txBody>
          <a:bodyPr wrap="square" lIns="0" tIns="0" rIns="0" bIns="0" rtlCol="0" anchor="ctr">
            <a:normAutofit/>
          </a:bodyPr>
          <a:lstStyle/>
          <a:p>
            <a:pPr indent="0" marL="0">
              <a:buNone/>
            </a:pPr>
            <a:r>
              <a:rPr lang="en-US" sz="2700" b="1" dirty="0">
                <a:solidFill>
                  <a:srgbClr val="123B52"/>
                </a:solidFill>
              </a:rPr>
              <a:t>HTTP Basics You Need Today</a:t>
            </a:r>
            <a:endParaRPr lang="en-US" sz="2700" dirty="0"/>
          </a:p>
        </p:txBody>
      </p:sp>
      <p:sp>
        <p:nvSpPr>
          <p:cNvPr id="4" name="Shape 2"/>
          <p:cNvSpPr/>
          <p:nvPr/>
        </p:nvSpPr>
        <p:spPr>
          <a:xfrm>
            <a:off x="868680" y="1600200"/>
            <a:ext cx="2926080" cy="1828800"/>
          </a:xfrm>
          <a:prstGeom prst="roundRect">
            <a:avLst>
              <a:gd name="adj" fmla="val 3500"/>
            </a:avLst>
          </a:prstGeom>
          <a:solidFill>
            <a:srgbClr val="FFFFFF"/>
          </a:solidFill>
          <a:ln w="12700">
            <a:solidFill>
              <a:srgbClr val="D8E1E8"/>
            </a:solidFill>
            <a:prstDash val="solid"/>
          </a:ln>
        </p:spPr>
      </p:sp>
      <p:sp>
        <p:nvSpPr>
          <p:cNvPr id="5" name="Shape 3"/>
          <p:cNvSpPr/>
          <p:nvPr/>
        </p:nvSpPr>
        <p:spPr>
          <a:xfrm>
            <a:off x="1069848" y="1801368"/>
            <a:ext cx="411480" cy="283464"/>
          </a:xfrm>
          <a:prstGeom prst="roundRect">
            <a:avLst>
              <a:gd name="adj" fmla="val 25806"/>
            </a:avLst>
          </a:prstGeom>
          <a:solidFill>
            <a:srgbClr val="2D9D78"/>
          </a:solidFill>
          <a:ln w="12700">
            <a:solidFill>
              <a:srgbClr val="2D9D78"/>
            </a:solidFill>
            <a:prstDash val="solid"/>
          </a:ln>
        </p:spPr>
      </p:sp>
      <p:sp>
        <p:nvSpPr>
          <p:cNvPr id="6" name="Text 4"/>
          <p:cNvSpPr/>
          <p:nvPr/>
        </p:nvSpPr>
        <p:spPr>
          <a:xfrm>
            <a:off x="1069848" y="1860804"/>
            <a:ext cx="411480" cy="137160"/>
          </a:xfrm>
          <a:prstGeom prst="rect">
            <a:avLst/>
          </a:prstGeom>
          <a:noFill/>
          <a:ln/>
        </p:spPr>
        <p:txBody>
          <a:bodyPr wrap="square" lIns="0" tIns="0" rIns="0" bIns="0" rtlCol="0" anchor="ctr"/>
          <a:lstStyle/>
          <a:p>
            <a:pPr algn="ctr" indent="0" marL="0">
              <a:buNone/>
            </a:pPr>
            <a:r>
              <a:rPr lang="en-US" sz="850" b="1" dirty="0">
                <a:solidFill>
                  <a:srgbClr val="FFFFFF"/>
                </a:solidFill>
              </a:rPr>
              <a:t>01</a:t>
            </a:r>
            <a:endParaRPr lang="en-US" sz="850" dirty="0"/>
          </a:p>
        </p:txBody>
      </p:sp>
      <p:sp>
        <p:nvSpPr>
          <p:cNvPr id="7" name="Text 5"/>
          <p:cNvSpPr/>
          <p:nvPr/>
        </p:nvSpPr>
        <p:spPr>
          <a:xfrm>
            <a:off x="1618488" y="1801368"/>
            <a:ext cx="1938528" cy="256032"/>
          </a:xfrm>
          <a:prstGeom prst="rect">
            <a:avLst/>
          </a:prstGeom>
          <a:noFill/>
          <a:ln/>
        </p:spPr>
        <p:txBody>
          <a:bodyPr wrap="square" lIns="0" tIns="0" rIns="0" bIns="0" rtlCol="0" anchor="ctr">
            <a:normAutofit/>
          </a:bodyPr>
          <a:lstStyle/>
          <a:p>
            <a:pPr indent="0" marL="0">
              <a:buNone/>
            </a:pPr>
            <a:r>
              <a:rPr lang="en-US" sz="1400" b="1" dirty="0">
                <a:solidFill>
                  <a:srgbClr val="123B52"/>
                </a:solidFill>
              </a:rPr>
              <a:t>GET</a:t>
            </a:r>
            <a:endParaRPr lang="en-US" sz="1400" dirty="0"/>
          </a:p>
        </p:txBody>
      </p:sp>
      <p:sp>
        <p:nvSpPr>
          <p:cNvPr id="8" name="Text 6"/>
          <p:cNvSpPr/>
          <p:nvPr/>
        </p:nvSpPr>
        <p:spPr>
          <a:xfrm>
            <a:off x="1106424" y="2212848"/>
            <a:ext cx="2450592" cy="1042416"/>
          </a:xfrm>
          <a:prstGeom prst="rect">
            <a:avLst/>
          </a:prstGeom>
          <a:noFill/>
          <a:ln/>
        </p:spPr>
        <p:txBody>
          <a:bodyPr wrap="square" lIns="254" tIns="254" rIns="254" bIns="254" rtlCol="0" anchor="t">
            <a:normAutofit/>
          </a:bodyPr>
          <a:lstStyle/>
          <a:p>
            <a:pPr indent="0" marL="0">
              <a:buNone/>
            </a:pPr>
            <a:r>
              <a:rPr lang="en-US" sz="1500" dirty="0">
                <a:solidFill>
                  <a:srgbClr val="17202A"/>
                </a:solidFill>
              </a:rPr>
              <a:t>Ask for information.</a:t>
            </a:r>
            <a:endParaRPr lang="en-US" sz="1500" dirty="0"/>
          </a:p>
          <a:p>
            <a:pPr indent="0" marL="0">
              <a:buNone/>
            </a:pPr>
            <a:r>
              <a:rPr lang="en-US" sz="1500" dirty="0">
                <a:solidFill>
                  <a:srgbClr val="17202A"/>
                </a:solidFill>
              </a:rPr>
              <a:t>Example: check if the API is running.</a:t>
            </a:r>
            <a:endParaRPr lang="en-US" sz="1500" dirty="0"/>
          </a:p>
        </p:txBody>
      </p:sp>
      <p:sp>
        <p:nvSpPr>
          <p:cNvPr id="9" name="Shape 7"/>
          <p:cNvSpPr/>
          <p:nvPr/>
        </p:nvSpPr>
        <p:spPr>
          <a:xfrm>
            <a:off x="4617720" y="1600200"/>
            <a:ext cx="2926080" cy="1828800"/>
          </a:xfrm>
          <a:prstGeom prst="roundRect">
            <a:avLst>
              <a:gd name="adj" fmla="val 3500"/>
            </a:avLst>
          </a:prstGeom>
          <a:solidFill>
            <a:srgbClr val="FFFFFF"/>
          </a:solidFill>
          <a:ln w="12700">
            <a:solidFill>
              <a:srgbClr val="D8E1E8"/>
            </a:solidFill>
            <a:prstDash val="solid"/>
          </a:ln>
        </p:spPr>
      </p:sp>
      <p:sp>
        <p:nvSpPr>
          <p:cNvPr id="10" name="Shape 8"/>
          <p:cNvSpPr/>
          <p:nvPr/>
        </p:nvSpPr>
        <p:spPr>
          <a:xfrm>
            <a:off x="4818888" y="1801368"/>
            <a:ext cx="411480" cy="283464"/>
          </a:xfrm>
          <a:prstGeom prst="roundRect">
            <a:avLst>
              <a:gd name="adj" fmla="val 25806"/>
            </a:avLst>
          </a:prstGeom>
          <a:solidFill>
            <a:srgbClr val="18A7B5"/>
          </a:solidFill>
          <a:ln w="12700">
            <a:solidFill>
              <a:srgbClr val="18A7B5"/>
            </a:solidFill>
            <a:prstDash val="solid"/>
          </a:ln>
        </p:spPr>
      </p:sp>
      <p:sp>
        <p:nvSpPr>
          <p:cNvPr id="11" name="Text 9"/>
          <p:cNvSpPr/>
          <p:nvPr/>
        </p:nvSpPr>
        <p:spPr>
          <a:xfrm>
            <a:off x="4818888" y="1860804"/>
            <a:ext cx="411480" cy="137160"/>
          </a:xfrm>
          <a:prstGeom prst="rect">
            <a:avLst/>
          </a:prstGeom>
          <a:noFill/>
          <a:ln/>
        </p:spPr>
        <p:txBody>
          <a:bodyPr wrap="square" lIns="0" tIns="0" rIns="0" bIns="0" rtlCol="0" anchor="ctr"/>
          <a:lstStyle/>
          <a:p>
            <a:pPr algn="ctr" indent="0" marL="0">
              <a:buNone/>
            </a:pPr>
            <a:r>
              <a:rPr lang="en-US" sz="850" b="1" dirty="0">
                <a:solidFill>
                  <a:srgbClr val="FFFFFF"/>
                </a:solidFill>
              </a:rPr>
              <a:t>02</a:t>
            </a:r>
            <a:endParaRPr lang="en-US" sz="850" dirty="0"/>
          </a:p>
        </p:txBody>
      </p:sp>
      <p:sp>
        <p:nvSpPr>
          <p:cNvPr id="12" name="Text 10"/>
          <p:cNvSpPr/>
          <p:nvPr/>
        </p:nvSpPr>
        <p:spPr>
          <a:xfrm>
            <a:off x="5367528" y="1801368"/>
            <a:ext cx="1938528" cy="256032"/>
          </a:xfrm>
          <a:prstGeom prst="rect">
            <a:avLst/>
          </a:prstGeom>
          <a:noFill/>
          <a:ln/>
        </p:spPr>
        <p:txBody>
          <a:bodyPr wrap="square" lIns="0" tIns="0" rIns="0" bIns="0" rtlCol="0" anchor="ctr">
            <a:normAutofit/>
          </a:bodyPr>
          <a:lstStyle/>
          <a:p>
            <a:pPr indent="0" marL="0">
              <a:buNone/>
            </a:pPr>
            <a:r>
              <a:rPr lang="en-US" sz="1400" b="1" dirty="0">
                <a:solidFill>
                  <a:srgbClr val="123B52"/>
                </a:solidFill>
              </a:rPr>
              <a:t>POST</a:t>
            </a:r>
            <a:endParaRPr lang="en-US" sz="1400" dirty="0"/>
          </a:p>
        </p:txBody>
      </p:sp>
      <p:sp>
        <p:nvSpPr>
          <p:cNvPr id="13" name="Text 11"/>
          <p:cNvSpPr/>
          <p:nvPr/>
        </p:nvSpPr>
        <p:spPr>
          <a:xfrm>
            <a:off x="4855464" y="2212848"/>
            <a:ext cx="2450592" cy="1042416"/>
          </a:xfrm>
          <a:prstGeom prst="rect">
            <a:avLst/>
          </a:prstGeom>
          <a:noFill/>
          <a:ln/>
        </p:spPr>
        <p:txBody>
          <a:bodyPr wrap="square" lIns="254" tIns="254" rIns="254" bIns="254" rtlCol="0" anchor="t">
            <a:normAutofit/>
          </a:bodyPr>
          <a:lstStyle/>
          <a:p>
            <a:pPr indent="0" marL="0">
              <a:buNone/>
            </a:pPr>
            <a:r>
              <a:rPr lang="en-US" sz="1500" dirty="0">
                <a:solidFill>
                  <a:srgbClr val="17202A"/>
                </a:solidFill>
              </a:rPr>
              <a:t>Send data to be processed.</a:t>
            </a:r>
            <a:endParaRPr lang="en-US" sz="1500" dirty="0"/>
          </a:p>
          <a:p>
            <a:pPr indent="0" marL="0">
              <a:buNone/>
            </a:pPr>
            <a:r>
              <a:rPr lang="en-US" sz="1500" dirty="0">
                <a:solidFill>
                  <a:srgbClr val="17202A"/>
                </a:solidFill>
              </a:rPr>
              <a:t>Example: send a ticket for classification.</a:t>
            </a:r>
            <a:endParaRPr lang="en-US" sz="1500" dirty="0"/>
          </a:p>
        </p:txBody>
      </p:sp>
      <p:sp>
        <p:nvSpPr>
          <p:cNvPr id="14" name="Shape 12"/>
          <p:cNvSpPr/>
          <p:nvPr/>
        </p:nvSpPr>
        <p:spPr>
          <a:xfrm>
            <a:off x="8366760" y="1600200"/>
            <a:ext cx="2926080" cy="1828800"/>
          </a:xfrm>
          <a:prstGeom prst="roundRect">
            <a:avLst>
              <a:gd name="adj" fmla="val 3500"/>
            </a:avLst>
          </a:prstGeom>
          <a:solidFill>
            <a:srgbClr val="FFFFFF"/>
          </a:solidFill>
          <a:ln w="12700">
            <a:solidFill>
              <a:srgbClr val="D8E1E8"/>
            </a:solidFill>
            <a:prstDash val="solid"/>
          </a:ln>
        </p:spPr>
      </p:sp>
      <p:sp>
        <p:nvSpPr>
          <p:cNvPr id="15" name="Shape 13"/>
          <p:cNvSpPr/>
          <p:nvPr/>
        </p:nvSpPr>
        <p:spPr>
          <a:xfrm>
            <a:off x="8567928" y="1801368"/>
            <a:ext cx="411480" cy="283464"/>
          </a:xfrm>
          <a:prstGeom prst="roundRect">
            <a:avLst>
              <a:gd name="adj" fmla="val 25806"/>
            </a:avLst>
          </a:prstGeom>
          <a:solidFill>
            <a:srgbClr val="E09F3E"/>
          </a:solidFill>
          <a:ln w="12700">
            <a:solidFill>
              <a:srgbClr val="E09F3E"/>
            </a:solidFill>
            <a:prstDash val="solid"/>
          </a:ln>
        </p:spPr>
      </p:sp>
      <p:sp>
        <p:nvSpPr>
          <p:cNvPr id="16" name="Text 14"/>
          <p:cNvSpPr/>
          <p:nvPr/>
        </p:nvSpPr>
        <p:spPr>
          <a:xfrm>
            <a:off x="8567928" y="1860804"/>
            <a:ext cx="411480" cy="137160"/>
          </a:xfrm>
          <a:prstGeom prst="rect">
            <a:avLst/>
          </a:prstGeom>
          <a:noFill/>
          <a:ln/>
        </p:spPr>
        <p:txBody>
          <a:bodyPr wrap="square" lIns="0" tIns="0" rIns="0" bIns="0" rtlCol="0" anchor="ctr"/>
          <a:lstStyle/>
          <a:p>
            <a:pPr algn="ctr" indent="0" marL="0">
              <a:buNone/>
            </a:pPr>
            <a:r>
              <a:rPr lang="en-US" sz="850" b="1" dirty="0">
                <a:solidFill>
                  <a:srgbClr val="FFFFFF"/>
                </a:solidFill>
              </a:rPr>
              <a:t>03</a:t>
            </a:r>
            <a:endParaRPr lang="en-US" sz="850" dirty="0"/>
          </a:p>
        </p:txBody>
      </p:sp>
      <p:sp>
        <p:nvSpPr>
          <p:cNvPr id="17" name="Text 15"/>
          <p:cNvSpPr/>
          <p:nvPr/>
        </p:nvSpPr>
        <p:spPr>
          <a:xfrm>
            <a:off x="9116568" y="1801368"/>
            <a:ext cx="1938528" cy="256032"/>
          </a:xfrm>
          <a:prstGeom prst="rect">
            <a:avLst/>
          </a:prstGeom>
          <a:noFill/>
          <a:ln/>
        </p:spPr>
        <p:txBody>
          <a:bodyPr wrap="square" lIns="0" tIns="0" rIns="0" bIns="0" rtlCol="0" anchor="ctr">
            <a:normAutofit/>
          </a:bodyPr>
          <a:lstStyle/>
          <a:p>
            <a:pPr indent="0" marL="0">
              <a:buNone/>
            </a:pPr>
            <a:r>
              <a:rPr lang="en-US" sz="1400" b="1" dirty="0">
                <a:solidFill>
                  <a:srgbClr val="123B52"/>
                </a:solidFill>
              </a:rPr>
              <a:t>JSON Body</a:t>
            </a:r>
            <a:endParaRPr lang="en-US" sz="1400" dirty="0"/>
          </a:p>
        </p:txBody>
      </p:sp>
      <p:sp>
        <p:nvSpPr>
          <p:cNvPr id="18" name="Text 16"/>
          <p:cNvSpPr/>
          <p:nvPr/>
        </p:nvSpPr>
        <p:spPr>
          <a:xfrm>
            <a:off x="8604504" y="2212848"/>
            <a:ext cx="2450592" cy="1042416"/>
          </a:xfrm>
          <a:prstGeom prst="rect">
            <a:avLst/>
          </a:prstGeom>
          <a:noFill/>
          <a:ln/>
        </p:spPr>
        <p:txBody>
          <a:bodyPr wrap="square" lIns="254" tIns="254" rIns="254" bIns="254" rtlCol="0" anchor="t">
            <a:normAutofit/>
          </a:bodyPr>
          <a:lstStyle/>
          <a:p>
            <a:pPr indent="0" marL="0">
              <a:buNone/>
            </a:pPr>
            <a:r>
              <a:rPr lang="en-US" sz="1500" dirty="0">
                <a:solidFill>
                  <a:srgbClr val="17202A"/>
                </a:solidFill>
              </a:rPr>
              <a:t>Structured data in the request or response.</a:t>
            </a:r>
            <a:endParaRPr lang="en-US" sz="1500" dirty="0"/>
          </a:p>
          <a:p>
            <a:pPr indent="0" marL="0">
              <a:buNone/>
            </a:pPr>
            <a:r>
              <a:rPr lang="en-US" sz="1500" dirty="0">
                <a:solidFill>
                  <a:srgbClr val="17202A"/>
                </a:solidFill>
              </a:rPr>
              <a:t>Pydantic maps this to models.</a:t>
            </a:r>
            <a:endParaRPr lang="en-US" sz="1500" dirty="0"/>
          </a:p>
        </p:txBody>
      </p:sp>
      <p:sp>
        <p:nvSpPr>
          <p:cNvPr id="19" name="Shape 17"/>
          <p:cNvSpPr/>
          <p:nvPr/>
        </p:nvSpPr>
        <p:spPr>
          <a:xfrm>
            <a:off x="1874520" y="3977640"/>
            <a:ext cx="8412480" cy="1645920"/>
          </a:xfrm>
          <a:prstGeom prst="roundRect">
            <a:avLst>
              <a:gd name="adj" fmla="val 2778"/>
            </a:avLst>
          </a:prstGeom>
          <a:solidFill>
            <a:srgbClr val="0E1720"/>
          </a:solidFill>
          <a:ln w="12700">
            <a:solidFill>
              <a:srgbClr val="1E2A35"/>
            </a:solidFill>
            <a:prstDash val="solid"/>
          </a:ln>
        </p:spPr>
      </p:sp>
      <p:sp>
        <p:nvSpPr>
          <p:cNvPr id="20" name="Text 18"/>
          <p:cNvSpPr/>
          <p:nvPr/>
        </p:nvSpPr>
        <p:spPr>
          <a:xfrm>
            <a:off x="2093976" y="4142232"/>
            <a:ext cx="7973568" cy="1316736"/>
          </a:xfrm>
          <a:prstGeom prst="rect">
            <a:avLst/>
          </a:prstGeom>
          <a:noFill/>
          <a:ln/>
        </p:spPr>
        <p:txBody>
          <a:bodyPr wrap="square" lIns="0" tIns="0" rIns="0" bIns="0" rtlCol="0" anchor="ctr">
            <a:normAutofit/>
          </a:bodyPr>
          <a:lstStyle/>
          <a:p>
            <a:pPr indent="0" marL="0">
              <a:buNone/>
            </a:pPr>
            <a:r>
              <a:rPr lang="en-US" sz="1380" dirty="0">
                <a:solidFill>
                  <a:srgbClr val="EAF2F8"/>
                </a:solidFill>
                <a:latin typeface="Aptos Mono" pitchFamily="34" charset="0"/>
                <a:ea typeface="Aptos Mono" pitchFamily="34" charset="-122"/>
                <a:cs typeface="Aptos Mono" pitchFamily="34" charset="-120"/>
              </a:rPr>
              <a:t>POST /tickets/classify</a:t>
            </a:r>
            <a:endParaRPr lang="en-US" sz="1380" dirty="0"/>
          </a:p>
          <a:p>
            <a:pPr indent="0" marL="0">
              <a:buNone/>
            </a:pPr>
            <a:r>
              <a:rPr lang="en-US" sz="1380" dirty="0">
                <a:solidFill>
                  <a:srgbClr val="EAF2F8"/>
                </a:solidFill>
                <a:latin typeface="Aptos Mono" pitchFamily="34" charset="0"/>
                <a:ea typeface="Aptos Mono" pitchFamily="34" charset="-122"/>
                <a:cs typeface="Aptos Mono" pitchFamily="34" charset="-120"/>
              </a:rPr>
              <a:t>Content-Type: application/json</a:t>
            </a:r>
            <a:endParaRPr lang="en-US" sz="1380" dirty="0"/>
          </a:p>
          <a:p>
            <a:pPr indent="0" marL="0">
              <a:buNone/>
            </a:pPr>
            <a:endParaRPr lang="en-US" sz="1380" dirty="0"/>
          </a:p>
          <a:p>
            <a:pPr indent="0" marL="0">
              <a:buNone/>
            </a:pPr>
            <a:r>
              <a:rPr lang="en-US" sz="1380" dirty="0">
                <a:solidFill>
                  <a:srgbClr val="EAF2F8"/>
                </a:solidFill>
                <a:latin typeface="Aptos Mono" pitchFamily="34" charset="0"/>
                <a:ea typeface="Aptos Mono" pitchFamily="34" charset="-122"/>
                <a:cs typeface="Aptos Mono" pitchFamily="34" charset="-120"/>
              </a:rPr>
              <a:t>{</a:t>
            </a:r>
            <a:endParaRPr lang="en-US" sz="1380" dirty="0"/>
          </a:p>
          <a:p>
            <a:pPr indent="0" marL="0">
              <a:buNone/>
            </a:pPr>
            <a:r>
              <a:rPr lang="en-US" sz="1380" dirty="0">
                <a:solidFill>
                  <a:srgbClr val="EAF2F8"/>
                </a:solidFill>
                <a:latin typeface="Aptos Mono" pitchFamily="34" charset="0"/>
                <a:ea typeface="Aptos Mono" pitchFamily="34" charset="-122"/>
                <a:cs typeface="Aptos Mono" pitchFamily="34" charset="-120"/>
              </a:rPr>
              <a:t>  "customer_name": "Ahmed",</a:t>
            </a:r>
            <a:endParaRPr lang="en-US" sz="1380" dirty="0"/>
          </a:p>
          <a:p>
            <a:pPr indent="0" marL="0">
              <a:buNone/>
            </a:pPr>
            <a:r>
              <a:rPr lang="en-US" sz="1380" dirty="0">
                <a:solidFill>
                  <a:srgbClr val="EAF2F8"/>
                </a:solidFill>
                <a:latin typeface="Aptos Mono" pitchFamily="34" charset="0"/>
                <a:ea typeface="Aptos Mono" pitchFamily="34" charset="-122"/>
                <a:cs typeface="Aptos Mono" pitchFamily="34" charset="-120"/>
              </a:rPr>
              <a:t>  "message": "My payment failed",</a:t>
            </a:r>
            <a:endParaRPr lang="en-US" sz="1380" dirty="0"/>
          </a:p>
          <a:p>
            <a:pPr indent="0" marL="0">
              <a:buNone/>
            </a:pPr>
            <a:r>
              <a:rPr lang="en-US" sz="1380" dirty="0">
                <a:solidFill>
                  <a:srgbClr val="EAF2F8"/>
                </a:solidFill>
                <a:latin typeface="Aptos Mono" pitchFamily="34" charset="0"/>
                <a:ea typeface="Aptos Mono" pitchFamily="34" charset="-122"/>
                <a:cs typeface="Aptos Mono" pitchFamily="34" charset="-120"/>
              </a:rPr>
              <a:t>  "urgent": true</a:t>
            </a:r>
            <a:endParaRPr lang="en-US" sz="1380" dirty="0"/>
          </a:p>
          <a:p>
            <a:pPr indent="0" marL="0">
              <a:buNone/>
            </a:pPr>
            <a:r>
              <a:rPr lang="en-US" sz="1380" dirty="0">
                <a:solidFill>
                  <a:srgbClr val="EAF2F8"/>
                </a:solidFill>
                <a:latin typeface="Aptos Mono" pitchFamily="34" charset="0"/>
                <a:ea typeface="Aptos Mono" pitchFamily="34" charset="-122"/>
                <a:cs typeface="Aptos Mono" pitchFamily="34" charset="-120"/>
              </a:rPr>
              <a:t>}</a:t>
            </a:r>
            <a:endParaRPr lang="en-US" sz="1380" dirty="0"/>
          </a:p>
        </p:txBody>
      </p:sp>
      <p:sp>
        <p:nvSpPr>
          <p:cNvPr id="25" name="Slide Number Placeholder 0"/>
          <p:cNvSpPr>
            <a:spLocks noGrp="1"/>
          </p:cNvSpPr>
          <p:nvPr>
            <p:ph type="sldNum" sz="quarter" idx="4294967295"/>
          </p:nvPr>
        </p:nvSpPr>
        <p:spPr>
          <a:xfrm>
            <a:off x="11612880" y="6547104"/>
            <a:ext cx="800000" cy="300000"/>
          </a:xfrm>
          <a:prstGeom prst="rect">
            <a:avLst/>
          </a:prstGeom>
          <a:extLst>
            <a:ext uri="{C572A759-6A51-4108-AA02-DFA0A04FC94B}">
              <ma14:wrappingTextBoxFlag xmlns:ma14="http://schemas.microsoft.com/office/mac/drawingml/2011/main" val="0"/>
            </a:ext>
          </a:extLst>
        </p:spPr>
        <p:txBody>
          <a:bodyPr/>
          <a:lstStyle>
            <a:lvl1pPr>
              <a:defRPr sz="780">
                <a:solidFill>
                  <a:srgbClr val="5B6B7A"/>
                </a:solidFill>
                <a:latin typeface="Aptos"/>
                <a:ea typeface="Aptos"/>
                <a:cs typeface="Aptos"/>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AFC"/>
        </a:solidFill>
      </p:bgPr>
    </p:bg>
    <p:spTree>
      <p:nvGrpSpPr>
        <p:cNvPr id="1" name=""/>
        <p:cNvGrpSpPr/>
        <p:nvPr/>
      </p:nvGrpSpPr>
      <p:grpSpPr>
        <a:xfrm>
          <a:off x="0" y="0"/>
          <a:ext cx="0" cy="0"/>
          <a:chOff x="0" y="0"/>
          <a:chExt cx="0" cy="0"/>
        </a:xfrm>
      </p:grpSpPr>
      <p:sp>
        <p:nvSpPr>
          <p:cNvPr id="2" name="Text 0"/>
          <p:cNvSpPr/>
          <p:nvPr/>
        </p:nvSpPr>
        <p:spPr>
          <a:xfrm>
            <a:off x="658368" y="384048"/>
            <a:ext cx="5943600" cy="219456"/>
          </a:xfrm>
          <a:prstGeom prst="rect">
            <a:avLst/>
          </a:prstGeom>
          <a:noFill/>
          <a:ln/>
        </p:spPr>
        <p:txBody>
          <a:bodyPr wrap="square" lIns="0" tIns="0" rIns="0" bIns="0" rtlCol="0" anchor="ctr"/>
          <a:lstStyle/>
          <a:p>
            <a:pPr indent="0" marL="0">
              <a:buNone/>
            </a:pPr>
            <a:r>
              <a:rPr lang="en-US" sz="950" b="1" dirty="0">
                <a:solidFill>
                  <a:srgbClr val="18A7B5"/>
                </a:solidFill>
              </a:rPr>
              <a:t>HEALTH ENDPOINT</a:t>
            </a:r>
            <a:endParaRPr lang="en-US" sz="950" dirty="0"/>
          </a:p>
        </p:txBody>
      </p:sp>
      <p:sp>
        <p:nvSpPr>
          <p:cNvPr id="3" name="Text 1"/>
          <p:cNvSpPr/>
          <p:nvPr/>
        </p:nvSpPr>
        <p:spPr>
          <a:xfrm>
            <a:off x="658368" y="658368"/>
            <a:ext cx="10698480" cy="475488"/>
          </a:xfrm>
          <a:prstGeom prst="rect">
            <a:avLst/>
          </a:prstGeom>
          <a:noFill/>
          <a:ln/>
        </p:spPr>
        <p:txBody>
          <a:bodyPr wrap="square" lIns="0" tIns="0" rIns="0" bIns="0" rtlCol="0" anchor="ctr">
            <a:normAutofit/>
          </a:bodyPr>
          <a:lstStyle/>
          <a:p>
            <a:pPr indent="0" marL="0">
              <a:buNone/>
            </a:pPr>
            <a:r>
              <a:rPr lang="en-US" sz="2700" b="1" dirty="0">
                <a:solidFill>
                  <a:srgbClr val="123B52"/>
                </a:solidFill>
              </a:rPr>
              <a:t>First FastAPI App</a:t>
            </a:r>
            <a:endParaRPr lang="en-US" sz="2700" dirty="0"/>
          </a:p>
        </p:txBody>
      </p:sp>
      <p:sp>
        <p:nvSpPr>
          <p:cNvPr id="4" name="Shape 2"/>
          <p:cNvSpPr/>
          <p:nvPr/>
        </p:nvSpPr>
        <p:spPr>
          <a:xfrm>
            <a:off x="731520" y="1298448"/>
            <a:ext cx="6080760" cy="2834640"/>
          </a:xfrm>
          <a:prstGeom prst="roundRect">
            <a:avLst>
              <a:gd name="adj" fmla="val 1613"/>
            </a:avLst>
          </a:prstGeom>
          <a:solidFill>
            <a:srgbClr val="0E1720"/>
          </a:solidFill>
          <a:ln w="12700">
            <a:solidFill>
              <a:srgbClr val="1E2A35"/>
            </a:solidFill>
            <a:prstDash val="solid"/>
          </a:ln>
        </p:spPr>
      </p:sp>
      <p:sp>
        <p:nvSpPr>
          <p:cNvPr id="5" name="Text 3"/>
          <p:cNvSpPr/>
          <p:nvPr/>
        </p:nvSpPr>
        <p:spPr>
          <a:xfrm>
            <a:off x="950976" y="1463040"/>
            <a:ext cx="5641848" cy="2505456"/>
          </a:xfrm>
          <a:prstGeom prst="rect">
            <a:avLst/>
          </a:prstGeom>
          <a:noFill/>
          <a:ln/>
        </p:spPr>
        <p:txBody>
          <a:bodyPr wrap="square" lIns="0" tIns="0" rIns="0" bIns="0" rtlCol="0" anchor="ctr">
            <a:normAutofit/>
          </a:bodyPr>
          <a:lstStyle/>
          <a:p>
            <a:pPr indent="0" marL="0">
              <a:buNone/>
            </a:pPr>
            <a:r>
              <a:rPr lang="en-US" sz="1380" dirty="0">
                <a:solidFill>
                  <a:srgbClr val="EAF2F8"/>
                </a:solidFill>
                <a:latin typeface="Aptos Mono" pitchFamily="34" charset="0"/>
                <a:ea typeface="Aptos Mono" pitchFamily="34" charset="-122"/>
                <a:cs typeface="Aptos Mono" pitchFamily="34" charset="-120"/>
              </a:rPr>
              <a:t>from fastapi import FastAPI</a:t>
            </a:r>
            <a:endParaRPr lang="en-US" sz="1380" dirty="0"/>
          </a:p>
          <a:p>
            <a:pPr indent="0" marL="0">
              <a:buNone/>
            </a:pPr>
            <a:endParaRPr lang="en-US" sz="1380" dirty="0"/>
          </a:p>
          <a:p>
            <a:pPr indent="0" marL="0">
              <a:buNone/>
            </a:pPr>
            <a:r>
              <a:rPr lang="en-US" sz="1380" dirty="0">
                <a:solidFill>
                  <a:srgbClr val="EAF2F8"/>
                </a:solidFill>
                <a:latin typeface="Aptos Mono" pitchFamily="34" charset="0"/>
                <a:ea typeface="Aptos Mono" pitchFamily="34" charset="-122"/>
                <a:cs typeface="Aptos Mono" pitchFamily="34" charset="-120"/>
              </a:rPr>
              <a:t>app = FastAPI(title="CS415 Ticket API")</a:t>
            </a:r>
            <a:endParaRPr lang="en-US" sz="1380" dirty="0"/>
          </a:p>
          <a:p>
            <a:pPr indent="0" marL="0">
              <a:buNone/>
            </a:pPr>
            <a:endParaRPr lang="en-US" sz="1380" dirty="0"/>
          </a:p>
          <a:p>
            <a:pPr indent="0" marL="0">
              <a:buNone/>
            </a:pPr>
            <a:endParaRPr lang="en-US" sz="1380" dirty="0"/>
          </a:p>
          <a:p>
            <a:pPr indent="0" marL="0">
              <a:buNone/>
            </a:pPr>
            <a:r>
              <a:rPr lang="en-US" sz="1380" dirty="0">
                <a:solidFill>
                  <a:srgbClr val="EAF2F8"/>
                </a:solidFill>
                <a:latin typeface="Aptos Mono" pitchFamily="34" charset="0"/>
                <a:ea typeface="Aptos Mono" pitchFamily="34" charset="-122"/>
                <a:cs typeface="Aptos Mono" pitchFamily="34" charset="-120"/>
              </a:rPr>
              <a:t>@app.get("/")</a:t>
            </a:r>
            <a:endParaRPr lang="en-US" sz="1380" dirty="0"/>
          </a:p>
          <a:p>
            <a:pPr indent="0" marL="0">
              <a:buNone/>
            </a:pPr>
            <a:r>
              <a:rPr lang="en-US" sz="1380" dirty="0">
                <a:solidFill>
                  <a:srgbClr val="EAF2F8"/>
                </a:solidFill>
                <a:latin typeface="Aptos Mono" pitchFamily="34" charset="0"/>
                <a:ea typeface="Aptos Mono" pitchFamily="34" charset="-122"/>
                <a:cs typeface="Aptos Mono" pitchFamily="34" charset="-120"/>
              </a:rPr>
              <a:t>def home() -&gt; dict[str, str]:</a:t>
            </a:r>
            <a:endParaRPr lang="en-US" sz="1380" dirty="0"/>
          </a:p>
          <a:p>
            <a:pPr indent="0" marL="0">
              <a:buNone/>
            </a:pPr>
            <a:r>
              <a:rPr lang="en-US" sz="1380" dirty="0">
                <a:solidFill>
                  <a:srgbClr val="EAF2F8"/>
                </a:solidFill>
                <a:latin typeface="Aptos Mono" pitchFamily="34" charset="0"/>
                <a:ea typeface="Aptos Mono" pitchFamily="34" charset="-122"/>
                <a:cs typeface="Aptos Mono" pitchFamily="34" charset="-120"/>
              </a:rPr>
              <a:t>    """Return a simple API status message."""</a:t>
            </a:r>
            <a:endParaRPr lang="en-US" sz="1380" dirty="0"/>
          </a:p>
          <a:p>
            <a:pPr indent="0" marL="0">
              <a:buNone/>
            </a:pPr>
            <a:r>
              <a:rPr lang="en-US" sz="1380" dirty="0">
                <a:solidFill>
                  <a:srgbClr val="EAF2F8"/>
                </a:solidFill>
                <a:latin typeface="Aptos Mono" pitchFamily="34" charset="0"/>
                <a:ea typeface="Aptos Mono" pitchFamily="34" charset="-122"/>
                <a:cs typeface="Aptos Mono" pitchFamily="34" charset="-120"/>
              </a:rPr>
              <a:t>    return {"message": "CS415 Ticket API is running"}</a:t>
            </a:r>
            <a:endParaRPr lang="en-US" sz="1380" dirty="0"/>
          </a:p>
        </p:txBody>
      </p:sp>
      <p:sp>
        <p:nvSpPr>
          <p:cNvPr id="6" name="Shape 4"/>
          <p:cNvSpPr/>
          <p:nvPr/>
        </p:nvSpPr>
        <p:spPr>
          <a:xfrm>
            <a:off x="731520" y="4617720"/>
            <a:ext cx="6080760" cy="868680"/>
          </a:xfrm>
          <a:prstGeom prst="roundRect">
            <a:avLst>
              <a:gd name="adj" fmla="val 5263"/>
            </a:avLst>
          </a:prstGeom>
          <a:solidFill>
            <a:srgbClr val="0E1720"/>
          </a:solidFill>
          <a:ln w="12700">
            <a:solidFill>
              <a:srgbClr val="1E2A35"/>
            </a:solidFill>
            <a:prstDash val="solid"/>
          </a:ln>
        </p:spPr>
      </p:sp>
      <p:sp>
        <p:nvSpPr>
          <p:cNvPr id="7" name="Text 5"/>
          <p:cNvSpPr/>
          <p:nvPr/>
        </p:nvSpPr>
        <p:spPr>
          <a:xfrm>
            <a:off x="950976" y="4782312"/>
            <a:ext cx="5641848" cy="539496"/>
          </a:xfrm>
          <a:prstGeom prst="rect">
            <a:avLst/>
          </a:prstGeom>
          <a:noFill/>
          <a:ln/>
        </p:spPr>
        <p:txBody>
          <a:bodyPr wrap="square" lIns="0" tIns="0" rIns="0" bIns="0" rtlCol="0" anchor="ctr">
            <a:normAutofit/>
          </a:bodyPr>
          <a:lstStyle/>
          <a:p>
            <a:pPr indent="0" marL="0">
              <a:buNone/>
            </a:pPr>
            <a:r>
              <a:rPr lang="en-US" sz="1480" dirty="0">
                <a:solidFill>
                  <a:srgbClr val="EAF2F8"/>
                </a:solidFill>
                <a:latin typeface="Aptos Mono" pitchFamily="34" charset="0"/>
                <a:ea typeface="Aptos Mono" pitchFamily="34" charset="-122"/>
                <a:cs typeface="Aptos Mono" pitchFamily="34" charset="-120"/>
              </a:rPr>
              <a:t>pip install fastapi uvicorn</a:t>
            </a:r>
            <a:endParaRPr lang="en-US" sz="1480" dirty="0"/>
          </a:p>
          <a:p>
            <a:pPr indent="0" marL="0">
              <a:buNone/>
            </a:pPr>
            <a:endParaRPr lang="en-US" sz="1480" dirty="0"/>
          </a:p>
          <a:p>
            <a:pPr indent="0" marL="0">
              <a:buNone/>
            </a:pPr>
            <a:r>
              <a:rPr lang="en-US" sz="1480" dirty="0">
                <a:solidFill>
                  <a:srgbClr val="EAF2F8"/>
                </a:solidFill>
                <a:latin typeface="Aptos Mono" pitchFamily="34" charset="0"/>
                <a:ea typeface="Aptos Mono" pitchFamily="34" charset="-122"/>
                <a:cs typeface="Aptos Mono" pitchFamily="34" charset="-120"/>
              </a:rPr>
              <a:t>uvicorn main:app --reload</a:t>
            </a:r>
            <a:endParaRPr lang="en-US" sz="1480" dirty="0"/>
          </a:p>
        </p:txBody>
      </p:sp>
      <p:sp>
        <p:nvSpPr>
          <p:cNvPr id="8" name="Shape 6"/>
          <p:cNvSpPr/>
          <p:nvPr/>
        </p:nvSpPr>
        <p:spPr>
          <a:xfrm>
            <a:off x="7223760" y="1600200"/>
            <a:ext cx="4023360" cy="2011680"/>
          </a:xfrm>
          <a:prstGeom prst="roundRect">
            <a:avLst>
              <a:gd name="adj" fmla="val 3182"/>
            </a:avLst>
          </a:prstGeom>
          <a:solidFill>
            <a:srgbClr val="FFFFFF"/>
          </a:solidFill>
          <a:ln w="12700">
            <a:solidFill>
              <a:srgbClr val="D8E1E8"/>
            </a:solidFill>
            <a:prstDash val="solid"/>
          </a:ln>
        </p:spPr>
      </p:sp>
      <p:sp>
        <p:nvSpPr>
          <p:cNvPr id="9" name="Text 7"/>
          <p:cNvSpPr/>
          <p:nvPr/>
        </p:nvSpPr>
        <p:spPr>
          <a:xfrm>
            <a:off x="7461504" y="1801368"/>
            <a:ext cx="3547872" cy="256032"/>
          </a:xfrm>
          <a:prstGeom prst="rect">
            <a:avLst/>
          </a:prstGeom>
          <a:noFill/>
          <a:ln/>
        </p:spPr>
        <p:txBody>
          <a:bodyPr wrap="square" lIns="0" tIns="0" rIns="0" bIns="0" rtlCol="0" anchor="ctr">
            <a:normAutofit/>
          </a:bodyPr>
          <a:lstStyle/>
          <a:p>
            <a:pPr indent="0" marL="0">
              <a:buNone/>
            </a:pPr>
            <a:r>
              <a:rPr lang="en-US" sz="1400" b="1" dirty="0">
                <a:solidFill>
                  <a:srgbClr val="123B52"/>
                </a:solidFill>
              </a:rPr>
              <a:t>Open in browser</a:t>
            </a:r>
            <a:endParaRPr lang="en-US" sz="1400" dirty="0"/>
          </a:p>
        </p:txBody>
      </p:sp>
      <p:sp>
        <p:nvSpPr>
          <p:cNvPr id="10" name="Text 8"/>
          <p:cNvSpPr/>
          <p:nvPr/>
        </p:nvSpPr>
        <p:spPr>
          <a:xfrm>
            <a:off x="7461504" y="2212848"/>
            <a:ext cx="3547872" cy="1225296"/>
          </a:xfrm>
          <a:prstGeom prst="rect">
            <a:avLst/>
          </a:prstGeom>
          <a:noFill/>
          <a:ln/>
        </p:spPr>
        <p:txBody>
          <a:bodyPr wrap="square" lIns="254" tIns="254" rIns="254" bIns="254" rtlCol="0" anchor="t">
            <a:normAutofit/>
          </a:bodyPr>
          <a:lstStyle/>
          <a:p>
            <a:pPr indent="0" marL="0">
              <a:buNone/>
            </a:pPr>
            <a:r>
              <a:rPr lang="en-US" sz="1600" dirty="0">
                <a:solidFill>
                  <a:srgbClr val="17202A"/>
                </a:solidFill>
              </a:rPr>
              <a:t>http://127.0.0.1:8000</a:t>
            </a:r>
            <a:endParaRPr lang="en-US" sz="1600" dirty="0"/>
          </a:p>
          <a:p>
            <a:pPr indent="0" marL="0">
              <a:buNone/>
            </a:pPr>
            <a:endParaRPr lang="en-US" sz="1600" dirty="0"/>
          </a:p>
          <a:p>
            <a:pPr indent="0" marL="0">
              <a:buNone/>
            </a:pPr>
            <a:r>
              <a:rPr lang="en-US" sz="1600" dirty="0">
                <a:solidFill>
                  <a:srgbClr val="17202A"/>
                </a:solidFill>
              </a:rPr>
              <a:t>Then open:</a:t>
            </a:r>
            <a:endParaRPr lang="en-US" sz="1600" dirty="0"/>
          </a:p>
          <a:p>
            <a:pPr indent="0" marL="0">
              <a:buNone/>
            </a:pPr>
            <a:r>
              <a:rPr lang="en-US" sz="1600" dirty="0">
                <a:solidFill>
                  <a:srgbClr val="17202A"/>
                </a:solidFill>
              </a:rPr>
              <a:t>http://127.0.0.1:8000/docs</a:t>
            </a:r>
            <a:endParaRPr lang="en-US" sz="1600" dirty="0"/>
          </a:p>
        </p:txBody>
      </p:sp>
      <p:sp>
        <p:nvSpPr>
          <p:cNvPr id="11" name="Shape 9"/>
          <p:cNvSpPr/>
          <p:nvPr/>
        </p:nvSpPr>
        <p:spPr>
          <a:xfrm>
            <a:off x="7223760" y="4160520"/>
            <a:ext cx="4023360" cy="960120"/>
          </a:xfrm>
          <a:prstGeom prst="roundRect">
            <a:avLst>
              <a:gd name="adj" fmla="val 6667"/>
            </a:avLst>
          </a:prstGeom>
          <a:solidFill>
            <a:srgbClr val="FFFFFF"/>
          </a:solidFill>
          <a:ln w="12700">
            <a:solidFill>
              <a:srgbClr val="D8E1E8"/>
            </a:solidFill>
            <a:prstDash val="solid"/>
          </a:ln>
        </p:spPr>
      </p:sp>
      <p:sp>
        <p:nvSpPr>
          <p:cNvPr id="12" name="Text 10"/>
          <p:cNvSpPr/>
          <p:nvPr/>
        </p:nvSpPr>
        <p:spPr>
          <a:xfrm>
            <a:off x="7461504" y="4361688"/>
            <a:ext cx="3547872" cy="256032"/>
          </a:xfrm>
          <a:prstGeom prst="rect">
            <a:avLst/>
          </a:prstGeom>
          <a:noFill/>
          <a:ln/>
        </p:spPr>
        <p:txBody>
          <a:bodyPr wrap="square" lIns="0" tIns="0" rIns="0" bIns="0" rtlCol="0" anchor="ctr">
            <a:normAutofit/>
          </a:bodyPr>
          <a:lstStyle/>
          <a:p>
            <a:pPr indent="0" marL="0">
              <a:buNone/>
            </a:pPr>
            <a:r>
              <a:rPr lang="en-US" sz="1400" b="1" dirty="0">
                <a:solidFill>
                  <a:srgbClr val="123B52"/>
                </a:solidFill>
              </a:rPr>
              <a:t>Teaching point</a:t>
            </a:r>
            <a:endParaRPr lang="en-US" sz="1400" dirty="0"/>
          </a:p>
        </p:txBody>
      </p:sp>
      <p:sp>
        <p:nvSpPr>
          <p:cNvPr id="13" name="Text 11"/>
          <p:cNvSpPr/>
          <p:nvPr/>
        </p:nvSpPr>
        <p:spPr>
          <a:xfrm>
            <a:off x="7461504" y="4773168"/>
            <a:ext cx="3547872" cy="173736"/>
          </a:xfrm>
          <a:prstGeom prst="rect">
            <a:avLst/>
          </a:prstGeom>
          <a:noFill/>
          <a:ln/>
        </p:spPr>
        <p:txBody>
          <a:bodyPr wrap="square" lIns="254" tIns="254" rIns="254" bIns="254" rtlCol="0" anchor="t">
            <a:normAutofit/>
          </a:bodyPr>
          <a:lstStyle/>
          <a:p>
            <a:pPr indent="0" marL="0">
              <a:buNone/>
            </a:pPr>
            <a:r>
              <a:rPr lang="en-US" sz="1360" dirty="0">
                <a:solidFill>
                  <a:srgbClr val="17202A"/>
                </a:solidFill>
              </a:rPr>
              <a:t>FastAPI uses type hints and Pydantic models to generate interactive documentation automatically.</a:t>
            </a:r>
            <a:endParaRPr lang="en-US" sz="1360" dirty="0"/>
          </a:p>
        </p:txBody>
      </p:sp>
      <p:sp>
        <p:nvSpPr>
          <p:cNvPr id="25" name="Slide Number Placeholder 0"/>
          <p:cNvSpPr>
            <a:spLocks noGrp="1"/>
          </p:cNvSpPr>
          <p:nvPr>
            <p:ph type="sldNum" sz="quarter" idx="4294967295"/>
          </p:nvPr>
        </p:nvSpPr>
        <p:spPr>
          <a:xfrm>
            <a:off x="11612880" y="6547104"/>
            <a:ext cx="800000" cy="300000"/>
          </a:xfrm>
          <a:prstGeom prst="rect">
            <a:avLst/>
          </a:prstGeom>
          <a:extLst>
            <a:ext uri="{C572A759-6A51-4108-AA02-DFA0A04FC94B}">
              <ma14:wrappingTextBoxFlag xmlns:ma14="http://schemas.microsoft.com/office/mac/drawingml/2011/main" val="0"/>
            </a:ext>
          </a:extLst>
        </p:spPr>
        <p:txBody>
          <a:bodyPr/>
          <a:lstStyle>
            <a:lvl1pPr>
              <a:defRPr sz="780">
                <a:solidFill>
                  <a:srgbClr val="5B6B7A"/>
                </a:solidFill>
                <a:latin typeface="Aptos"/>
                <a:ea typeface="Aptos"/>
                <a:cs typeface="Aptos"/>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AFC"/>
        </a:solidFill>
      </p:bgPr>
    </p:bg>
    <p:spTree>
      <p:nvGrpSpPr>
        <p:cNvPr id="1" name=""/>
        <p:cNvGrpSpPr/>
        <p:nvPr/>
      </p:nvGrpSpPr>
      <p:grpSpPr>
        <a:xfrm>
          <a:off x="0" y="0"/>
          <a:ext cx="0" cy="0"/>
          <a:chOff x="0" y="0"/>
          <a:chExt cx="0" cy="0"/>
        </a:xfrm>
      </p:grpSpPr>
      <p:sp>
        <p:nvSpPr>
          <p:cNvPr id="2" name="Text 0"/>
          <p:cNvSpPr/>
          <p:nvPr/>
        </p:nvSpPr>
        <p:spPr>
          <a:xfrm>
            <a:off x="658368" y="384048"/>
            <a:ext cx="5943600" cy="219456"/>
          </a:xfrm>
          <a:prstGeom prst="rect">
            <a:avLst/>
          </a:prstGeom>
          <a:noFill/>
          <a:ln/>
        </p:spPr>
        <p:txBody>
          <a:bodyPr wrap="square" lIns="0" tIns="0" rIns="0" bIns="0" rtlCol="0" anchor="ctr"/>
          <a:lstStyle/>
          <a:p>
            <a:pPr indent="0" marL="0">
              <a:buNone/>
            </a:pPr>
            <a:r>
              <a:rPr lang="en-US" sz="950" b="1" dirty="0">
                <a:solidFill>
                  <a:srgbClr val="18A7B5"/>
                </a:solidFill>
              </a:rPr>
              <a:t>THE BRIDGE IS COMPLETE</a:t>
            </a:r>
            <a:endParaRPr lang="en-US" sz="950" dirty="0"/>
          </a:p>
        </p:txBody>
      </p:sp>
      <p:sp>
        <p:nvSpPr>
          <p:cNvPr id="3" name="Text 1"/>
          <p:cNvSpPr/>
          <p:nvPr/>
        </p:nvSpPr>
        <p:spPr>
          <a:xfrm>
            <a:off x="658368" y="658368"/>
            <a:ext cx="10698480" cy="475488"/>
          </a:xfrm>
          <a:prstGeom prst="rect">
            <a:avLst/>
          </a:prstGeom>
          <a:noFill/>
          <a:ln/>
        </p:spPr>
        <p:txBody>
          <a:bodyPr wrap="square" lIns="0" tIns="0" rIns="0" bIns="0" rtlCol="0" anchor="ctr">
            <a:normAutofit/>
          </a:bodyPr>
          <a:lstStyle/>
          <a:p>
            <a:pPr indent="0" marL="0">
              <a:buNone/>
            </a:pPr>
            <a:r>
              <a:rPr lang="en-US" sz="2700" b="1" dirty="0">
                <a:solidFill>
                  <a:srgbClr val="123B52"/>
                </a:solidFill>
              </a:rPr>
              <a:t>Expose classify_ticket() as a POST Endpoint</a:t>
            </a:r>
            <a:endParaRPr lang="en-US" sz="2700" dirty="0"/>
          </a:p>
        </p:txBody>
      </p:sp>
      <p:sp>
        <p:nvSpPr>
          <p:cNvPr id="4" name="Shape 2"/>
          <p:cNvSpPr/>
          <p:nvPr/>
        </p:nvSpPr>
        <p:spPr>
          <a:xfrm>
            <a:off x="777240" y="1325880"/>
            <a:ext cx="5760720" cy="2057400"/>
          </a:xfrm>
          <a:prstGeom prst="roundRect">
            <a:avLst>
              <a:gd name="adj" fmla="val 2222"/>
            </a:avLst>
          </a:prstGeom>
          <a:solidFill>
            <a:srgbClr val="0E1720"/>
          </a:solidFill>
          <a:ln w="12700">
            <a:solidFill>
              <a:srgbClr val="1E2A35"/>
            </a:solidFill>
            <a:prstDash val="solid"/>
          </a:ln>
        </p:spPr>
      </p:sp>
      <p:sp>
        <p:nvSpPr>
          <p:cNvPr id="5" name="Text 3"/>
          <p:cNvSpPr/>
          <p:nvPr/>
        </p:nvSpPr>
        <p:spPr>
          <a:xfrm>
            <a:off x="996696" y="1490472"/>
            <a:ext cx="5321808" cy="1728216"/>
          </a:xfrm>
          <a:prstGeom prst="rect">
            <a:avLst/>
          </a:prstGeom>
          <a:noFill/>
          <a:ln/>
        </p:spPr>
        <p:txBody>
          <a:bodyPr wrap="square" lIns="0" tIns="0" rIns="0" bIns="0" rtlCol="0" anchor="ctr">
            <a:normAutofit/>
          </a:bodyPr>
          <a:lstStyle/>
          <a:p>
            <a:pPr indent="0" marL="0">
              <a:buNone/>
            </a:pPr>
            <a:r>
              <a:rPr lang="en-US" sz="1420" dirty="0">
                <a:solidFill>
                  <a:srgbClr val="EAF2F8"/>
                </a:solidFill>
                <a:latin typeface="Aptos Mono" pitchFamily="34" charset="0"/>
                <a:ea typeface="Aptos Mono" pitchFamily="34" charset="-122"/>
                <a:cs typeface="Aptos Mono" pitchFamily="34" charset="-120"/>
              </a:rPr>
              <a:t>@app.post(</a:t>
            </a:r>
            <a:endParaRPr lang="en-US" sz="1420" dirty="0"/>
          </a:p>
          <a:p>
            <a:pPr indent="0" marL="0">
              <a:buNone/>
            </a:pPr>
            <a:r>
              <a:rPr lang="en-US" sz="1420" dirty="0">
                <a:solidFill>
                  <a:srgbClr val="EAF2F8"/>
                </a:solidFill>
                <a:latin typeface="Aptos Mono" pitchFamily="34" charset="0"/>
                <a:ea typeface="Aptos Mono" pitchFamily="34" charset="-122"/>
                <a:cs typeface="Aptos Mono" pitchFamily="34" charset="-120"/>
              </a:rPr>
              <a:t>    "/tickets/classify",</a:t>
            </a:r>
            <a:endParaRPr lang="en-US" sz="1420" dirty="0"/>
          </a:p>
          <a:p>
            <a:pPr indent="0" marL="0">
              <a:buNone/>
            </a:pPr>
            <a:r>
              <a:rPr lang="en-US" sz="1420" dirty="0">
                <a:solidFill>
                  <a:srgbClr val="EAF2F8"/>
                </a:solidFill>
                <a:latin typeface="Aptos Mono" pitchFamily="34" charset="0"/>
                <a:ea typeface="Aptos Mono" pitchFamily="34" charset="-122"/>
                <a:cs typeface="Aptos Mono" pitchFamily="34" charset="-120"/>
              </a:rPr>
              <a:t>    response_model=TicketResult,</a:t>
            </a:r>
            <a:endParaRPr lang="en-US" sz="1420" dirty="0"/>
          </a:p>
          <a:p>
            <a:pPr indent="0" marL="0">
              <a:buNone/>
            </a:pPr>
            <a:r>
              <a:rPr lang="en-US" sz="1420" dirty="0">
                <a:solidFill>
                  <a:srgbClr val="EAF2F8"/>
                </a:solidFill>
                <a:latin typeface="Aptos Mono" pitchFamily="34" charset="0"/>
                <a:ea typeface="Aptos Mono" pitchFamily="34" charset="-122"/>
                <a:cs typeface="Aptos Mono" pitchFamily="34" charset="-120"/>
              </a:rPr>
              <a:t>)</a:t>
            </a:r>
            <a:endParaRPr lang="en-US" sz="1420" dirty="0"/>
          </a:p>
          <a:p>
            <a:pPr indent="0" marL="0">
              <a:buNone/>
            </a:pPr>
            <a:r>
              <a:rPr lang="en-US" sz="1420" dirty="0">
                <a:solidFill>
                  <a:srgbClr val="EAF2F8"/>
                </a:solidFill>
                <a:latin typeface="Aptos Mono" pitchFamily="34" charset="0"/>
                <a:ea typeface="Aptos Mono" pitchFamily="34" charset="-122"/>
                <a:cs typeface="Aptos Mono" pitchFamily="34" charset="-120"/>
              </a:rPr>
              <a:t>def classify_ticket_endpoint(ticket: Ticket) -&gt; TicketResult:</a:t>
            </a:r>
            <a:endParaRPr lang="en-US" sz="1420" dirty="0"/>
          </a:p>
          <a:p>
            <a:pPr indent="0" marL="0">
              <a:buNone/>
            </a:pPr>
            <a:r>
              <a:rPr lang="en-US" sz="1420" dirty="0">
                <a:solidFill>
                  <a:srgbClr val="EAF2F8"/>
                </a:solidFill>
                <a:latin typeface="Aptos Mono" pitchFamily="34" charset="0"/>
                <a:ea typeface="Aptos Mono" pitchFamily="34" charset="-122"/>
                <a:cs typeface="Aptos Mono" pitchFamily="34" charset="-120"/>
              </a:rPr>
              <a:t>    """Classify an incoming customer support ticket."""</a:t>
            </a:r>
            <a:endParaRPr lang="en-US" sz="1420" dirty="0"/>
          </a:p>
          <a:p>
            <a:pPr indent="0" marL="0">
              <a:buNone/>
            </a:pPr>
            <a:r>
              <a:rPr lang="en-US" sz="1420" dirty="0">
                <a:solidFill>
                  <a:srgbClr val="EAF2F8"/>
                </a:solidFill>
                <a:latin typeface="Aptos Mono" pitchFamily="34" charset="0"/>
                <a:ea typeface="Aptos Mono" pitchFamily="34" charset="-122"/>
                <a:cs typeface="Aptos Mono" pitchFamily="34" charset="-120"/>
              </a:rPr>
              <a:t>    return classify_ticket(ticket)</a:t>
            </a:r>
            <a:endParaRPr lang="en-US" sz="1420" dirty="0"/>
          </a:p>
        </p:txBody>
      </p:sp>
      <p:sp>
        <p:nvSpPr>
          <p:cNvPr id="6" name="Text 4"/>
          <p:cNvSpPr/>
          <p:nvPr/>
        </p:nvSpPr>
        <p:spPr>
          <a:xfrm>
            <a:off x="7086600" y="1325880"/>
            <a:ext cx="4114800" cy="292608"/>
          </a:xfrm>
          <a:prstGeom prst="rect">
            <a:avLst/>
          </a:prstGeom>
          <a:noFill/>
          <a:ln/>
        </p:spPr>
        <p:txBody>
          <a:bodyPr wrap="square" lIns="0" tIns="0" rIns="0" bIns="0" rtlCol="0" anchor="ctr"/>
          <a:lstStyle/>
          <a:p>
            <a:pPr indent="0" marL="0">
              <a:buNone/>
            </a:pPr>
            <a:r>
              <a:rPr lang="en-US" sz="2000" b="1" dirty="0">
                <a:solidFill>
                  <a:srgbClr val="123B52"/>
                </a:solidFill>
              </a:rPr>
              <a:t>What FastAPI does for us</a:t>
            </a:r>
            <a:endParaRPr lang="en-US" sz="2000" dirty="0"/>
          </a:p>
        </p:txBody>
      </p:sp>
      <p:sp>
        <p:nvSpPr>
          <p:cNvPr id="7" name="Text 5"/>
          <p:cNvSpPr/>
          <p:nvPr/>
        </p:nvSpPr>
        <p:spPr>
          <a:xfrm>
            <a:off x="7132320" y="1828800"/>
            <a:ext cx="4206240" cy="2057400"/>
          </a:xfrm>
          <a:prstGeom prst="rect">
            <a:avLst/>
          </a:prstGeom>
          <a:noFill/>
          <a:ln/>
        </p:spPr>
        <p:txBody>
          <a:bodyPr wrap="square" lIns="635" tIns="635" rIns="635" bIns="635" rtlCol="0" anchor="ctr">
            <a:normAutofit/>
          </a:bodyPr>
          <a:lstStyle/>
          <a:p>
            <a:r>
              <a:rPr lang="en-US" sz="1520" dirty="0">
                <a:solidFill>
                  <a:srgbClr val="17202A"/>
                </a:solidFill>
              </a:rPr>
              <a:t>Reads JSON from the request body.</a:t>
            </a:r>
            <a:endParaRPr lang="en-US" sz="1520" dirty="0"/>
          </a:p>
          <a:p>
            <a:r>
              <a:rPr lang="en-US" sz="1520" dirty="0">
                <a:solidFill>
                  <a:srgbClr val="17202A"/>
                </a:solidFill>
              </a:rPr>
              <a:t>Validates it as Ticket.</a:t>
            </a:r>
            <a:endParaRPr lang="en-US" sz="1520" dirty="0"/>
          </a:p>
          <a:p>
            <a:r>
              <a:rPr lang="en-US" sz="1520" dirty="0">
                <a:solidFill>
                  <a:srgbClr val="17202A"/>
                </a:solidFill>
              </a:rPr>
              <a:t>Calls our endpoint function.</a:t>
            </a:r>
            <a:endParaRPr lang="en-US" sz="1520" dirty="0"/>
          </a:p>
          <a:p>
            <a:r>
              <a:rPr lang="en-US" sz="1520" dirty="0">
                <a:solidFill>
                  <a:srgbClr val="17202A"/>
                </a:solidFill>
              </a:rPr>
              <a:t>Serializes TicketResult as JSON.</a:t>
            </a:r>
            <a:endParaRPr lang="en-US" sz="1520" dirty="0"/>
          </a:p>
          <a:p>
            <a:r>
              <a:rPr lang="en-US" sz="1520" dirty="0">
                <a:solidFill>
                  <a:srgbClr val="17202A"/>
                </a:solidFill>
              </a:rPr>
              <a:t>Documents everything in /docs.</a:t>
            </a:r>
            <a:endParaRPr lang="en-US" sz="1520" dirty="0"/>
          </a:p>
        </p:txBody>
      </p:sp>
      <p:sp>
        <p:nvSpPr>
          <p:cNvPr id="8" name="Shape 6"/>
          <p:cNvSpPr/>
          <p:nvPr/>
        </p:nvSpPr>
        <p:spPr>
          <a:xfrm>
            <a:off x="960120" y="4800600"/>
            <a:ext cx="10195560" cy="420624"/>
          </a:xfrm>
          <a:prstGeom prst="rect">
            <a:avLst/>
          </a:prstGeom>
          <a:solidFill>
            <a:srgbClr val="123B52"/>
          </a:solidFill>
          <a:ln w="12700">
            <a:solidFill>
              <a:srgbClr val="123B52"/>
            </a:solidFill>
            <a:prstDash val="solid"/>
          </a:ln>
        </p:spPr>
      </p:sp>
      <p:sp>
        <p:nvSpPr>
          <p:cNvPr id="9" name="Text 7"/>
          <p:cNvSpPr/>
          <p:nvPr/>
        </p:nvSpPr>
        <p:spPr>
          <a:xfrm>
            <a:off x="1124712" y="4892040"/>
            <a:ext cx="411480" cy="228600"/>
          </a:xfrm>
          <a:prstGeom prst="rect">
            <a:avLst/>
          </a:prstGeom>
          <a:noFill/>
          <a:ln/>
        </p:spPr>
        <p:txBody>
          <a:bodyPr wrap="square" lIns="0" tIns="0" rIns="0" bIns="0" rtlCol="0" anchor="ctr"/>
          <a:lstStyle/>
          <a:p>
            <a:pPr indent="0" marL="0">
              <a:buNone/>
            </a:pPr>
            <a:r>
              <a:rPr lang="en-US" sz="950" b="1" dirty="0">
                <a:solidFill>
                  <a:srgbClr val="FFFFFF"/>
                </a:solidFill>
              </a:rPr>
              <a:t>01</a:t>
            </a:r>
            <a:endParaRPr lang="en-US" sz="950" dirty="0"/>
          </a:p>
        </p:txBody>
      </p:sp>
      <p:sp>
        <p:nvSpPr>
          <p:cNvPr id="10" name="Text 8"/>
          <p:cNvSpPr/>
          <p:nvPr/>
        </p:nvSpPr>
        <p:spPr>
          <a:xfrm>
            <a:off x="1673352" y="4873752"/>
            <a:ext cx="9235440" cy="274320"/>
          </a:xfrm>
          <a:prstGeom prst="rect">
            <a:avLst/>
          </a:prstGeom>
          <a:noFill/>
          <a:ln/>
        </p:spPr>
        <p:txBody>
          <a:bodyPr wrap="square" lIns="0" tIns="0" rIns="0" bIns="0" rtlCol="0" anchor="ctr"/>
          <a:lstStyle/>
          <a:p>
            <a:pPr indent="0" marL="0">
              <a:buNone/>
            </a:pPr>
            <a:r>
              <a:rPr lang="en-US" sz="1500" b="1" dirty="0">
                <a:solidFill>
                  <a:srgbClr val="FFFFFF"/>
                </a:solidFill>
              </a:rPr>
              <a:t>Python Function → Pydantic Model → FastAPI Endpoint → Agent-callable Tool</a:t>
            </a:r>
            <a:endParaRPr lang="en-US" sz="1500" dirty="0"/>
          </a:p>
        </p:txBody>
      </p:sp>
      <p:sp>
        <p:nvSpPr>
          <p:cNvPr id="25" name="Slide Number Placeholder 0"/>
          <p:cNvSpPr>
            <a:spLocks noGrp="1"/>
          </p:cNvSpPr>
          <p:nvPr>
            <p:ph type="sldNum" sz="quarter" idx="4294967295"/>
          </p:nvPr>
        </p:nvSpPr>
        <p:spPr>
          <a:xfrm>
            <a:off x="11612880" y="6547104"/>
            <a:ext cx="800000" cy="300000"/>
          </a:xfrm>
          <a:prstGeom prst="rect">
            <a:avLst/>
          </a:prstGeom>
          <a:extLst>
            <a:ext uri="{C572A759-6A51-4108-AA02-DFA0A04FC94B}">
              <ma14:wrappingTextBoxFlag xmlns:ma14="http://schemas.microsoft.com/office/mac/drawingml/2011/main" val="0"/>
            </a:ext>
          </a:extLst>
        </p:spPr>
        <p:txBody>
          <a:bodyPr/>
          <a:lstStyle>
            <a:lvl1pPr>
              <a:defRPr sz="780">
                <a:solidFill>
                  <a:srgbClr val="5B6B7A"/>
                </a:solidFill>
                <a:latin typeface="Aptos"/>
                <a:ea typeface="Aptos"/>
                <a:cs typeface="Aptos"/>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AFC"/>
        </a:solidFill>
      </p:bgPr>
    </p:bg>
    <p:spTree>
      <p:nvGrpSpPr>
        <p:cNvPr id="1" name=""/>
        <p:cNvGrpSpPr/>
        <p:nvPr/>
      </p:nvGrpSpPr>
      <p:grpSpPr>
        <a:xfrm>
          <a:off x="0" y="0"/>
          <a:ext cx="0" cy="0"/>
          <a:chOff x="0" y="0"/>
          <a:chExt cx="0" cy="0"/>
        </a:xfrm>
      </p:grpSpPr>
      <p:sp>
        <p:nvSpPr>
          <p:cNvPr id="2" name="Text 0"/>
          <p:cNvSpPr/>
          <p:nvPr/>
        </p:nvSpPr>
        <p:spPr>
          <a:xfrm>
            <a:off x="658368" y="384048"/>
            <a:ext cx="5943600" cy="219456"/>
          </a:xfrm>
          <a:prstGeom prst="rect">
            <a:avLst/>
          </a:prstGeom>
          <a:noFill/>
          <a:ln/>
        </p:spPr>
        <p:txBody>
          <a:bodyPr wrap="square" lIns="0" tIns="0" rIns="0" bIns="0" rtlCol="0" anchor="ctr"/>
          <a:lstStyle/>
          <a:p>
            <a:pPr indent="0" marL="0">
              <a:buNone/>
            </a:pPr>
            <a:r>
              <a:rPr lang="en-US" sz="950" b="1" dirty="0">
                <a:solidFill>
                  <a:srgbClr val="18A7B5"/>
                </a:solidFill>
              </a:rPr>
              <a:t>REQUEST AND RESPONSE</a:t>
            </a:r>
            <a:endParaRPr lang="en-US" sz="950" dirty="0"/>
          </a:p>
        </p:txBody>
      </p:sp>
      <p:sp>
        <p:nvSpPr>
          <p:cNvPr id="3" name="Text 1"/>
          <p:cNvSpPr/>
          <p:nvPr/>
        </p:nvSpPr>
        <p:spPr>
          <a:xfrm>
            <a:off x="658368" y="658368"/>
            <a:ext cx="10698480" cy="475488"/>
          </a:xfrm>
          <a:prstGeom prst="rect">
            <a:avLst/>
          </a:prstGeom>
          <a:noFill/>
          <a:ln/>
        </p:spPr>
        <p:txBody>
          <a:bodyPr wrap="square" lIns="0" tIns="0" rIns="0" bIns="0" rtlCol="0" anchor="ctr">
            <a:normAutofit/>
          </a:bodyPr>
          <a:lstStyle/>
          <a:p>
            <a:pPr indent="0" marL="0">
              <a:buNone/>
            </a:pPr>
            <a:r>
              <a:rPr lang="en-US" sz="2700" b="1" dirty="0">
                <a:solidFill>
                  <a:srgbClr val="123B52"/>
                </a:solidFill>
              </a:rPr>
              <a:t>Test It in Swagger UI</a:t>
            </a:r>
            <a:endParaRPr lang="en-US" sz="2700" dirty="0"/>
          </a:p>
        </p:txBody>
      </p:sp>
      <p:sp>
        <p:nvSpPr>
          <p:cNvPr id="4" name="Shape 2"/>
          <p:cNvSpPr/>
          <p:nvPr/>
        </p:nvSpPr>
        <p:spPr>
          <a:xfrm>
            <a:off x="777240" y="1325880"/>
            <a:ext cx="4754880" cy="2331720"/>
          </a:xfrm>
          <a:prstGeom prst="roundRect">
            <a:avLst>
              <a:gd name="adj" fmla="val 1961"/>
            </a:avLst>
          </a:prstGeom>
          <a:solidFill>
            <a:srgbClr val="0E1720"/>
          </a:solidFill>
          <a:ln w="12700">
            <a:solidFill>
              <a:srgbClr val="1E2A35"/>
            </a:solidFill>
            <a:prstDash val="solid"/>
          </a:ln>
        </p:spPr>
      </p:sp>
      <p:sp>
        <p:nvSpPr>
          <p:cNvPr id="5" name="Text 3"/>
          <p:cNvSpPr/>
          <p:nvPr/>
        </p:nvSpPr>
        <p:spPr>
          <a:xfrm>
            <a:off x="996696" y="1490472"/>
            <a:ext cx="4315968" cy="2002536"/>
          </a:xfrm>
          <a:prstGeom prst="rect">
            <a:avLst/>
          </a:prstGeom>
          <a:noFill/>
          <a:ln/>
        </p:spPr>
        <p:txBody>
          <a:bodyPr wrap="square" lIns="0" tIns="0" rIns="0" bIns="0" rtlCol="0" anchor="ctr">
            <a:normAutofit/>
          </a:bodyPr>
          <a:lstStyle/>
          <a:p>
            <a:pPr indent="0" marL="0">
              <a:buNone/>
            </a:pPr>
            <a:r>
              <a:rPr lang="en-US" sz="1500" dirty="0">
                <a:solidFill>
                  <a:srgbClr val="EAF2F8"/>
                </a:solidFill>
                <a:latin typeface="Aptos Mono" pitchFamily="34" charset="0"/>
                <a:ea typeface="Aptos Mono" pitchFamily="34" charset="-122"/>
                <a:cs typeface="Aptos Mono" pitchFamily="34" charset="-120"/>
              </a:rPr>
              <a:t>Request body:</a:t>
            </a:r>
            <a:endParaRPr lang="en-US" sz="1500" dirty="0"/>
          </a:p>
          <a:p>
            <a:pPr indent="0" marL="0">
              <a:buNone/>
            </a:pPr>
            <a:endParaRPr lang="en-US" sz="1500" dirty="0"/>
          </a:p>
          <a:p>
            <a:pPr indent="0" marL="0">
              <a:buNone/>
            </a:pPr>
            <a:r>
              <a:rPr lang="en-US" sz="1500" dirty="0">
                <a:solidFill>
                  <a:srgbClr val="EAF2F8"/>
                </a:solidFill>
                <a:latin typeface="Aptos Mono" pitchFamily="34" charset="0"/>
                <a:ea typeface="Aptos Mono" pitchFamily="34" charset="-122"/>
                <a:cs typeface="Aptos Mono" pitchFamily="34" charset="-120"/>
              </a:rPr>
              <a:t>{</a:t>
            </a:r>
            <a:endParaRPr lang="en-US" sz="1500" dirty="0"/>
          </a:p>
          <a:p>
            <a:pPr indent="0" marL="0">
              <a:buNone/>
            </a:pPr>
            <a:r>
              <a:rPr lang="en-US" sz="1500" dirty="0">
                <a:solidFill>
                  <a:srgbClr val="EAF2F8"/>
                </a:solidFill>
                <a:latin typeface="Aptos Mono" pitchFamily="34" charset="0"/>
                <a:ea typeface="Aptos Mono" pitchFamily="34" charset="-122"/>
                <a:cs typeface="Aptos Mono" pitchFamily="34" charset="-120"/>
              </a:rPr>
              <a:t>  "customer_name": "Ahmed",</a:t>
            </a:r>
            <a:endParaRPr lang="en-US" sz="1500" dirty="0"/>
          </a:p>
          <a:p>
            <a:pPr indent="0" marL="0">
              <a:buNone/>
            </a:pPr>
            <a:r>
              <a:rPr lang="en-US" sz="1500" dirty="0">
                <a:solidFill>
                  <a:srgbClr val="EAF2F8"/>
                </a:solidFill>
                <a:latin typeface="Aptos Mono" pitchFamily="34" charset="0"/>
                <a:ea typeface="Aptos Mono" pitchFamily="34" charset="-122"/>
                <a:cs typeface="Aptos Mono" pitchFamily="34" charset="-120"/>
              </a:rPr>
              <a:t>  "message": "My payment failed",</a:t>
            </a:r>
            <a:endParaRPr lang="en-US" sz="1500" dirty="0"/>
          </a:p>
          <a:p>
            <a:pPr indent="0" marL="0">
              <a:buNone/>
            </a:pPr>
            <a:r>
              <a:rPr lang="en-US" sz="1500" dirty="0">
                <a:solidFill>
                  <a:srgbClr val="EAF2F8"/>
                </a:solidFill>
                <a:latin typeface="Aptos Mono" pitchFamily="34" charset="0"/>
                <a:ea typeface="Aptos Mono" pitchFamily="34" charset="-122"/>
                <a:cs typeface="Aptos Mono" pitchFamily="34" charset="-120"/>
              </a:rPr>
              <a:t>  "urgent": true</a:t>
            </a:r>
            <a:endParaRPr lang="en-US" sz="1500" dirty="0"/>
          </a:p>
          <a:p>
            <a:pPr indent="0" marL="0">
              <a:buNone/>
            </a:pPr>
            <a:r>
              <a:rPr lang="en-US" sz="1500" dirty="0">
                <a:solidFill>
                  <a:srgbClr val="EAF2F8"/>
                </a:solidFill>
                <a:latin typeface="Aptos Mono" pitchFamily="34" charset="0"/>
                <a:ea typeface="Aptos Mono" pitchFamily="34" charset="-122"/>
                <a:cs typeface="Aptos Mono" pitchFamily="34" charset="-120"/>
              </a:rPr>
              <a:t>}</a:t>
            </a:r>
            <a:endParaRPr lang="en-US" sz="1500" dirty="0"/>
          </a:p>
        </p:txBody>
      </p:sp>
      <p:sp>
        <p:nvSpPr>
          <p:cNvPr id="6" name="Shape 4"/>
          <p:cNvSpPr/>
          <p:nvPr/>
        </p:nvSpPr>
        <p:spPr>
          <a:xfrm>
            <a:off x="6583680" y="1325880"/>
            <a:ext cx="4754880" cy="2331720"/>
          </a:xfrm>
          <a:prstGeom prst="roundRect">
            <a:avLst>
              <a:gd name="adj" fmla="val 1961"/>
            </a:avLst>
          </a:prstGeom>
          <a:solidFill>
            <a:srgbClr val="0E1720"/>
          </a:solidFill>
          <a:ln w="12700">
            <a:solidFill>
              <a:srgbClr val="1E2A35"/>
            </a:solidFill>
            <a:prstDash val="solid"/>
          </a:ln>
        </p:spPr>
      </p:sp>
      <p:sp>
        <p:nvSpPr>
          <p:cNvPr id="7" name="Text 5"/>
          <p:cNvSpPr/>
          <p:nvPr/>
        </p:nvSpPr>
        <p:spPr>
          <a:xfrm>
            <a:off x="6803136" y="1490472"/>
            <a:ext cx="4315968" cy="2002536"/>
          </a:xfrm>
          <a:prstGeom prst="rect">
            <a:avLst/>
          </a:prstGeom>
          <a:noFill/>
          <a:ln/>
        </p:spPr>
        <p:txBody>
          <a:bodyPr wrap="square" lIns="0" tIns="0" rIns="0" bIns="0" rtlCol="0" anchor="ctr">
            <a:normAutofit/>
          </a:bodyPr>
          <a:lstStyle/>
          <a:p>
            <a:pPr indent="0" marL="0">
              <a:buNone/>
            </a:pPr>
            <a:r>
              <a:rPr lang="en-US" sz="1500" dirty="0">
                <a:solidFill>
                  <a:srgbClr val="EAF2F8"/>
                </a:solidFill>
                <a:latin typeface="Aptos Mono" pitchFamily="34" charset="0"/>
                <a:ea typeface="Aptos Mono" pitchFamily="34" charset="-122"/>
                <a:cs typeface="Aptos Mono" pitchFamily="34" charset="-120"/>
              </a:rPr>
              <a:t>Response:</a:t>
            </a:r>
            <a:endParaRPr lang="en-US" sz="1500" dirty="0"/>
          </a:p>
          <a:p>
            <a:pPr indent="0" marL="0">
              <a:buNone/>
            </a:pPr>
            <a:endParaRPr lang="en-US" sz="1500" dirty="0"/>
          </a:p>
          <a:p>
            <a:pPr indent="0" marL="0">
              <a:buNone/>
            </a:pPr>
            <a:r>
              <a:rPr lang="en-US" sz="1500" dirty="0">
                <a:solidFill>
                  <a:srgbClr val="EAF2F8"/>
                </a:solidFill>
                <a:latin typeface="Aptos Mono" pitchFamily="34" charset="0"/>
                <a:ea typeface="Aptos Mono" pitchFamily="34" charset="-122"/>
                <a:cs typeface="Aptos Mono" pitchFamily="34" charset="-120"/>
              </a:rPr>
              <a:t>{</a:t>
            </a:r>
            <a:endParaRPr lang="en-US" sz="1500" dirty="0"/>
          </a:p>
          <a:p>
            <a:pPr indent="0" marL="0">
              <a:buNone/>
            </a:pPr>
            <a:r>
              <a:rPr lang="en-US" sz="1500" dirty="0">
                <a:solidFill>
                  <a:srgbClr val="EAF2F8"/>
                </a:solidFill>
                <a:latin typeface="Aptos Mono" pitchFamily="34" charset="0"/>
                <a:ea typeface="Aptos Mono" pitchFamily="34" charset="-122"/>
                <a:cs typeface="Aptos Mono" pitchFamily="34" charset="-120"/>
              </a:rPr>
              <a:t>  "category": "billing",</a:t>
            </a:r>
            <a:endParaRPr lang="en-US" sz="1500" dirty="0"/>
          </a:p>
          <a:p>
            <a:pPr indent="0" marL="0">
              <a:buNone/>
            </a:pPr>
            <a:r>
              <a:rPr lang="en-US" sz="1500" dirty="0">
                <a:solidFill>
                  <a:srgbClr val="EAF2F8"/>
                </a:solidFill>
                <a:latin typeface="Aptos Mono" pitchFamily="34" charset="0"/>
                <a:ea typeface="Aptos Mono" pitchFamily="34" charset="-122"/>
                <a:cs typeface="Aptos Mono" pitchFamily="34" charset="-120"/>
              </a:rPr>
              <a:t>  "priority": "high"</a:t>
            </a:r>
            <a:endParaRPr lang="en-US" sz="1500" dirty="0"/>
          </a:p>
          <a:p>
            <a:pPr indent="0" marL="0">
              <a:buNone/>
            </a:pPr>
            <a:r>
              <a:rPr lang="en-US" sz="1500" dirty="0">
                <a:solidFill>
                  <a:srgbClr val="EAF2F8"/>
                </a:solidFill>
                <a:latin typeface="Aptos Mono" pitchFamily="34" charset="0"/>
                <a:ea typeface="Aptos Mono" pitchFamily="34" charset="-122"/>
                <a:cs typeface="Aptos Mono" pitchFamily="34" charset="-120"/>
              </a:rPr>
              <a:t>}</a:t>
            </a:r>
            <a:endParaRPr lang="en-US" sz="1500" dirty="0"/>
          </a:p>
        </p:txBody>
      </p:sp>
      <p:sp>
        <p:nvSpPr>
          <p:cNvPr id="8" name="Text 6"/>
          <p:cNvSpPr/>
          <p:nvPr/>
        </p:nvSpPr>
        <p:spPr>
          <a:xfrm>
            <a:off x="868680" y="4251960"/>
            <a:ext cx="3383280" cy="256032"/>
          </a:xfrm>
          <a:prstGeom prst="rect">
            <a:avLst/>
          </a:prstGeom>
          <a:noFill/>
          <a:ln/>
        </p:spPr>
        <p:txBody>
          <a:bodyPr wrap="square" lIns="0" tIns="0" rIns="0" bIns="0" rtlCol="0" anchor="ctr"/>
          <a:lstStyle/>
          <a:p>
            <a:pPr indent="0" marL="0">
              <a:buNone/>
            </a:pPr>
            <a:r>
              <a:rPr lang="en-US" sz="1700" b="1" dirty="0">
                <a:solidFill>
                  <a:srgbClr val="123B52"/>
                </a:solidFill>
              </a:rPr>
              <a:t>Then try bad input:</a:t>
            </a:r>
            <a:endParaRPr lang="en-US" sz="1700" dirty="0"/>
          </a:p>
        </p:txBody>
      </p:sp>
      <p:sp>
        <p:nvSpPr>
          <p:cNvPr id="9" name="Shape 7"/>
          <p:cNvSpPr/>
          <p:nvPr/>
        </p:nvSpPr>
        <p:spPr>
          <a:xfrm>
            <a:off x="868680" y="4617720"/>
            <a:ext cx="4389120" cy="1051560"/>
          </a:xfrm>
          <a:prstGeom prst="roundRect">
            <a:avLst>
              <a:gd name="adj" fmla="val 4348"/>
            </a:avLst>
          </a:prstGeom>
          <a:solidFill>
            <a:srgbClr val="0E1720"/>
          </a:solidFill>
          <a:ln w="12700">
            <a:solidFill>
              <a:srgbClr val="1E2A35"/>
            </a:solidFill>
            <a:prstDash val="solid"/>
          </a:ln>
        </p:spPr>
      </p:sp>
      <p:sp>
        <p:nvSpPr>
          <p:cNvPr id="10" name="Text 8"/>
          <p:cNvSpPr/>
          <p:nvPr/>
        </p:nvSpPr>
        <p:spPr>
          <a:xfrm>
            <a:off x="1088136" y="4782312"/>
            <a:ext cx="3950208" cy="722376"/>
          </a:xfrm>
          <a:prstGeom prst="rect">
            <a:avLst/>
          </a:prstGeom>
          <a:noFill/>
          <a:ln/>
        </p:spPr>
        <p:txBody>
          <a:bodyPr wrap="square" lIns="0" tIns="0" rIns="0" bIns="0" rtlCol="0" anchor="ctr">
            <a:normAutofit/>
          </a:bodyPr>
          <a:lstStyle/>
          <a:p>
            <a:pPr indent="0" marL="0">
              <a:buNone/>
            </a:pPr>
            <a:r>
              <a:rPr lang="en-US" sz="1460" dirty="0">
                <a:solidFill>
                  <a:srgbClr val="EAF2F8"/>
                </a:solidFill>
                <a:latin typeface="Aptos Mono" pitchFamily="34" charset="0"/>
                <a:ea typeface="Aptos Mono" pitchFamily="34" charset="-122"/>
                <a:cs typeface="Aptos Mono" pitchFamily="34" charset="-120"/>
              </a:rPr>
              <a:t>{</a:t>
            </a:r>
            <a:endParaRPr lang="en-US" sz="1460" dirty="0"/>
          </a:p>
          <a:p>
            <a:pPr indent="0" marL="0">
              <a:buNone/>
            </a:pPr>
            <a:r>
              <a:rPr lang="en-US" sz="1460" dirty="0">
                <a:solidFill>
                  <a:srgbClr val="EAF2F8"/>
                </a:solidFill>
                <a:latin typeface="Aptos Mono" pitchFamily="34" charset="0"/>
                <a:ea typeface="Aptos Mono" pitchFamily="34" charset="-122"/>
                <a:cs typeface="Aptos Mono" pitchFamily="34" charset="-120"/>
              </a:rPr>
              <a:t>  "customer_name": "A",</a:t>
            </a:r>
            <a:endParaRPr lang="en-US" sz="1460" dirty="0"/>
          </a:p>
          <a:p>
            <a:pPr indent="0" marL="0">
              <a:buNone/>
            </a:pPr>
            <a:r>
              <a:rPr lang="en-US" sz="1460" dirty="0">
                <a:solidFill>
                  <a:srgbClr val="EAF2F8"/>
                </a:solidFill>
                <a:latin typeface="Aptos Mono" pitchFamily="34" charset="0"/>
                <a:ea typeface="Aptos Mono" pitchFamily="34" charset="-122"/>
                <a:cs typeface="Aptos Mono" pitchFamily="34" charset="-120"/>
              </a:rPr>
              <a:t>  "message": "Hi",</a:t>
            </a:r>
            <a:endParaRPr lang="en-US" sz="1460" dirty="0"/>
          </a:p>
          <a:p>
            <a:pPr indent="0" marL="0">
              <a:buNone/>
            </a:pPr>
            <a:r>
              <a:rPr lang="en-US" sz="1460" dirty="0">
                <a:solidFill>
                  <a:srgbClr val="EAF2F8"/>
                </a:solidFill>
                <a:latin typeface="Aptos Mono" pitchFamily="34" charset="0"/>
                <a:ea typeface="Aptos Mono" pitchFamily="34" charset="-122"/>
                <a:cs typeface="Aptos Mono" pitchFamily="34" charset="-120"/>
              </a:rPr>
              <a:t>  "urgent": true</a:t>
            </a:r>
            <a:endParaRPr lang="en-US" sz="1460" dirty="0"/>
          </a:p>
          <a:p>
            <a:pPr indent="0" marL="0">
              <a:buNone/>
            </a:pPr>
            <a:r>
              <a:rPr lang="en-US" sz="1460" dirty="0">
                <a:solidFill>
                  <a:srgbClr val="EAF2F8"/>
                </a:solidFill>
                <a:latin typeface="Aptos Mono" pitchFamily="34" charset="0"/>
                <a:ea typeface="Aptos Mono" pitchFamily="34" charset="-122"/>
                <a:cs typeface="Aptos Mono" pitchFamily="34" charset="-120"/>
              </a:rPr>
              <a:t>}</a:t>
            </a:r>
            <a:endParaRPr lang="en-US" sz="1460" dirty="0"/>
          </a:p>
        </p:txBody>
      </p:sp>
      <p:sp>
        <p:nvSpPr>
          <p:cNvPr id="11" name="Shape 9"/>
          <p:cNvSpPr/>
          <p:nvPr/>
        </p:nvSpPr>
        <p:spPr>
          <a:xfrm>
            <a:off x="6080760" y="4480560"/>
            <a:ext cx="4800600" cy="960120"/>
          </a:xfrm>
          <a:prstGeom prst="roundRect">
            <a:avLst>
              <a:gd name="adj" fmla="val 6667"/>
            </a:avLst>
          </a:prstGeom>
          <a:solidFill>
            <a:srgbClr val="FFFFFF"/>
          </a:solidFill>
          <a:ln w="12700">
            <a:solidFill>
              <a:srgbClr val="D8E1E8"/>
            </a:solidFill>
            <a:prstDash val="solid"/>
          </a:ln>
        </p:spPr>
      </p:sp>
      <p:sp>
        <p:nvSpPr>
          <p:cNvPr id="12" name="Text 10"/>
          <p:cNvSpPr/>
          <p:nvPr/>
        </p:nvSpPr>
        <p:spPr>
          <a:xfrm>
            <a:off x="6318504" y="4681728"/>
            <a:ext cx="4325112" cy="256032"/>
          </a:xfrm>
          <a:prstGeom prst="rect">
            <a:avLst/>
          </a:prstGeom>
          <a:noFill/>
          <a:ln/>
        </p:spPr>
        <p:txBody>
          <a:bodyPr wrap="square" lIns="0" tIns="0" rIns="0" bIns="0" rtlCol="0" anchor="ctr">
            <a:normAutofit/>
          </a:bodyPr>
          <a:lstStyle/>
          <a:p>
            <a:pPr indent="0" marL="0">
              <a:buNone/>
            </a:pPr>
            <a:r>
              <a:rPr lang="en-US" sz="1400" b="1" dirty="0">
                <a:solidFill>
                  <a:srgbClr val="123B52"/>
                </a:solidFill>
              </a:rPr>
              <a:t>Expected result</a:t>
            </a:r>
            <a:endParaRPr lang="en-US" sz="1400" dirty="0"/>
          </a:p>
        </p:txBody>
      </p:sp>
      <p:sp>
        <p:nvSpPr>
          <p:cNvPr id="13" name="Text 11"/>
          <p:cNvSpPr/>
          <p:nvPr/>
        </p:nvSpPr>
        <p:spPr>
          <a:xfrm>
            <a:off x="6318504" y="5093208"/>
            <a:ext cx="4325112" cy="173736"/>
          </a:xfrm>
          <a:prstGeom prst="rect">
            <a:avLst/>
          </a:prstGeom>
          <a:noFill/>
          <a:ln/>
        </p:spPr>
        <p:txBody>
          <a:bodyPr wrap="square" lIns="254" tIns="254" rIns="254" bIns="254" rtlCol="0" anchor="t">
            <a:normAutofit/>
          </a:bodyPr>
          <a:lstStyle/>
          <a:p>
            <a:pPr indent="0" marL="0">
              <a:buNone/>
            </a:pPr>
            <a:r>
              <a:rPr lang="en-US" sz="1500" dirty="0">
                <a:solidFill>
                  <a:srgbClr val="17202A"/>
                </a:solidFill>
              </a:rPr>
              <a:t>FastAPI returns a validation error before your business logic runs.</a:t>
            </a:r>
            <a:endParaRPr lang="en-US" sz="1500" dirty="0"/>
          </a:p>
        </p:txBody>
      </p:sp>
      <p:sp>
        <p:nvSpPr>
          <p:cNvPr id="25" name="Slide Number Placeholder 0"/>
          <p:cNvSpPr>
            <a:spLocks noGrp="1"/>
          </p:cNvSpPr>
          <p:nvPr>
            <p:ph type="sldNum" sz="quarter" idx="4294967295"/>
          </p:nvPr>
        </p:nvSpPr>
        <p:spPr>
          <a:xfrm>
            <a:off x="11612880" y="6547104"/>
            <a:ext cx="800000" cy="300000"/>
          </a:xfrm>
          <a:prstGeom prst="rect">
            <a:avLst/>
          </a:prstGeom>
          <a:extLst>
            <a:ext uri="{C572A759-6A51-4108-AA02-DFA0A04FC94B}">
              <ma14:wrappingTextBoxFlag xmlns:ma14="http://schemas.microsoft.com/office/mac/drawingml/2011/main" val="0"/>
            </a:ext>
          </a:extLst>
        </p:spPr>
        <p:txBody>
          <a:bodyPr/>
          <a:lstStyle>
            <a:lvl1pPr>
              <a:defRPr sz="780">
                <a:solidFill>
                  <a:srgbClr val="5B6B7A"/>
                </a:solidFill>
                <a:latin typeface="Aptos"/>
                <a:ea typeface="Aptos"/>
                <a:cs typeface="Aptos"/>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AFC"/>
        </a:solidFill>
      </p:bgPr>
    </p:bg>
    <p:spTree>
      <p:nvGrpSpPr>
        <p:cNvPr id="1" name=""/>
        <p:cNvGrpSpPr/>
        <p:nvPr/>
      </p:nvGrpSpPr>
      <p:grpSpPr>
        <a:xfrm>
          <a:off x="0" y="0"/>
          <a:ext cx="0" cy="0"/>
          <a:chOff x="0" y="0"/>
          <a:chExt cx="0" cy="0"/>
        </a:xfrm>
      </p:grpSpPr>
      <p:sp>
        <p:nvSpPr>
          <p:cNvPr id="2" name="Text 0"/>
          <p:cNvSpPr/>
          <p:nvPr/>
        </p:nvSpPr>
        <p:spPr>
          <a:xfrm>
            <a:off x="658368" y="384048"/>
            <a:ext cx="5943600" cy="219456"/>
          </a:xfrm>
          <a:prstGeom prst="rect">
            <a:avLst/>
          </a:prstGeom>
          <a:noFill/>
          <a:ln/>
        </p:spPr>
        <p:txBody>
          <a:bodyPr wrap="square" lIns="0" tIns="0" rIns="0" bIns="0" rtlCol="0" anchor="ctr"/>
          <a:lstStyle/>
          <a:p>
            <a:pPr indent="0" marL="0">
              <a:buNone/>
            </a:pPr>
            <a:r>
              <a:rPr lang="en-US" sz="950" b="1" dirty="0">
                <a:solidFill>
                  <a:srgbClr val="18A7B5"/>
                </a:solidFill>
              </a:rPr>
              <a:t>KEEP THE LAB SIMPLE</a:t>
            </a:r>
            <a:endParaRPr lang="en-US" sz="950" dirty="0"/>
          </a:p>
        </p:txBody>
      </p:sp>
      <p:sp>
        <p:nvSpPr>
          <p:cNvPr id="3" name="Text 1"/>
          <p:cNvSpPr/>
          <p:nvPr/>
        </p:nvSpPr>
        <p:spPr>
          <a:xfrm>
            <a:off x="658368" y="658368"/>
            <a:ext cx="10698480" cy="475488"/>
          </a:xfrm>
          <a:prstGeom prst="rect">
            <a:avLst/>
          </a:prstGeom>
          <a:noFill/>
          <a:ln/>
        </p:spPr>
        <p:txBody>
          <a:bodyPr wrap="square" lIns="0" tIns="0" rIns="0" bIns="0" rtlCol="0" anchor="ctr">
            <a:normAutofit/>
          </a:bodyPr>
          <a:lstStyle/>
          <a:p>
            <a:pPr indent="0" marL="0">
              <a:buNone/>
            </a:pPr>
            <a:r>
              <a:rPr lang="en-US" sz="2700" b="1" dirty="0">
                <a:solidFill>
                  <a:srgbClr val="123B52"/>
                </a:solidFill>
              </a:rPr>
              <a:t>The File Structure for Today</a:t>
            </a:r>
            <a:endParaRPr lang="en-US" sz="2700" dirty="0"/>
          </a:p>
        </p:txBody>
      </p:sp>
      <p:sp>
        <p:nvSpPr>
          <p:cNvPr id="4" name="Shape 2"/>
          <p:cNvSpPr/>
          <p:nvPr/>
        </p:nvSpPr>
        <p:spPr>
          <a:xfrm>
            <a:off x="822960" y="1417320"/>
            <a:ext cx="5212080" cy="3108960"/>
          </a:xfrm>
          <a:prstGeom prst="roundRect">
            <a:avLst>
              <a:gd name="adj" fmla="val 1471"/>
            </a:avLst>
          </a:prstGeom>
          <a:solidFill>
            <a:srgbClr val="0E1720"/>
          </a:solidFill>
          <a:ln w="12700">
            <a:solidFill>
              <a:srgbClr val="1E2A35"/>
            </a:solidFill>
            <a:prstDash val="solid"/>
          </a:ln>
        </p:spPr>
      </p:sp>
      <p:sp>
        <p:nvSpPr>
          <p:cNvPr id="5" name="Text 3"/>
          <p:cNvSpPr/>
          <p:nvPr/>
        </p:nvSpPr>
        <p:spPr>
          <a:xfrm>
            <a:off x="1042416" y="1581912"/>
            <a:ext cx="4773168" cy="2779776"/>
          </a:xfrm>
          <a:prstGeom prst="rect">
            <a:avLst/>
          </a:prstGeom>
          <a:noFill/>
          <a:ln/>
        </p:spPr>
        <p:txBody>
          <a:bodyPr wrap="square" lIns="0" tIns="0" rIns="0" bIns="0" rtlCol="0" anchor="ctr">
            <a:normAutofit/>
          </a:bodyPr>
          <a:lstStyle/>
          <a:p>
            <a:pPr indent="0" marL="0">
              <a:buNone/>
            </a:pPr>
            <a:r>
              <a:rPr lang="en-US" sz="1500" dirty="0">
                <a:solidFill>
                  <a:srgbClr val="EAF2F8"/>
                </a:solidFill>
                <a:latin typeface="Aptos Mono" pitchFamily="34" charset="0"/>
                <a:ea typeface="Aptos Mono" pitchFamily="34" charset="-122"/>
                <a:cs typeface="Aptos Mono" pitchFamily="34" charset="-120"/>
              </a:rPr>
              <a:t>CS415_Lab2/</a:t>
            </a:r>
            <a:endParaRPr lang="en-US" sz="1500" dirty="0"/>
          </a:p>
          <a:p>
            <a:pPr indent="0" marL="0">
              <a:buNone/>
            </a:pPr>
            <a:r>
              <a:rPr lang="en-US" sz="1500" dirty="0">
                <a:solidFill>
                  <a:srgbClr val="EAF2F8"/>
                </a:solidFill>
                <a:latin typeface="Aptos Mono" pitchFamily="34" charset="0"/>
                <a:ea typeface="Aptos Mono" pitchFamily="34" charset="-122"/>
                <a:cs typeface="Aptos Mono" pitchFamily="34" charset="-120"/>
              </a:rPr>
              <a:t>    main.py</a:t>
            </a:r>
            <a:endParaRPr lang="en-US" sz="1500" dirty="0"/>
          </a:p>
          <a:p>
            <a:pPr indent="0" marL="0">
              <a:buNone/>
            </a:pPr>
            <a:endParaRPr lang="en-US" sz="1500" dirty="0"/>
          </a:p>
          <a:p>
            <a:pPr indent="0" marL="0">
              <a:buNone/>
            </a:pPr>
            <a:r>
              <a:rPr lang="en-US" sz="1500" dirty="0">
                <a:solidFill>
                  <a:srgbClr val="EAF2F8"/>
                </a:solidFill>
                <a:latin typeface="Aptos Mono" pitchFamily="34" charset="0"/>
                <a:ea typeface="Aptos Mono" pitchFamily="34" charset="-122"/>
                <a:cs typeface="Aptos Mono" pitchFamily="34" charset="-120"/>
              </a:rPr>
              <a:t>main.py contains:</a:t>
            </a:r>
            <a:endParaRPr lang="en-US" sz="1500" dirty="0"/>
          </a:p>
          <a:p>
            <a:pPr indent="0" marL="0">
              <a:buNone/>
            </a:pPr>
            <a:r>
              <a:rPr lang="en-US" sz="1500" dirty="0">
                <a:solidFill>
                  <a:srgbClr val="EAF2F8"/>
                </a:solidFill>
                <a:latin typeface="Aptos Mono" pitchFamily="34" charset="0"/>
                <a:ea typeface="Aptos Mono" pitchFamily="34" charset="-122"/>
                <a:cs typeface="Aptos Mono" pitchFamily="34" charset="-120"/>
              </a:rPr>
              <a:t>    1. Imports</a:t>
            </a:r>
            <a:endParaRPr lang="en-US" sz="1500" dirty="0"/>
          </a:p>
          <a:p>
            <a:pPr indent="0" marL="0">
              <a:buNone/>
            </a:pPr>
            <a:r>
              <a:rPr lang="en-US" sz="1500" dirty="0">
                <a:solidFill>
                  <a:srgbClr val="EAF2F8"/>
                </a:solidFill>
                <a:latin typeface="Aptos Mono" pitchFamily="34" charset="0"/>
                <a:ea typeface="Aptos Mono" pitchFamily="34" charset="-122"/>
                <a:cs typeface="Aptos Mono" pitchFamily="34" charset="-120"/>
              </a:rPr>
              <a:t>    2. FastAPI app</a:t>
            </a:r>
            <a:endParaRPr lang="en-US" sz="1500" dirty="0"/>
          </a:p>
          <a:p>
            <a:pPr indent="0" marL="0">
              <a:buNone/>
            </a:pPr>
            <a:r>
              <a:rPr lang="en-US" sz="1500" dirty="0">
                <a:solidFill>
                  <a:srgbClr val="EAF2F8"/>
                </a:solidFill>
                <a:latin typeface="Aptos Mono" pitchFamily="34" charset="0"/>
                <a:ea typeface="Aptos Mono" pitchFamily="34" charset="-122"/>
                <a:cs typeface="Aptos Mono" pitchFamily="34" charset="-120"/>
              </a:rPr>
              <a:t>    3. Pydantic models</a:t>
            </a:r>
            <a:endParaRPr lang="en-US" sz="1500" dirty="0"/>
          </a:p>
          <a:p>
            <a:pPr indent="0" marL="0">
              <a:buNone/>
            </a:pPr>
            <a:r>
              <a:rPr lang="en-US" sz="1500" dirty="0">
                <a:solidFill>
                  <a:srgbClr val="EAF2F8"/>
                </a:solidFill>
                <a:latin typeface="Aptos Mono" pitchFamily="34" charset="0"/>
                <a:ea typeface="Aptos Mono" pitchFamily="34" charset="-122"/>
                <a:cs typeface="Aptos Mono" pitchFamily="34" charset="-120"/>
              </a:rPr>
              <a:t>    4. classify_ticket()</a:t>
            </a:r>
            <a:endParaRPr lang="en-US" sz="1500" dirty="0"/>
          </a:p>
          <a:p>
            <a:pPr indent="0" marL="0">
              <a:buNone/>
            </a:pPr>
            <a:r>
              <a:rPr lang="en-US" sz="1500" dirty="0">
                <a:solidFill>
                  <a:srgbClr val="EAF2F8"/>
                </a:solidFill>
                <a:latin typeface="Aptos Mono" pitchFamily="34" charset="0"/>
                <a:ea typeface="Aptos Mono" pitchFamily="34" charset="-122"/>
                <a:cs typeface="Aptos Mono" pitchFamily="34" charset="-120"/>
              </a:rPr>
              <a:t>    5. API endpoints</a:t>
            </a:r>
            <a:endParaRPr lang="en-US" sz="1500" dirty="0"/>
          </a:p>
        </p:txBody>
      </p:sp>
      <p:sp>
        <p:nvSpPr>
          <p:cNvPr id="6" name="Shape 4"/>
          <p:cNvSpPr/>
          <p:nvPr/>
        </p:nvSpPr>
        <p:spPr>
          <a:xfrm>
            <a:off x="6537960" y="1600200"/>
            <a:ext cx="4389120" cy="1463040"/>
          </a:xfrm>
          <a:prstGeom prst="roundRect">
            <a:avLst>
              <a:gd name="adj" fmla="val 4375"/>
            </a:avLst>
          </a:prstGeom>
          <a:solidFill>
            <a:srgbClr val="FFFFFF"/>
          </a:solidFill>
          <a:ln w="12700">
            <a:solidFill>
              <a:srgbClr val="D8E1E8"/>
            </a:solidFill>
            <a:prstDash val="solid"/>
          </a:ln>
        </p:spPr>
      </p:sp>
      <p:sp>
        <p:nvSpPr>
          <p:cNvPr id="7" name="Text 5"/>
          <p:cNvSpPr/>
          <p:nvPr/>
        </p:nvSpPr>
        <p:spPr>
          <a:xfrm>
            <a:off x="6775704" y="1801368"/>
            <a:ext cx="3913632" cy="256032"/>
          </a:xfrm>
          <a:prstGeom prst="rect">
            <a:avLst/>
          </a:prstGeom>
          <a:noFill/>
          <a:ln/>
        </p:spPr>
        <p:txBody>
          <a:bodyPr wrap="square" lIns="0" tIns="0" rIns="0" bIns="0" rtlCol="0" anchor="ctr">
            <a:normAutofit/>
          </a:bodyPr>
          <a:lstStyle/>
          <a:p>
            <a:pPr indent="0" marL="0">
              <a:buNone/>
            </a:pPr>
            <a:r>
              <a:rPr lang="en-US" sz="1400" b="1" dirty="0">
                <a:solidFill>
                  <a:srgbClr val="123B52"/>
                </a:solidFill>
              </a:rPr>
              <a:t>Why one file today?</a:t>
            </a:r>
            <a:endParaRPr lang="en-US" sz="1400" dirty="0"/>
          </a:p>
        </p:txBody>
      </p:sp>
      <p:sp>
        <p:nvSpPr>
          <p:cNvPr id="8" name="Text 6"/>
          <p:cNvSpPr/>
          <p:nvPr/>
        </p:nvSpPr>
        <p:spPr>
          <a:xfrm>
            <a:off x="6775704" y="2212848"/>
            <a:ext cx="3913632" cy="676656"/>
          </a:xfrm>
          <a:prstGeom prst="rect">
            <a:avLst/>
          </a:prstGeom>
          <a:noFill/>
          <a:ln/>
        </p:spPr>
        <p:txBody>
          <a:bodyPr wrap="square" lIns="254" tIns="254" rIns="254" bIns="254" rtlCol="0" anchor="t">
            <a:normAutofit/>
          </a:bodyPr>
          <a:lstStyle/>
          <a:p>
            <a:pPr indent="0" marL="0">
              <a:buNone/>
            </a:pPr>
            <a:r>
              <a:rPr lang="en-US" sz="1470" dirty="0">
                <a:solidFill>
                  <a:srgbClr val="17202A"/>
                </a:solidFill>
              </a:rPr>
              <a:t>The point is the concept, not project architecture. Routers, folders, databases, auth, and async can wait.</a:t>
            </a:r>
            <a:endParaRPr lang="en-US" sz="1470" dirty="0"/>
          </a:p>
        </p:txBody>
      </p:sp>
      <p:sp>
        <p:nvSpPr>
          <p:cNvPr id="9" name="Shape 7"/>
          <p:cNvSpPr/>
          <p:nvPr/>
        </p:nvSpPr>
        <p:spPr>
          <a:xfrm>
            <a:off x="6537960" y="3703320"/>
            <a:ext cx="4389120" cy="1325880"/>
          </a:xfrm>
          <a:prstGeom prst="roundRect">
            <a:avLst>
              <a:gd name="adj" fmla="val 4828"/>
            </a:avLst>
          </a:prstGeom>
          <a:solidFill>
            <a:srgbClr val="FFFFFF"/>
          </a:solidFill>
          <a:ln w="12700">
            <a:solidFill>
              <a:srgbClr val="D8E1E8"/>
            </a:solidFill>
            <a:prstDash val="solid"/>
          </a:ln>
        </p:spPr>
      </p:sp>
      <p:sp>
        <p:nvSpPr>
          <p:cNvPr id="10" name="Text 8"/>
          <p:cNvSpPr/>
          <p:nvPr/>
        </p:nvSpPr>
        <p:spPr>
          <a:xfrm>
            <a:off x="6775704" y="3904488"/>
            <a:ext cx="3913632" cy="256032"/>
          </a:xfrm>
          <a:prstGeom prst="rect">
            <a:avLst/>
          </a:prstGeom>
          <a:noFill/>
          <a:ln/>
        </p:spPr>
        <p:txBody>
          <a:bodyPr wrap="square" lIns="0" tIns="0" rIns="0" bIns="0" rtlCol="0" anchor="ctr">
            <a:normAutofit/>
          </a:bodyPr>
          <a:lstStyle/>
          <a:p>
            <a:pPr indent="0" marL="0">
              <a:buNone/>
            </a:pPr>
            <a:r>
              <a:rPr lang="en-US" sz="1400" b="1" dirty="0">
                <a:solidFill>
                  <a:srgbClr val="123B52"/>
                </a:solidFill>
              </a:rPr>
              <a:t>What students submit</a:t>
            </a:r>
            <a:endParaRPr lang="en-US" sz="1400" dirty="0"/>
          </a:p>
        </p:txBody>
      </p:sp>
      <p:sp>
        <p:nvSpPr>
          <p:cNvPr id="11" name="Text 9"/>
          <p:cNvSpPr/>
          <p:nvPr/>
        </p:nvSpPr>
        <p:spPr>
          <a:xfrm>
            <a:off x="6775704" y="4315968"/>
            <a:ext cx="3913632" cy="539496"/>
          </a:xfrm>
          <a:prstGeom prst="rect">
            <a:avLst/>
          </a:prstGeom>
          <a:noFill/>
          <a:ln/>
        </p:spPr>
        <p:txBody>
          <a:bodyPr wrap="square" lIns="254" tIns="254" rIns="254" bIns="254" rtlCol="0" anchor="t">
            <a:normAutofit/>
          </a:bodyPr>
          <a:lstStyle/>
          <a:p>
            <a:pPr indent="0" marL="0">
              <a:buNone/>
            </a:pPr>
            <a:r>
              <a:rPr lang="en-US" sz="1470" dirty="0">
                <a:solidFill>
                  <a:srgbClr val="17202A"/>
                </a:solidFill>
              </a:rPr>
              <a:t>A running API with /, /tickets/classify, Pydantic validation, and structured JSON response.</a:t>
            </a:r>
            <a:endParaRPr lang="en-US" sz="1470" dirty="0"/>
          </a:p>
        </p:txBody>
      </p:sp>
      <p:sp>
        <p:nvSpPr>
          <p:cNvPr id="25" name="Slide Number Placeholder 0"/>
          <p:cNvSpPr>
            <a:spLocks noGrp="1"/>
          </p:cNvSpPr>
          <p:nvPr>
            <p:ph type="sldNum" sz="quarter" idx="4294967295"/>
          </p:nvPr>
        </p:nvSpPr>
        <p:spPr>
          <a:xfrm>
            <a:off x="11612880" y="6547104"/>
            <a:ext cx="800000" cy="300000"/>
          </a:xfrm>
          <a:prstGeom prst="rect">
            <a:avLst/>
          </a:prstGeom>
          <a:extLst>
            <a:ext uri="{C572A759-6A51-4108-AA02-DFA0A04FC94B}">
              <ma14:wrappingTextBoxFlag xmlns:ma14="http://schemas.microsoft.com/office/mac/drawingml/2011/main" val="0"/>
            </a:ext>
          </a:extLst>
        </p:spPr>
        <p:txBody>
          <a:bodyPr/>
          <a:lstStyle>
            <a:lvl1pPr>
              <a:defRPr sz="780">
                <a:solidFill>
                  <a:srgbClr val="5B6B7A"/>
                </a:solidFill>
                <a:latin typeface="Aptos"/>
                <a:ea typeface="Aptos"/>
                <a:cs typeface="Aptos"/>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AFC"/>
        </a:solidFill>
      </p:bgPr>
    </p:bg>
    <p:spTree>
      <p:nvGrpSpPr>
        <p:cNvPr id="1" name=""/>
        <p:cNvGrpSpPr/>
        <p:nvPr/>
      </p:nvGrpSpPr>
      <p:grpSpPr>
        <a:xfrm>
          <a:off x="0" y="0"/>
          <a:ext cx="0" cy="0"/>
          <a:chOff x="0" y="0"/>
          <a:chExt cx="0" cy="0"/>
        </a:xfrm>
      </p:grpSpPr>
      <p:sp>
        <p:nvSpPr>
          <p:cNvPr id="2" name="Text 0"/>
          <p:cNvSpPr/>
          <p:nvPr/>
        </p:nvSpPr>
        <p:spPr>
          <a:xfrm>
            <a:off x="658368" y="384048"/>
            <a:ext cx="5943600" cy="219456"/>
          </a:xfrm>
          <a:prstGeom prst="rect">
            <a:avLst/>
          </a:prstGeom>
          <a:noFill/>
          <a:ln/>
        </p:spPr>
        <p:txBody>
          <a:bodyPr wrap="square" lIns="0" tIns="0" rIns="0" bIns="0" rtlCol="0" anchor="ctr"/>
          <a:lstStyle/>
          <a:p>
            <a:pPr indent="0" marL="0">
              <a:buNone/>
            </a:pPr>
            <a:r>
              <a:rPr lang="en-US" sz="950" b="1" dirty="0">
                <a:solidFill>
                  <a:srgbClr val="18A7B5"/>
                </a:solidFill>
              </a:rPr>
              <a:t>GUIDED EXERCISE</a:t>
            </a:r>
            <a:endParaRPr lang="en-US" sz="950" dirty="0"/>
          </a:p>
        </p:txBody>
      </p:sp>
      <p:sp>
        <p:nvSpPr>
          <p:cNvPr id="3" name="Text 1"/>
          <p:cNvSpPr/>
          <p:nvPr/>
        </p:nvSpPr>
        <p:spPr>
          <a:xfrm>
            <a:off x="658368" y="658368"/>
            <a:ext cx="10698480" cy="475488"/>
          </a:xfrm>
          <a:prstGeom prst="rect">
            <a:avLst/>
          </a:prstGeom>
          <a:noFill/>
          <a:ln/>
        </p:spPr>
        <p:txBody>
          <a:bodyPr wrap="square" lIns="0" tIns="0" rIns="0" bIns="0" rtlCol="0" anchor="ctr">
            <a:normAutofit/>
          </a:bodyPr>
          <a:lstStyle/>
          <a:p>
            <a:pPr indent="0" marL="0">
              <a:buNone/>
            </a:pPr>
            <a:r>
              <a:rPr lang="en-US" sz="2700" b="1" dirty="0">
                <a:solidFill>
                  <a:srgbClr val="123B52"/>
                </a:solidFill>
              </a:rPr>
              <a:t>Mini Project: Ticket Classifier API</a:t>
            </a:r>
            <a:endParaRPr lang="en-US" sz="2700" dirty="0"/>
          </a:p>
        </p:txBody>
      </p:sp>
      <p:sp>
        <p:nvSpPr>
          <p:cNvPr id="4" name="Shape 2"/>
          <p:cNvSpPr/>
          <p:nvPr/>
        </p:nvSpPr>
        <p:spPr>
          <a:xfrm>
            <a:off x="868680" y="1417320"/>
            <a:ext cx="3474720" cy="1280160"/>
          </a:xfrm>
          <a:prstGeom prst="roundRect">
            <a:avLst>
              <a:gd name="adj" fmla="val 5000"/>
            </a:avLst>
          </a:prstGeom>
          <a:solidFill>
            <a:srgbClr val="FFFFFF"/>
          </a:solidFill>
          <a:ln w="12700">
            <a:solidFill>
              <a:srgbClr val="D8E1E8"/>
            </a:solidFill>
            <a:prstDash val="solid"/>
          </a:ln>
        </p:spPr>
      </p:sp>
      <p:sp>
        <p:nvSpPr>
          <p:cNvPr id="5" name="Shape 3"/>
          <p:cNvSpPr/>
          <p:nvPr/>
        </p:nvSpPr>
        <p:spPr>
          <a:xfrm>
            <a:off x="1069848" y="1618488"/>
            <a:ext cx="411480" cy="283464"/>
          </a:xfrm>
          <a:prstGeom prst="roundRect">
            <a:avLst>
              <a:gd name="adj" fmla="val 25806"/>
            </a:avLst>
          </a:prstGeom>
          <a:solidFill>
            <a:srgbClr val="18A7B5"/>
          </a:solidFill>
          <a:ln w="12700">
            <a:solidFill>
              <a:srgbClr val="18A7B5"/>
            </a:solidFill>
            <a:prstDash val="solid"/>
          </a:ln>
        </p:spPr>
      </p:sp>
      <p:sp>
        <p:nvSpPr>
          <p:cNvPr id="6" name="Text 4"/>
          <p:cNvSpPr/>
          <p:nvPr/>
        </p:nvSpPr>
        <p:spPr>
          <a:xfrm>
            <a:off x="1069848" y="1677924"/>
            <a:ext cx="411480" cy="137160"/>
          </a:xfrm>
          <a:prstGeom prst="rect">
            <a:avLst/>
          </a:prstGeom>
          <a:noFill/>
          <a:ln/>
        </p:spPr>
        <p:txBody>
          <a:bodyPr wrap="square" lIns="0" tIns="0" rIns="0" bIns="0" rtlCol="0" anchor="ctr"/>
          <a:lstStyle/>
          <a:p>
            <a:pPr algn="ctr" indent="0" marL="0">
              <a:buNone/>
            </a:pPr>
            <a:r>
              <a:rPr lang="en-US" sz="850" b="1" dirty="0">
                <a:solidFill>
                  <a:srgbClr val="FFFFFF"/>
                </a:solidFill>
              </a:rPr>
              <a:t>01</a:t>
            </a:r>
            <a:endParaRPr lang="en-US" sz="850" dirty="0"/>
          </a:p>
        </p:txBody>
      </p:sp>
      <p:sp>
        <p:nvSpPr>
          <p:cNvPr id="7" name="Text 5"/>
          <p:cNvSpPr/>
          <p:nvPr/>
        </p:nvSpPr>
        <p:spPr>
          <a:xfrm>
            <a:off x="1618488" y="1618488"/>
            <a:ext cx="2487168" cy="256032"/>
          </a:xfrm>
          <a:prstGeom prst="rect">
            <a:avLst/>
          </a:prstGeom>
          <a:noFill/>
          <a:ln/>
        </p:spPr>
        <p:txBody>
          <a:bodyPr wrap="square" lIns="0" tIns="0" rIns="0" bIns="0" rtlCol="0" anchor="ctr">
            <a:normAutofit/>
          </a:bodyPr>
          <a:lstStyle/>
          <a:p>
            <a:pPr indent="0" marL="0">
              <a:buNone/>
            </a:pPr>
            <a:r>
              <a:rPr lang="en-US" sz="1400" b="1" dirty="0">
                <a:solidFill>
                  <a:srgbClr val="123B52"/>
                </a:solidFill>
              </a:rPr>
              <a:t>Task 1</a:t>
            </a:r>
            <a:endParaRPr lang="en-US" sz="1400" dirty="0"/>
          </a:p>
        </p:txBody>
      </p:sp>
      <p:sp>
        <p:nvSpPr>
          <p:cNvPr id="8" name="Text 6"/>
          <p:cNvSpPr/>
          <p:nvPr/>
        </p:nvSpPr>
        <p:spPr>
          <a:xfrm>
            <a:off x="1106424" y="2029968"/>
            <a:ext cx="2999232" cy="493776"/>
          </a:xfrm>
          <a:prstGeom prst="rect">
            <a:avLst/>
          </a:prstGeom>
          <a:noFill/>
          <a:ln/>
        </p:spPr>
        <p:txBody>
          <a:bodyPr wrap="square" lIns="254" tIns="254" rIns="254" bIns="254" rtlCol="0" anchor="t">
            <a:normAutofit/>
          </a:bodyPr>
          <a:lstStyle/>
          <a:p>
            <a:pPr indent="0" marL="0">
              <a:buNone/>
            </a:pPr>
            <a:r>
              <a:rPr lang="en-US" sz="1480" dirty="0">
                <a:solidFill>
                  <a:srgbClr val="17202A"/>
                </a:solidFill>
              </a:rPr>
              <a:t>Create Ticket and TicketResult Pydantic models.</a:t>
            </a:r>
            <a:endParaRPr lang="en-US" sz="1480" dirty="0"/>
          </a:p>
        </p:txBody>
      </p:sp>
      <p:sp>
        <p:nvSpPr>
          <p:cNvPr id="9" name="Shape 7"/>
          <p:cNvSpPr/>
          <p:nvPr/>
        </p:nvSpPr>
        <p:spPr>
          <a:xfrm>
            <a:off x="4480560" y="1417320"/>
            <a:ext cx="3474720" cy="1280160"/>
          </a:xfrm>
          <a:prstGeom prst="roundRect">
            <a:avLst>
              <a:gd name="adj" fmla="val 5000"/>
            </a:avLst>
          </a:prstGeom>
          <a:solidFill>
            <a:srgbClr val="FFFFFF"/>
          </a:solidFill>
          <a:ln w="12700">
            <a:solidFill>
              <a:srgbClr val="D8E1E8"/>
            </a:solidFill>
            <a:prstDash val="solid"/>
          </a:ln>
        </p:spPr>
      </p:sp>
      <p:sp>
        <p:nvSpPr>
          <p:cNvPr id="10" name="Shape 8"/>
          <p:cNvSpPr/>
          <p:nvPr/>
        </p:nvSpPr>
        <p:spPr>
          <a:xfrm>
            <a:off x="4681728" y="1618488"/>
            <a:ext cx="411480" cy="283464"/>
          </a:xfrm>
          <a:prstGeom prst="roundRect">
            <a:avLst>
              <a:gd name="adj" fmla="val 25806"/>
            </a:avLst>
          </a:prstGeom>
          <a:solidFill>
            <a:srgbClr val="2D9D78"/>
          </a:solidFill>
          <a:ln w="12700">
            <a:solidFill>
              <a:srgbClr val="2D9D78"/>
            </a:solidFill>
            <a:prstDash val="solid"/>
          </a:ln>
        </p:spPr>
      </p:sp>
      <p:sp>
        <p:nvSpPr>
          <p:cNvPr id="11" name="Text 9"/>
          <p:cNvSpPr/>
          <p:nvPr/>
        </p:nvSpPr>
        <p:spPr>
          <a:xfrm>
            <a:off x="4681728" y="1677924"/>
            <a:ext cx="411480" cy="137160"/>
          </a:xfrm>
          <a:prstGeom prst="rect">
            <a:avLst/>
          </a:prstGeom>
          <a:noFill/>
          <a:ln/>
        </p:spPr>
        <p:txBody>
          <a:bodyPr wrap="square" lIns="0" tIns="0" rIns="0" bIns="0" rtlCol="0" anchor="ctr"/>
          <a:lstStyle/>
          <a:p>
            <a:pPr algn="ctr" indent="0" marL="0">
              <a:buNone/>
            </a:pPr>
            <a:r>
              <a:rPr lang="en-US" sz="850" b="1" dirty="0">
                <a:solidFill>
                  <a:srgbClr val="FFFFFF"/>
                </a:solidFill>
              </a:rPr>
              <a:t>02</a:t>
            </a:r>
            <a:endParaRPr lang="en-US" sz="850" dirty="0"/>
          </a:p>
        </p:txBody>
      </p:sp>
      <p:sp>
        <p:nvSpPr>
          <p:cNvPr id="12" name="Text 10"/>
          <p:cNvSpPr/>
          <p:nvPr/>
        </p:nvSpPr>
        <p:spPr>
          <a:xfrm>
            <a:off x="5230368" y="1618488"/>
            <a:ext cx="2487168" cy="256032"/>
          </a:xfrm>
          <a:prstGeom prst="rect">
            <a:avLst/>
          </a:prstGeom>
          <a:noFill/>
          <a:ln/>
        </p:spPr>
        <p:txBody>
          <a:bodyPr wrap="square" lIns="0" tIns="0" rIns="0" bIns="0" rtlCol="0" anchor="ctr">
            <a:normAutofit/>
          </a:bodyPr>
          <a:lstStyle/>
          <a:p>
            <a:pPr indent="0" marL="0">
              <a:buNone/>
            </a:pPr>
            <a:r>
              <a:rPr lang="en-US" sz="1400" b="1" dirty="0">
                <a:solidFill>
                  <a:srgbClr val="123B52"/>
                </a:solidFill>
              </a:rPr>
              <a:t>Task 2</a:t>
            </a:r>
            <a:endParaRPr lang="en-US" sz="1400" dirty="0"/>
          </a:p>
        </p:txBody>
      </p:sp>
      <p:sp>
        <p:nvSpPr>
          <p:cNvPr id="13" name="Text 11"/>
          <p:cNvSpPr/>
          <p:nvPr/>
        </p:nvSpPr>
        <p:spPr>
          <a:xfrm>
            <a:off x="4718304" y="2029968"/>
            <a:ext cx="2999232" cy="493776"/>
          </a:xfrm>
          <a:prstGeom prst="rect">
            <a:avLst/>
          </a:prstGeom>
          <a:noFill/>
          <a:ln/>
        </p:spPr>
        <p:txBody>
          <a:bodyPr wrap="square" lIns="254" tIns="254" rIns="254" bIns="254" rtlCol="0" anchor="t">
            <a:normAutofit/>
          </a:bodyPr>
          <a:lstStyle/>
          <a:p>
            <a:pPr indent="0" marL="0">
              <a:buNone/>
            </a:pPr>
            <a:r>
              <a:rPr lang="en-US" sz="1480" dirty="0">
                <a:solidFill>
                  <a:srgbClr val="17202A"/>
                </a:solidFill>
              </a:rPr>
              <a:t>Write classify_ticket(ticket: Ticket) -&gt; TicketResult.</a:t>
            </a:r>
            <a:endParaRPr lang="en-US" sz="1480" dirty="0"/>
          </a:p>
        </p:txBody>
      </p:sp>
      <p:sp>
        <p:nvSpPr>
          <p:cNvPr id="14" name="Shape 12"/>
          <p:cNvSpPr/>
          <p:nvPr/>
        </p:nvSpPr>
        <p:spPr>
          <a:xfrm>
            <a:off x="8092440" y="1417320"/>
            <a:ext cx="3291840" cy="1280160"/>
          </a:xfrm>
          <a:prstGeom prst="roundRect">
            <a:avLst>
              <a:gd name="adj" fmla="val 5000"/>
            </a:avLst>
          </a:prstGeom>
          <a:solidFill>
            <a:srgbClr val="FFFFFF"/>
          </a:solidFill>
          <a:ln w="12700">
            <a:solidFill>
              <a:srgbClr val="D8E1E8"/>
            </a:solidFill>
            <a:prstDash val="solid"/>
          </a:ln>
        </p:spPr>
      </p:sp>
      <p:sp>
        <p:nvSpPr>
          <p:cNvPr id="15" name="Shape 13"/>
          <p:cNvSpPr/>
          <p:nvPr/>
        </p:nvSpPr>
        <p:spPr>
          <a:xfrm>
            <a:off x="8293608" y="1618488"/>
            <a:ext cx="411480" cy="283464"/>
          </a:xfrm>
          <a:prstGeom prst="roundRect">
            <a:avLst>
              <a:gd name="adj" fmla="val 25806"/>
            </a:avLst>
          </a:prstGeom>
          <a:solidFill>
            <a:srgbClr val="E09F3E"/>
          </a:solidFill>
          <a:ln w="12700">
            <a:solidFill>
              <a:srgbClr val="E09F3E"/>
            </a:solidFill>
            <a:prstDash val="solid"/>
          </a:ln>
        </p:spPr>
      </p:sp>
      <p:sp>
        <p:nvSpPr>
          <p:cNvPr id="16" name="Text 14"/>
          <p:cNvSpPr/>
          <p:nvPr/>
        </p:nvSpPr>
        <p:spPr>
          <a:xfrm>
            <a:off x="8293608" y="1677924"/>
            <a:ext cx="411480" cy="137160"/>
          </a:xfrm>
          <a:prstGeom prst="rect">
            <a:avLst/>
          </a:prstGeom>
          <a:noFill/>
          <a:ln/>
        </p:spPr>
        <p:txBody>
          <a:bodyPr wrap="square" lIns="0" tIns="0" rIns="0" bIns="0" rtlCol="0" anchor="ctr"/>
          <a:lstStyle/>
          <a:p>
            <a:pPr algn="ctr" indent="0" marL="0">
              <a:buNone/>
            </a:pPr>
            <a:r>
              <a:rPr lang="en-US" sz="850" b="1" dirty="0">
                <a:solidFill>
                  <a:srgbClr val="FFFFFF"/>
                </a:solidFill>
              </a:rPr>
              <a:t>03</a:t>
            </a:r>
            <a:endParaRPr lang="en-US" sz="850" dirty="0"/>
          </a:p>
        </p:txBody>
      </p:sp>
      <p:sp>
        <p:nvSpPr>
          <p:cNvPr id="17" name="Text 15"/>
          <p:cNvSpPr/>
          <p:nvPr/>
        </p:nvSpPr>
        <p:spPr>
          <a:xfrm>
            <a:off x="8842248" y="1618488"/>
            <a:ext cx="2304288" cy="256032"/>
          </a:xfrm>
          <a:prstGeom prst="rect">
            <a:avLst/>
          </a:prstGeom>
          <a:noFill/>
          <a:ln/>
        </p:spPr>
        <p:txBody>
          <a:bodyPr wrap="square" lIns="0" tIns="0" rIns="0" bIns="0" rtlCol="0" anchor="ctr">
            <a:normAutofit/>
          </a:bodyPr>
          <a:lstStyle/>
          <a:p>
            <a:pPr indent="0" marL="0">
              <a:buNone/>
            </a:pPr>
            <a:r>
              <a:rPr lang="en-US" sz="1400" b="1" dirty="0">
                <a:solidFill>
                  <a:srgbClr val="123B52"/>
                </a:solidFill>
              </a:rPr>
              <a:t>Task 3</a:t>
            </a:r>
            <a:endParaRPr lang="en-US" sz="1400" dirty="0"/>
          </a:p>
        </p:txBody>
      </p:sp>
      <p:sp>
        <p:nvSpPr>
          <p:cNvPr id="18" name="Text 16"/>
          <p:cNvSpPr/>
          <p:nvPr/>
        </p:nvSpPr>
        <p:spPr>
          <a:xfrm>
            <a:off x="8330184" y="2029968"/>
            <a:ext cx="2816352" cy="493776"/>
          </a:xfrm>
          <a:prstGeom prst="rect">
            <a:avLst/>
          </a:prstGeom>
          <a:noFill/>
          <a:ln/>
        </p:spPr>
        <p:txBody>
          <a:bodyPr wrap="square" lIns="254" tIns="254" rIns="254" bIns="254" rtlCol="0" anchor="t">
            <a:normAutofit/>
          </a:bodyPr>
          <a:lstStyle/>
          <a:p>
            <a:pPr indent="0" marL="0">
              <a:buNone/>
            </a:pPr>
            <a:r>
              <a:rPr lang="en-US" sz="1480" dirty="0">
                <a:solidFill>
                  <a:srgbClr val="17202A"/>
                </a:solidFill>
              </a:rPr>
              <a:t>Expose POST /tickets/classify using FastAPI.</a:t>
            </a:r>
            <a:endParaRPr lang="en-US" sz="1480" dirty="0"/>
          </a:p>
        </p:txBody>
      </p:sp>
      <p:sp>
        <p:nvSpPr>
          <p:cNvPr id="19" name="Shape 17"/>
          <p:cNvSpPr/>
          <p:nvPr/>
        </p:nvSpPr>
        <p:spPr>
          <a:xfrm>
            <a:off x="2331720" y="3337560"/>
            <a:ext cx="3474720" cy="1280160"/>
          </a:xfrm>
          <a:prstGeom prst="roundRect">
            <a:avLst>
              <a:gd name="adj" fmla="val 5000"/>
            </a:avLst>
          </a:prstGeom>
          <a:solidFill>
            <a:srgbClr val="FFFFFF"/>
          </a:solidFill>
          <a:ln w="12700">
            <a:solidFill>
              <a:srgbClr val="D8E1E8"/>
            </a:solidFill>
            <a:prstDash val="solid"/>
          </a:ln>
        </p:spPr>
      </p:sp>
      <p:sp>
        <p:nvSpPr>
          <p:cNvPr id="20" name="Shape 18"/>
          <p:cNvSpPr/>
          <p:nvPr/>
        </p:nvSpPr>
        <p:spPr>
          <a:xfrm>
            <a:off x="2532888" y="3538728"/>
            <a:ext cx="411480" cy="283464"/>
          </a:xfrm>
          <a:prstGeom prst="roundRect">
            <a:avLst>
              <a:gd name="adj" fmla="val 25806"/>
            </a:avLst>
          </a:prstGeom>
          <a:solidFill>
            <a:srgbClr val="6554C0"/>
          </a:solidFill>
          <a:ln w="12700">
            <a:solidFill>
              <a:srgbClr val="6554C0"/>
            </a:solidFill>
            <a:prstDash val="solid"/>
          </a:ln>
        </p:spPr>
      </p:sp>
      <p:sp>
        <p:nvSpPr>
          <p:cNvPr id="21" name="Text 19"/>
          <p:cNvSpPr/>
          <p:nvPr/>
        </p:nvSpPr>
        <p:spPr>
          <a:xfrm>
            <a:off x="2532888" y="3598164"/>
            <a:ext cx="411480" cy="137160"/>
          </a:xfrm>
          <a:prstGeom prst="rect">
            <a:avLst/>
          </a:prstGeom>
          <a:noFill/>
          <a:ln/>
        </p:spPr>
        <p:txBody>
          <a:bodyPr wrap="square" lIns="0" tIns="0" rIns="0" bIns="0" rtlCol="0" anchor="ctr"/>
          <a:lstStyle/>
          <a:p>
            <a:pPr algn="ctr" indent="0" marL="0">
              <a:buNone/>
            </a:pPr>
            <a:r>
              <a:rPr lang="en-US" sz="850" b="1" dirty="0">
                <a:solidFill>
                  <a:srgbClr val="FFFFFF"/>
                </a:solidFill>
              </a:rPr>
              <a:t>04</a:t>
            </a:r>
            <a:endParaRPr lang="en-US" sz="850" dirty="0"/>
          </a:p>
        </p:txBody>
      </p:sp>
      <p:sp>
        <p:nvSpPr>
          <p:cNvPr id="22" name="Text 20"/>
          <p:cNvSpPr/>
          <p:nvPr/>
        </p:nvSpPr>
        <p:spPr>
          <a:xfrm>
            <a:off x="3081528" y="3538728"/>
            <a:ext cx="2487168" cy="256032"/>
          </a:xfrm>
          <a:prstGeom prst="rect">
            <a:avLst/>
          </a:prstGeom>
          <a:noFill/>
          <a:ln/>
        </p:spPr>
        <p:txBody>
          <a:bodyPr wrap="square" lIns="0" tIns="0" rIns="0" bIns="0" rtlCol="0" anchor="ctr">
            <a:normAutofit/>
          </a:bodyPr>
          <a:lstStyle/>
          <a:p>
            <a:pPr indent="0" marL="0">
              <a:buNone/>
            </a:pPr>
            <a:r>
              <a:rPr lang="en-US" sz="1400" b="1" dirty="0">
                <a:solidFill>
                  <a:srgbClr val="123B52"/>
                </a:solidFill>
              </a:rPr>
              <a:t>Task 4</a:t>
            </a:r>
            <a:endParaRPr lang="en-US" sz="1400" dirty="0"/>
          </a:p>
        </p:txBody>
      </p:sp>
      <p:sp>
        <p:nvSpPr>
          <p:cNvPr id="23" name="Text 21"/>
          <p:cNvSpPr/>
          <p:nvPr/>
        </p:nvSpPr>
        <p:spPr>
          <a:xfrm>
            <a:off x="2569464" y="3950208"/>
            <a:ext cx="2999232" cy="493776"/>
          </a:xfrm>
          <a:prstGeom prst="rect">
            <a:avLst/>
          </a:prstGeom>
          <a:noFill/>
          <a:ln/>
        </p:spPr>
        <p:txBody>
          <a:bodyPr wrap="square" lIns="254" tIns="254" rIns="254" bIns="254" rtlCol="0" anchor="t">
            <a:normAutofit/>
          </a:bodyPr>
          <a:lstStyle/>
          <a:p>
            <a:pPr indent="0" marL="0">
              <a:buNone/>
            </a:pPr>
            <a:r>
              <a:rPr lang="en-US" sz="1480" dirty="0">
                <a:solidFill>
                  <a:srgbClr val="17202A"/>
                </a:solidFill>
              </a:rPr>
              <a:t>Test valid and invalid requests in /docs.</a:t>
            </a:r>
            <a:endParaRPr lang="en-US" sz="1480" dirty="0"/>
          </a:p>
        </p:txBody>
      </p:sp>
      <p:sp>
        <p:nvSpPr>
          <p:cNvPr id="24" name="Shape 22"/>
          <p:cNvSpPr/>
          <p:nvPr/>
        </p:nvSpPr>
        <p:spPr>
          <a:xfrm>
            <a:off x="6355080" y="3337560"/>
            <a:ext cx="3474720" cy="1280160"/>
          </a:xfrm>
          <a:prstGeom prst="roundRect">
            <a:avLst>
              <a:gd name="adj" fmla="val 5000"/>
            </a:avLst>
          </a:prstGeom>
          <a:solidFill>
            <a:srgbClr val="FFFFFF"/>
          </a:solidFill>
          <a:ln w="12700">
            <a:solidFill>
              <a:srgbClr val="D8E1E8"/>
            </a:solidFill>
            <a:prstDash val="solid"/>
          </a:ln>
        </p:spPr>
      </p:sp>
      <p:sp>
        <p:nvSpPr>
          <p:cNvPr id="25" name="Shape 23"/>
          <p:cNvSpPr/>
          <p:nvPr/>
        </p:nvSpPr>
        <p:spPr>
          <a:xfrm>
            <a:off x="6556248" y="3538728"/>
            <a:ext cx="411480" cy="283464"/>
          </a:xfrm>
          <a:prstGeom prst="roundRect">
            <a:avLst>
              <a:gd name="adj" fmla="val 25806"/>
            </a:avLst>
          </a:prstGeom>
          <a:solidFill>
            <a:srgbClr val="C74B50"/>
          </a:solidFill>
          <a:ln w="12700">
            <a:solidFill>
              <a:srgbClr val="C74B50"/>
            </a:solidFill>
            <a:prstDash val="solid"/>
          </a:ln>
        </p:spPr>
      </p:sp>
      <p:sp>
        <p:nvSpPr>
          <p:cNvPr id="26" name="Text 24"/>
          <p:cNvSpPr/>
          <p:nvPr/>
        </p:nvSpPr>
        <p:spPr>
          <a:xfrm>
            <a:off x="6556248" y="3598164"/>
            <a:ext cx="411480" cy="137160"/>
          </a:xfrm>
          <a:prstGeom prst="rect">
            <a:avLst/>
          </a:prstGeom>
          <a:noFill/>
          <a:ln/>
        </p:spPr>
        <p:txBody>
          <a:bodyPr wrap="square" lIns="0" tIns="0" rIns="0" bIns="0" rtlCol="0" anchor="ctr"/>
          <a:lstStyle/>
          <a:p>
            <a:pPr algn="ctr" indent="0" marL="0">
              <a:buNone/>
            </a:pPr>
            <a:r>
              <a:rPr lang="en-US" sz="850" b="1" dirty="0">
                <a:solidFill>
                  <a:srgbClr val="FFFFFF"/>
                </a:solidFill>
              </a:rPr>
              <a:t>05</a:t>
            </a:r>
            <a:endParaRPr lang="en-US" sz="850" dirty="0"/>
          </a:p>
        </p:txBody>
      </p:sp>
      <p:sp>
        <p:nvSpPr>
          <p:cNvPr id="27" name="Text 25"/>
          <p:cNvSpPr/>
          <p:nvPr/>
        </p:nvSpPr>
        <p:spPr>
          <a:xfrm>
            <a:off x="7104888" y="3538728"/>
            <a:ext cx="2487168" cy="256032"/>
          </a:xfrm>
          <a:prstGeom prst="rect">
            <a:avLst/>
          </a:prstGeom>
          <a:noFill/>
          <a:ln/>
        </p:spPr>
        <p:txBody>
          <a:bodyPr wrap="square" lIns="0" tIns="0" rIns="0" bIns="0" rtlCol="0" anchor="ctr">
            <a:normAutofit/>
          </a:bodyPr>
          <a:lstStyle/>
          <a:p>
            <a:pPr indent="0" marL="0">
              <a:buNone/>
            </a:pPr>
            <a:r>
              <a:rPr lang="en-US" sz="1400" b="1" dirty="0">
                <a:solidFill>
                  <a:srgbClr val="123B52"/>
                </a:solidFill>
              </a:rPr>
              <a:t>Task 5</a:t>
            </a:r>
            <a:endParaRPr lang="en-US" sz="1400" dirty="0"/>
          </a:p>
        </p:txBody>
      </p:sp>
      <p:sp>
        <p:nvSpPr>
          <p:cNvPr id="28" name="Text 26"/>
          <p:cNvSpPr/>
          <p:nvPr/>
        </p:nvSpPr>
        <p:spPr>
          <a:xfrm>
            <a:off x="6592824" y="3950208"/>
            <a:ext cx="2999232" cy="493776"/>
          </a:xfrm>
          <a:prstGeom prst="rect">
            <a:avLst/>
          </a:prstGeom>
          <a:noFill/>
          <a:ln/>
        </p:spPr>
        <p:txBody>
          <a:bodyPr wrap="square" lIns="254" tIns="254" rIns="254" bIns="254" rtlCol="0" anchor="t">
            <a:normAutofit/>
          </a:bodyPr>
          <a:lstStyle/>
          <a:p>
            <a:pPr indent="0" marL="0">
              <a:buNone/>
            </a:pPr>
            <a:r>
              <a:rPr lang="en-US" sz="1480" dirty="0">
                <a:solidFill>
                  <a:srgbClr val="17202A"/>
                </a:solidFill>
              </a:rPr>
              <a:t>Add one new category keyword and verify it works.</a:t>
            </a:r>
            <a:endParaRPr lang="en-US" sz="1480" dirty="0"/>
          </a:p>
        </p:txBody>
      </p:sp>
      <p:sp>
        <p:nvSpPr>
          <p:cNvPr id="25" name="Slide Number Placeholder 0"/>
          <p:cNvSpPr>
            <a:spLocks noGrp="1"/>
          </p:cNvSpPr>
          <p:nvPr>
            <p:ph type="sldNum" sz="quarter" idx="4294967295"/>
          </p:nvPr>
        </p:nvSpPr>
        <p:spPr>
          <a:xfrm>
            <a:off x="11612880" y="6547104"/>
            <a:ext cx="800000" cy="300000"/>
          </a:xfrm>
          <a:prstGeom prst="rect">
            <a:avLst/>
          </a:prstGeom>
          <a:extLst>
            <a:ext uri="{C572A759-6A51-4108-AA02-DFA0A04FC94B}">
              <ma14:wrappingTextBoxFlag xmlns:ma14="http://schemas.microsoft.com/office/mac/drawingml/2011/main" val="0"/>
            </a:ext>
          </a:extLst>
        </p:spPr>
        <p:txBody>
          <a:bodyPr/>
          <a:lstStyle>
            <a:lvl1pPr>
              <a:defRPr sz="780">
                <a:solidFill>
                  <a:srgbClr val="5B6B7A"/>
                </a:solidFill>
                <a:latin typeface="Aptos"/>
                <a:ea typeface="Aptos"/>
                <a:cs typeface="Aptos"/>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AFC"/>
        </a:solidFill>
      </p:bgPr>
    </p:bg>
    <p:spTree>
      <p:nvGrpSpPr>
        <p:cNvPr id="1" name=""/>
        <p:cNvGrpSpPr/>
        <p:nvPr/>
      </p:nvGrpSpPr>
      <p:grpSpPr>
        <a:xfrm>
          <a:off x="0" y="0"/>
          <a:ext cx="0" cy="0"/>
          <a:chOff x="0" y="0"/>
          <a:chExt cx="0" cy="0"/>
        </a:xfrm>
      </p:grpSpPr>
      <p:sp>
        <p:nvSpPr>
          <p:cNvPr id="2" name="Text 0"/>
          <p:cNvSpPr/>
          <p:nvPr/>
        </p:nvSpPr>
        <p:spPr>
          <a:xfrm>
            <a:off x="658368" y="384048"/>
            <a:ext cx="5943600" cy="219456"/>
          </a:xfrm>
          <a:prstGeom prst="rect">
            <a:avLst/>
          </a:prstGeom>
          <a:noFill/>
          <a:ln/>
        </p:spPr>
        <p:txBody>
          <a:bodyPr wrap="square" lIns="0" tIns="0" rIns="0" bIns="0" rtlCol="0" anchor="ctr"/>
          <a:lstStyle/>
          <a:p>
            <a:pPr indent="0" marL="0">
              <a:buNone/>
            </a:pPr>
            <a:r>
              <a:rPr lang="en-US" sz="950" b="1" dirty="0">
                <a:solidFill>
                  <a:srgbClr val="18A7B5"/>
                </a:solidFill>
              </a:rPr>
              <a:t>FOR FAST STUDENTS</a:t>
            </a:r>
            <a:endParaRPr lang="en-US" sz="950" dirty="0"/>
          </a:p>
        </p:txBody>
      </p:sp>
      <p:sp>
        <p:nvSpPr>
          <p:cNvPr id="3" name="Text 1"/>
          <p:cNvSpPr/>
          <p:nvPr/>
        </p:nvSpPr>
        <p:spPr>
          <a:xfrm>
            <a:off x="658368" y="658368"/>
            <a:ext cx="10698480" cy="475488"/>
          </a:xfrm>
          <a:prstGeom prst="rect">
            <a:avLst/>
          </a:prstGeom>
          <a:noFill/>
          <a:ln/>
        </p:spPr>
        <p:txBody>
          <a:bodyPr wrap="square" lIns="0" tIns="0" rIns="0" bIns="0" rtlCol="0" anchor="ctr">
            <a:normAutofit/>
          </a:bodyPr>
          <a:lstStyle/>
          <a:p>
            <a:pPr indent="0" marL="0">
              <a:buNone/>
            </a:pPr>
            <a:r>
              <a:rPr lang="en-US" sz="2700" b="1" dirty="0">
                <a:solidFill>
                  <a:srgbClr val="123B52"/>
                </a:solidFill>
              </a:rPr>
              <a:t>Stretch Challenge</a:t>
            </a:r>
            <a:endParaRPr lang="en-US" sz="2700" dirty="0"/>
          </a:p>
        </p:txBody>
      </p:sp>
      <p:sp>
        <p:nvSpPr>
          <p:cNvPr id="4" name="Shape 2"/>
          <p:cNvSpPr/>
          <p:nvPr/>
        </p:nvSpPr>
        <p:spPr>
          <a:xfrm>
            <a:off x="777240" y="1371600"/>
            <a:ext cx="5440680" cy="2468880"/>
          </a:xfrm>
          <a:prstGeom prst="roundRect">
            <a:avLst>
              <a:gd name="adj" fmla="val 1852"/>
            </a:avLst>
          </a:prstGeom>
          <a:solidFill>
            <a:srgbClr val="0E1720"/>
          </a:solidFill>
          <a:ln w="12700">
            <a:solidFill>
              <a:srgbClr val="1E2A35"/>
            </a:solidFill>
            <a:prstDash val="solid"/>
          </a:ln>
        </p:spPr>
      </p:sp>
      <p:sp>
        <p:nvSpPr>
          <p:cNvPr id="5" name="Text 3"/>
          <p:cNvSpPr/>
          <p:nvPr/>
        </p:nvSpPr>
        <p:spPr>
          <a:xfrm>
            <a:off x="996696" y="1536192"/>
            <a:ext cx="5001768" cy="2139696"/>
          </a:xfrm>
          <a:prstGeom prst="rect">
            <a:avLst/>
          </a:prstGeom>
          <a:noFill/>
          <a:ln/>
        </p:spPr>
        <p:txBody>
          <a:bodyPr wrap="square" lIns="0" tIns="0" rIns="0" bIns="0" rtlCol="0" anchor="ctr">
            <a:normAutofit/>
          </a:bodyPr>
          <a:lstStyle/>
          <a:p>
            <a:pPr indent="0" marL="0">
              <a:buNone/>
            </a:pPr>
            <a:r>
              <a:rPr lang="en-US" sz="1340" dirty="0">
                <a:solidFill>
                  <a:srgbClr val="EAF2F8"/>
                </a:solidFill>
                <a:latin typeface="Aptos Mono" pitchFamily="34" charset="0"/>
                <a:ea typeface="Aptos Mono" pitchFamily="34" charset="-122"/>
                <a:cs typeface="Aptos Mono" pitchFamily="34" charset="-120"/>
              </a:rPr>
              <a:t>class TicketResult(BaseModel):</a:t>
            </a:r>
            <a:endParaRPr lang="en-US" sz="1340" dirty="0"/>
          </a:p>
          <a:p>
            <a:pPr indent="0" marL="0">
              <a:buNone/>
            </a:pPr>
            <a:r>
              <a:rPr lang="en-US" sz="1340" dirty="0">
                <a:solidFill>
                  <a:srgbClr val="EAF2F8"/>
                </a:solidFill>
                <a:latin typeface="Aptos Mono" pitchFamily="34" charset="0"/>
                <a:ea typeface="Aptos Mono" pitchFamily="34" charset="-122"/>
                <a:cs typeface="Aptos Mono" pitchFamily="34" charset="-120"/>
              </a:rPr>
              <a:t>    category: Literal[</a:t>
            </a:r>
            <a:endParaRPr lang="en-US" sz="1340" dirty="0"/>
          </a:p>
          <a:p>
            <a:pPr indent="0" marL="0">
              <a:buNone/>
            </a:pPr>
            <a:r>
              <a:rPr lang="en-US" sz="1340" dirty="0">
                <a:solidFill>
                  <a:srgbClr val="EAF2F8"/>
                </a:solidFill>
                <a:latin typeface="Aptos Mono" pitchFamily="34" charset="0"/>
                <a:ea typeface="Aptos Mono" pitchFamily="34" charset="-122"/>
                <a:cs typeface="Aptos Mono" pitchFamily="34" charset="-120"/>
              </a:rPr>
              <a:t>        "billing",</a:t>
            </a:r>
            <a:endParaRPr lang="en-US" sz="1340" dirty="0"/>
          </a:p>
          <a:p>
            <a:pPr indent="0" marL="0">
              <a:buNone/>
            </a:pPr>
            <a:r>
              <a:rPr lang="en-US" sz="1340" dirty="0">
                <a:solidFill>
                  <a:srgbClr val="EAF2F8"/>
                </a:solidFill>
                <a:latin typeface="Aptos Mono" pitchFamily="34" charset="0"/>
                <a:ea typeface="Aptos Mono" pitchFamily="34" charset="-122"/>
                <a:cs typeface="Aptos Mono" pitchFamily="34" charset="-120"/>
              </a:rPr>
              <a:t>        "technical",</a:t>
            </a:r>
            <a:endParaRPr lang="en-US" sz="1340" dirty="0"/>
          </a:p>
          <a:p>
            <a:pPr indent="0" marL="0">
              <a:buNone/>
            </a:pPr>
            <a:r>
              <a:rPr lang="en-US" sz="1340" dirty="0">
                <a:solidFill>
                  <a:srgbClr val="EAF2F8"/>
                </a:solidFill>
                <a:latin typeface="Aptos Mono" pitchFamily="34" charset="0"/>
                <a:ea typeface="Aptos Mono" pitchFamily="34" charset="-122"/>
                <a:cs typeface="Aptos Mono" pitchFamily="34" charset="-120"/>
              </a:rPr>
              <a:t>        "shipping",</a:t>
            </a:r>
            <a:endParaRPr lang="en-US" sz="1340" dirty="0"/>
          </a:p>
          <a:p>
            <a:pPr indent="0" marL="0">
              <a:buNone/>
            </a:pPr>
            <a:r>
              <a:rPr lang="en-US" sz="1340" dirty="0">
                <a:solidFill>
                  <a:srgbClr val="EAF2F8"/>
                </a:solidFill>
                <a:latin typeface="Aptos Mono" pitchFamily="34" charset="0"/>
                <a:ea typeface="Aptos Mono" pitchFamily="34" charset="-122"/>
                <a:cs typeface="Aptos Mono" pitchFamily="34" charset="-120"/>
              </a:rPr>
              <a:t>        "general",</a:t>
            </a:r>
            <a:endParaRPr lang="en-US" sz="1340" dirty="0"/>
          </a:p>
          <a:p>
            <a:pPr indent="0" marL="0">
              <a:buNone/>
            </a:pPr>
            <a:r>
              <a:rPr lang="en-US" sz="1340" dirty="0">
                <a:solidFill>
                  <a:srgbClr val="EAF2F8"/>
                </a:solidFill>
                <a:latin typeface="Aptos Mono" pitchFamily="34" charset="0"/>
                <a:ea typeface="Aptos Mono" pitchFamily="34" charset="-122"/>
                <a:cs typeface="Aptos Mono" pitchFamily="34" charset="-120"/>
              </a:rPr>
              <a:t>    ]</a:t>
            </a:r>
            <a:endParaRPr lang="en-US" sz="1340" dirty="0"/>
          </a:p>
          <a:p>
            <a:pPr indent="0" marL="0">
              <a:buNone/>
            </a:pPr>
            <a:r>
              <a:rPr lang="en-US" sz="1340" dirty="0">
                <a:solidFill>
                  <a:srgbClr val="EAF2F8"/>
                </a:solidFill>
                <a:latin typeface="Aptos Mono" pitchFamily="34" charset="0"/>
                <a:ea typeface="Aptos Mono" pitchFamily="34" charset="-122"/>
                <a:cs typeface="Aptos Mono" pitchFamily="34" charset="-120"/>
              </a:rPr>
              <a:t>    priority: Literal["high", "normal"]</a:t>
            </a:r>
            <a:endParaRPr lang="en-US" sz="1340" dirty="0"/>
          </a:p>
          <a:p>
            <a:pPr indent="0" marL="0">
              <a:buNone/>
            </a:pPr>
            <a:r>
              <a:rPr lang="en-US" sz="1340" dirty="0">
                <a:solidFill>
                  <a:srgbClr val="EAF2F8"/>
                </a:solidFill>
                <a:latin typeface="Aptos Mono" pitchFamily="34" charset="0"/>
                <a:ea typeface="Aptos Mono" pitchFamily="34" charset="-122"/>
                <a:cs typeface="Aptos Mono" pitchFamily="34" charset="-120"/>
              </a:rPr>
              <a:t>    explanation: str</a:t>
            </a:r>
            <a:endParaRPr lang="en-US" sz="1340" dirty="0"/>
          </a:p>
        </p:txBody>
      </p:sp>
      <p:sp>
        <p:nvSpPr>
          <p:cNvPr id="6" name="Text 4"/>
          <p:cNvSpPr/>
          <p:nvPr/>
        </p:nvSpPr>
        <p:spPr>
          <a:xfrm>
            <a:off x="6629400" y="1417320"/>
            <a:ext cx="4754880" cy="2377440"/>
          </a:xfrm>
          <a:prstGeom prst="rect">
            <a:avLst/>
          </a:prstGeom>
          <a:noFill/>
          <a:ln/>
        </p:spPr>
        <p:txBody>
          <a:bodyPr wrap="square" lIns="635" tIns="635" rIns="635" bIns="635" rtlCol="0" anchor="ctr">
            <a:normAutofit/>
          </a:bodyPr>
          <a:lstStyle/>
          <a:p>
            <a:r>
              <a:rPr lang="en-US" sz="1520" dirty="0">
                <a:solidFill>
                  <a:srgbClr val="17202A"/>
                </a:solidFill>
              </a:rPr>
              <a:t>Add a new category: shipping.</a:t>
            </a:r>
            <a:endParaRPr lang="en-US" sz="1520" dirty="0"/>
          </a:p>
          <a:p>
            <a:r>
              <a:rPr lang="en-US" sz="1520" dirty="0">
                <a:solidFill>
                  <a:srgbClr val="17202A"/>
                </a:solidFill>
              </a:rPr>
              <a:t>Return a short explanation field.</a:t>
            </a:r>
            <a:endParaRPr lang="en-US" sz="1520" dirty="0"/>
          </a:p>
          <a:p>
            <a:r>
              <a:rPr lang="en-US" sz="1520" dirty="0">
                <a:solidFill>
                  <a:srgbClr val="17202A"/>
                </a:solidFill>
              </a:rPr>
              <a:t>Make priority high if urgent is true OR the message contains “angry”, “refund”, or “second time”.</a:t>
            </a:r>
            <a:endParaRPr lang="en-US" sz="1520" dirty="0"/>
          </a:p>
          <a:p>
            <a:r>
              <a:rPr lang="en-US" sz="1520" dirty="0">
                <a:solidFill>
                  <a:srgbClr val="17202A"/>
                </a:solidFill>
              </a:rPr>
              <a:t>Test one invalid request and explain the validation error.</a:t>
            </a:r>
            <a:endParaRPr lang="en-US" sz="1520" dirty="0"/>
          </a:p>
        </p:txBody>
      </p:sp>
      <p:sp>
        <p:nvSpPr>
          <p:cNvPr id="7" name="Shape 5"/>
          <p:cNvSpPr/>
          <p:nvPr/>
        </p:nvSpPr>
        <p:spPr>
          <a:xfrm>
            <a:off x="2057400" y="4572000"/>
            <a:ext cx="8046720" cy="822960"/>
          </a:xfrm>
          <a:prstGeom prst="roundRect">
            <a:avLst>
              <a:gd name="adj" fmla="val 7778"/>
            </a:avLst>
          </a:prstGeom>
          <a:solidFill>
            <a:srgbClr val="FFFFFF"/>
          </a:solidFill>
          <a:ln w="12700">
            <a:solidFill>
              <a:srgbClr val="D8E1E8"/>
            </a:solidFill>
            <a:prstDash val="solid"/>
          </a:ln>
        </p:spPr>
      </p:sp>
      <p:sp>
        <p:nvSpPr>
          <p:cNvPr id="8" name="Text 6"/>
          <p:cNvSpPr/>
          <p:nvPr/>
        </p:nvSpPr>
        <p:spPr>
          <a:xfrm>
            <a:off x="2295144" y="4773168"/>
            <a:ext cx="7571232" cy="256032"/>
          </a:xfrm>
          <a:prstGeom prst="rect">
            <a:avLst/>
          </a:prstGeom>
          <a:noFill/>
          <a:ln/>
        </p:spPr>
        <p:txBody>
          <a:bodyPr wrap="square" lIns="0" tIns="0" rIns="0" bIns="0" rtlCol="0" anchor="ctr">
            <a:normAutofit/>
          </a:bodyPr>
          <a:lstStyle/>
          <a:p>
            <a:pPr indent="0" marL="0">
              <a:buNone/>
            </a:pPr>
            <a:r>
              <a:rPr lang="en-US" sz="1400" b="1" dirty="0">
                <a:solidFill>
                  <a:srgbClr val="123B52"/>
                </a:solidFill>
              </a:rPr>
              <a:t>Do not add LLMs yet</a:t>
            </a:r>
            <a:endParaRPr lang="en-US" sz="1400" dirty="0"/>
          </a:p>
        </p:txBody>
      </p:sp>
      <p:sp>
        <p:nvSpPr>
          <p:cNvPr id="9" name="Text 7"/>
          <p:cNvSpPr/>
          <p:nvPr/>
        </p:nvSpPr>
        <p:spPr>
          <a:xfrm>
            <a:off x="2295144" y="5184648"/>
            <a:ext cx="7571232" cy="36576"/>
          </a:xfrm>
          <a:prstGeom prst="rect">
            <a:avLst/>
          </a:prstGeom>
          <a:noFill/>
          <a:ln/>
        </p:spPr>
        <p:txBody>
          <a:bodyPr wrap="square" lIns="254" tIns="254" rIns="254" bIns="254" rtlCol="0" anchor="t">
            <a:normAutofit/>
          </a:bodyPr>
          <a:lstStyle/>
          <a:p>
            <a:pPr indent="0" marL="0">
              <a:buNone/>
            </a:pPr>
            <a:r>
              <a:rPr lang="en-US" sz="1460" dirty="0">
                <a:solidFill>
                  <a:srgbClr val="17202A"/>
                </a:solidFill>
              </a:rPr>
              <a:t>This is still deterministic business logic. We are preparing the tool surface before adding intelligence.</a:t>
            </a:r>
            <a:endParaRPr lang="en-US" sz="1460" dirty="0"/>
          </a:p>
        </p:txBody>
      </p:sp>
      <p:sp>
        <p:nvSpPr>
          <p:cNvPr id="25" name="Slide Number Placeholder 0"/>
          <p:cNvSpPr>
            <a:spLocks noGrp="1"/>
          </p:cNvSpPr>
          <p:nvPr>
            <p:ph type="sldNum" sz="quarter" idx="4294967295"/>
          </p:nvPr>
        </p:nvSpPr>
        <p:spPr>
          <a:xfrm>
            <a:off x="11612880" y="6547104"/>
            <a:ext cx="800000" cy="300000"/>
          </a:xfrm>
          <a:prstGeom prst="rect">
            <a:avLst/>
          </a:prstGeom>
          <a:extLst>
            <a:ext uri="{C572A759-6A51-4108-AA02-DFA0A04FC94B}">
              <ma14:wrappingTextBoxFlag xmlns:ma14="http://schemas.microsoft.com/office/mac/drawingml/2011/main" val="0"/>
            </a:ext>
          </a:extLst>
        </p:spPr>
        <p:txBody>
          <a:bodyPr/>
          <a:lstStyle>
            <a:lvl1pPr>
              <a:defRPr sz="780">
                <a:solidFill>
                  <a:srgbClr val="5B6B7A"/>
                </a:solidFill>
                <a:latin typeface="Aptos"/>
                <a:ea typeface="Aptos"/>
                <a:cs typeface="Aptos"/>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AFC"/>
        </a:solidFill>
      </p:bgPr>
    </p:bg>
    <p:spTree>
      <p:nvGrpSpPr>
        <p:cNvPr id="1" name=""/>
        <p:cNvGrpSpPr/>
        <p:nvPr/>
      </p:nvGrpSpPr>
      <p:grpSpPr>
        <a:xfrm>
          <a:off x="0" y="0"/>
          <a:ext cx="0" cy="0"/>
          <a:chOff x="0" y="0"/>
          <a:chExt cx="0" cy="0"/>
        </a:xfrm>
      </p:grpSpPr>
      <p:sp>
        <p:nvSpPr>
          <p:cNvPr id="2" name="Text 0"/>
          <p:cNvSpPr/>
          <p:nvPr/>
        </p:nvSpPr>
        <p:spPr>
          <a:xfrm>
            <a:off x="658368" y="384048"/>
            <a:ext cx="5943600" cy="219456"/>
          </a:xfrm>
          <a:prstGeom prst="rect">
            <a:avLst/>
          </a:prstGeom>
          <a:noFill/>
          <a:ln/>
        </p:spPr>
        <p:txBody>
          <a:bodyPr wrap="square" lIns="0" tIns="0" rIns="0" bIns="0" rtlCol="0" anchor="ctr"/>
          <a:lstStyle/>
          <a:p>
            <a:pPr indent="0" marL="0">
              <a:buNone/>
            </a:pPr>
            <a:r>
              <a:rPr lang="en-US" sz="950" b="1" dirty="0">
                <a:solidFill>
                  <a:srgbClr val="18A7B5"/>
                </a:solidFill>
              </a:rPr>
              <a:t>NEXT WEEKS</a:t>
            </a:r>
            <a:endParaRPr lang="en-US" sz="950" dirty="0"/>
          </a:p>
        </p:txBody>
      </p:sp>
      <p:sp>
        <p:nvSpPr>
          <p:cNvPr id="3" name="Text 1"/>
          <p:cNvSpPr/>
          <p:nvPr/>
        </p:nvSpPr>
        <p:spPr>
          <a:xfrm>
            <a:off x="658368" y="658368"/>
            <a:ext cx="10698480" cy="475488"/>
          </a:xfrm>
          <a:prstGeom prst="rect">
            <a:avLst/>
          </a:prstGeom>
          <a:noFill/>
          <a:ln/>
        </p:spPr>
        <p:txBody>
          <a:bodyPr wrap="square" lIns="0" tIns="0" rIns="0" bIns="0" rtlCol="0" anchor="ctr">
            <a:normAutofit/>
          </a:bodyPr>
          <a:lstStyle/>
          <a:p>
            <a:pPr indent="0" marL="0">
              <a:buNone/>
            </a:pPr>
            <a:r>
              <a:rPr lang="en-US" sz="2700" b="1" dirty="0">
                <a:solidFill>
                  <a:srgbClr val="123B52"/>
                </a:solidFill>
              </a:rPr>
              <a:t>How This Becomes an Agent Tool</a:t>
            </a:r>
            <a:endParaRPr lang="en-US" sz="2700" dirty="0"/>
          </a:p>
        </p:txBody>
      </p:sp>
      <p:sp>
        <p:nvSpPr>
          <p:cNvPr id="4" name="Shape 2"/>
          <p:cNvSpPr/>
          <p:nvPr/>
        </p:nvSpPr>
        <p:spPr>
          <a:xfrm>
            <a:off x="2757830" y="2020824"/>
            <a:ext cx="91440" cy="0"/>
          </a:xfrm>
          <a:prstGeom prst="line">
            <a:avLst/>
          </a:prstGeom>
          <a:noFill/>
          <a:ln w="20320">
            <a:solidFill>
              <a:srgbClr val="18A7B5"/>
            </a:solidFill>
            <a:prstDash val="solid"/>
            <a:tailEnd type="triangle"/>
          </a:ln>
        </p:spPr>
      </p:sp>
      <p:sp>
        <p:nvSpPr>
          <p:cNvPr id="5" name="Shape 3"/>
          <p:cNvSpPr/>
          <p:nvPr/>
        </p:nvSpPr>
        <p:spPr>
          <a:xfrm>
            <a:off x="4985309" y="2020824"/>
            <a:ext cx="91440" cy="0"/>
          </a:xfrm>
          <a:prstGeom prst="line">
            <a:avLst/>
          </a:prstGeom>
          <a:noFill/>
          <a:ln w="20320">
            <a:solidFill>
              <a:srgbClr val="18A7B5"/>
            </a:solidFill>
            <a:prstDash val="solid"/>
            <a:tailEnd type="triangle"/>
          </a:ln>
        </p:spPr>
      </p:sp>
      <p:sp>
        <p:nvSpPr>
          <p:cNvPr id="6" name="Shape 4"/>
          <p:cNvSpPr/>
          <p:nvPr/>
        </p:nvSpPr>
        <p:spPr>
          <a:xfrm>
            <a:off x="7212787" y="2020824"/>
            <a:ext cx="91440" cy="0"/>
          </a:xfrm>
          <a:prstGeom prst="line">
            <a:avLst/>
          </a:prstGeom>
          <a:noFill/>
          <a:ln w="20320">
            <a:solidFill>
              <a:srgbClr val="18A7B5"/>
            </a:solidFill>
            <a:prstDash val="solid"/>
            <a:tailEnd type="triangle"/>
          </a:ln>
        </p:spPr>
      </p:sp>
      <p:sp>
        <p:nvSpPr>
          <p:cNvPr id="7" name="Shape 5"/>
          <p:cNvSpPr/>
          <p:nvPr/>
        </p:nvSpPr>
        <p:spPr>
          <a:xfrm>
            <a:off x="9440266" y="2020824"/>
            <a:ext cx="91440" cy="0"/>
          </a:xfrm>
          <a:prstGeom prst="line">
            <a:avLst/>
          </a:prstGeom>
          <a:noFill/>
          <a:ln w="20320">
            <a:solidFill>
              <a:srgbClr val="18A7B5"/>
            </a:solidFill>
            <a:prstDash val="solid"/>
            <a:tailEnd type="triangle"/>
          </a:ln>
        </p:spPr>
      </p:sp>
      <p:sp>
        <p:nvSpPr>
          <p:cNvPr id="8" name="Shape 6"/>
          <p:cNvSpPr/>
          <p:nvPr/>
        </p:nvSpPr>
        <p:spPr>
          <a:xfrm>
            <a:off x="658368" y="1691640"/>
            <a:ext cx="2062886" cy="658368"/>
          </a:xfrm>
          <a:prstGeom prst="roundRect">
            <a:avLst>
              <a:gd name="adj" fmla="val 11111"/>
            </a:avLst>
          </a:prstGeom>
          <a:solidFill>
            <a:srgbClr val="FFFFFF"/>
          </a:solidFill>
          <a:ln w="13970">
            <a:solidFill>
              <a:srgbClr val="C7D2DE"/>
            </a:solidFill>
            <a:prstDash val="solid"/>
          </a:ln>
        </p:spPr>
      </p:sp>
      <p:sp>
        <p:nvSpPr>
          <p:cNvPr id="9" name="Text 7"/>
          <p:cNvSpPr/>
          <p:nvPr/>
        </p:nvSpPr>
        <p:spPr>
          <a:xfrm>
            <a:off x="749808" y="1856232"/>
            <a:ext cx="1880006" cy="292608"/>
          </a:xfrm>
          <a:prstGeom prst="rect">
            <a:avLst/>
          </a:prstGeom>
          <a:noFill/>
          <a:ln/>
        </p:spPr>
        <p:txBody>
          <a:bodyPr wrap="square" lIns="0" tIns="0" rIns="0" bIns="0" rtlCol="0" anchor="ctr">
            <a:normAutofit/>
          </a:bodyPr>
          <a:lstStyle/>
          <a:p>
            <a:pPr algn="ctr" indent="0" marL="0">
              <a:buNone/>
            </a:pPr>
            <a:r>
              <a:rPr lang="en-US" sz="1250" b="1" dirty="0">
                <a:solidFill>
                  <a:srgbClr val="123B52"/>
                </a:solidFill>
              </a:rPr>
              <a:t>User asks</a:t>
            </a:r>
            <a:endParaRPr lang="en-US" sz="1250" dirty="0"/>
          </a:p>
          <a:p>
            <a:pPr algn="ctr" indent="0" marL="0">
              <a:buNone/>
            </a:pPr>
            <a:r>
              <a:rPr lang="en-US" sz="1250" b="1" dirty="0">
                <a:solidFill>
                  <a:srgbClr val="123B52"/>
                </a:solidFill>
              </a:rPr>
              <a:t>for help</a:t>
            </a:r>
            <a:endParaRPr lang="en-US" sz="1250" dirty="0"/>
          </a:p>
        </p:txBody>
      </p:sp>
      <p:sp>
        <p:nvSpPr>
          <p:cNvPr id="10" name="Shape 8"/>
          <p:cNvSpPr/>
          <p:nvPr/>
        </p:nvSpPr>
        <p:spPr>
          <a:xfrm>
            <a:off x="2885846" y="1691640"/>
            <a:ext cx="2062886" cy="658368"/>
          </a:xfrm>
          <a:prstGeom prst="roundRect">
            <a:avLst>
              <a:gd name="adj" fmla="val 11111"/>
            </a:avLst>
          </a:prstGeom>
          <a:solidFill>
            <a:srgbClr val="FFFFFF"/>
          </a:solidFill>
          <a:ln w="13970">
            <a:solidFill>
              <a:srgbClr val="C7D2DE"/>
            </a:solidFill>
            <a:prstDash val="solid"/>
          </a:ln>
        </p:spPr>
      </p:sp>
      <p:sp>
        <p:nvSpPr>
          <p:cNvPr id="11" name="Text 9"/>
          <p:cNvSpPr/>
          <p:nvPr/>
        </p:nvSpPr>
        <p:spPr>
          <a:xfrm>
            <a:off x="2977286" y="1856232"/>
            <a:ext cx="1880006" cy="292608"/>
          </a:xfrm>
          <a:prstGeom prst="rect">
            <a:avLst/>
          </a:prstGeom>
          <a:noFill/>
          <a:ln/>
        </p:spPr>
        <p:txBody>
          <a:bodyPr wrap="square" lIns="0" tIns="0" rIns="0" bIns="0" rtlCol="0" anchor="ctr">
            <a:normAutofit/>
          </a:bodyPr>
          <a:lstStyle/>
          <a:p>
            <a:pPr algn="ctr" indent="0" marL="0">
              <a:buNone/>
            </a:pPr>
            <a:r>
              <a:rPr lang="en-US" sz="1250" b="1" dirty="0">
                <a:solidFill>
                  <a:srgbClr val="123B52"/>
                </a:solidFill>
              </a:rPr>
              <a:t>LLM understands</a:t>
            </a:r>
            <a:endParaRPr lang="en-US" sz="1250" dirty="0"/>
          </a:p>
          <a:p>
            <a:pPr algn="ctr" indent="0" marL="0">
              <a:buNone/>
            </a:pPr>
            <a:r>
              <a:rPr lang="en-US" sz="1250" b="1" dirty="0">
                <a:solidFill>
                  <a:srgbClr val="123B52"/>
                </a:solidFill>
              </a:rPr>
              <a:t>intent</a:t>
            </a:r>
            <a:endParaRPr lang="en-US" sz="1250" dirty="0"/>
          </a:p>
        </p:txBody>
      </p:sp>
      <p:sp>
        <p:nvSpPr>
          <p:cNvPr id="12" name="Shape 10"/>
          <p:cNvSpPr/>
          <p:nvPr/>
        </p:nvSpPr>
        <p:spPr>
          <a:xfrm>
            <a:off x="5113325" y="1691640"/>
            <a:ext cx="2062886" cy="658368"/>
          </a:xfrm>
          <a:prstGeom prst="roundRect">
            <a:avLst>
              <a:gd name="adj" fmla="val 11111"/>
            </a:avLst>
          </a:prstGeom>
          <a:solidFill>
            <a:srgbClr val="FFFFFF"/>
          </a:solidFill>
          <a:ln w="13970">
            <a:solidFill>
              <a:srgbClr val="C7D2DE"/>
            </a:solidFill>
            <a:prstDash val="solid"/>
          </a:ln>
        </p:spPr>
      </p:sp>
      <p:sp>
        <p:nvSpPr>
          <p:cNvPr id="13" name="Text 11"/>
          <p:cNvSpPr/>
          <p:nvPr/>
        </p:nvSpPr>
        <p:spPr>
          <a:xfrm>
            <a:off x="5204765" y="1856232"/>
            <a:ext cx="1880006" cy="292608"/>
          </a:xfrm>
          <a:prstGeom prst="rect">
            <a:avLst/>
          </a:prstGeom>
          <a:noFill/>
          <a:ln/>
        </p:spPr>
        <p:txBody>
          <a:bodyPr wrap="square" lIns="0" tIns="0" rIns="0" bIns="0" rtlCol="0" anchor="ctr">
            <a:normAutofit/>
          </a:bodyPr>
          <a:lstStyle/>
          <a:p>
            <a:pPr algn="ctr" indent="0" marL="0">
              <a:buNone/>
            </a:pPr>
            <a:r>
              <a:rPr lang="en-US" sz="1250" b="1" dirty="0">
                <a:solidFill>
                  <a:srgbClr val="123B52"/>
                </a:solidFill>
              </a:rPr>
              <a:t>Agent selects</a:t>
            </a:r>
            <a:endParaRPr lang="en-US" sz="1250" dirty="0"/>
          </a:p>
          <a:p>
            <a:pPr algn="ctr" indent="0" marL="0">
              <a:buNone/>
            </a:pPr>
            <a:r>
              <a:rPr lang="en-US" sz="1250" b="1" dirty="0">
                <a:solidFill>
                  <a:srgbClr val="123B52"/>
                </a:solidFill>
              </a:rPr>
              <a:t>classify_ticket</a:t>
            </a:r>
            <a:endParaRPr lang="en-US" sz="1250" dirty="0"/>
          </a:p>
        </p:txBody>
      </p:sp>
      <p:sp>
        <p:nvSpPr>
          <p:cNvPr id="14" name="Shape 12"/>
          <p:cNvSpPr/>
          <p:nvPr/>
        </p:nvSpPr>
        <p:spPr>
          <a:xfrm>
            <a:off x="7340803" y="1691640"/>
            <a:ext cx="2062886" cy="658368"/>
          </a:xfrm>
          <a:prstGeom prst="roundRect">
            <a:avLst>
              <a:gd name="adj" fmla="val 11111"/>
            </a:avLst>
          </a:prstGeom>
          <a:solidFill>
            <a:srgbClr val="FFFFFF"/>
          </a:solidFill>
          <a:ln w="13970">
            <a:solidFill>
              <a:srgbClr val="C7D2DE"/>
            </a:solidFill>
            <a:prstDash val="solid"/>
          </a:ln>
        </p:spPr>
      </p:sp>
      <p:sp>
        <p:nvSpPr>
          <p:cNvPr id="15" name="Text 13"/>
          <p:cNvSpPr/>
          <p:nvPr/>
        </p:nvSpPr>
        <p:spPr>
          <a:xfrm>
            <a:off x="7432243" y="1856232"/>
            <a:ext cx="1880006" cy="292608"/>
          </a:xfrm>
          <a:prstGeom prst="rect">
            <a:avLst/>
          </a:prstGeom>
          <a:noFill/>
          <a:ln/>
        </p:spPr>
        <p:txBody>
          <a:bodyPr wrap="square" lIns="0" tIns="0" rIns="0" bIns="0" rtlCol="0" anchor="ctr">
            <a:normAutofit/>
          </a:bodyPr>
          <a:lstStyle/>
          <a:p>
            <a:pPr algn="ctr" indent="0" marL="0">
              <a:buNone/>
            </a:pPr>
            <a:r>
              <a:rPr lang="en-US" sz="1250" b="1" dirty="0">
                <a:solidFill>
                  <a:srgbClr val="123B52"/>
                </a:solidFill>
              </a:rPr>
              <a:t>FastAPI validates</a:t>
            </a:r>
            <a:endParaRPr lang="en-US" sz="1250" dirty="0"/>
          </a:p>
          <a:p>
            <a:pPr algn="ctr" indent="0" marL="0">
              <a:buNone/>
            </a:pPr>
            <a:r>
              <a:rPr lang="en-US" sz="1250" b="1" dirty="0">
                <a:solidFill>
                  <a:srgbClr val="123B52"/>
                </a:solidFill>
              </a:rPr>
              <a:t>Ticket</a:t>
            </a:r>
            <a:endParaRPr lang="en-US" sz="1250" dirty="0"/>
          </a:p>
        </p:txBody>
      </p:sp>
      <p:sp>
        <p:nvSpPr>
          <p:cNvPr id="16" name="Shape 14"/>
          <p:cNvSpPr/>
          <p:nvPr/>
        </p:nvSpPr>
        <p:spPr>
          <a:xfrm>
            <a:off x="9568282" y="1691640"/>
            <a:ext cx="2062886" cy="658368"/>
          </a:xfrm>
          <a:prstGeom prst="roundRect">
            <a:avLst>
              <a:gd name="adj" fmla="val 11111"/>
            </a:avLst>
          </a:prstGeom>
          <a:solidFill>
            <a:srgbClr val="123B52"/>
          </a:solidFill>
          <a:ln w="13970">
            <a:solidFill>
              <a:srgbClr val="C7D2DE"/>
            </a:solidFill>
            <a:prstDash val="solid"/>
          </a:ln>
        </p:spPr>
      </p:sp>
      <p:sp>
        <p:nvSpPr>
          <p:cNvPr id="17" name="Text 15"/>
          <p:cNvSpPr/>
          <p:nvPr/>
        </p:nvSpPr>
        <p:spPr>
          <a:xfrm>
            <a:off x="9659722" y="1856232"/>
            <a:ext cx="1880006" cy="292608"/>
          </a:xfrm>
          <a:prstGeom prst="rect">
            <a:avLst/>
          </a:prstGeom>
          <a:noFill/>
          <a:ln/>
        </p:spPr>
        <p:txBody>
          <a:bodyPr wrap="square" lIns="0" tIns="0" rIns="0" bIns="0" rtlCol="0" anchor="ctr">
            <a:normAutofit/>
          </a:bodyPr>
          <a:lstStyle/>
          <a:p>
            <a:pPr algn="ctr" indent="0" marL="0">
              <a:buNone/>
            </a:pPr>
            <a:r>
              <a:rPr lang="en-US" sz="1250" b="1" dirty="0">
                <a:solidFill>
                  <a:srgbClr val="FFFFFF"/>
                </a:solidFill>
              </a:rPr>
              <a:t>Tool returns</a:t>
            </a:r>
            <a:endParaRPr lang="en-US" sz="1250" dirty="0"/>
          </a:p>
          <a:p>
            <a:pPr algn="ctr" indent="0" marL="0">
              <a:buNone/>
            </a:pPr>
            <a:r>
              <a:rPr lang="en-US" sz="1250" b="1" dirty="0">
                <a:solidFill>
                  <a:srgbClr val="FFFFFF"/>
                </a:solidFill>
              </a:rPr>
              <a:t>TicketResult</a:t>
            </a:r>
            <a:endParaRPr lang="en-US" sz="1250" dirty="0"/>
          </a:p>
        </p:txBody>
      </p:sp>
      <p:sp>
        <p:nvSpPr>
          <p:cNvPr id="18" name="Shape 16"/>
          <p:cNvSpPr/>
          <p:nvPr/>
        </p:nvSpPr>
        <p:spPr>
          <a:xfrm>
            <a:off x="960120" y="3657600"/>
            <a:ext cx="2971800" cy="1234440"/>
          </a:xfrm>
          <a:prstGeom prst="roundRect">
            <a:avLst>
              <a:gd name="adj" fmla="val 5185"/>
            </a:avLst>
          </a:prstGeom>
          <a:solidFill>
            <a:srgbClr val="FFFFFF"/>
          </a:solidFill>
          <a:ln w="12700">
            <a:solidFill>
              <a:srgbClr val="D8E1E8"/>
            </a:solidFill>
            <a:prstDash val="solid"/>
          </a:ln>
        </p:spPr>
      </p:sp>
      <p:sp>
        <p:nvSpPr>
          <p:cNvPr id="19" name="Text 17"/>
          <p:cNvSpPr/>
          <p:nvPr/>
        </p:nvSpPr>
        <p:spPr>
          <a:xfrm>
            <a:off x="1197864" y="3858768"/>
            <a:ext cx="2496312" cy="256032"/>
          </a:xfrm>
          <a:prstGeom prst="rect">
            <a:avLst/>
          </a:prstGeom>
          <a:noFill/>
          <a:ln/>
        </p:spPr>
        <p:txBody>
          <a:bodyPr wrap="square" lIns="0" tIns="0" rIns="0" bIns="0" rtlCol="0" anchor="ctr">
            <a:normAutofit/>
          </a:bodyPr>
          <a:lstStyle/>
          <a:p>
            <a:pPr indent="0" marL="0">
              <a:buNone/>
            </a:pPr>
            <a:r>
              <a:rPr lang="en-US" sz="1400" b="1" dirty="0">
                <a:solidFill>
                  <a:srgbClr val="123B52"/>
                </a:solidFill>
              </a:rPr>
              <a:t>Week 4</a:t>
            </a:r>
            <a:endParaRPr lang="en-US" sz="1400" dirty="0"/>
          </a:p>
        </p:txBody>
      </p:sp>
      <p:sp>
        <p:nvSpPr>
          <p:cNvPr id="20" name="Text 18"/>
          <p:cNvSpPr/>
          <p:nvPr/>
        </p:nvSpPr>
        <p:spPr>
          <a:xfrm>
            <a:off x="1197864" y="4270248"/>
            <a:ext cx="2496312" cy="448056"/>
          </a:xfrm>
          <a:prstGeom prst="rect">
            <a:avLst/>
          </a:prstGeom>
          <a:noFill/>
          <a:ln/>
        </p:spPr>
        <p:txBody>
          <a:bodyPr wrap="square" lIns="254" tIns="254" rIns="254" bIns="254" rtlCol="0" anchor="t">
            <a:normAutofit/>
          </a:bodyPr>
          <a:lstStyle/>
          <a:p>
            <a:pPr indent="0" marL="0">
              <a:buNone/>
            </a:pPr>
            <a:r>
              <a:rPr lang="en-US" sz="1420" dirty="0">
                <a:solidFill>
                  <a:srgbClr val="17202A"/>
                </a:solidFill>
              </a:rPr>
              <a:t>The LLM will understand natural language.</a:t>
            </a:r>
            <a:endParaRPr lang="en-US" sz="1420" dirty="0"/>
          </a:p>
        </p:txBody>
      </p:sp>
      <p:sp>
        <p:nvSpPr>
          <p:cNvPr id="21" name="Shape 19"/>
          <p:cNvSpPr/>
          <p:nvPr/>
        </p:nvSpPr>
        <p:spPr>
          <a:xfrm>
            <a:off x="4617720" y="3657600"/>
            <a:ext cx="2971800" cy="1234440"/>
          </a:xfrm>
          <a:prstGeom prst="roundRect">
            <a:avLst>
              <a:gd name="adj" fmla="val 5185"/>
            </a:avLst>
          </a:prstGeom>
          <a:solidFill>
            <a:srgbClr val="FFFFFF"/>
          </a:solidFill>
          <a:ln w="12700">
            <a:solidFill>
              <a:srgbClr val="D8E1E8"/>
            </a:solidFill>
            <a:prstDash val="solid"/>
          </a:ln>
        </p:spPr>
      </p:sp>
      <p:sp>
        <p:nvSpPr>
          <p:cNvPr id="22" name="Text 20"/>
          <p:cNvSpPr/>
          <p:nvPr/>
        </p:nvSpPr>
        <p:spPr>
          <a:xfrm>
            <a:off x="4855464" y="3858768"/>
            <a:ext cx="2496312" cy="256032"/>
          </a:xfrm>
          <a:prstGeom prst="rect">
            <a:avLst/>
          </a:prstGeom>
          <a:noFill/>
          <a:ln/>
        </p:spPr>
        <p:txBody>
          <a:bodyPr wrap="square" lIns="0" tIns="0" rIns="0" bIns="0" rtlCol="0" anchor="ctr">
            <a:normAutofit/>
          </a:bodyPr>
          <a:lstStyle/>
          <a:p>
            <a:pPr indent="0" marL="0">
              <a:buNone/>
            </a:pPr>
            <a:r>
              <a:rPr lang="en-US" sz="1400" b="1" dirty="0">
                <a:solidFill>
                  <a:srgbClr val="123B52"/>
                </a:solidFill>
              </a:rPr>
              <a:t>Week 5</a:t>
            </a:r>
            <a:endParaRPr lang="en-US" sz="1400" dirty="0"/>
          </a:p>
        </p:txBody>
      </p:sp>
      <p:sp>
        <p:nvSpPr>
          <p:cNvPr id="23" name="Text 21"/>
          <p:cNvSpPr/>
          <p:nvPr/>
        </p:nvSpPr>
        <p:spPr>
          <a:xfrm>
            <a:off x="4855464" y="4270248"/>
            <a:ext cx="2496312" cy="448056"/>
          </a:xfrm>
          <a:prstGeom prst="rect">
            <a:avLst/>
          </a:prstGeom>
          <a:noFill/>
          <a:ln/>
        </p:spPr>
        <p:txBody>
          <a:bodyPr wrap="square" lIns="254" tIns="254" rIns="254" bIns="254" rtlCol="0" anchor="t">
            <a:normAutofit/>
          </a:bodyPr>
          <a:lstStyle/>
          <a:p>
            <a:pPr indent="0" marL="0">
              <a:buNone/>
            </a:pPr>
            <a:r>
              <a:rPr lang="en-US" sz="1420" dirty="0">
                <a:solidFill>
                  <a:srgbClr val="17202A"/>
                </a:solidFill>
              </a:rPr>
              <a:t>The agent will choose which tool to call.</a:t>
            </a:r>
            <a:endParaRPr lang="en-US" sz="1420" dirty="0"/>
          </a:p>
        </p:txBody>
      </p:sp>
      <p:sp>
        <p:nvSpPr>
          <p:cNvPr id="24" name="Shape 22"/>
          <p:cNvSpPr/>
          <p:nvPr/>
        </p:nvSpPr>
        <p:spPr>
          <a:xfrm>
            <a:off x="8275320" y="3657600"/>
            <a:ext cx="2971800" cy="1234440"/>
          </a:xfrm>
          <a:prstGeom prst="roundRect">
            <a:avLst>
              <a:gd name="adj" fmla="val 5185"/>
            </a:avLst>
          </a:prstGeom>
          <a:solidFill>
            <a:srgbClr val="FFFFFF"/>
          </a:solidFill>
          <a:ln w="12700">
            <a:solidFill>
              <a:srgbClr val="D8E1E8"/>
            </a:solidFill>
            <a:prstDash val="solid"/>
          </a:ln>
        </p:spPr>
      </p:sp>
      <p:sp>
        <p:nvSpPr>
          <p:cNvPr id="25" name="Text 23"/>
          <p:cNvSpPr/>
          <p:nvPr/>
        </p:nvSpPr>
        <p:spPr>
          <a:xfrm>
            <a:off x="8513064" y="3858768"/>
            <a:ext cx="2496312" cy="256032"/>
          </a:xfrm>
          <a:prstGeom prst="rect">
            <a:avLst/>
          </a:prstGeom>
          <a:noFill/>
          <a:ln/>
        </p:spPr>
        <p:txBody>
          <a:bodyPr wrap="square" lIns="0" tIns="0" rIns="0" bIns="0" rtlCol="0" anchor="ctr">
            <a:normAutofit/>
          </a:bodyPr>
          <a:lstStyle/>
          <a:p>
            <a:pPr indent="0" marL="0">
              <a:buNone/>
            </a:pPr>
            <a:r>
              <a:rPr lang="en-US" sz="1400" b="1" dirty="0">
                <a:solidFill>
                  <a:srgbClr val="123B52"/>
                </a:solidFill>
              </a:rPr>
              <a:t>Week 6</a:t>
            </a:r>
            <a:endParaRPr lang="en-US" sz="1400" dirty="0"/>
          </a:p>
        </p:txBody>
      </p:sp>
      <p:sp>
        <p:nvSpPr>
          <p:cNvPr id="26" name="Text 24"/>
          <p:cNvSpPr/>
          <p:nvPr/>
        </p:nvSpPr>
        <p:spPr>
          <a:xfrm>
            <a:off x="8513064" y="4270248"/>
            <a:ext cx="2496312" cy="448056"/>
          </a:xfrm>
          <a:prstGeom prst="rect">
            <a:avLst/>
          </a:prstGeom>
          <a:noFill/>
          <a:ln/>
        </p:spPr>
        <p:txBody>
          <a:bodyPr wrap="square" lIns="254" tIns="254" rIns="254" bIns="254" rtlCol="0" anchor="t">
            <a:normAutofit/>
          </a:bodyPr>
          <a:lstStyle/>
          <a:p>
            <a:pPr indent="0" marL="0">
              <a:buNone/>
            </a:pPr>
            <a:r>
              <a:rPr lang="en-US" sz="1420" dirty="0">
                <a:solidFill>
                  <a:srgbClr val="17202A"/>
                </a:solidFill>
              </a:rPr>
              <a:t>The loop will call tools, observe results, and decide the next step.</a:t>
            </a:r>
            <a:endParaRPr lang="en-US" sz="1420" dirty="0"/>
          </a:p>
        </p:txBody>
      </p:sp>
      <p:sp>
        <p:nvSpPr>
          <p:cNvPr id="25" name="Slide Number Placeholder 0"/>
          <p:cNvSpPr>
            <a:spLocks noGrp="1"/>
          </p:cNvSpPr>
          <p:nvPr>
            <p:ph type="sldNum" sz="quarter" idx="4294967295"/>
          </p:nvPr>
        </p:nvSpPr>
        <p:spPr>
          <a:xfrm>
            <a:off x="11612880" y="6547104"/>
            <a:ext cx="800000" cy="300000"/>
          </a:xfrm>
          <a:prstGeom prst="rect">
            <a:avLst/>
          </a:prstGeom>
          <a:extLst>
            <a:ext uri="{C572A759-6A51-4108-AA02-DFA0A04FC94B}">
              <ma14:wrappingTextBoxFlag xmlns:ma14="http://schemas.microsoft.com/office/mac/drawingml/2011/main" val="0"/>
            </a:ext>
          </a:extLst>
        </p:spPr>
        <p:txBody>
          <a:bodyPr/>
          <a:lstStyle>
            <a:lvl1pPr>
              <a:defRPr sz="780">
                <a:solidFill>
                  <a:srgbClr val="5B6B7A"/>
                </a:solidFill>
                <a:latin typeface="Aptos"/>
                <a:ea typeface="Aptos"/>
                <a:cs typeface="Aptos"/>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AFC"/>
        </a:solidFill>
      </p:bgPr>
    </p:bg>
    <p:spTree>
      <p:nvGrpSpPr>
        <p:cNvPr id="1" name=""/>
        <p:cNvGrpSpPr/>
        <p:nvPr/>
      </p:nvGrpSpPr>
      <p:grpSpPr>
        <a:xfrm>
          <a:off x="0" y="0"/>
          <a:ext cx="0" cy="0"/>
          <a:chOff x="0" y="0"/>
          <a:chExt cx="0" cy="0"/>
        </a:xfrm>
      </p:grpSpPr>
      <p:sp>
        <p:nvSpPr>
          <p:cNvPr id="2" name="Text 0"/>
          <p:cNvSpPr/>
          <p:nvPr/>
        </p:nvSpPr>
        <p:spPr>
          <a:xfrm>
            <a:off x="658368" y="384048"/>
            <a:ext cx="5943600" cy="219456"/>
          </a:xfrm>
          <a:prstGeom prst="rect">
            <a:avLst/>
          </a:prstGeom>
          <a:noFill/>
          <a:ln/>
        </p:spPr>
        <p:txBody>
          <a:bodyPr wrap="square" lIns="0" tIns="0" rIns="0" bIns="0" rtlCol="0" anchor="ctr"/>
          <a:lstStyle/>
          <a:p>
            <a:pPr indent="0" marL="0">
              <a:buNone/>
            </a:pPr>
            <a:r>
              <a:rPr lang="en-US" sz="950" b="1" dirty="0">
                <a:solidFill>
                  <a:srgbClr val="18A7B5"/>
                </a:solidFill>
              </a:rPr>
              <a:t>LAB CHECKLIST</a:t>
            </a:r>
            <a:endParaRPr lang="en-US" sz="950" dirty="0"/>
          </a:p>
        </p:txBody>
      </p:sp>
      <p:sp>
        <p:nvSpPr>
          <p:cNvPr id="3" name="Text 1"/>
          <p:cNvSpPr/>
          <p:nvPr/>
        </p:nvSpPr>
        <p:spPr>
          <a:xfrm>
            <a:off x="658368" y="658368"/>
            <a:ext cx="10698480" cy="475488"/>
          </a:xfrm>
          <a:prstGeom prst="rect">
            <a:avLst/>
          </a:prstGeom>
          <a:noFill/>
          <a:ln/>
        </p:spPr>
        <p:txBody>
          <a:bodyPr wrap="square" lIns="0" tIns="0" rIns="0" bIns="0" rtlCol="0" anchor="ctr">
            <a:normAutofit/>
          </a:bodyPr>
          <a:lstStyle/>
          <a:p>
            <a:pPr indent="0" marL="0">
              <a:buNone/>
            </a:pPr>
            <a:r>
              <a:rPr lang="en-US" sz="2700" b="1" dirty="0">
                <a:solidFill>
                  <a:srgbClr val="123B52"/>
                </a:solidFill>
              </a:rPr>
              <a:t>Common Mistakes to Avoid</a:t>
            </a:r>
            <a:endParaRPr lang="en-US" sz="2700" dirty="0"/>
          </a:p>
        </p:txBody>
      </p:sp>
      <p:sp>
        <p:nvSpPr>
          <p:cNvPr id="4" name="Shape 2"/>
          <p:cNvSpPr/>
          <p:nvPr/>
        </p:nvSpPr>
        <p:spPr>
          <a:xfrm>
            <a:off x="822960" y="1417320"/>
            <a:ext cx="3337560" cy="1417320"/>
          </a:xfrm>
          <a:prstGeom prst="roundRect">
            <a:avLst>
              <a:gd name="adj" fmla="val 4516"/>
            </a:avLst>
          </a:prstGeom>
          <a:solidFill>
            <a:srgbClr val="FFFFFF"/>
          </a:solidFill>
          <a:ln w="12700">
            <a:solidFill>
              <a:srgbClr val="D8E1E8"/>
            </a:solidFill>
            <a:prstDash val="solid"/>
          </a:ln>
        </p:spPr>
      </p:sp>
      <p:sp>
        <p:nvSpPr>
          <p:cNvPr id="5" name="Shape 3"/>
          <p:cNvSpPr/>
          <p:nvPr/>
        </p:nvSpPr>
        <p:spPr>
          <a:xfrm>
            <a:off x="1024128" y="1618488"/>
            <a:ext cx="411480" cy="283464"/>
          </a:xfrm>
          <a:prstGeom prst="roundRect">
            <a:avLst>
              <a:gd name="adj" fmla="val 25806"/>
            </a:avLst>
          </a:prstGeom>
          <a:solidFill>
            <a:srgbClr val="C74B50"/>
          </a:solidFill>
          <a:ln w="12700">
            <a:solidFill>
              <a:srgbClr val="C74B50"/>
            </a:solidFill>
            <a:prstDash val="solid"/>
          </a:ln>
        </p:spPr>
      </p:sp>
      <p:sp>
        <p:nvSpPr>
          <p:cNvPr id="6" name="Text 4"/>
          <p:cNvSpPr/>
          <p:nvPr/>
        </p:nvSpPr>
        <p:spPr>
          <a:xfrm>
            <a:off x="1024128" y="1677924"/>
            <a:ext cx="411480" cy="137160"/>
          </a:xfrm>
          <a:prstGeom prst="rect">
            <a:avLst/>
          </a:prstGeom>
          <a:noFill/>
          <a:ln/>
        </p:spPr>
        <p:txBody>
          <a:bodyPr wrap="square" lIns="0" tIns="0" rIns="0" bIns="0" rtlCol="0" anchor="ctr"/>
          <a:lstStyle/>
          <a:p>
            <a:pPr algn="ctr" indent="0" marL="0">
              <a:buNone/>
            </a:pPr>
            <a:r>
              <a:rPr lang="en-US" sz="850" b="1" dirty="0">
                <a:solidFill>
                  <a:srgbClr val="FFFFFF"/>
                </a:solidFill>
              </a:rPr>
              <a:t>01</a:t>
            </a:r>
            <a:endParaRPr lang="en-US" sz="850" dirty="0"/>
          </a:p>
        </p:txBody>
      </p:sp>
      <p:sp>
        <p:nvSpPr>
          <p:cNvPr id="7" name="Text 5"/>
          <p:cNvSpPr/>
          <p:nvPr/>
        </p:nvSpPr>
        <p:spPr>
          <a:xfrm>
            <a:off x="1572768" y="1618488"/>
            <a:ext cx="2350008" cy="256032"/>
          </a:xfrm>
          <a:prstGeom prst="rect">
            <a:avLst/>
          </a:prstGeom>
          <a:noFill/>
          <a:ln/>
        </p:spPr>
        <p:txBody>
          <a:bodyPr wrap="square" lIns="0" tIns="0" rIns="0" bIns="0" rtlCol="0" anchor="ctr">
            <a:normAutofit/>
          </a:bodyPr>
          <a:lstStyle/>
          <a:p>
            <a:pPr indent="0" marL="0">
              <a:buNone/>
            </a:pPr>
            <a:r>
              <a:rPr lang="en-US" sz="1400" b="1" dirty="0">
                <a:solidFill>
                  <a:srgbClr val="123B52"/>
                </a:solidFill>
              </a:rPr>
              <a:t>Returning plain strings</a:t>
            </a:r>
            <a:endParaRPr lang="en-US" sz="1400" dirty="0"/>
          </a:p>
        </p:txBody>
      </p:sp>
      <p:sp>
        <p:nvSpPr>
          <p:cNvPr id="8" name="Text 6"/>
          <p:cNvSpPr/>
          <p:nvPr/>
        </p:nvSpPr>
        <p:spPr>
          <a:xfrm>
            <a:off x="1060704" y="2029968"/>
            <a:ext cx="2862072" cy="630936"/>
          </a:xfrm>
          <a:prstGeom prst="rect">
            <a:avLst/>
          </a:prstGeom>
          <a:noFill/>
          <a:ln/>
        </p:spPr>
        <p:txBody>
          <a:bodyPr wrap="square" lIns="254" tIns="254" rIns="254" bIns="254" rtlCol="0" anchor="t">
            <a:normAutofit/>
          </a:bodyPr>
          <a:lstStyle/>
          <a:p>
            <a:pPr indent="0" marL="0">
              <a:buNone/>
            </a:pPr>
            <a:r>
              <a:rPr lang="en-US" sz="1400" dirty="0">
                <a:solidFill>
                  <a:srgbClr val="17202A"/>
                </a:solidFill>
              </a:rPr>
              <a:t>Bad for APIs and agents. Prefer structured output models.</a:t>
            </a:r>
            <a:endParaRPr lang="en-US" sz="1400" dirty="0"/>
          </a:p>
        </p:txBody>
      </p:sp>
      <p:sp>
        <p:nvSpPr>
          <p:cNvPr id="9" name="Shape 7"/>
          <p:cNvSpPr/>
          <p:nvPr/>
        </p:nvSpPr>
        <p:spPr>
          <a:xfrm>
            <a:off x="4434840" y="1417320"/>
            <a:ext cx="3337560" cy="1417320"/>
          </a:xfrm>
          <a:prstGeom prst="roundRect">
            <a:avLst>
              <a:gd name="adj" fmla="val 4516"/>
            </a:avLst>
          </a:prstGeom>
          <a:solidFill>
            <a:srgbClr val="FFFFFF"/>
          </a:solidFill>
          <a:ln w="12700">
            <a:solidFill>
              <a:srgbClr val="D8E1E8"/>
            </a:solidFill>
            <a:prstDash val="solid"/>
          </a:ln>
        </p:spPr>
      </p:sp>
      <p:sp>
        <p:nvSpPr>
          <p:cNvPr id="10" name="Shape 8"/>
          <p:cNvSpPr/>
          <p:nvPr/>
        </p:nvSpPr>
        <p:spPr>
          <a:xfrm>
            <a:off x="4636008" y="1618488"/>
            <a:ext cx="411480" cy="283464"/>
          </a:xfrm>
          <a:prstGeom prst="roundRect">
            <a:avLst>
              <a:gd name="adj" fmla="val 25806"/>
            </a:avLst>
          </a:prstGeom>
          <a:solidFill>
            <a:srgbClr val="E09F3E"/>
          </a:solidFill>
          <a:ln w="12700">
            <a:solidFill>
              <a:srgbClr val="E09F3E"/>
            </a:solidFill>
            <a:prstDash val="solid"/>
          </a:ln>
        </p:spPr>
      </p:sp>
      <p:sp>
        <p:nvSpPr>
          <p:cNvPr id="11" name="Text 9"/>
          <p:cNvSpPr/>
          <p:nvPr/>
        </p:nvSpPr>
        <p:spPr>
          <a:xfrm>
            <a:off x="4636008" y="1677924"/>
            <a:ext cx="411480" cy="137160"/>
          </a:xfrm>
          <a:prstGeom prst="rect">
            <a:avLst/>
          </a:prstGeom>
          <a:noFill/>
          <a:ln/>
        </p:spPr>
        <p:txBody>
          <a:bodyPr wrap="square" lIns="0" tIns="0" rIns="0" bIns="0" rtlCol="0" anchor="ctr"/>
          <a:lstStyle/>
          <a:p>
            <a:pPr algn="ctr" indent="0" marL="0">
              <a:buNone/>
            </a:pPr>
            <a:r>
              <a:rPr lang="en-US" sz="850" b="1" dirty="0">
                <a:solidFill>
                  <a:srgbClr val="FFFFFF"/>
                </a:solidFill>
              </a:rPr>
              <a:t>02</a:t>
            </a:r>
            <a:endParaRPr lang="en-US" sz="850" dirty="0"/>
          </a:p>
        </p:txBody>
      </p:sp>
      <p:sp>
        <p:nvSpPr>
          <p:cNvPr id="12" name="Text 10"/>
          <p:cNvSpPr/>
          <p:nvPr/>
        </p:nvSpPr>
        <p:spPr>
          <a:xfrm>
            <a:off x="5184648" y="1618488"/>
            <a:ext cx="2350008" cy="256032"/>
          </a:xfrm>
          <a:prstGeom prst="rect">
            <a:avLst/>
          </a:prstGeom>
          <a:noFill/>
          <a:ln/>
        </p:spPr>
        <p:txBody>
          <a:bodyPr wrap="square" lIns="0" tIns="0" rIns="0" bIns="0" rtlCol="0" anchor="ctr">
            <a:normAutofit/>
          </a:bodyPr>
          <a:lstStyle/>
          <a:p>
            <a:pPr indent="0" marL="0">
              <a:buNone/>
            </a:pPr>
            <a:r>
              <a:rPr lang="en-US" sz="1400" b="1" dirty="0">
                <a:solidFill>
                  <a:srgbClr val="123B52"/>
                </a:solidFill>
              </a:rPr>
              <a:t>No docstrings</a:t>
            </a:r>
            <a:endParaRPr lang="en-US" sz="1400" dirty="0"/>
          </a:p>
        </p:txBody>
      </p:sp>
      <p:sp>
        <p:nvSpPr>
          <p:cNvPr id="13" name="Text 11"/>
          <p:cNvSpPr/>
          <p:nvPr/>
        </p:nvSpPr>
        <p:spPr>
          <a:xfrm>
            <a:off x="4672584" y="2029968"/>
            <a:ext cx="2862072" cy="630936"/>
          </a:xfrm>
          <a:prstGeom prst="rect">
            <a:avLst/>
          </a:prstGeom>
          <a:noFill/>
          <a:ln/>
        </p:spPr>
        <p:txBody>
          <a:bodyPr wrap="square" lIns="254" tIns="254" rIns="254" bIns="254" rtlCol="0" anchor="t">
            <a:normAutofit/>
          </a:bodyPr>
          <a:lstStyle/>
          <a:p>
            <a:pPr indent="0" marL="0">
              <a:buNone/>
            </a:pPr>
            <a:r>
              <a:rPr lang="en-US" sz="1400" dirty="0">
                <a:solidFill>
                  <a:srgbClr val="17202A"/>
                </a:solidFill>
              </a:rPr>
              <a:t>Future tools need descriptions. Start writing them now.</a:t>
            </a:r>
            <a:endParaRPr lang="en-US" sz="1400" dirty="0"/>
          </a:p>
        </p:txBody>
      </p:sp>
      <p:sp>
        <p:nvSpPr>
          <p:cNvPr id="14" name="Shape 12"/>
          <p:cNvSpPr/>
          <p:nvPr/>
        </p:nvSpPr>
        <p:spPr>
          <a:xfrm>
            <a:off x="8046720" y="1417320"/>
            <a:ext cx="3337560" cy="1417320"/>
          </a:xfrm>
          <a:prstGeom prst="roundRect">
            <a:avLst>
              <a:gd name="adj" fmla="val 4516"/>
            </a:avLst>
          </a:prstGeom>
          <a:solidFill>
            <a:srgbClr val="FFFFFF"/>
          </a:solidFill>
          <a:ln w="12700">
            <a:solidFill>
              <a:srgbClr val="D8E1E8"/>
            </a:solidFill>
            <a:prstDash val="solid"/>
          </a:ln>
        </p:spPr>
      </p:sp>
      <p:sp>
        <p:nvSpPr>
          <p:cNvPr id="15" name="Shape 13"/>
          <p:cNvSpPr/>
          <p:nvPr/>
        </p:nvSpPr>
        <p:spPr>
          <a:xfrm>
            <a:off x="8247888" y="1618488"/>
            <a:ext cx="411480" cy="283464"/>
          </a:xfrm>
          <a:prstGeom prst="roundRect">
            <a:avLst>
              <a:gd name="adj" fmla="val 25806"/>
            </a:avLst>
          </a:prstGeom>
          <a:solidFill>
            <a:srgbClr val="C74B50"/>
          </a:solidFill>
          <a:ln w="12700">
            <a:solidFill>
              <a:srgbClr val="C74B50"/>
            </a:solidFill>
            <a:prstDash val="solid"/>
          </a:ln>
        </p:spPr>
      </p:sp>
      <p:sp>
        <p:nvSpPr>
          <p:cNvPr id="16" name="Text 14"/>
          <p:cNvSpPr/>
          <p:nvPr/>
        </p:nvSpPr>
        <p:spPr>
          <a:xfrm>
            <a:off x="8247888" y="1677924"/>
            <a:ext cx="411480" cy="137160"/>
          </a:xfrm>
          <a:prstGeom prst="rect">
            <a:avLst/>
          </a:prstGeom>
          <a:noFill/>
          <a:ln/>
        </p:spPr>
        <p:txBody>
          <a:bodyPr wrap="square" lIns="0" tIns="0" rIns="0" bIns="0" rtlCol="0" anchor="ctr"/>
          <a:lstStyle/>
          <a:p>
            <a:pPr algn="ctr" indent="0" marL="0">
              <a:buNone/>
            </a:pPr>
            <a:r>
              <a:rPr lang="en-US" sz="850" b="1" dirty="0">
                <a:solidFill>
                  <a:srgbClr val="FFFFFF"/>
                </a:solidFill>
              </a:rPr>
              <a:t>03</a:t>
            </a:r>
            <a:endParaRPr lang="en-US" sz="850" dirty="0"/>
          </a:p>
        </p:txBody>
      </p:sp>
      <p:sp>
        <p:nvSpPr>
          <p:cNvPr id="17" name="Text 15"/>
          <p:cNvSpPr/>
          <p:nvPr/>
        </p:nvSpPr>
        <p:spPr>
          <a:xfrm>
            <a:off x="8796528" y="1618488"/>
            <a:ext cx="2350008" cy="256032"/>
          </a:xfrm>
          <a:prstGeom prst="rect">
            <a:avLst/>
          </a:prstGeom>
          <a:noFill/>
          <a:ln/>
        </p:spPr>
        <p:txBody>
          <a:bodyPr wrap="square" lIns="0" tIns="0" rIns="0" bIns="0" rtlCol="0" anchor="ctr">
            <a:normAutofit/>
          </a:bodyPr>
          <a:lstStyle/>
          <a:p>
            <a:pPr indent="0" marL="0">
              <a:buNone/>
            </a:pPr>
            <a:r>
              <a:rPr lang="en-US" sz="1400" b="1" dirty="0">
                <a:solidFill>
                  <a:srgbClr val="123B52"/>
                </a:solidFill>
              </a:rPr>
              <a:t>No validation</a:t>
            </a:r>
            <a:endParaRPr lang="en-US" sz="1400" dirty="0"/>
          </a:p>
        </p:txBody>
      </p:sp>
      <p:sp>
        <p:nvSpPr>
          <p:cNvPr id="18" name="Text 16"/>
          <p:cNvSpPr/>
          <p:nvPr/>
        </p:nvSpPr>
        <p:spPr>
          <a:xfrm>
            <a:off x="8284464" y="2029968"/>
            <a:ext cx="2862072" cy="630936"/>
          </a:xfrm>
          <a:prstGeom prst="rect">
            <a:avLst/>
          </a:prstGeom>
          <a:noFill/>
          <a:ln/>
        </p:spPr>
        <p:txBody>
          <a:bodyPr wrap="square" lIns="254" tIns="254" rIns="254" bIns="254" rtlCol="0" anchor="t">
            <a:normAutofit/>
          </a:bodyPr>
          <a:lstStyle/>
          <a:p>
            <a:pPr indent="0" marL="0">
              <a:buNone/>
            </a:pPr>
            <a:r>
              <a:rPr lang="en-US" sz="1400" dirty="0">
                <a:solidFill>
                  <a:srgbClr val="17202A"/>
                </a:solidFill>
              </a:rPr>
              <a:t>Do not trust external input. Validate before business logic.</a:t>
            </a:r>
            <a:endParaRPr lang="en-US" sz="1400" dirty="0"/>
          </a:p>
        </p:txBody>
      </p:sp>
      <p:sp>
        <p:nvSpPr>
          <p:cNvPr id="19" name="Shape 17"/>
          <p:cNvSpPr/>
          <p:nvPr/>
        </p:nvSpPr>
        <p:spPr>
          <a:xfrm>
            <a:off x="2606040" y="3611880"/>
            <a:ext cx="3337560" cy="1417320"/>
          </a:xfrm>
          <a:prstGeom prst="roundRect">
            <a:avLst>
              <a:gd name="adj" fmla="val 4516"/>
            </a:avLst>
          </a:prstGeom>
          <a:solidFill>
            <a:srgbClr val="FFFFFF"/>
          </a:solidFill>
          <a:ln w="12700">
            <a:solidFill>
              <a:srgbClr val="D8E1E8"/>
            </a:solidFill>
            <a:prstDash val="solid"/>
          </a:ln>
        </p:spPr>
      </p:sp>
      <p:sp>
        <p:nvSpPr>
          <p:cNvPr id="20" name="Shape 18"/>
          <p:cNvSpPr/>
          <p:nvPr/>
        </p:nvSpPr>
        <p:spPr>
          <a:xfrm>
            <a:off x="2807208" y="3813048"/>
            <a:ext cx="411480" cy="283464"/>
          </a:xfrm>
          <a:prstGeom prst="roundRect">
            <a:avLst>
              <a:gd name="adj" fmla="val 25806"/>
            </a:avLst>
          </a:prstGeom>
          <a:solidFill>
            <a:srgbClr val="0B5C7A"/>
          </a:solidFill>
          <a:ln w="12700">
            <a:solidFill>
              <a:srgbClr val="0B5C7A"/>
            </a:solidFill>
            <a:prstDash val="solid"/>
          </a:ln>
        </p:spPr>
      </p:sp>
      <p:sp>
        <p:nvSpPr>
          <p:cNvPr id="21" name="Text 19"/>
          <p:cNvSpPr/>
          <p:nvPr/>
        </p:nvSpPr>
        <p:spPr>
          <a:xfrm>
            <a:off x="2807208" y="3872484"/>
            <a:ext cx="411480" cy="137160"/>
          </a:xfrm>
          <a:prstGeom prst="rect">
            <a:avLst/>
          </a:prstGeom>
          <a:noFill/>
          <a:ln/>
        </p:spPr>
        <p:txBody>
          <a:bodyPr wrap="square" lIns="0" tIns="0" rIns="0" bIns="0" rtlCol="0" anchor="ctr"/>
          <a:lstStyle/>
          <a:p>
            <a:pPr algn="ctr" indent="0" marL="0">
              <a:buNone/>
            </a:pPr>
            <a:r>
              <a:rPr lang="en-US" sz="850" b="1" dirty="0">
                <a:solidFill>
                  <a:srgbClr val="FFFFFF"/>
                </a:solidFill>
              </a:rPr>
              <a:t>04</a:t>
            </a:r>
            <a:endParaRPr lang="en-US" sz="850" dirty="0"/>
          </a:p>
        </p:txBody>
      </p:sp>
      <p:sp>
        <p:nvSpPr>
          <p:cNvPr id="22" name="Text 20"/>
          <p:cNvSpPr/>
          <p:nvPr/>
        </p:nvSpPr>
        <p:spPr>
          <a:xfrm>
            <a:off x="3355848" y="3813048"/>
            <a:ext cx="2350008" cy="256032"/>
          </a:xfrm>
          <a:prstGeom prst="rect">
            <a:avLst/>
          </a:prstGeom>
          <a:noFill/>
          <a:ln/>
        </p:spPr>
        <p:txBody>
          <a:bodyPr wrap="square" lIns="0" tIns="0" rIns="0" bIns="0" rtlCol="0" anchor="ctr">
            <a:normAutofit/>
          </a:bodyPr>
          <a:lstStyle/>
          <a:p>
            <a:pPr indent="0" marL="0">
              <a:buNone/>
            </a:pPr>
            <a:r>
              <a:rPr lang="en-US" sz="1400" b="1" dirty="0">
                <a:solidFill>
                  <a:srgbClr val="123B52"/>
                </a:solidFill>
              </a:rPr>
              <a:t>Too much architecture</a:t>
            </a:r>
            <a:endParaRPr lang="en-US" sz="1400" dirty="0"/>
          </a:p>
        </p:txBody>
      </p:sp>
      <p:sp>
        <p:nvSpPr>
          <p:cNvPr id="23" name="Text 21"/>
          <p:cNvSpPr/>
          <p:nvPr/>
        </p:nvSpPr>
        <p:spPr>
          <a:xfrm>
            <a:off x="2843784" y="4224528"/>
            <a:ext cx="2862072" cy="630936"/>
          </a:xfrm>
          <a:prstGeom prst="rect">
            <a:avLst/>
          </a:prstGeom>
          <a:noFill/>
          <a:ln/>
        </p:spPr>
        <p:txBody>
          <a:bodyPr wrap="square" lIns="254" tIns="254" rIns="254" bIns="254" rtlCol="0" anchor="t">
            <a:normAutofit/>
          </a:bodyPr>
          <a:lstStyle/>
          <a:p>
            <a:pPr indent="0" marL="0">
              <a:buNone/>
            </a:pPr>
            <a:r>
              <a:rPr lang="en-US" sz="1400" dirty="0">
                <a:solidFill>
                  <a:srgbClr val="17202A"/>
                </a:solidFill>
              </a:rPr>
              <a:t>Do not add databases, auth, routers, or async yet. Keep the first API simple.</a:t>
            </a:r>
            <a:endParaRPr lang="en-US" sz="1400" dirty="0"/>
          </a:p>
        </p:txBody>
      </p:sp>
      <p:sp>
        <p:nvSpPr>
          <p:cNvPr id="24" name="Shape 22"/>
          <p:cNvSpPr/>
          <p:nvPr/>
        </p:nvSpPr>
        <p:spPr>
          <a:xfrm>
            <a:off x="6263640" y="3611880"/>
            <a:ext cx="3337560" cy="1417320"/>
          </a:xfrm>
          <a:prstGeom prst="roundRect">
            <a:avLst>
              <a:gd name="adj" fmla="val 4516"/>
            </a:avLst>
          </a:prstGeom>
          <a:solidFill>
            <a:srgbClr val="FFFFFF"/>
          </a:solidFill>
          <a:ln w="12700">
            <a:solidFill>
              <a:srgbClr val="D8E1E8"/>
            </a:solidFill>
            <a:prstDash val="solid"/>
          </a:ln>
        </p:spPr>
      </p:sp>
      <p:sp>
        <p:nvSpPr>
          <p:cNvPr id="25" name="Shape 23"/>
          <p:cNvSpPr/>
          <p:nvPr/>
        </p:nvSpPr>
        <p:spPr>
          <a:xfrm>
            <a:off x="6464808" y="3813048"/>
            <a:ext cx="411480" cy="283464"/>
          </a:xfrm>
          <a:prstGeom prst="roundRect">
            <a:avLst>
              <a:gd name="adj" fmla="val 25806"/>
            </a:avLst>
          </a:prstGeom>
          <a:solidFill>
            <a:srgbClr val="18A7B5"/>
          </a:solidFill>
          <a:ln w="12700">
            <a:solidFill>
              <a:srgbClr val="18A7B5"/>
            </a:solidFill>
            <a:prstDash val="solid"/>
          </a:ln>
        </p:spPr>
      </p:sp>
      <p:sp>
        <p:nvSpPr>
          <p:cNvPr id="26" name="Text 24"/>
          <p:cNvSpPr/>
          <p:nvPr/>
        </p:nvSpPr>
        <p:spPr>
          <a:xfrm>
            <a:off x="6464808" y="3872484"/>
            <a:ext cx="411480" cy="137160"/>
          </a:xfrm>
          <a:prstGeom prst="rect">
            <a:avLst/>
          </a:prstGeom>
          <a:noFill/>
          <a:ln/>
        </p:spPr>
        <p:txBody>
          <a:bodyPr wrap="square" lIns="0" tIns="0" rIns="0" bIns="0" rtlCol="0" anchor="ctr"/>
          <a:lstStyle/>
          <a:p>
            <a:pPr algn="ctr" indent="0" marL="0">
              <a:buNone/>
            </a:pPr>
            <a:r>
              <a:rPr lang="en-US" sz="850" b="1" dirty="0">
                <a:solidFill>
                  <a:srgbClr val="FFFFFF"/>
                </a:solidFill>
              </a:rPr>
              <a:t>05</a:t>
            </a:r>
            <a:endParaRPr lang="en-US" sz="850" dirty="0"/>
          </a:p>
        </p:txBody>
      </p:sp>
      <p:sp>
        <p:nvSpPr>
          <p:cNvPr id="27" name="Text 25"/>
          <p:cNvSpPr/>
          <p:nvPr/>
        </p:nvSpPr>
        <p:spPr>
          <a:xfrm>
            <a:off x="7013448" y="3813048"/>
            <a:ext cx="2350008" cy="256032"/>
          </a:xfrm>
          <a:prstGeom prst="rect">
            <a:avLst/>
          </a:prstGeom>
          <a:noFill/>
          <a:ln/>
        </p:spPr>
        <p:txBody>
          <a:bodyPr wrap="square" lIns="0" tIns="0" rIns="0" bIns="0" rtlCol="0" anchor="ctr">
            <a:normAutofit/>
          </a:bodyPr>
          <a:lstStyle/>
          <a:p>
            <a:pPr indent="0" marL="0">
              <a:buNone/>
            </a:pPr>
            <a:r>
              <a:rPr lang="en-US" sz="1400" b="1" dirty="0">
                <a:solidFill>
                  <a:srgbClr val="123B52"/>
                </a:solidFill>
              </a:rPr>
              <a:t>Calling everything an agent</a:t>
            </a:r>
            <a:endParaRPr lang="en-US" sz="1400" dirty="0"/>
          </a:p>
        </p:txBody>
      </p:sp>
      <p:sp>
        <p:nvSpPr>
          <p:cNvPr id="28" name="Text 26"/>
          <p:cNvSpPr/>
          <p:nvPr/>
        </p:nvSpPr>
        <p:spPr>
          <a:xfrm>
            <a:off x="6501384" y="4224528"/>
            <a:ext cx="2862072" cy="630936"/>
          </a:xfrm>
          <a:prstGeom prst="rect">
            <a:avLst/>
          </a:prstGeom>
          <a:noFill/>
          <a:ln/>
        </p:spPr>
        <p:txBody>
          <a:bodyPr wrap="square" lIns="254" tIns="254" rIns="254" bIns="254" rtlCol="0" anchor="t">
            <a:normAutofit/>
          </a:bodyPr>
          <a:lstStyle/>
          <a:p>
            <a:pPr indent="0" marL="0">
              <a:buNone/>
            </a:pPr>
            <a:r>
              <a:rPr lang="en-US" sz="1400" dirty="0">
                <a:solidFill>
                  <a:srgbClr val="17202A"/>
                </a:solidFill>
              </a:rPr>
              <a:t>A FastAPI endpoint is a service, not an agent. It becomes a tool that an agent can call later.</a:t>
            </a:r>
            <a:endParaRPr lang="en-US" sz="1400" dirty="0"/>
          </a:p>
        </p:txBody>
      </p:sp>
      <p:sp>
        <p:nvSpPr>
          <p:cNvPr id="25" name="Slide Number Placeholder 0"/>
          <p:cNvSpPr>
            <a:spLocks noGrp="1"/>
          </p:cNvSpPr>
          <p:nvPr>
            <p:ph type="sldNum" sz="quarter" idx="4294967295"/>
          </p:nvPr>
        </p:nvSpPr>
        <p:spPr>
          <a:xfrm>
            <a:off x="11612880" y="6547104"/>
            <a:ext cx="800000" cy="300000"/>
          </a:xfrm>
          <a:prstGeom prst="rect">
            <a:avLst/>
          </a:prstGeom>
          <a:extLst>
            <a:ext uri="{C572A759-6A51-4108-AA02-DFA0A04FC94B}">
              <ma14:wrappingTextBoxFlag xmlns:ma14="http://schemas.microsoft.com/office/mac/drawingml/2011/main" val="0"/>
            </a:ext>
          </a:extLst>
        </p:spPr>
        <p:txBody>
          <a:bodyPr/>
          <a:lstStyle>
            <a:lvl1pPr>
              <a:defRPr sz="780">
                <a:solidFill>
                  <a:srgbClr val="5B6B7A"/>
                </a:solidFill>
                <a:latin typeface="Aptos"/>
                <a:ea typeface="Aptos"/>
                <a:cs typeface="Aptos"/>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AFC"/>
        </a:solidFill>
      </p:bgPr>
    </p:bg>
    <p:spTree>
      <p:nvGrpSpPr>
        <p:cNvPr id="1" name=""/>
        <p:cNvGrpSpPr/>
        <p:nvPr/>
      </p:nvGrpSpPr>
      <p:grpSpPr>
        <a:xfrm>
          <a:off x="0" y="0"/>
          <a:ext cx="0" cy="0"/>
          <a:chOff x="0" y="0"/>
          <a:chExt cx="0" cy="0"/>
        </a:xfrm>
      </p:grpSpPr>
      <p:sp>
        <p:nvSpPr>
          <p:cNvPr id="2" name="Text 0"/>
          <p:cNvSpPr/>
          <p:nvPr/>
        </p:nvSpPr>
        <p:spPr>
          <a:xfrm>
            <a:off x="658368" y="384048"/>
            <a:ext cx="5943600" cy="219456"/>
          </a:xfrm>
          <a:prstGeom prst="rect">
            <a:avLst/>
          </a:prstGeom>
          <a:noFill/>
          <a:ln/>
        </p:spPr>
        <p:txBody>
          <a:bodyPr wrap="square" lIns="0" tIns="0" rIns="0" bIns="0" rtlCol="0" anchor="ctr"/>
          <a:lstStyle/>
          <a:p>
            <a:pPr indent="0" marL="0">
              <a:buNone/>
            </a:pPr>
            <a:r>
              <a:rPr lang="en-US" sz="950" b="1" dirty="0">
                <a:solidFill>
                  <a:srgbClr val="18A7B5"/>
                </a:solidFill>
              </a:rPr>
              <a:t>WHAT STUDENTS SHOULD REMEMBER</a:t>
            </a:r>
            <a:endParaRPr lang="en-US" sz="950" dirty="0"/>
          </a:p>
        </p:txBody>
      </p:sp>
      <p:sp>
        <p:nvSpPr>
          <p:cNvPr id="3" name="Text 1"/>
          <p:cNvSpPr/>
          <p:nvPr/>
        </p:nvSpPr>
        <p:spPr>
          <a:xfrm>
            <a:off x="658368" y="658368"/>
            <a:ext cx="10698480" cy="475488"/>
          </a:xfrm>
          <a:prstGeom prst="rect">
            <a:avLst/>
          </a:prstGeom>
          <a:noFill/>
          <a:ln/>
        </p:spPr>
        <p:txBody>
          <a:bodyPr wrap="square" lIns="0" tIns="0" rIns="0" bIns="0" rtlCol="0" anchor="ctr">
            <a:normAutofit/>
          </a:bodyPr>
          <a:lstStyle/>
          <a:p>
            <a:pPr indent="0" marL="0">
              <a:buNone/>
            </a:pPr>
            <a:r>
              <a:rPr lang="en-US" sz="2700" b="1" dirty="0">
                <a:solidFill>
                  <a:srgbClr val="123B52"/>
                </a:solidFill>
              </a:rPr>
              <a:t>Wrap-up</a:t>
            </a:r>
            <a:endParaRPr lang="en-US" sz="2700" dirty="0"/>
          </a:p>
        </p:txBody>
      </p:sp>
      <p:sp>
        <p:nvSpPr>
          <p:cNvPr id="4" name="Text 2"/>
          <p:cNvSpPr/>
          <p:nvPr/>
        </p:nvSpPr>
        <p:spPr>
          <a:xfrm>
            <a:off x="868680" y="1325880"/>
            <a:ext cx="4114800" cy="310896"/>
          </a:xfrm>
          <a:prstGeom prst="rect">
            <a:avLst/>
          </a:prstGeom>
          <a:noFill/>
          <a:ln/>
        </p:spPr>
        <p:txBody>
          <a:bodyPr wrap="square" lIns="0" tIns="0" rIns="0" bIns="0" rtlCol="0" anchor="ctr"/>
          <a:lstStyle/>
          <a:p>
            <a:pPr indent="0" marL="0">
              <a:buNone/>
            </a:pPr>
            <a:r>
              <a:rPr lang="en-US" sz="2000" b="1" dirty="0">
                <a:solidFill>
                  <a:srgbClr val="123B52"/>
                </a:solidFill>
              </a:rPr>
              <a:t>Three sentences:</a:t>
            </a:r>
            <a:endParaRPr lang="en-US" sz="2000" dirty="0"/>
          </a:p>
        </p:txBody>
      </p:sp>
      <p:sp>
        <p:nvSpPr>
          <p:cNvPr id="5" name="Shape 3"/>
          <p:cNvSpPr/>
          <p:nvPr/>
        </p:nvSpPr>
        <p:spPr>
          <a:xfrm>
            <a:off x="914400" y="1965960"/>
            <a:ext cx="10287000" cy="713232"/>
          </a:xfrm>
          <a:prstGeom prst="roundRect">
            <a:avLst>
              <a:gd name="adj" fmla="val 10256"/>
            </a:avLst>
          </a:prstGeom>
          <a:solidFill>
            <a:srgbClr val="FFFFFF"/>
          </a:solidFill>
          <a:ln w="12700">
            <a:solidFill>
              <a:srgbClr val="D8E1E8"/>
            </a:solidFill>
            <a:prstDash val="solid"/>
          </a:ln>
        </p:spPr>
      </p:sp>
      <p:sp>
        <p:nvSpPr>
          <p:cNvPr id="6" name="Shape 4"/>
          <p:cNvSpPr/>
          <p:nvPr/>
        </p:nvSpPr>
        <p:spPr>
          <a:xfrm>
            <a:off x="1143000" y="2121408"/>
            <a:ext cx="420624" cy="301752"/>
          </a:xfrm>
          <a:prstGeom prst="roundRect">
            <a:avLst>
              <a:gd name="adj" fmla="val 24242"/>
            </a:avLst>
          </a:prstGeom>
          <a:solidFill>
            <a:srgbClr val="18A7B5"/>
          </a:solidFill>
          <a:ln w="12700">
            <a:solidFill>
              <a:srgbClr val="18A7B5"/>
            </a:solidFill>
            <a:prstDash val="solid"/>
          </a:ln>
        </p:spPr>
      </p:sp>
      <p:sp>
        <p:nvSpPr>
          <p:cNvPr id="7" name="Text 5"/>
          <p:cNvSpPr/>
          <p:nvPr/>
        </p:nvSpPr>
        <p:spPr>
          <a:xfrm>
            <a:off x="1143000" y="2189988"/>
            <a:ext cx="420624" cy="146304"/>
          </a:xfrm>
          <a:prstGeom prst="rect">
            <a:avLst/>
          </a:prstGeom>
          <a:noFill/>
          <a:ln/>
        </p:spPr>
        <p:txBody>
          <a:bodyPr wrap="square" lIns="0" tIns="0" rIns="0" bIns="0" rtlCol="0" anchor="ctr"/>
          <a:lstStyle/>
          <a:p>
            <a:pPr algn="ctr" indent="0" marL="0">
              <a:buNone/>
            </a:pPr>
            <a:r>
              <a:rPr lang="en-US" sz="900" b="1" dirty="0">
                <a:solidFill>
                  <a:srgbClr val="FFFFFF"/>
                </a:solidFill>
              </a:rPr>
              <a:t>1</a:t>
            </a:r>
            <a:endParaRPr lang="en-US" sz="900" dirty="0"/>
          </a:p>
        </p:txBody>
      </p:sp>
      <p:sp>
        <p:nvSpPr>
          <p:cNvPr id="8" name="Text 6"/>
          <p:cNvSpPr/>
          <p:nvPr/>
        </p:nvSpPr>
        <p:spPr>
          <a:xfrm>
            <a:off x="1755648" y="2148840"/>
            <a:ext cx="9098280" cy="256032"/>
          </a:xfrm>
          <a:prstGeom prst="rect">
            <a:avLst/>
          </a:prstGeom>
          <a:noFill/>
          <a:ln/>
        </p:spPr>
        <p:txBody>
          <a:bodyPr wrap="square" lIns="0" tIns="0" rIns="0" bIns="0" rtlCol="0" anchor="ctr">
            <a:normAutofit/>
          </a:bodyPr>
          <a:lstStyle/>
          <a:p>
            <a:pPr indent="0" marL="0">
              <a:buNone/>
            </a:pPr>
            <a:r>
              <a:rPr lang="en-US" sz="1750" b="1" dirty="0">
                <a:solidFill>
                  <a:srgbClr val="123B52"/>
                </a:solidFill>
              </a:rPr>
              <a:t>Type hints describe expectations. Pydantic validates real input.</a:t>
            </a:r>
            <a:endParaRPr lang="en-US" sz="1750" dirty="0"/>
          </a:p>
        </p:txBody>
      </p:sp>
      <p:sp>
        <p:nvSpPr>
          <p:cNvPr id="9" name="Shape 7"/>
          <p:cNvSpPr/>
          <p:nvPr/>
        </p:nvSpPr>
        <p:spPr>
          <a:xfrm>
            <a:off x="914400" y="2926080"/>
            <a:ext cx="10287000" cy="713232"/>
          </a:xfrm>
          <a:prstGeom prst="roundRect">
            <a:avLst>
              <a:gd name="adj" fmla="val 10256"/>
            </a:avLst>
          </a:prstGeom>
          <a:solidFill>
            <a:srgbClr val="FFFFFF"/>
          </a:solidFill>
          <a:ln w="12700">
            <a:solidFill>
              <a:srgbClr val="D8E1E8"/>
            </a:solidFill>
            <a:prstDash val="solid"/>
          </a:ln>
        </p:spPr>
      </p:sp>
      <p:sp>
        <p:nvSpPr>
          <p:cNvPr id="10" name="Shape 8"/>
          <p:cNvSpPr/>
          <p:nvPr/>
        </p:nvSpPr>
        <p:spPr>
          <a:xfrm>
            <a:off x="1143000" y="3081528"/>
            <a:ext cx="420624" cy="301752"/>
          </a:xfrm>
          <a:prstGeom prst="roundRect">
            <a:avLst>
              <a:gd name="adj" fmla="val 24242"/>
            </a:avLst>
          </a:prstGeom>
          <a:solidFill>
            <a:srgbClr val="2D9D78"/>
          </a:solidFill>
          <a:ln w="12700">
            <a:solidFill>
              <a:srgbClr val="2D9D78"/>
            </a:solidFill>
            <a:prstDash val="solid"/>
          </a:ln>
        </p:spPr>
      </p:sp>
      <p:sp>
        <p:nvSpPr>
          <p:cNvPr id="11" name="Text 9"/>
          <p:cNvSpPr/>
          <p:nvPr/>
        </p:nvSpPr>
        <p:spPr>
          <a:xfrm>
            <a:off x="1143000" y="3150108"/>
            <a:ext cx="420624" cy="146304"/>
          </a:xfrm>
          <a:prstGeom prst="rect">
            <a:avLst/>
          </a:prstGeom>
          <a:noFill/>
          <a:ln/>
        </p:spPr>
        <p:txBody>
          <a:bodyPr wrap="square" lIns="0" tIns="0" rIns="0" bIns="0" rtlCol="0" anchor="ctr"/>
          <a:lstStyle/>
          <a:p>
            <a:pPr algn="ctr" indent="0" marL="0">
              <a:buNone/>
            </a:pPr>
            <a:r>
              <a:rPr lang="en-US" sz="900" b="1" dirty="0">
                <a:solidFill>
                  <a:srgbClr val="FFFFFF"/>
                </a:solidFill>
              </a:rPr>
              <a:t>2</a:t>
            </a:r>
            <a:endParaRPr lang="en-US" sz="900" dirty="0"/>
          </a:p>
        </p:txBody>
      </p:sp>
      <p:sp>
        <p:nvSpPr>
          <p:cNvPr id="12" name="Text 10"/>
          <p:cNvSpPr/>
          <p:nvPr/>
        </p:nvSpPr>
        <p:spPr>
          <a:xfrm>
            <a:off x="1755648" y="3108960"/>
            <a:ext cx="9098280" cy="256032"/>
          </a:xfrm>
          <a:prstGeom prst="rect">
            <a:avLst/>
          </a:prstGeom>
          <a:noFill/>
          <a:ln/>
        </p:spPr>
        <p:txBody>
          <a:bodyPr wrap="square" lIns="0" tIns="0" rIns="0" bIns="0" rtlCol="0" anchor="ctr">
            <a:normAutofit/>
          </a:bodyPr>
          <a:lstStyle/>
          <a:p>
            <a:pPr indent="0" marL="0">
              <a:buNone/>
            </a:pPr>
            <a:r>
              <a:rPr lang="en-US" sz="1750" b="1" dirty="0">
                <a:solidFill>
                  <a:srgbClr val="123B52"/>
                </a:solidFill>
              </a:rPr>
              <a:t>A good tool has a clear input model, clear output model, and one focused function.</a:t>
            </a:r>
            <a:endParaRPr lang="en-US" sz="1750" dirty="0"/>
          </a:p>
        </p:txBody>
      </p:sp>
      <p:sp>
        <p:nvSpPr>
          <p:cNvPr id="13" name="Shape 11"/>
          <p:cNvSpPr/>
          <p:nvPr/>
        </p:nvSpPr>
        <p:spPr>
          <a:xfrm>
            <a:off x="914400" y="3886200"/>
            <a:ext cx="10287000" cy="713232"/>
          </a:xfrm>
          <a:prstGeom prst="roundRect">
            <a:avLst>
              <a:gd name="adj" fmla="val 10256"/>
            </a:avLst>
          </a:prstGeom>
          <a:solidFill>
            <a:srgbClr val="FFFFFF"/>
          </a:solidFill>
          <a:ln w="12700">
            <a:solidFill>
              <a:srgbClr val="D8E1E8"/>
            </a:solidFill>
            <a:prstDash val="solid"/>
          </a:ln>
        </p:spPr>
      </p:sp>
      <p:sp>
        <p:nvSpPr>
          <p:cNvPr id="14" name="Shape 12"/>
          <p:cNvSpPr/>
          <p:nvPr/>
        </p:nvSpPr>
        <p:spPr>
          <a:xfrm>
            <a:off x="1143000" y="4041648"/>
            <a:ext cx="420624" cy="301752"/>
          </a:xfrm>
          <a:prstGeom prst="roundRect">
            <a:avLst>
              <a:gd name="adj" fmla="val 24242"/>
            </a:avLst>
          </a:prstGeom>
          <a:solidFill>
            <a:srgbClr val="E09F3E"/>
          </a:solidFill>
          <a:ln w="12700">
            <a:solidFill>
              <a:srgbClr val="E09F3E"/>
            </a:solidFill>
            <a:prstDash val="solid"/>
          </a:ln>
        </p:spPr>
      </p:sp>
      <p:sp>
        <p:nvSpPr>
          <p:cNvPr id="15" name="Text 13"/>
          <p:cNvSpPr/>
          <p:nvPr/>
        </p:nvSpPr>
        <p:spPr>
          <a:xfrm>
            <a:off x="1143000" y="4110228"/>
            <a:ext cx="420624" cy="146304"/>
          </a:xfrm>
          <a:prstGeom prst="rect">
            <a:avLst/>
          </a:prstGeom>
          <a:noFill/>
          <a:ln/>
        </p:spPr>
        <p:txBody>
          <a:bodyPr wrap="square" lIns="0" tIns="0" rIns="0" bIns="0" rtlCol="0" anchor="ctr"/>
          <a:lstStyle/>
          <a:p>
            <a:pPr algn="ctr" indent="0" marL="0">
              <a:buNone/>
            </a:pPr>
            <a:r>
              <a:rPr lang="en-US" sz="900" b="1" dirty="0">
                <a:solidFill>
                  <a:srgbClr val="FFFFFF"/>
                </a:solidFill>
              </a:rPr>
              <a:t>3</a:t>
            </a:r>
            <a:endParaRPr lang="en-US" sz="900" dirty="0"/>
          </a:p>
        </p:txBody>
      </p:sp>
      <p:sp>
        <p:nvSpPr>
          <p:cNvPr id="16" name="Text 14"/>
          <p:cNvSpPr/>
          <p:nvPr/>
        </p:nvSpPr>
        <p:spPr>
          <a:xfrm>
            <a:off x="1755648" y="4069080"/>
            <a:ext cx="9098280" cy="256032"/>
          </a:xfrm>
          <a:prstGeom prst="rect">
            <a:avLst/>
          </a:prstGeom>
          <a:noFill/>
          <a:ln/>
        </p:spPr>
        <p:txBody>
          <a:bodyPr wrap="square" lIns="0" tIns="0" rIns="0" bIns="0" rtlCol="0" anchor="ctr">
            <a:normAutofit/>
          </a:bodyPr>
          <a:lstStyle/>
          <a:p>
            <a:pPr indent="0" marL="0">
              <a:buNone/>
            </a:pPr>
            <a:r>
              <a:rPr lang="en-US" sz="1750" b="1" dirty="0">
                <a:solidFill>
                  <a:srgbClr val="123B52"/>
                </a:solidFill>
              </a:rPr>
              <a:t>FastAPI exposes that function so another program — later, an agent — can call it.</a:t>
            </a:r>
            <a:endParaRPr lang="en-US" sz="1750" dirty="0"/>
          </a:p>
        </p:txBody>
      </p:sp>
      <p:sp>
        <p:nvSpPr>
          <p:cNvPr id="17" name="Text 15"/>
          <p:cNvSpPr/>
          <p:nvPr/>
        </p:nvSpPr>
        <p:spPr>
          <a:xfrm>
            <a:off x="914400" y="5303520"/>
            <a:ext cx="10058400" cy="320040"/>
          </a:xfrm>
          <a:prstGeom prst="rect">
            <a:avLst/>
          </a:prstGeom>
          <a:noFill/>
          <a:ln/>
        </p:spPr>
        <p:txBody>
          <a:bodyPr wrap="square" lIns="0" tIns="0" rIns="0" bIns="0" rtlCol="0" anchor="ctr"/>
          <a:lstStyle/>
          <a:p>
            <a:pPr algn="ctr" indent="0" marL="0">
              <a:buNone/>
            </a:pPr>
            <a:r>
              <a:rPr lang="en-US" sz="1700" b="1" dirty="0">
                <a:solidFill>
                  <a:srgbClr val="123B52"/>
                </a:solidFill>
              </a:rPr>
              <a:t>Next lab: APIs in practice, then LLMs and Ollama.</a:t>
            </a:r>
            <a:endParaRPr lang="en-US" sz="1700" dirty="0"/>
          </a:p>
        </p:txBody>
      </p:sp>
      <p:sp>
        <p:nvSpPr>
          <p:cNvPr id="25" name="Slide Number Placeholder 0"/>
          <p:cNvSpPr>
            <a:spLocks noGrp="1"/>
          </p:cNvSpPr>
          <p:nvPr>
            <p:ph type="sldNum" sz="quarter" idx="4294967295"/>
          </p:nvPr>
        </p:nvSpPr>
        <p:spPr>
          <a:xfrm>
            <a:off x="11612880" y="6547104"/>
            <a:ext cx="800000" cy="300000"/>
          </a:xfrm>
          <a:prstGeom prst="rect">
            <a:avLst/>
          </a:prstGeom>
          <a:extLst>
            <a:ext uri="{C572A759-6A51-4108-AA02-DFA0A04FC94B}">
              <ma14:wrappingTextBoxFlag xmlns:ma14="http://schemas.microsoft.com/office/mac/drawingml/2011/main" val="0"/>
            </a:ext>
          </a:extLst>
        </p:spPr>
        <p:txBody>
          <a:bodyPr/>
          <a:lstStyle>
            <a:lvl1pPr>
              <a:defRPr sz="780">
                <a:solidFill>
                  <a:srgbClr val="5B6B7A"/>
                </a:solidFill>
                <a:latin typeface="Aptos"/>
                <a:ea typeface="Aptos"/>
                <a:cs typeface="Aptos"/>
              </a:defRPr>
            </a:lvl1pPr>
          </a:lstStyle>
          <a:p>
            <a:pPr algn="l"/>
            <a:fld id="{F7021451-1387-4CA6-816F-3879F97B5CBC}" type="slidenum">
              <a:rPr b="0" lang="en-US"/>
              <a:t>23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Department of Computer Science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CS415 Lab 2 — Structured Data &amp; APIs for AI Agents</dc:title>
  <dc:subject>Lab 2 — Pydantic &amp; FastAPI for AI Agents</dc:subject>
  <dc:creator>CS415</dc:creator>
  <cp:lastModifiedBy>CS415</cp:lastModifiedBy>
  <cp:revision>1</cp:revision>
  <dcterms:created xsi:type="dcterms:W3CDTF">2026-10-05T20:52:19Z</dcterms:created>
  <dcterms:modified xsi:type="dcterms:W3CDTF">2026-10-05T20:52:19Z</dcterms:modified>
</cp:coreProperties>
</file>