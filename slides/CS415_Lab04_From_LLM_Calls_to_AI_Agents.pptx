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one continuous Ticket System. We are not starting a different application. Review Labs 01–03, then build five examples in sec-04. Memory is theory only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lab introduced the ticket classification function? Lab 02. Which lab introduced provider-independent LLM access? Lab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accumulation, not rewrites. Lab 04 remains in sec-04; sec-03 is unchanged. The priority/category rules are the same Lab 02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original Ticket and TicketResult; already taught in Lab 02. Pydantic also validates tool arguments in Lab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existing POST /tickets/classify uses deterministic service. LLM provider code contains URLs/auth while ticket service remains LLM-free.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milestone can be demoed separately. Memory is NOT implemented today: use concepts to prepare for the next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mirrors actual sec-04 examples 00 through 04. No file 05_memory in this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practical work was tested under sec-04. Do not create a new sec-05 during this session. Copying previous lab is for teaching snapshots; never commit real .env secrets.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back to earlier example 00_llm_only.py, but today the prompt always uses our ticket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Who selected classify_ticket? Python. This is not yet an agent because the model did not request an executable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shortened representative extract: the actual script has a longer system prompt; explain that the response is returned as a dict containing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safe system prompts: do not claim to have checked account state. The LLM composes text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observed working SovereignEG streaming. Groq and Ollama streaming remain explicit student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Does streaming change the classification? No. Does the model necessarily generate faster? Not necessarily; it lets output arrive sooner.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getattr with default None gracefully detects missing provider capability. This is the class streaming interface implemented for this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source safely skips chunks without choices and handles byte lines; the slide condenses that logic to illustrate data: chunks, [DONE], choices[0].delta.content. SSE is not NDJSON.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shortened but self-contained version of the actual example: the real system prompt provides more guidance. Emphasize classify_ticket() runs before chat_stream() and the reply prints incrementally.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assignment explicit on slides: GROQ uses SSE; Ollama /api/chat uses newline-delimited JSON. No requirement to modify classify_ticket. Streaming should never expose secrets.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model-directed action: the LLM requests a function, Python runs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 makes the execution decision? Model proposes a tool request, the application enforces its own authorization and validates.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urgent is required in the Tool Schema even though Ticket gives it a default value. Schema informs model input shape; Pydantic still performs runtime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Lab03, SovereignProvider.chat accepted tools dicts. Using tools does not guarantee the model requests a tool; check response.get("tool_calls").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literal call ID is illustrative; provider-generated IDs vary. Some APIs return JSON string arguments, others may already be dict-like after parsing.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example wraps json.loads + model_validate in try/except. Security teaching: allowlist names, validate argument shape, reject unknown tools; do not use eval/exec.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Example00: our Python deliberately called the service before LLM. Example02: LLM requested the function, Python validated and ran it. Still no returned result to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examples remain Ticket System use cases, not weather/time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get_ticket_status and get_ticket_details use in-memory sample data; classify_ticket_tool reuses original deterministic classify_ticket.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Pydantic .model_json_schema() generates JSON Schema rather than hand-copying every property. Model-generated input still needs actual Pydantic validation at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code checks if name is allowlisted before indexing, catches parsing, validation, and tool errors. Explain why arbitrary execution from a model-generated name is unsafe.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three calls to client.chat each have fresh messages in Example03. A model can choose differently; scripts use guiding system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tell students we built a storage system. This is a teaching fixture only, not a real database and not memory across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package was first titled Lab 05 during preparation but is taught as Example 04 in sec-04. Do not refer to it as a new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model choice and application execution; model can ask for multiple tools in a single round, then see all tool outputs before continuing.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repeat as a concept: after a tool result, the next model call reads the updated history. Dashed "no" path is illustrative. The true Python code branches on calls and returns a final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script validates tool-call IDs before appending. execute_requested_tool handles malformed JSON, Pydantic errors, unknown tool names and execution exceptions. Loop is bounded.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tool message is not an assistant message. The tool_call_id connects a tool response to one specific request, important if model asks for multiple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prompt specifically asks to fetch details before classifying stored tickets; true model sequencing can vary. For all tools, execution is in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production agent needs further security such as authn/authz, audit logs, prompt-injection defense, rate limits and approvals for side effects. Our lab deliberately demonstrates only in-memory read tools and deterministic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Commands are for running from sec-04; old Lab03 snapshot stays untouched. Ensure .env is local and ignored by git. Learners doing streaming assignment switch provider after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 Python service; SSE uses data: events, Ollama streams JSON records; no; allowlisted handlers only; tool_call_id matches tool output to assistant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Memory example is coded today. We end with conceptual foundations for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precise: the typical stateless chat-completions API does not automatically retain previous call context. Some platforms offer server-side conversations, but our lab uses client-managed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Example04 messages list; it contains the assistant tool calls and tool results only within that run_agent call. History is data, not itself a memory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Short-term does NOT have to disappear on process restart; it is a scope/working-context concept, not a mandatory storage duration. It may be checkpointed across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has not magically learned the fact as model weights. The app saved a preference and decides when to inject it. Avoid saving unnecessary personal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is business data; do not treat a stale remembered status as authoritative. Read the latest ticket data through an appropriate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Conversation History can exist in a file, RAM, or DB. Short-term memory may persist via checkpointing; long-term is about reuse beyond the immediate session. Storage medium alone does not define effective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has a finite context window. Summarization and retrieval have trade-offs (loss of detail, stale data). Preview only: do not introduce code for memory in Lab04.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message: Today we built an agent loop around our Ticket System, and discussed why memory management will matter when conversations span tasks and sessions. The next lab will implement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100584" cy="544068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813816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spc="210" kern="0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04</a:t>
            </a:r>
            <a:endParaRPr lang="en-US" sz="1370" dirty="0"/>
          </a:p>
        </p:txBody>
      </p:sp>
      <p:sp>
        <p:nvSpPr>
          <p:cNvPr id="4" name="Text 2"/>
          <p:cNvSpPr/>
          <p:nvPr/>
        </p:nvSpPr>
        <p:spPr>
          <a:xfrm>
            <a:off x="950976" y="1591056"/>
            <a:ext cx="106984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LLM Calls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AI Agents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05840" y="382219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C4D2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an AI-Powered Ticket System — one capability at a time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05840" y="5614416"/>
            <a:ext cx="9875520" cy="0"/>
          </a:xfrm>
          <a:prstGeom prst="line">
            <a:avLst/>
          </a:prstGeom>
          <a:noFill/>
          <a:ln w="12700">
            <a:solidFill>
              <a:srgbClr val="344E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84301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A9D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 •  PYDANTIC  •  FASTAPI  •  SOVEREIGNEG  •  TOOLS  •  AGENT LOOP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11082528" y="641908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759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 / WHERE WE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Previously in CS 415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lab adds a layer to the same Ticket System.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993392"/>
            <a:ext cx="3511296" cy="3035808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93392"/>
            <a:ext cx="59436" cy="3035808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8541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01  /  Python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3081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Functions, arguments, return values, type hints, and docstrings.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Foundation: reusable Python functions.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361688" y="1993392"/>
            <a:ext cx="3511296" cy="3035808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1688" y="1993392"/>
            <a:ext cx="59436" cy="3035808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8541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02  /  APIs</a:t>
            </a:r>
            <a:endParaRPr lang="en-US" sz="1930" dirty="0"/>
          </a:p>
        </p:txBody>
      </p:sp>
      <p:sp>
        <p:nvSpPr>
          <p:cNvPr id="16" name="Text 14"/>
          <p:cNvSpPr/>
          <p:nvPr/>
        </p:nvSpPr>
        <p:spPr>
          <a:xfrm>
            <a:off x="4572000" y="2651760"/>
            <a:ext cx="3081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models + FastAPI endpoint.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classification with deterministic rules.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65008" y="1993392"/>
            <a:ext cx="3474720" cy="3035808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1993392"/>
            <a:ext cx="59436" cy="3035808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18541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03  /  LLMs</a:t>
            </a:r>
            <a:endParaRPr lang="en-US" sz="1930" dirty="0"/>
          </a:p>
        </p:txBody>
      </p:sp>
      <p:sp>
        <p:nvSpPr>
          <p:cNvPr id="20" name="Text 18"/>
          <p:cNvSpPr/>
          <p:nvPr/>
        </p:nvSpPr>
        <p:spPr>
          <a:xfrm>
            <a:off x="8275320" y="2651760"/>
            <a:ext cx="30449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Ticket API.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Ollama, Colab, Groq, SovereignEG + one LLMClient.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94944" y="5504688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568696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04 connects our existing business logic to model-selected tools.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 / CONTINUOUS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Ticket System, four milestones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grows; old working behavior stays intact.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2157984"/>
            <a:ext cx="2496312" cy="160934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441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2852928"/>
            <a:ext cx="21579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function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346704" y="2798064"/>
            <a:ext cx="283464" cy="301752"/>
          </a:xfrm>
          <a:prstGeom prst="chevron">
            <a:avLst/>
          </a:prstGeom>
          <a:solidFill>
            <a:srgbClr val="079C94"/>
          </a:solidFill>
          <a:ln w="1270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157984"/>
            <a:ext cx="2496312" cy="160934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9624" y="2441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2852928"/>
            <a:ext cx="21579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API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254496" y="2798064"/>
            <a:ext cx="283464" cy="301752"/>
          </a:xfrm>
          <a:prstGeom prst="chevron">
            <a:avLst/>
          </a:prstGeom>
          <a:solidFill>
            <a:srgbClr val="079C94"/>
          </a:solidFill>
          <a:ln w="1270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5392" y="2157984"/>
            <a:ext cx="2496312" cy="160934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57416" y="2441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48272" y="2852928"/>
            <a:ext cx="21579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LLMClient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62288" y="2798064"/>
            <a:ext cx="283464" cy="301752"/>
          </a:xfrm>
          <a:prstGeom prst="chevron">
            <a:avLst/>
          </a:prstGeom>
          <a:solidFill>
            <a:srgbClr val="079C94"/>
          </a:solidFill>
          <a:ln w="1270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73184" y="2157984"/>
            <a:ext cx="2496312" cy="1609344"/>
          </a:xfrm>
          <a:prstGeom prst="roundRect">
            <a:avLst>
              <a:gd name="adj" fmla="val 6818"/>
            </a:avLst>
          </a:prstGeom>
          <a:solidFill>
            <a:srgbClr val="E5F6F4"/>
          </a:solidFill>
          <a:ln w="10160">
            <a:solidFill>
              <a:srgbClr val="079C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65208" y="2441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56064" y="2852928"/>
            <a:ext cx="21579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+ tools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822960" y="4434840"/>
            <a:ext cx="10561320" cy="877824"/>
          </a:xfrm>
          <a:prstGeom prst="roundRect">
            <a:avLst>
              <a:gd name="adj" fmla="val 8333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8136" y="4617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17520" y="4581144"/>
            <a:ext cx="8001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Ticket + classify_ticket() — do not replace the business rules with guesses.</a:t>
            </a:r>
            <a:endParaRPr lang="en-US" sz="17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 / LAB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original Ticket contract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inputs and keeps outputs predictable.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7086600" cy="3840480"/>
          </a:xfrm>
          <a:prstGeom prst="roundRect">
            <a:avLst>
              <a:gd name="adj" fmla="val 2381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828800"/>
            <a:ext cx="64008" cy="384048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002536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TICKET_API / MODELS.PY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69848" y="2386584"/>
            <a:ext cx="6647688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Ticket(BaseModel):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customer_name: str = Field(min_length=2)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message: str = Field(min_length=5)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urgent: bool = False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TicketResult(BaseModel):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category: Literal["billing", "technical", "general"]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priority: Literal["high", "normal"]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090672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2020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input</a:t>
            </a:r>
            <a:endParaRPr lang="en-US" sz="1930" dirty="0"/>
          </a:p>
        </p:txBody>
      </p:sp>
      <p:sp>
        <p:nvSpPr>
          <p:cNvPr id="15" name="Text 13"/>
          <p:cNvSpPr/>
          <p:nvPr/>
        </p:nvSpPr>
        <p:spPr>
          <a:xfrm>
            <a:off x="8439912" y="2487168"/>
            <a:ext cx="2660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≥ 2 chars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≥ 5 chars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0" y="3685032"/>
            <a:ext cx="3090672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38770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Constrained result</a:t>
            </a:r>
            <a:endParaRPr lang="en-US" sz="1930" dirty="0"/>
          </a:p>
        </p:txBody>
      </p:sp>
      <p:sp>
        <p:nvSpPr>
          <p:cNvPr id="18" name="Text 16"/>
          <p:cNvSpPr/>
          <p:nvPr/>
        </p:nvSpPr>
        <p:spPr>
          <a:xfrm>
            <a:off x="8439912" y="434340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category 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values only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 / LAB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already separated concerns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layer must not change our original FastAPI classification.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1956816"/>
            <a:ext cx="5276088" cy="3145536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956816"/>
            <a:ext cx="59436" cy="3145536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1488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API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877824" y="2615184"/>
            <a:ext cx="48463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models.py   → validated 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services.py → classification rules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routes.py   → HTTP endpoints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     → application setup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45352" y="1956816"/>
            <a:ext cx="5276088" cy="3145536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956816"/>
            <a:ext cx="59436" cy="3145536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1488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Layer</a:t>
            </a:r>
            <a:endParaRPr lang="en-US" sz="1930" dirty="0"/>
          </a:p>
        </p:txBody>
      </p:sp>
      <p:sp>
        <p:nvSpPr>
          <p:cNvPr id="16" name="Text 14"/>
          <p:cNvSpPr/>
          <p:nvPr/>
        </p:nvSpPr>
        <p:spPr>
          <a:xfrm>
            <a:off x="6455664" y="2615184"/>
            <a:ext cx="48463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config.py       → choose a provider</a:t>
            </a:r>
            <a:endParaRPr lang="en-US" sz="1730" dirty="0"/>
          </a:p>
          <a:p>
            <a:pPr indent="0" marL="0">
              <a:buNone/>
            </a:pPr>
            <a:r>
              <a:rPr lang="en-US" sz="173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client.py       → common LLMClient</a:t>
            </a:r>
            <a:endParaRPr lang="en-US" sz="1730" dirty="0"/>
          </a:p>
          <a:p>
            <a:pPr indent="0" marL="0">
              <a:buNone/>
            </a:pPr>
            <a:r>
              <a:rPr lang="en-US" sz="173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providers/      → HTTP + auth details</a:t>
            </a:r>
            <a:endParaRPr lang="en-US" sz="1730" dirty="0"/>
          </a:p>
          <a:p>
            <a:pPr indent="0" marL="0">
              <a:buNone/>
            </a:pPr>
            <a:r>
              <a:rPr lang="en-US" sz="173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/ Groq / SovereignEG</a:t>
            </a:r>
            <a:endParaRPr lang="en-US" sz="1730" dirty="0"/>
          </a:p>
        </p:txBody>
      </p:sp>
      <p:sp>
        <p:nvSpPr>
          <p:cNvPr id="17" name="Shape 15"/>
          <p:cNvSpPr/>
          <p:nvPr/>
        </p:nvSpPr>
        <p:spPr>
          <a:xfrm>
            <a:off x="694944" y="5577840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641848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03 provided model access — not a finished autonomous agent.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04 /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will learn today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runnable examples plus a conceptual memory wrap-up.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" y="1810512"/>
            <a:ext cx="10716768" cy="640080"/>
          </a:xfrm>
          <a:prstGeom prst="roundRect">
            <a:avLst>
              <a:gd name="adj" fmla="val 8571"/>
            </a:avLst>
          </a:prstGeom>
          <a:solidFill>
            <a:srgbClr val="EAF0F8"/>
          </a:solidFill>
          <a:ln w="10160">
            <a:solidFill>
              <a:srgbClr val="EAF0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965960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93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1344168" y="1947672"/>
            <a:ext cx="9939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customer-support replies with an LLM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44168" y="2313432"/>
            <a:ext cx="99669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" y="2569464"/>
            <a:ext cx="10716768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2724912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7523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1344168" y="2706624"/>
            <a:ext cx="9939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a reply with SovereignEG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4168" y="3072384"/>
            <a:ext cx="99669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" y="3328416"/>
            <a:ext cx="10716768" cy="640080"/>
          </a:xfrm>
          <a:prstGeom prst="roundRect">
            <a:avLst>
              <a:gd name="adj" fmla="val 8571"/>
            </a:avLst>
          </a:prstGeom>
          <a:solidFill>
            <a:srgbClr val="EAF0F8"/>
          </a:solidFill>
          <a:ln w="10160">
            <a:solidFill>
              <a:srgbClr val="EAF0F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3483864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5112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1344168" y="3465576"/>
            <a:ext cx="9939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and request a real Python tool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4168" y="3831336"/>
            <a:ext cx="99669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2376" y="4087368"/>
            <a:ext cx="10716768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" y="4242816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702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1344168" y="4224528"/>
            <a:ext cx="9939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from multiple Ticket System tools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44168" y="4590288"/>
            <a:ext cx="99669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2376" y="4846320"/>
            <a:ext cx="10716768" cy="640080"/>
          </a:xfrm>
          <a:prstGeom prst="roundRect">
            <a:avLst>
              <a:gd name="adj" fmla="val 8571"/>
            </a:avLst>
          </a:prstGeom>
          <a:solidFill>
            <a:srgbClr val="EAF0F8"/>
          </a:solidFill>
          <a:ln w="10160">
            <a:solidFill>
              <a:srgbClr val="EAF0F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" y="5001768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0292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70" dirty="0"/>
          </a:p>
        </p:txBody>
      </p:sp>
      <p:sp>
        <p:nvSpPr>
          <p:cNvPr id="32" name="Text 30"/>
          <p:cNvSpPr/>
          <p:nvPr/>
        </p:nvSpPr>
        <p:spPr>
          <a:xfrm>
            <a:off x="1344168" y="4983480"/>
            <a:ext cx="9939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tool results in a bounded agent loop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44168" y="5349240"/>
            <a:ext cx="99669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4944" y="5879592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943600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theory: Conversation History vs Short-Term vs Long-Term Memory.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04 /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lesson ladder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example changes only one key capability.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01368"/>
            <a:ext cx="10762488" cy="704088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984248"/>
            <a:ext cx="603504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0299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01368" y="1929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only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87952" y="194767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Python classification + LLM reply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731520" y="2606040"/>
            <a:ext cx="10762488" cy="704088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2788920"/>
            <a:ext cx="603504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283464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01368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87952" y="275234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reply; fragments arrive progressively</a:t>
            </a:r>
            <a:endParaRPr lang="en-US" sz="1680" dirty="0"/>
          </a:p>
        </p:txBody>
      </p:sp>
      <p:sp>
        <p:nvSpPr>
          <p:cNvPr id="19" name="Shape 17"/>
          <p:cNvSpPr/>
          <p:nvPr/>
        </p:nvSpPr>
        <p:spPr>
          <a:xfrm>
            <a:off x="731520" y="3410712"/>
            <a:ext cx="10762488" cy="704088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3593592"/>
            <a:ext cx="603504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639312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01368" y="35387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tool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187952" y="355701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requests classify_ticket()</a:t>
            </a:r>
            <a:endParaRPr lang="en-US" sz="1680" dirty="0"/>
          </a:p>
        </p:txBody>
      </p:sp>
      <p:sp>
        <p:nvSpPr>
          <p:cNvPr id="24" name="Shape 22"/>
          <p:cNvSpPr/>
          <p:nvPr/>
        </p:nvSpPr>
        <p:spPr>
          <a:xfrm>
            <a:off x="731520" y="4215384"/>
            <a:ext cx="10762488" cy="704088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4398264"/>
            <a:ext cx="603504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" y="4443984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01368" y="4343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tools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187952" y="436168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chooses among 3 ticket tools</a:t>
            </a:r>
            <a:endParaRPr lang="en-US" sz="1680" dirty="0"/>
          </a:p>
        </p:txBody>
      </p:sp>
      <p:sp>
        <p:nvSpPr>
          <p:cNvPr id="29" name="Shape 27"/>
          <p:cNvSpPr/>
          <p:nvPr/>
        </p:nvSpPr>
        <p:spPr>
          <a:xfrm>
            <a:off x="731520" y="5020056"/>
            <a:ext cx="10762488" cy="704088"/>
          </a:xfrm>
          <a:prstGeom prst="roundRect">
            <a:avLst>
              <a:gd name="adj" fmla="val 12987"/>
            </a:avLst>
          </a:prstGeom>
          <a:solidFill>
            <a:srgbClr val="E5F6F4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5202936"/>
            <a:ext cx="603504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" y="5248656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01368" y="51480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loop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187952" y="516636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results return to LLM; repeat</a:t>
            </a:r>
            <a:endParaRPr lang="en-US" sz="1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04 / REPOSITORY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in sec-04, preserve previous labs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modular Ticket API and LLM providers from sec-03.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3816" y="1828800"/>
            <a:ext cx="10561320" cy="4187952"/>
          </a:xfrm>
          <a:prstGeom prst="roundRect">
            <a:avLst>
              <a:gd name="adj" fmla="val 2183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1828800"/>
            <a:ext cx="64008" cy="4187952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002536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04 PROJECT LAYOUT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60704" y="2386584"/>
            <a:ext cx="1012240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sec-04/</a:t>
            </a:r>
            <a:endParaRPr lang="en-US" sz="15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├── ticket_api/       # models, services, routes, main</a:t>
            </a:r>
            <a:endParaRPr lang="en-US" sz="15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├── llm/              # config, client, providers</a:t>
            </a:r>
            <a:endParaRPr lang="en-US" sz="15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│   └── providers/    # ollama, groq, sovereign</a:t>
            </a:r>
            <a:endParaRPr lang="en-US" sz="15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└── examples/</a:t>
            </a:r>
            <a:endParaRPr lang="en-US" sz="15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├── 00_ticket_llm_only.py</a:t>
            </a:r>
            <a:endParaRPr lang="en-US" sz="15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├── 01_ticket_streaming.py</a:t>
            </a:r>
            <a:endParaRPr lang="en-US" sz="15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├── 02_ticket_first_tool.py</a:t>
            </a:r>
            <a:endParaRPr lang="en-US" sz="15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├── 03_ticket_multi_tools.py</a:t>
            </a:r>
            <a:endParaRPr lang="en-US" sz="15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8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└── 04_ticket_agent_loop.py</a:t>
            </a:r>
            <a:endParaRPr lang="en-US" sz="15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676656"/>
            <a:ext cx="118872" cy="544068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859536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PART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spc="110" kern="0" dirty="0">
                <a:solidFill>
                  <a:srgbClr val="B8CA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230428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Only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297680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BED0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customer reply from an already-classified ticket.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19104" y="64190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59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00 / BEHAVIOR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 basic AI-assisted Ticket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classifies first; the LLM only drafts the response.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04288"/>
            <a:ext cx="2514600" cy="1362456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786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Ahmed: cannot login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37560" y="2834640"/>
            <a:ext cx="283464" cy="301752"/>
          </a:xfrm>
          <a:prstGeom prst="chevron">
            <a:avLst/>
          </a:prstGeom>
          <a:solidFill>
            <a:srgbClr val="079C94"/>
          </a:solidFill>
          <a:ln w="1270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2304288"/>
            <a:ext cx="2514600" cy="1362456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25786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31336" y="294436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/ high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54496" y="2834640"/>
            <a:ext cx="283464" cy="301752"/>
          </a:xfrm>
          <a:prstGeom prst="chevron">
            <a:avLst/>
          </a:prstGeom>
          <a:solidFill>
            <a:srgbClr val="079C94"/>
          </a:solidFill>
          <a:ln w="1270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5392" y="2304288"/>
            <a:ext cx="2514600" cy="1362456"/>
          </a:xfrm>
          <a:prstGeom prst="roundRect">
            <a:avLst>
              <a:gd name="adj" fmla="val 6040"/>
            </a:avLst>
          </a:prstGeom>
          <a:solidFill>
            <a:srgbClr val="E5F6F4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25786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LLMCLIENT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48272" y="294436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a reply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71432" y="2834640"/>
            <a:ext cx="283464" cy="301752"/>
          </a:xfrm>
          <a:prstGeom prst="chevron">
            <a:avLst/>
          </a:prstGeom>
          <a:solidFill>
            <a:srgbClr val="079C94"/>
          </a:solidFill>
          <a:ln w="1270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328" y="2304288"/>
            <a:ext cx="2514600" cy="1362456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65208" y="25786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65208" y="294436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Customer-facing draft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94944" y="4663440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727448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tool calling yet: classify_ticket() runs before the LLM request.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55321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contrast: deterministic category + priority   ≠   generated wording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00 /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messages and call LLMClient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the same validated Ticket and classification function.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1819656"/>
            <a:ext cx="10661904" cy="4370832"/>
          </a:xfrm>
          <a:prstGeom prst="roundRect">
            <a:avLst>
              <a:gd name="adj" fmla="val 209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19656"/>
            <a:ext cx="64008" cy="4370832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993392"/>
            <a:ext cx="10296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00 / ESSENTIAL FLOW — SIMPLIFIED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1022299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5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ticket = Ticket(customer_name="Ahmed",</a:t>
            </a:r>
            <a:endParaRPr lang="en-US" sz="15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message="I cannot login to my account",</a:t>
            </a:r>
            <a:endParaRPr lang="en-US" sz="15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urgent=True)</a:t>
            </a:r>
            <a:endParaRPr lang="en-US" sz="15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result = classify_ticket(ticket)</a:t>
            </a:r>
            <a:endParaRPr lang="en-US" sz="1515" dirty="0"/>
          </a:p>
          <a:p>
            <a:pPr indent="0" marL="0">
              <a:lnSpc>
                <a:spcPct val="100000"/>
              </a:lnSpc>
              <a:buNone/>
            </a:pPr>
            <a:endParaRPr lang="en-US" sz="15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messages = [</a:t>
            </a:r>
            <a:endParaRPr lang="en-US" sz="15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{"role": "system", "content": "Write a helpful support reply."},</a:t>
            </a:r>
            <a:endParaRPr lang="en-US" sz="15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{"role": "user", "content": f"Ticket: {ticket.model_dump_json()}\n"</a:t>
            </a:r>
            <a:endParaRPr lang="en-US" sz="15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                f"Category: {result.category}\n"</a:t>
            </a:r>
            <a:endParaRPr lang="en-US" sz="15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                f"Priority: {result.priority}"},</a:t>
            </a:r>
            <a:endParaRPr lang="en-US" sz="15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]</a:t>
            </a:r>
            <a:endParaRPr lang="en-US" sz="15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reply = LLMClient().chat(messages)</a:t>
            </a:r>
            <a:endParaRPr lang="en-US" sz="15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print(reply["content"])</a:t>
            </a:r>
            <a:endParaRPr lang="en-US" sz="151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00 / WHAT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AI-powered here — and what is not?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generated text may vary, but classification must not.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4088" y="1984248"/>
            <a:ext cx="5276088" cy="3182112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1984248"/>
            <a:ext cx="59436" cy="3182112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7627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Python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914400" y="2642616"/>
            <a:ext cx="48463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classify_ticket() reads keywords.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"login"  → technical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urgent=True → high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input → same classification.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17920" y="1984248"/>
            <a:ext cx="5276088" cy="3182112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984248"/>
            <a:ext cx="59436" cy="3182112"/>
          </a:xfrm>
          <a:prstGeom prst="rect">
            <a:avLst/>
          </a:prstGeom>
          <a:solidFill>
            <a:srgbClr val="D98642"/>
          </a:solidFill>
          <a:ln w="10160">
            <a:solidFill>
              <a:srgbClr val="D9864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17627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model</a:t>
            </a:r>
            <a:endParaRPr lang="en-US" sz="1930" dirty="0"/>
          </a:p>
        </p:txBody>
      </p:sp>
      <p:sp>
        <p:nvSpPr>
          <p:cNvPr id="16" name="Text 14"/>
          <p:cNvSpPr/>
          <p:nvPr/>
        </p:nvSpPr>
        <p:spPr>
          <a:xfrm>
            <a:off x="6428232" y="2642616"/>
            <a:ext cx="48463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LLMClient.chat(messages) generates a reply.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wording is non-deterministic.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claiming account actions were performed.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4944" y="5586984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65099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successful chat request does not make the application an agent.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676656"/>
            <a:ext cx="118872" cy="544068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859536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PART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spc="110" kern="0" dirty="0">
                <a:solidFill>
                  <a:srgbClr val="B8CA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230428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297680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BED0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customer-support response while it is generated.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19104" y="64190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59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01 /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model call. Different delivery.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 changes when output is displayed, not our business rules.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664" y="1965960"/>
            <a:ext cx="5138928" cy="321868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157984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STREAMING</a:t>
            </a:r>
            <a:endParaRPr lang="en-US" sz="1930" dirty="0"/>
          </a:p>
        </p:txBody>
      </p:sp>
      <p:sp>
        <p:nvSpPr>
          <p:cNvPr id="11" name="Text 9"/>
          <p:cNvSpPr/>
          <p:nvPr/>
        </p:nvSpPr>
        <p:spPr>
          <a:xfrm>
            <a:off x="950976" y="2624328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→ wait → receive full message</a:t>
            </a:r>
            <a:endParaRPr lang="en-US" sz="1730" dirty="0"/>
          </a:p>
          <a:p>
            <a:pPr indent="0" marL="0">
              <a:buNone/>
            </a:pPr>
            <a:endParaRPr lang="en-US" sz="1730" dirty="0"/>
          </a:p>
          <a:p>
            <a:pPr indent="0" marL="0">
              <a:buNone/>
            </a:pPr>
            <a:r>
              <a:rPr lang="en-US" sz="173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= client.chat(messages)</a:t>
            </a:r>
            <a:endParaRPr lang="en-US" sz="1730" dirty="0"/>
          </a:p>
          <a:p>
            <a:pPr indent="0" marL="0">
              <a:buNone/>
            </a:pPr>
            <a:r>
              <a:rPr lang="en-US" sz="173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print(response["content"])</a:t>
            </a:r>
            <a:endParaRPr lang="en-US" sz="173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230368" cy="3218688"/>
          </a:xfrm>
          <a:prstGeom prst="roundRect">
            <a:avLst>
              <a:gd name="adj" fmla="val 2841"/>
            </a:avLst>
          </a:prstGeom>
          <a:solidFill>
            <a:srgbClr val="E5F6F4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157984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STREAMING</a:t>
            </a:r>
            <a:endParaRPr lang="en-US" sz="1930" dirty="0"/>
          </a:p>
        </p:txBody>
      </p:sp>
      <p:sp>
        <p:nvSpPr>
          <p:cNvPr id="14" name="Text 12"/>
          <p:cNvSpPr/>
          <p:nvPr/>
        </p:nvSpPr>
        <p:spPr>
          <a:xfrm>
            <a:off x="6382512" y="2624328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→ small text fragments → display now</a:t>
            </a:r>
            <a:endParaRPr lang="en-US" sz="1710" dirty="0"/>
          </a:p>
          <a:p>
            <a:pPr indent="0" marL="0">
              <a:buNone/>
            </a:pPr>
            <a:endParaRPr lang="en-US" sz="1710" dirty="0"/>
          </a:p>
          <a:p>
            <a:pPr indent="0" marL="0">
              <a:buNone/>
            </a:pPr>
            <a:r>
              <a:rPr lang="en-US" sz="17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piece in client.chat_stream(messages):</a:t>
            </a:r>
            <a:endParaRPr lang="en-US" sz="1710" dirty="0"/>
          </a:p>
          <a:p>
            <a:pPr indent="0" marL="0">
              <a:buNone/>
            </a:pPr>
            <a:r>
              <a:rPr lang="en-US" sz="17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print(piece, end="", flush=True)</a:t>
            </a:r>
            <a:endParaRPr lang="en-US" sz="1710" dirty="0"/>
          </a:p>
        </p:txBody>
      </p:sp>
      <p:sp>
        <p:nvSpPr>
          <p:cNvPr id="15" name="Shape 13"/>
          <p:cNvSpPr/>
          <p:nvPr/>
        </p:nvSpPr>
        <p:spPr>
          <a:xfrm>
            <a:off x="694944" y="5614416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5678424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 improves perceived responsiveness; it is not Tool Calling.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01 / UNIFIED 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LLMClient without breaking chat()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client delegates streaming only when the provider implements it.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2104" y="1847088"/>
            <a:ext cx="10515600" cy="3657600"/>
          </a:xfrm>
          <a:prstGeom prst="roundRect">
            <a:avLst>
              <a:gd name="adj" fmla="val 2500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1847088"/>
            <a:ext cx="64008" cy="365760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2082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/ CLIENT.PY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78992" y="2404872"/>
            <a:ext cx="1007668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 chat_stream(self, messages: list[dict]) -&gt; Iterator[str]: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stream_method = getattr(self.provider, "chat_stream", None)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stream_method is None: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raise NotImplementedError(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f"Streaming for '{self.config.provider}' "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"is not implemented yet."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)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stream_method(messages=messages)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94944" y="5678424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74243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change to the existing chat() method; existing examples still work.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01 / SOVEREIGNEG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SSE: read text fragments from the response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SovereignEG, chat completions streaming emits SSE data lines.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792224"/>
            <a:ext cx="10744200" cy="4507992"/>
          </a:xfrm>
          <a:prstGeom prst="roundRect">
            <a:avLst>
              <a:gd name="adj" fmla="val 2028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92224"/>
            <a:ext cx="64008" cy="4507992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65960"/>
            <a:ext cx="10378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PROVIDERS / SOVEREIGN.PY — SHORTENED EXTRACT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996696" y="2350008"/>
            <a:ext cx="1030528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payload = {"model": config.model, "messages": messages,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"stream": True}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with requests.post(url, json=payload, stream=True, ...) as response: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response.raise_for_status()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for line in response.iter_lines(decode_unicode=True):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if not line or not line.startswith("data:"):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continue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data = line[5:].strip()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if data == "[DONE]":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break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chunk = json.loads(data)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content = (chunk.get("choices") or [{}])[0].get(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"delta", {}).get("content")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if isinstance(content, str) and content:</a:t>
            </a:r>
            <a:endParaRPr lang="en-US" sz="13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yield content</a:t>
            </a:r>
            <a:endParaRPr lang="en-US" sz="13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01 / TICKET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the same ticket reply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classification still happens before the model call.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43616" cy="3931920"/>
          </a:xfrm>
          <a:prstGeom prst="roundRect">
            <a:avLst>
              <a:gd name="adj" fmla="val 2326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828800"/>
            <a:ext cx="64008" cy="393192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002536"/>
            <a:ext cx="10277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01 / ESSENTIAL FLOW — SIMPLIFIED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24128" y="2386584"/>
            <a:ext cx="10204704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ticket = Ticket(customer_name="Ahmed",</a:t>
            </a:r>
            <a:endParaRPr lang="en-US" sz="14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message="I cannot login to my account",</a:t>
            </a:r>
            <a:endParaRPr lang="en-US" sz="14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urgent=True)</a:t>
            </a:r>
            <a:endParaRPr lang="en-US" sz="14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result = classify_ticket(ticket)</a:t>
            </a:r>
            <a:endParaRPr lang="en-US" sz="14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messages = [</a:t>
            </a:r>
            <a:endParaRPr lang="en-US" sz="14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{"role": "system", "content": "Draft a short support reply."},</a:t>
            </a:r>
            <a:endParaRPr lang="en-US" sz="14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{"role": "user", "content": f"{ticket.model_dump_json()}\n"</a:t>
            </a:r>
            <a:endParaRPr lang="en-US" sz="14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              f"Category: {result.category}; "</a:t>
            </a:r>
            <a:endParaRPr lang="en-US" sz="14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              f"Priority: {result.priority}"},</a:t>
            </a:r>
            <a:endParaRPr lang="en-US" sz="14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]</a:t>
            </a:r>
            <a:endParaRPr lang="en-US" sz="14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client = LLMClient()</a:t>
            </a:r>
            <a:endParaRPr lang="en-US" sz="14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piece in client.chat_stream(messages):</a:t>
            </a:r>
            <a:endParaRPr lang="en-US" sz="14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7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print(piece, end="", flush=True)</a:t>
            </a:r>
            <a:endParaRPr lang="en-US" sz="1470" dirty="0"/>
          </a:p>
        </p:txBody>
      </p:sp>
      <p:sp>
        <p:nvSpPr>
          <p:cNvPr id="13" name="Shape 11"/>
          <p:cNvSpPr/>
          <p:nvPr/>
        </p:nvSpPr>
        <p:spPr>
          <a:xfrm>
            <a:off x="914400" y="5925312"/>
            <a:ext cx="1335024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5971032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78024" y="5952744"/>
            <a:ext cx="8677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A4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uv run python -m examples.01_ticket_streaming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01 / ASSIGNMENT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challenge: finish the other providers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demonstrate SovereignEG; students implement Groq and Ollama.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" y="1984248"/>
            <a:ext cx="5120640" cy="3090672"/>
          </a:xfrm>
          <a:prstGeom prst="roundRect">
            <a:avLst>
              <a:gd name="adj" fmla="val 2959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984248"/>
            <a:ext cx="59436" cy="3090672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176272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GROQ  /  CLOUD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978408" y="2642616"/>
            <a:ext cx="469087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chat_stream(messages)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OpenAI-compatible SSE pattern.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content from delta events.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27064" y="1984248"/>
            <a:ext cx="5120640" cy="3090672"/>
          </a:xfrm>
          <a:prstGeom prst="roundRect">
            <a:avLst>
              <a:gd name="adj" fmla="val 2959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7064" y="1984248"/>
            <a:ext cx="59436" cy="3090672"/>
          </a:xfrm>
          <a:prstGeom prst="rect">
            <a:avLst/>
          </a:prstGeom>
          <a:solidFill>
            <a:srgbClr val="D98642"/>
          </a:solidFill>
          <a:ln w="10160">
            <a:solidFill>
              <a:srgbClr val="D9864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176272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 /  LOCAL + COLAB</a:t>
            </a:r>
            <a:endParaRPr lang="en-US" sz="1930" dirty="0"/>
          </a:p>
        </p:txBody>
      </p:sp>
      <p:sp>
        <p:nvSpPr>
          <p:cNvPr id="16" name="Text 14"/>
          <p:cNvSpPr/>
          <p:nvPr/>
        </p:nvSpPr>
        <p:spPr>
          <a:xfrm>
            <a:off x="6437376" y="2642616"/>
            <a:ext cx="469087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chat_stream(messages)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Ollama streaming JSON objects (NDJSON) from /api/chat.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Colab Basic Auth / HTTPS.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94944" y="5522976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586984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chat() unchanged; run the same ticket streaming example on each provider.</a:t>
            </a:r>
            <a:endParaRPr lang="en-US" sz="15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676656"/>
            <a:ext cx="118872" cy="544068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859536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PART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spc="110" kern="0" dirty="0">
                <a:solidFill>
                  <a:srgbClr val="B8CA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230428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Tool Calling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297680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BED0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the LLM request our existing classify_ticket() function.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19104" y="64190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59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02 / CORE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calling is a request, not execution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LLM may decide which function it needs; Python performs the action.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" y="2002536"/>
            <a:ext cx="3401568" cy="3081528"/>
          </a:xfrm>
          <a:prstGeom prst="roundRect">
            <a:avLst>
              <a:gd name="adj" fmla="val 2967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2002536"/>
            <a:ext cx="59436" cy="3081528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19456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Tool definition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2971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send a name, description, and parameters as JSON Schema.</a:t>
            </a:r>
            <a:endParaRPr lang="en-US" sz="1780" dirty="0"/>
          </a:p>
        </p:txBody>
      </p:sp>
      <p:sp>
        <p:nvSpPr>
          <p:cNvPr id="13" name="Shape 11"/>
          <p:cNvSpPr/>
          <p:nvPr/>
        </p:nvSpPr>
        <p:spPr>
          <a:xfrm>
            <a:off x="4398264" y="2002536"/>
            <a:ext cx="3401568" cy="3081528"/>
          </a:xfrm>
          <a:prstGeom prst="roundRect">
            <a:avLst>
              <a:gd name="adj" fmla="val 2967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2002536"/>
            <a:ext cx="59436" cy="3081528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219456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Model request</a:t>
            </a:r>
            <a:endParaRPr lang="en-US" sz="1930" dirty="0"/>
          </a:p>
        </p:txBody>
      </p:sp>
      <p:sp>
        <p:nvSpPr>
          <p:cNvPr id="16" name="Text 14"/>
          <p:cNvSpPr/>
          <p:nvPr/>
        </p:nvSpPr>
        <p:spPr>
          <a:xfrm>
            <a:off x="4608576" y="2660904"/>
            <a:ext cx="2971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may return tool_calls with function arguments.</a:t>
            </a:r>
            <a:endParaRPr lang="en-US" sz="1780" dirty="0"/>
          </a:p>
        </p:txBody>
      </p:sp>
      <p:sp>
        <p:nvSpPr>
          <p:cNvPr id="17" name="Shape 15"/>
          <p:cNvSpPr/>
          <p:nvPr/>
        </p:nvSpPr>
        <p:spPr>
          <a:xfrm>
            <a:off x="8074152" y="2002536"/>
            <a:ext cx="3401568" cy="3081528"/>
          </a:xfrm>
          <a:prstGeom prst="roundRect">
            <a:avLst>
              <a:gd name="adj" fmla="val 2967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74152" y="2002536"/>
            <a:ext cx="59436" cy="3081528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219456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Python execution</a:t>
            </a:r>
            <a:endParaRPr lang="en-US" sz="1930" dirty="0"/>
          </a:p>
        </p:txBody>
      </p:sp>
      <p:sp>
        <p:nvSpPr>
          <p:cNvPr id="20" name="Text 18"/>
          <p:cNvSpPr/>
          <p:nvPr/>
        </p:nvSpPr>
        <p:spPr>
          <a:xfrm>
            <a:off x="8284464" y="2660904"/>
            <a:ext cx="2971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8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code checks the name, validates data, and runs the service.</a:t>
            </a:r>
            <a:endParaRPr lang="en-US" sz="1780" dirty="0"/>
          </a:p>
        </p:txBody>
      </p:sp>
      <p:sp>
        <p:nvSpPr>
          <p:cNvPr id="21" name="Shape 19"/>
          <p:cNvSpPr/>
          <p:nvPr/>
        </p:nvSpPr>
        <p:spPr>
          <a:xfrm>
            <a:off x="694944" y="5550408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614416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does not directly execute local Python functions.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02 / TOOL SCHEMA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classify_ticket() to the model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JSON-compatible object is a contract, not executable Python.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" y="1773936"/>
            <a:ext cx="10707624" cy="4553712"/>
          </a:xfrm>
          <a:prstGeom prst="roundRect">
            <a:avLst>
              <a:gd name="adj" fmla="val 2008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773936"/>
            <a:ext cx="64008" cy="4553712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947672"/>
            <a:ext cx="10341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02 / JSON SCHEMA — COMPACT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14984" y="2331720"/>
            <a:ext cx="10268712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CLASSIFY_TICKET_TOOL = {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"type": "function",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"function": {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"name": "classify_ticket",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"description": "Classify a support ticket.",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"parameters": {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"type": "object",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"properties": {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"customer_name": {"type": "string"},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"message": {"type": "string"},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"urgent": {"type": "boolean"}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},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"required": ["customer_name", "message", "urgent"]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}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1315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15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31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02 / CALL THE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messages + the available tool schema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provider already accepted tools in Lab 03.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5528" y="1883664"/>
            <a:ext cx="10607040" cy="4041648"/>
          </a:xfrm>
          <a:prstGeom prst="roundRect">
            <a:avLst>
              <a:gd name="adj" fmla="val 226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1883664"/>
            <a:ext cx="64008" cy="4041648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0574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02 / TOOL REQUEST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42416" y="2441448"/>
            <a:ext cx="1016812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messages = [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{"role": "system",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"content": "Request classify_ticket when asked to classify."},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{"role": "user",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"content": f"Classify this ticket: {ticket.model_dump_json()}"}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]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response = LLMClient().chat(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messages,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tools=[CLASSIFY_TICKET_TOOL]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94944" y="5925312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989320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Passing tools=[...] lets the model request functions; it does not run them.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02 / MODEL RESPONSE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 tool request looks like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returns structured instructions instead of just free text.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1837944"/>
            <a:ext cx="10588752" cy="4059936"/>
          </a:xfrm>
          <a:prstGeom prst="roundRect">
            <a:avLst>
              <a:gd name="adj" fmla="val 225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837944"/>
            <a:ext cx="64008" cy="4059936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10222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RESPONSE / OPENAI-COMPATIBLE SHAPE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51560" y="2395728"/>
            <a:ext cx="10149840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"role": "assistant",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"tool_calls": [{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"id": "call_123",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"type": "function",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"function": 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"name": "classify_ticket",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"arguments": "{\"customer_name\":\"Ahmed\", ...}"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}]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4" y="5916168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980176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arguments may be JSON text — parse first, then validate with Pydantic.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02 / TRUST BOUNDARY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and execute — in Python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an input source, not an authority to run arbitrary code.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88752" cy="4169664"/>
          </a:xfrm>
          <a:prstGeom prst="roundRect">
            <a:avLst>
              <a:gd name="adj" fmla="val 2193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828800"/>
            <a:ext cx="64008" cy="4169664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02536"/>
            <a:ext cx="10222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02 / ESSENTIAL DISPATCH (ERROR HANDLING OMITTED)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51560" y="2386584"/>
            <a:ext cx="1014984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call in response.get("tool_calls") or []: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fn = call.get("function") or {}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fn.get("name") != "classify_ticket":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continue  # allow only known tools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raw = fn.get("arguments", "{}")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args = json.loads(raw) if isinstance(raw, str) else raw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validated = Ticket.model_validate(args)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result = classify_ticket(validated)</a:t>
            </a:r>
            <a:endParaRPr lang="en-US" sz="16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print(result.model_dump())</a:t>
            </a:r>
            <a:endParaRPr lang="en-US" sz="161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02 / CHECKPOINT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First Tool example stops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deliberately execute one tool but do not send its result back yet.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2304288"/>
            <a:ext cx="3456432" cy="1938528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64261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chooses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23544" y="3236976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classify_ticket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242816" y="3154680"/>
            <a:ext cx="283464" cy="301752"/>
          </a:xfrm>
          <a:prstGeom prst="chevron">
            <a:avLst/>
          </a:prstGeom>
          <a:solidFill>
            <a:srgbClr val="079C94"/>
          </a:solidFill>
          <a:ln w="1270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35424" y="2304288"/>
            <a:ext cx="3456432" cy="1938528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64261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runs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5736" y="3236976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→ TicketResult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65008" y="3154680"/>
            <a:ext cx="283464" cy="301752"/>
          </a:xfrm>
          <a:prstGeom prst="chevron">
            <a:avLst/>
          </a:prstGeom>
          <a:solidFill>
            <a:srgbClr val="079C94"/>
          </a:solidFill>
          <a:ln w="1270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7616" y="2304288"/>
            <a:ext cx="3456432" cy="1938528"/>
          </a:xfrm>
          <a:prstGeom prst="roundRect">
            <a:avLst>
              <a:gd name="adj" fmla="val 5189"/>
            </a:avLst>
          </a:prstGeom>
          <a:solidFill>
            <a:srgbClr val="FFF3E6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67928" y="264261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8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ends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67928" y="3236976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second model call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94944" y="5111496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175504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have Tool Calling, but not a multi-step Agent Loop yet.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676656"/>
            <a:ext cx="118872" cy="544068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859536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PART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spc="110" kern="0" dirty="0">
                <a:solidFill>
                  <a:srgbClr val="B8CA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230428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Ticket Tools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297680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BED0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the model select from a controlled set of functions.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19104" y="64190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59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03 / TOOL INVENTORY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useful Ticket System tools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dedicated tools for different user intents.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664" y="1883664"/>
            <a:ext cx="10716768" cy="594360"/>
          </a:xfrm>
          <a:prstGeom prst="roundRect">
            <a:avLst>
              <a:gd name="adj" fmla="val 10769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33672" y="2029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21624" y="2029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" y="2606040"/>
            <a:ext cx="10716768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98064"/>
            <a:ext cx="3172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A4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classify_ticket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33672" y="2779776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+ priority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21624" y="279806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1738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Ticket fields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" y="3419856"/>
            <a:ext cx="10716768" cy="704088"/>
          </a:xfrm>
          <a:prstGeom prst="roundRect">
            <a:avLst>
              <a:gd name="adj" fmla="val 7792"/>
            </a:avLst>
          </a:prstGeom>
          <a:solidFill>
            <a:srgbClr val="EAF0F8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611880"/>
            <a:ext cx="3172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A4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get_ticket_status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233672" y="3593592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status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21624" y="361188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1738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ticket_id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664" y="4233672"/>
            <a:ext cx="10716768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425696"/>
            <a:ext cx="3172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A4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get_ticket_details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233672" y="4407408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data + status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21624" y="442569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1738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ticket_id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4944" y="5733288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797296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tool maps to a Python handler; the model only requests tool names.</a:t>
            </a:r>
            <a:endParaRPr lang="en-US" sz="15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03 / LESS REPETITION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can generate a tool parameter schema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model validation and model-facing schemas aligned.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" y="1865376"/>
            <a:ext cx="10597896" cy="4233672"/>
          </a:xfrm>
          <a:prstGeom prst="roundRect">
            <a:avLst>
              <a:gd name="adj" fmla="val 2160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865376"/>
            <a:ext cx="64008" cy="4233672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39112"/>
            <a:ext cx="10232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03 / PYDANTIC → JSON SCHEMA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33272" y="2423160"/>
            <a:ext cx="1015898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TicketIdInput(BaseModel):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ticket_id: int = Field(gt=0)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TOOLS = [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tool_definition("classify_ticket",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    "Classify a ticket", Ticket.model_json_schema()),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tool_definition("get_ticket_status",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    "Read ticket status", TicketIdInput.model_json_schema()),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tool_definition("get_ticket_details",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    "Read ticket details", TicketIdInput.model_json_schema()),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]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03 / SAFE DISPATCH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repeated if/else with an allowlist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selects a name; the application controls allowed execution.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1837944"/>
            <a:ext cx="10689336" cy="4434840"/>
          </a:xfrm>
          <a:prstGeom prst="roundRect">
            <a:avLst>
              <a:gd name="adj" fmla="val 206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837944"/>
            <a:ext cx="64008" cy="44348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011680"/>
            <a:ext cx="10323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03 / APPROVED HANDLERS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05840" y="2395728"/>
            <a:ext cx="1025042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TOOL_HANDLERS = {</a:t>
            </a: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"classify_ticket": classify_ticket_tool,</a:t>
            </a: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"get_ticket_status": get_ticket_status,</a:t>
            </a: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"get_ticket_details": get_ticket_details,</a:t>
            </a: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TOOL_INPUT_MODELS = {</a:t>
            </a: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"classify_ticket": Ticket,</a:t>
            </a: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"get_ticket_status": TicketIdInput,</a:t>
            </a: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"get_ticket_details": TicketIdInput,</a:t>
            </a: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name = call["function"]["name"]</a:t>
            </a: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Validate with TOOL_INPUT_MODELS[name] before calling handler.</a:t>
            </a:r>
            <a:endParaRPr lang="en-US" sz="14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result = TOOL_HANDLERS[name](**validated.model_dump())</a:t>
            </a:r>
            <a:endParaRPr lang="en-US" sz="14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03 /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model, different ticket questions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three prompts are separate tests, not a persistent conversation.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" y="1874520"/>
            <a:ext cx="1064361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2057400"/>
            <a:ext cx="694944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1031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9384" y="2084832"/>
            <a:ext cx="6272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Mona’s payment issue</a:t>
            </a:r>
            <a:endParaRPr lang="en-US" sz="1760" dirty="0"/>
          </a:p>
        </p:txBody>
      </p:sp>
      <p:sp>
        <p:nvSpPr>
          <p:cNvPr id="13" name="Text 11"/>
          <p:cNvSpPr/>
          <p:nvPr/>
        </p:nvSpPr>
        <p:spPr>
          <a:xfrm>
            <a:off x="8257032" y="2103120"/>
            <a:ext cx="2788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079C9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classify_ticket</a:t>
            </a:r>
            <a:endParaRPr lang="en-US" sz="1370" dirty="0"/>
          </a:p>
        </p:txBody>
      </p:sp>
      <p:sp>
        <p:nvSpPr>
          <p:cNvPr id="14" name="Shape 12"/>
          <p:cNvSpPr/>
          <p:nvPr/>
        </p:nvSpPr>
        <p:spPr>
          <a:xfrm>
            <a:off x="768096" y="3072384"/>
            <a:ext cx="10643616" cy="987552"/>
          </a:xfrm>
          <a:prstGeom prst="roundRect">
            <a:avLst>
              <a:gd name="adj" fmla="val 7407"/>
            </a:avLst>
          </a:prstGeom>
          <a:solidFill>
            <a:srgbClr val="EAF0F8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3255264"/>
            <a:ext cx="694944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300984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9384" y="3282696"/>
            <a:ext cx="6272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status of ticket 1?</a:t>
            </a:r>
            <a:endParaRPr lang="en-US" sz="1760" dirty="0"/>
          </a:p>
        </p:txBody>
      </p:sp>
      <p:sp>
        <p:nvSpPr>
          <p:cNvPr id="18" name="Text 16"/>
          <p:cNvSpPr/>
          <p:nvPr/>
        </p:nvSpPr>
        <p:spPr>
          <a:xfrm>
            <a:off x="8257032" y="3300984"/>
            <a:ext cx="2788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079C9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get_ticket_status</a:t>
            </a:r>
            <a:endParaRPr lang="en-US" sz="1370" dirty="0"/>
          </a:p>
        </p:txBody>
      </p:sp>
      <p:sp>
        <p:nvSpPr>
          <p:cNvPr id="19" name="Shape 17"/>
          <p:cNvSpPr/>
          <p:nvPr/>
        </p:nvSpPr>
        <p:spPr>
          <a:xfrm>
            <a:off x="768096" y="4270248"/>
            <a:ext cx="1064361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453128"/>
            <a:ext cx="694944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49884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9384" y="4480560"/>
            <a:ext cx="6272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details of ticket 1</a:t>
            </a:r>
            <a:endParaRPr lang="en-US" sz="1760" dirty="0"/>
          </a:p>
        </p:txBody>
      </p:sp>
      <p:sp>
        <p:nvSpPr>
          <p:cNvPr id="23" name="Text 21"/>
          <p:cNvSpPr/>
          <p:nvPr/>
        </p:nvSpPr>
        <p:spPr>
          <a:xfrm>
            <a:off x="8257032" y="4498848"/>
            <a:ext cx="2788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079C9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get_ticket_details</a:t>
            </a:r>
            <a:endParaRPr lang="en-US" sz="1370" dirty="0"/>
          </a:p>
        </p:txBody>
      </p:sp>
      <p:sp>
        <p:nvSpPr>
          <p:cNvPr id="24" name="Shape 22"/>
          <p:cNvSpPr/>
          <p:nvPr/>
        </p:nvSpPr>
        <p:spPr>
          <a:xfrm>
            <a:off x="694944" y="5669280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5733288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03 prints Python tool results and stops — no follow-up LLM call.</a:t>
            </a:r>
            <a:endParaRPr lang="en-US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03 / DATA BOUNDARY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1 is a temporary classroom record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database, persistence, or real ticket mutation.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3816" y="1901952"/>
            <a:ext cx="6812280" cy="3785616"/>
          </a:xfrm>
          <a:prstGeom prst="roundRect">
            <a:avLst>
              <a:gd name="adj" fmla="val 2415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1901952"/>
            <a:ext cx="64008" cy="3785616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075688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IN-MEMORY SAMPLE STORE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60704" y="2459736"/>
            <a:ext cx="63733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TICKET_STORE = {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1: {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"ticket": Ticket(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customer_name="Ahmed",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message="I cannot login to my account",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urgent=True,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),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"status": "open",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16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7946136" y="1901952"/>
            <a:ext cx="3410712" cy="3785616"/>
          </a:xfrm>
          <a:prstGeom prst="roundRect">
            <a:avLst>
              <a:gd name="adj" fmla="val 2681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46136" y="1901952"/>
            <a:ext cx="59436" cy="3785616"/>
          </a:xfrm>
          <a:prstGeom prst="rect">
            <a:avLst/>
          </a:prstGeom>
          <a:solidFill>
            <a:srgbClr val="D98642"/>
          </a:solidFill>
          <a:ln w="10160">
            <a:solidFill>
              <a:srgbClr val="D9864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6448" y="209397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limitations</a:t>
            </a:r>
            <a:endParaRPr lang="en-US" sz="1930" dirty="0"/>
          </a:p>
        </p:txBody>
      </p:sp>
      <p:sp>
        <p:nvSpPr>
          <p:cNvPr id="16" name="Text 14"/>
          <p:cNvSpPr/>
          <p:nvPr/>
        </p:nvSpPr>
        <p:spPr>
          <a:xfrm>
            <a:off x="8156448" y="2560320"/>
            <a:ext cx="298094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Exists only in process RAM.</a:t>
            </a:r>
            <a:endParaRPr lang="en-US" sz="1630" dirty="0"/>
          </a:p>
          <a:p>
            <a:pPr indent="0" marL="0">
              <a:buNone/>
            </a:pP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Restarts reset it.</a:t>
            </a:r>
            <a:endParaRPr lang="en-US" sz="1630" dirty="0"/>
          </a:p>
          <a:p>
            <a:pPr indent="0" marL="0">
              <a:buNone/>
            </a:pP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persistent ticket IDs or production records.</a:t>
            </a:r>
            <a:endParaRPr lang="en-US" sz="16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676656"/>
            <a:ext cx="118872" cy="544068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859536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PART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spc="110" kern="0" dirty="0">
                <a:solidFill>
                  <a:srgbClr val="B8CA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230428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Loop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297680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BED0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tools, return observations, and let the model continue.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19104" y="64190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59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04 / MISSING PIECE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from Example 03?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response becomes part of the next model request.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2075688"/>
            <a:ext cx="513892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075688"/>
            <a:ext cx="59436" cy="3017520"/>
          </a:xfrm>
          <a:prstGeom prst="rect">
            <a:avLst/>
          </a:prstGeom>
          <a:solidFill>
            <a:srgbClr val="D98642"/>
          </a:solidFill>
          <a:ln w="10160">
            <a:solidFill>
              <a:srgbClr val="D9864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267712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03 — STOP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969264" y="2734056"/>
            <a:ext cx="47091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requests a tool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executes it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result and exit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99632" y="2075688"/>
            <a:ext cx="5212080" cy="3017520"/>
          </a:xfrm>
          <a:prstGeom prst="roundRect">
            <a:avLst>
              <a:gd name="adj" fmla="val 3030"/>
            </a:avLst>
          </a:prstGeom>
          <a:solidFill>
            <a:srgbClr val="E5F6F4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2075688"/>
            <a:ext cx="59436" cy="301752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267712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04 — CONTINUE</a:t>
            </a:r>
            <a:endParaRPr lang="en-US" sz="1930" dirty="0"/>
          </a:p>
        </p:txBody>
      </p:sp>
      <p:sp>
        <p:nvSpPr>
          <p:cNvPr id="16" name="Text 14"/>
          <p:cNvSpPr/>
          <p:nvPr/>
        </p:nvSpPr>
        <p:spPr>
          <a:xfrm>
            <a:off x="6409944" y="2734056"/>
            <a:ext cx="478231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requests a tool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executes it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result → model continues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4944" y="5632704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69671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loop is not “the model runs code”; Python still owns tool execution.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04 /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bounded loop around the LLM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result is sent back as an observation for the next decision.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1920240"/>
            <a:ext cx="3054096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12264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4535424" y="1920240"/>
            <a:ext cx="3054096" cy="768096"/>
          </a:xfrm>
          <a:prstGeom prst="roundRect">
            <a:avLst>
              <a:gd name="adj" fmla="val 9524"/>
            </a:avLst>
          </a:prstGeom>
          <a:solidFill>
            <a:srgbClr val="E5F6F4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112264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+ AVAILABLE TOOLS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8302752" y="1920240"/>
            <a:ext cx="3054096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112264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CALLS?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8302752" y="3282696"/>
            <a:ext cx="3054096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347472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VALIDATES + RUNS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4535424" y="3282696"/>
            <a:ext cx="3054096" cy="768096"/>
          </a:xfrm>
          <a:prstGeom prst="roundRect">
            <a:avLst>
              <a:gd name="adj" fmla="val 9524"/>
            </a:avLst>
          </a:prstGeom>
          <a:solidFill>
            <a:srgbClr val="E5F6F4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347472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RESULTS AS MESSAGES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4535424" y="4690872"/>
            <a:ext cx="3054096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488289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ANSWER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3822192" y="2322576"/>
            <a:ext cx="676656" cy="0"/>
          </a:xfrm>
          <a:prstGeom prst="line">
            <a:avLst/>
          </a:prstGeom>
          <a:noFill/>
          <a:ln w="25400">
            <a:solidFill>
              <a:srgbClr val="079C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9664" y="2176272"/>
            <a:ext cx="283464" cy="301752"/>
          </a:xfrm>
          <a:prstGeom prst="chevron">
            <a:avLst/>
          </a:prstGeom>
          <a:solidFill>
            <a:srgbClr val="079C94"/>
          </a:solidFill>
          <a:ln w="1270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07808" y="2322576"/>
            <a:ext cx="640080" cy="0"/>
          </a:xfrm>
          <a:prstGeom prst="line">
            <a:avLst/>
          </a:prstGeom>
          <a:noFill/>
          <a:ln w="25400">
            <a:solidFill>
              <a:srgbClr val="079C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27848" y="2176272"/>
            <a:ext cx="283464" cy="301752"/>
          </a:xfrm>
          <a:prstGeom prst="chevron">
            <a:avLst/>
          </a:prstGeom>
          <a:solidFill>
            <a:srgbClr val="079C94"/>
          </a:solidFill>
          <a:ln w="1270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57232" y="2724912"/>
            <a:ext cx="0" cy="493776"/>
          </a:xfrm>
          <a:prstGeom prst="line">
            <a:avLst/>
          </a:prstGeom>
          <a:noFill/>
          <a:ln w="25400">
            <a:solidFill>
              <a:srgbClr val="079C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67544" y="2843784"/>
            <a:ext cx="594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66176" y="3675888"/>
            <a:ext cx="-667512" cy="0"/>
          </a:xfrm>
          <a:prstGeom prst="line">
            <a:avLst/>
          </a:prstGeom>
          <a:noFill/>
          <a:ln w="25400">
            <a:solidFill>
              <a:srgbClr val="079C9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44968" y="3547872"/>
            <a:ext cx="283464" cy="301752"/>
          </a:xfrm>
          <a:prstGeom prst="chevron">
            <a:avLst/>
          </a:prstGeom>
          <a:solidFill>
            <a:srgbClr val="079C94"/>
          </a:solidFill>
          <a:ln w="1270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08192" y="3236976"/>
            <a:ext cx="0" cy="-448056"/>
          </a:xfrm>
          <a:prstGeom prst="line">
            <a:avLst/>
          </a:prstGeom>
          <a:noFill/>
          <a:ln w="25400">
            <a:solidFill>
              <a:srgbClr val="079C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907792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829800" y="2724912"/>
            <a:ext cx="0" cy="2359152"/>
          </a:xfrm>
          <a:prstGeom prst="line">
            <a:avLst/>
          </a:prstGeom>
          <a:noFill/>
          <a:ln w="17780">
            <a:solidFill>
              <a:srgbClr val="D9864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829800" y="5084064"/>
            <a:ext cx="-2231136" cy="0"/>
          </a:xfrm>
          <a:prstGeom prst="line">
            <a:avLst/>
          </a:prstGeom>
          <a:noFill/>
          <a:ln w="17780">
            <a:solidFill>
              <a:srgbClr val="D9864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0067544" y="44897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8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" y="5797296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861304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when there are no tool calls — or when MAX_TOOL_ROUNDS is reached.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04 / MAIN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bounded decision → action → observation cycle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real implementation uses MAX_TOOL_ROUNDS = 6.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1773936"/>
            <a:ext cx="10707624" cy="4562856"/>
          </a:xfrm>
          <a:prstGeom prst="roundRect">
            <a:avLst>
              <a:gd name="adj" fmla="val 2004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773936"/>
            <a:ext cx="64008" cy="4562856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947672"/>
            <a:ext cx="10341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04 / CORE LOOP — SIMPLIFIED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10268712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round_number in range(1, MAX_TOOL_ROUNDS + 1):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response = client.chat(messages, tools=TOOLS)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calls = response.get("tool_calls") or []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not calls: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return response.get("content")  # final answer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messages.append({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"role": "assistant",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"content": response.get("content"),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"tool_calls": calls,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for call in calls: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result_text = execute_requested_tool(call)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messages.append({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"role": "tool",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"tool_call_id": call["id"],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"content": result_text,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})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04 / API MESSAGE PROTOCOL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tool_call_id matters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each tool result to the matching model request.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1883664"/>
            <a:ext cx="10552176" cy="3694176"/>
          </a:xfrm>
          <a:prstGeom prst="roundRect">
            <a:avLst>
              <a:gd name="adj" fmla="val 2475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883664"/>
            <a:ext cx="64008" cy="3694176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57400"/>
            <a:ext cx="10186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OPENAI-COMPATIBLE ASSISTANT + TOOL MESSAGES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51560" y="2441448"/>
            <a:ext cx="1011326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53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Assistant requests a tool:</a:t>
            </a:r>
            <a:endParaRPr lang="en-US" sz="15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3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 "role": "assistant",</a:t>
            </a:r>
            <a:endParaRPr lang="en-US" sz="15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3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"tool_calls": [{"id": "call_123", "function": {...}}] }</a:t>
            </a:r>
            <a:endParaRPr lang="en-US" sz="1530" dirty="0"/>
          </a:p>
          <a:p>
            <a:pPr indent="0" marL="0">
              <a:lnSpc>
                <a:spcPct val="100000"/>
              </a:lnSpc>
              <a:buNone/>
            </a:pPr>
            <a:endParaRPr lang="en-US" sz="15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3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Python responds with the matching result:</a:t>
            </a:r>
            <a:endParaRPr lang="en-US" sz="15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3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 "role": "tool",</a:t>
            </a:r>
            <a:endParaRPr lang="en-US" sz="15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3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"tool_call_id": "call_123",</a:t>
            </a:r>
            <a:endParaRPr lang="en-US" sz="15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3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"content": "{\"category\":\"technical\",\"priority\":\"high\"}" }</a:t>
            </a:r>
            <a:endParaRPr lang="en-US" sz="1530" dirty="0"/>
          </a:p>
        </p:txBody>
      </p:sp>
      <p:sp>
        <p:nvSpPr>
          <p:cNvPr id="13" name="Shape 11"/>
          <p:cNvSpPr/>
          <p:nvPr/>
        </p:nvSpPr>
        <p:spPr>
          <a:xfrm>
            <a:off x="694944" y="5769864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83387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9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append the assistant’s tool_calls; then append matching role="tool" results.</a:t>
            </a:r>
            <a:endParaRPr lang="en-US" sz="149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04 /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ticket question, multiple steps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run — actual tool ordering may differ by model.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746504"/>
            <a:ext cx="10661904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1874520"/>
            <a:ext cx="402336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19202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81912" y="189280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64992" y="1865376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ticket 1: name, status, category, priority</a:t>
            </a:r>
            <a:endParaRPr lang="en-US" sz="1540" dirty="0"/>
          </a:p>
        </p:txBody>
      </p:sp>
      <p:sp>
        <p:nvSpPr>
          <p:cNvPr id="14" name="Shape 12"/>
          <p:cNvSpPr/>
          <p:nvPr/>
        </p:nvSpPr>
        <p:spPr>
          <a:xfrm>
            <a:off x="777240" y="2432304"/>
            <a:ext cx="10661904" cy="594360"/>
          </a:xfrm>
          <a:prstGeom prst="roundRect">
            <a:avLst>
              <a:gd name="adj" fmla="val 7692"/>
            </a:avLst>
          </a:prstGeom>
          <a:solidFill>
            <a:srgbClr val="EAF0F8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2560320"/>
            <a:ext cx="402336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26060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81912" y="257860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asks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64992" y="2551176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get_ticket_details(ticket_id=1)</a:t>
            </a:r>
            <a:endParaRPr lang="en-US" sz="1540" dirty="0"/>
          </a:p>
        </p:txBody>
      </p:sp>
      <p:sp>
        <p:nvSpPr>
          <p:cNvPr id="19" name="Shape 17"/>
          <p:cNvSpPr/>
          <p:nvPr/>
        </p:nvSpPr>
        <p:spPr>
          <a:xfrm>
            <a:off x="777240" y="3118104"/>
            <a:ext cx="10661904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" y="3246120"/>
            <a:ext cx="402336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" y="32918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81912" y="326440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returns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364992" y="3236976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 / cannot login / urgent / open</a:t>
            </a:r>
            <a:endParaRPr lang="en-US" sz="1540" dirty="0"/>
          </a:p>
        </p:txBody>
      </p:sp>
      <p:sp>
        <p:nvSpPr>
          <p:cNvPr id="24" name="Shape 22"/>
          <p:cNvSpPr/>
          <p:nvPr/>
        </p:nvSpPr>
        <p:spPr>
          <a:xfrm>
            <a:off x="777240" y="3803904"/>
            <a:ext cx="10661904" cy="594360"/>
          </a:xfrm>
          <a:prstGeom prst="roundRect">
            <a:avLst>
              <a:gd name="adj" fmla="val 7692"/>
            </a:avLst>
          </a:prstGeom>
          <a:solidFill>
            <a:srgbClr val="EAF0F8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" y="3931920"/>
            <a:ext cx="402336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" y="39776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81912" y="395020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asks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364992" y="3922776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classify_ticket(Ahmed, login, True)</a:t>
            </a:r>
            <a:endParaRPr lang="en-US" sz="1540" dirty="0"/>
          </a:p>
        </p:txBody>
      </p:sp>
      <p:sp>
        <p:nvSpPr>
          <p:cNvPr id="29" name="Shape 27"/>
          <p:cNvSpPr/>
          <p:nvPr/>
        </p:nvSpPr>
        <p:spPr>
          <a:xfrm>
            <a:off x="777240" y="4489704"/>
            <a:ext cx="10661904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" y="4617720"/>
            <a:ext cx="402336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" y="46634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81912" y="463600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returns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364992" y="4608576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/ high</a:t>
            </a:r>
            <a:endParaRPr lang="en-US" sz="1540" dirty="0"/>
          </a:p>
        </p:txBody>
      </p:sp>
      <p:sp>
        <p:nvSpPr>
          <p:cNvPr id="34" name="Shape 32"/>
          <p:cNvSpPr/>
          <p:nvPr/>
        </p:nvSpPr>
        <p:spPr>
          <a:xfrm>
            <a:off x="777240" y="5175504"/>
            <a:ext cx="10661904" cy="594360"/>
          </a:xfrm>
          <a:prstGeom prst="roundRect">
            <a:avLst>
              <a:gd name="adj" fmla="val 7692"/>
            </a:avLst>
          </a:prstGeom>
          <a:solidFill>
            <a:srgbClr val="EAF0F8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976" y="5303520"/>
            <a:ext cx="402336" cy="347472"/>
          </a:xfrm>
          <a:prstGeom prst="roundRect">
            <a:avLst>
              <a:gd name="adj" fmla="val 36842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4984" y="53492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581912" y="532180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answers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3364992" y="5294376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 — open — technical — high</a:t>
            </a:r>
            <a:endParaRPr lang="en-US" sz="15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04 / GUARDRAILS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agent still needs boundaries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access should be narrower than an unrestricted Python environment.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810512"/>
            <a:ext cx="10689336" cy="676656"/>
          </a:xfrm>
          <a:prstGeom prst="roundRect">
            <a:avLst>
              <a:gd name="adj" fmla="val 8108"/>
            </a:avLst>
          </a:prstGeom>
          <a:solidFill>
            <a:srgbClr val="EAF0F8"/>
          </a:solidFill>
          <a:ln w="10160">
            <a:solidFill>
              <a:srgbClr val="EAF0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" y="1965960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93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1371600" y="1947672"/>
            <a:ext cx="9912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Allowlist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13432"/>
            <a:ext cx="99395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approved tool names may execute.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2606040"/>
            <a:ext cx="10689336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" y="2761488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7889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1371600" y="2743200"/>
            <a:ext cx="9912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108960"/>
            <a:ext cx="99395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checks model-generated arguments.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9808" y="3401568"/>
            <a:ext cx="10689336" cy="676656"/>
          </a:xfrm>
          <a:prstGeom prst="roundRect">
            <a:avLst>
              <a:gd name="adj" fmla="val 8108"/>
            </a:avLst>
          </a:prstGeom>
          <a:solidFill>
            <a:srgbClr val="EAF0F8"/>
          </a:solidFill>
          <a:ln w="10160">
            <a:solidFill>
              <a:srgbClr val="EAF0F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" y="3557016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5844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1371600" y="3538728"/>
            <a:ext cx="9912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904488"/>
            <a:ext cx="99395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a safe error payload instead of crashing.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" y="4197096"/>
            <a:ext cx="10689336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" y="4352544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3799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1371600" y="4334256"/>
            <a:ext cx="9912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4700016"/>
            <a:ext cx="99395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MAX_TOOL_ROUNDS prevents unbounded tool loops.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9808" y="4992624"/>
            <a:ext cx="10689336" cy="676656"/>
          </a:xfrm>
          <a:prstGeom prst="roundRect">
            <a:avLst>
              <a:gd name="adj" fmla="val 8108"/>
            </a:avLst>
          </a:prstGeom>
          <a:solidFill>
            <a:srgbClr val="EAF0F8"/>
          </a:solidFill>
          <a:ln w="10160">
            <a:solidFill>
              <a:srgbClr val="EAF0F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968" y="5148072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1755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70" dirty="0"/>
          </a:p>
        </p:txBody>
      </p:sp>
      <p:sp>
        <p:nvSpPr>
          <p:cNvPr id="32" name="Text 30"/>
          <p:cNvSpPr/>
          <p:nvPr/>
        </p:nvSpPr>
        <p:spPr>
          <a:xfrm>
            <a:off x="1371600" y="5129784"/>
            <a:ext cx="9912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demo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5495544"/>
            <a:ext cx="99395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examples do not edit a real ticket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04 / RUNBOOK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the five examples from sec-04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earlier examples do not depend on later examples.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" y="1901952"/>
            <a:ext cx="10680192" cy="3694176"/>
          </a:xfrm>
          <a:prstGeom prst="roundRect">
            <a:avLst>
              <a:gd name="adj" fmla="val 2475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901952"/>
            <a:ext cx="64008" cy="3694176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75688"/>
            <a:ext cx="10314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/ REPOSITORY ROOT IS ONE LEVEL ABOVE SEC-04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14984" y="2459736"/>
            <a:ext cx="1024128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cd sec-04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uv run python -m examples.00_ticket_llm_only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uv run python -m examples.01_ticket_streaming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uv run python -m examples.02_ticket_first_tool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uv run python -m examples.03_ticket_multi_tools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uv run python -m examples.04_ticket_agent_loop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4" y="5788152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852160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LLM_PROVIDER=sovereign for the demonstrated streaming and tool calling path.</a:t>
            </a:r>
            <a:endParaRPr lang="en-US" sz="14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04 / KNOWLEDGE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students explain these distinctions?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here before introducing memory.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783080"/>
            <a:ext cx="1067104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947672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1810512" y="1892808"/>
            <a:ext cx="9070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classifies tickets in Example 00?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749808" y="2615184"/>
            <a:ext cx="10671048" cy="658368"/>
          </a:xfrm>
          <a:prstGeom prst="roundRect">
            <a:avLst>
              <a:gd name="adj" fmla="val 8333"/>
            </a:avLst>
          </a:prstGeom>
          <a:solidFill>
            <a:srgbClr val="EAF0F8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779776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1810512" y="2724912"/>
            <a:ext cx="9070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difference between SSE and Ollama NDJSON?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>
            <a:off x="749808" y="3447288"/>
            <a:ext cx="1067104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611880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1810512" y="3557016"/>
            <a:ext cx="9070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sending a tool schema execute Python?</a:t>
            </a:r>
            <a:endParaRPr lang="en-US" sz="1720" dirty="0"/>
          </a:p>
        </p:txBody>
      </p:sp>
      <p:sp>
        <p:nvSpPr>
          <p:cNvPr id="18" name="Shape 16"/>
          <p:cNvSpPr/>
          <p:nvPr/>
        </p:nvSpPr>
        <p:spPr>
          <a:xfrm>
            <a:off x="749808" y="4279392"/>
            <a:ext cx="10671048" cy="658368"/>
          </a:xfrm>
          <a:prstGeom prst="roundRect">
            <a:avLst>
              <a:gd name="adj" fmla="val 8333"/>
            </a:avLst>
          </a:prstGeom>
          <a:solidFill>
            <a:srgbClr val="EAF0F8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4443984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1810512" y="4389120"/>
            <a:ext cx="9070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TOOL_HANDLERS an allowlist?</a:t>
            </a:r>
            <a:endParaRPr lang="en-US" sz="1720" dirty="0"/>
          </a:p>
        </p:txBody>
      </p:sp>
      <p:sp>
        <p:nvSpPr>
          <p:cNvPr id="21" name="Shape 19"/>
          <p:cNvSpPr/>
          <p:nvPr/>
        </p:nvSpPr>
        <p:spPr>
          <a:xfrm>
            <a:off x="749808" y="5111496"/>
            <a:ext cx="1067104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5276088"/>
            <a:ext cx="557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1810512" y="5221224"/>
            <a:ext cx="9070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tool_call_id connect in Example 04?</a:t>
            </a:r>
            <a:endParaRPr lang="en-US" sz="17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676656"/>
            <a:ext cx="118872" cy="544068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859536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CLOSING CONCEPT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spc="110" kern="0" dirty="0">
                <a:solidFill>
                  <a:srgbClr val="B8CA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FOUNDATIONS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230428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an Agent remember?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4297680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BED0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History  •  Short-Term Memory  •  Long-Term Memory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19104" y="64190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59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/ STARTING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LLM API calls naturally stateful?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not: the application must supply earlier context.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2066544"/>
            <a:ext cx="5102352" cy="2871216"/>
          </a:xfrm>
          <a:prstGeom prst="roundRect">
            <a:avLst>
              <a:gd name="adj" fmla="val 3185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066544"/>
            <a:ext cx="59436" cy="2871216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258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A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960120" y="2724912"/>
            <a:ext cx="467258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User: My name is Ahmed.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Assistant: Nice to meet you!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144768" y="2066544"/>
            <a:ext cx="5157216" cy="2871216"/>
          </a:xfrm>
          <a:prstGeom prst="roundRect">
            <a:avLst>
              <a:gd name="adj" fmla="val 3185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2066544"/>
            <a:ext cx="59436" cy="2871216"/>
          </a:xfrm>
          <a:prstGeom prst="rect">
            <a:avLst/>
          </a:prstGeom>
          <a:solidFill>
            <a:srgbClr val="D98642"/>
          </a:solidFill>
          <a:ln w="10160">
            <a:solidFill>
              <a:srgbClr val="D9864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258568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REQUEST B</a:t>
            </a:r>
            <a:endParaRPr lang="en-US" sz="1930" dirty="0"/>
          </a:p>
        </p:txBody>
      </p:sp>
      <p:sp>
        <p:nvSpPr>
          <p:cNvPr id="16" name="Text 14"/>
          <p:cNvSpPr/>
          <p:nvPr/>
        </p:nvSpPr>
        <p:spPr>
          <a:xfrm>
            <a:off x="6355080" y="2724912"/>
            <a:ext cx="472744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User: What is my name?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prior messages, the model may not know.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94944" y="5532120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596128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can resend relevant earlier messages to give the model context.</a:t>
            </a:r>
            <a:endParaRPr lang="en-US" sz="153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/ DEFINITION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History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record of messages and tool interactions over time.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5528" y="1856232"/>
            <a:ext cx="10561320" cy="3721608"/>
          </a:xfrm>
          <a:prstGeom prst="roundRect">
            <a:avLst>
              <a:gd name="adj" fmla="val 2457"/>
            </a:avLst>
          </a:prstGeom>
          <a:solidFill>
            <a:srgbClr val="152941"/>
          </a:solidFill>
          <a:ln w="10160">
            <a:solidFill>
              <a:srgbClr val="15294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1856232"/>
            <a:ext cx="64008" cy="3721608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02996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74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HISTORY / ORDERED MESSAGES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42416" y="2414016"/>
            <a:ext cx="1012240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messages = [</a:t>
            </a:r>
            <a:endParaRPr lang="en-US" sz="1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{"role": "user", "content": "Show ticket 15."},</a:t>
            </a:r>
            <a:endParaRPr lang="en-US" sz="1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{"role": "assistant", "tool_calls": [ ... ]},</a:t>
            </a:r>
            <a:endParaRPr lang="en-US" sz="1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{"role": "tool", "content": "Ticket 15: Open"},</a:t>
            </a:r>
            <a:endParaRPr lang="en-US" sz="1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{"role": "assistant", "content": "Ticket 15 is open."},</a:t>
            </a:r>
            <a:endParaRPr lang="en-US" sz="1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{"role": "user", "content": "What is its priority?"},</a:t>
            </a:r>
            <a:endParaRPr lang="en-US" sz="1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3F8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]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94944" y="5696712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760720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describes what happened. It may be stored temporarily or persistently.</a:t>
            </a:r>
            <a:endParaRPr lang="en-US" sz="15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/ DEFINITION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Short-Term Memory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working context required to complete the current task.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2039112"/>
            <a:ext cx="5148072" cy="3127248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039112"/>
            <a:ext cx="59436" cy="3127248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2311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USER INTENT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47183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User: “What is its priority?”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needs to resolve “its” from the active conversation.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53912" y="2039112"/>
            <a:ext cx="5157216" cy="3127248"/>
          </a:xfrm>
          <a:prstGeom prst="roundRect">
            <a:avLst>
              <a:gd name="adj" fmla="val 2924"/>
            </a:avLst>
          </a:prstGeom>
          <a:solidFill>
            <a:srgbClr val="E5F6F4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3912" y="2039112"/>
            <a:ext cx="59436" cy="3127248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2231136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CONTEXT</a:t>
            </a:r>
            <a:endParaRPr lang="en-US" sz="1930" dirty="0"/>
          </a:p>
        </p:txBody>
      </p:sp>
      <p:sp>
        <p:nvSpPr>
          <p:cNvPr id="16" name="Text 14"/>
          <p:cNvSpPr/>
          <p:nvPr/>
        </p:nvSpPr>
        <p:spPr>
          <a:xfrm>
            <a:off x="6364224" y="2697480"/>
            <a:ext cx="47274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ticket: 15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task: answer priority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tool result: status=open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message history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694944" y="5632704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69671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Short-term memory can include history, summaries, and explicit task state.</a:t>
            </a:r>
            <a:endParaRPr lang="en-US" sz="151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/ DEFINITION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Memory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that can be retrieved for later conversations or tasks.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1828800"/>
            <a:ext cx="10643616" cy="786384"/>
          </a:xfrm>
          <a:prstGeom prst="roundRect">
            <a:avLst>
              <a:gd name="adj" fmla="val 6977"/>
            </a:avLst>
          </a:prstGeom>
          <a:solidFill>
            <a:srgbClr val="EAF0F8"/>
          </a:solidFill>
          <a:ln w="10160">
            <a:solidFill>
              <a:srgbClr val="EAF0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984248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1380744" y="1965960"/>
            <a:ext cx="9866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fact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0744" y="2331720"/>
            <a:ext cx="9893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prefers support replies in Arabic.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" y="2752344"/>
            <a:ext cx="1064361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2907792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29352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1380744" y="2889504"/>
            <a:ext cx="9866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session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80744" y="3255264"/>
            <a:ext cx="9893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submits a billing question.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" y="3675888"/>
            <a:ext cx="10643616" cy="786384"/>
          </a:xfrm>
          <a:prstGeom prst="roundRect">
            <a:avLst>
              <a:gd name="adj" fmla="val 6977"/>
            </a:avLst>
          </a:prstGeom>
          <a:solidFill>
            <a:srgbClr val="EAF0F8"/>
          </a:solidFill>
          <a:ln w="10160">
            <a:solidFill>
              <a:srgbClr val="EAF0F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3831336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38587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1380744" y="3813048"/>
            <a:ext cx="9866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80744" y="4178808"/>
            <a:ext cx="9893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adds relevant preference to the prompt.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8952" y="4599432"/>
            <a:ext cx="1064361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4754880"/>
            <a:ext cx="384048" cy="384048"/>
          </a:xfrm>
          <a:prstGeom prst="roundRect">
            <a:avLst>
              <a:gd name="adj" fmla="val 47619"/>
            </a:avLst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47823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1380744" y="4736592"/>
            <a:ext cx="9866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80744" y="5102352"/>
            <a:ext cx="9893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chooses Arabic wording for this customer.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4944" y="5934456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998464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memory requires deliberate storage, retrieval, and appropriate permissions.</a:t>
            </a:r>
            <a:endParaRPr lang="en-US" sz="14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/ SUBTLE DISTINCTION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data is not automatically Agent Memory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of truth for ticket status belongs in the Ticket System.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2029968"/>
            <a:ext cx="5148072" cy="3136392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029968"/>
            <a:ext cx="59436" cy="3136392"/>
          </a:xfrm>
          <a:prstGeom prst="rect">
            <a:avLst/>
          </a:prstGeom>
          <a:solidFill>
            <a:srgbClr val="D98642"/>
          </a:solidFill>
          <a:ln w="10160">
            <a:solidFill>
              <a:srgbClr val="D9864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2219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DATABASE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969264" y="2688336"/>
            <a:ext cx="471830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15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= open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= high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via get_ticket_status(15)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163056" y="2029968"/>
            <a:ext cx="5148072" cy="3136392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2029968"/>
            <a:ext cx="59436" cy="3136392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22219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CONTEXT / MEMORY</a:t>
            </a:r>
            <a:endParaRPr lang="en-US" sz="1930" dirty="0"/>
          </a:p>
        </p:txBody>
      </p:sp>
      <p:sp>
        <p:nvSpPr>
          <p:cNvPr id="16" name="Text 14"/>
          <p:cNvSpPr/>
          <p:nvPr/>
        </p:nvSpPr>
        <p:spPr>
          <a:xfrm>
            <a:off x="6373368" y="2688336"/>
            <a:ext cx="471830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ticket = 15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user request = “its priority?”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language = Arabic (if saved)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694944" y="5669280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733288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access authoritative records; memory helps the agent keep context.</a:t>
            </a:r>
            <a:endParaRPr lang="en-US" sz="151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/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related ideas — not three isolated boxes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History is often one ingredient of Short-Term Memory.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956816"/>
            <a:ext cx="3401568" cy="352044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203704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HISTORY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278892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happened?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50976" y="3227832"/>
            <a:ext cx="2990088" cy="0"/>
          </a:xfrm>
          <a:prstGeom prst="line">
            <a:avLst/>
          </a:prstGeom>
          <a:noFill/>
          <a:ln w="12700">
            <a:solidFill>
              <a:srgbClr val="DE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465576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Ordered user / assistant / tool messages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50976" y="473659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 transcript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98264" y="1956816"/>
            <a:ext cx="3401568" cy="3520440"/>
          </a:xfrm>
          <a:prstGeom prst="roundRect">
            <a:avLst>
              <a:gd name="adj" fmla="val 2688"/>
            </a:avLst>
          </a:prstGeom>
          <a:solidFill>
            <a:srgbClr val="E5F6F4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2203704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SHORT-TERM MEMORY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9432" y="278892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matters now?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99432" y="3227832"/>
            <a:ext cx="2990088" cy="0"/>
          </a:xfrm>
          <a:prstGeom prst="line">
            <a:avLst/>
          </a:prstGeom>
          <a:noFill/>
          <a:ln w="12700">
            <a:solidFill>
              <a:srgbClr val="DE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3465576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ticket ID, goals, relevant history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599432" y="473659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ticket 15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046720" y="1956816"/>
            <a:ext cx="3401568" cy="352044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2203704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MEMORY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7888" y="278892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matters later?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247888" y="3227832"/>
            <a:ext cx="2990088" cy="0"/>
          </a:xfrm>
          <a:prstGeom prst="line">
            <a:avLst/>
          </a:prstGeom>
          <a:noFill/>
          <a:ln w="12700">
            <a:solidFill>
              <a:srgbClr val="DE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3465576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facts, preferences, summaries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247888" y="473659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Arabic reply preference</a:t>
            </a:r>
            <a:endParaRPr lang="en-US" sz="14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079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/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576072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5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final memory challenge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if the chat history becomes too long for the model’s context window?</a:t>
            </a:r>
            <a:endParaRPr lang="en-US" sz="1510" dirty="0"/>
          </a:p>
        </p:txBody>
      </p:sp>
      <p:sp>
        <p:nvSpPr>
          <p:cNvPr id="6" name="Shape 4"/>
          <p:cNvSpPr/>
          <p:nvPr/>
        </p:nvSpPr>
        <p:spPr>
          <a:xfrm>
            <a:off x="530352" y="6510528"/>
            <a:ext cx="11164824" cy="0"/>
          </a:xfrm>
          <a:prstGeom prst="line">
            <a:avLst/>
          </a:prstGeom>
          <a:noFill/>
          <a:ln w="12065">
            <a:solidFill>
              <a:srgbClr val="DE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653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04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1201400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664" y="1993392"/>
            <a:ext cx="5148072" cy="3054096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1993392"/>
            <a:ext cx="59436" cy="3054096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854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 /  SUMMARIZE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950976" y="2651760"/>
            <a:ext cx="471830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Condense old conversation while preserving important state and decisions.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199632" y="1993392"/>
            <a:ext cx="5148072" cy="3054096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10160">
            <a:solidFill>
              <a:srgbClr val="DE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993392"/>
            <a:ext cx="59436" cy="3054096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1854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30" b="1" dirty="0">
                <a:solidFill>
                  <a:srgbClr val="17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 /  RETRIEVE</a:t>
            </a:r>
            <a:endParaRPr lang="en-US" sz="1930" dirty="0"/>
          </a:p>
        </p:txBody>
      </p:sp>
      <p:sp>
        <p:nvSpPr>
          <p:cNvPr id="16" name="Text 14"/>
          <p:cNvSpPr/>
          <p:nvPr/>
        </p:nvSpPr>
        <p:spPr>
          <a:xfrm>
            <a:off x="6409944" y="2651760"/>
            <a:ext cx="471830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1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useful context, then retrieve only what matters for the current question.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94944" y="5586984"/>
            <a:ext cx="10808208" cy="502920"/>
          </a:xfrm>
          <a:prstGeom prst="roundRect">
            <a:avLst>
              <a:gd name="adj" fmla="val 12727"/>
            </a:avLst>
          </a:prstGeom>
          <a:solidFill>
            <a:srgbClr val="E5F6F4"/>
          </a:solidFill>
          <a:ln w="10160">
            <a:solidFill>
              <a:srgbClr val="E5F6F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65099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C7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explain these ideas today; implementing persistent memory is for a future lab.</a:t>
            </a:r>
            <a:endParaRPr lang="en-US" sz="14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C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94944"/>
            <a:ext cx="128016" cy="5394960"/>
          </a:xfrm>
          <a:prstGeom prst="rect">
            <a:avLst/>
          </a:prstGeom>
          <a:solidFill>
            <a:srgbClr val="079C94"/>
          </a:solidFill>
          <a:ln w="10160">
            <a:solidFill>
              <a:srgbClr val="079C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859536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180" kern="0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04  /  COMPLETE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6696" y="1572768"/>
            <a:ext cx="105156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model responses</a:t>
            </a:r>
            <a:endParaRPr lang="en-US" sz="4050" dirty="0"/>
          </a:p>
          <a:p>
            <a:pPr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model-directed actions.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014984" y="385876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C9D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Only  →  Streaming  →  First Tool  →  Multiple Tools  →  Agent Loop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14984" y="4892040"/>
            <a:ext cx="9985248" cy="749808"/>
          </a:xfrm>
          <a:prstGeom prst="roundRect">
            <a:avLst>
              <a:gd name="adj" fmla="val 9756"/>
            </a:avLst>
          </a:prstGeom>
          <a:solidFill>
            <a:srgbClr val="1C334D"/>
          </a:solidFill>
          <a:ln w="10160">
            <a:solidFill>
              <a:srgbClr val="1C334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5111496"/>
            <a:ext cx="9518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6F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Design useful memory for the same Ticket System.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96696" y="613562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A8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project. One new capability every lab.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11082528" y="6419088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59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CS 415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415 | Lab 04 — From LLM Calls to AI Agents</dc:title>
  <dc:subject>Lab 04: Building an AI-Powered Ticket Agent</dc:subject>
  <dc:creator>CS 415 — Agentic AI Lab</dc:creator>
  <cp:lastModifiedBy>CS 415 — Agentic AI Lab</cp:lastModifiedBy>
  <cp:revision>1</cp:revision>
  <dcterms:created xsi:type="dcterms:W3CDTF">2026-10-27T21:14:34Z</dcterms:created>
  <dcterms:modified xsi:type="dcterms:W3CDTF">2026-10-27T21:14:34Z</dcterms:modified>
</cp:coreProperties>
</file>