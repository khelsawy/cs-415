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slides/slide12.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21.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11.xml" ContentType="application/vnd.openxmlformats-officedocument.presentationml.slide+xml"/>
  <Override PartName="/ppt/slides/slide19.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5.xml" ContentType="application/vnd.openxmlformats-officedocument.presentationml.notesSlide+xml"/>
  <Override PartName="/ppt/notesSlides/notesSlide16.xml" ContentType="application/vnd.openxmlformats-officedocument.presentationml.notesSlide+xml"/>
  <Override PartName="/ppt/notesSlides/notesSlide7.xml" ContentType="application/vnd.openxmlformats-officedocument.presentationml.notesSlide+xml"/>
  <Override PartName="/ppt/notesSlides/notesSlide21.xml" ContentType="application/vnd.openxmlformats-officedocument.presentationml.notesSlide+xml"/>
  <Override PartName="/ppt/notesSlides/notesSlide10.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6.xml" ContentType="application/vnd.openxmlformats-officedocument.presentationml.notesSlide+xml"/>
  <Override PartName="/ppt/notesSlides/notesSlide22.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notesSlides/notesSlide3.xml" ContentType="application/vnd.openxmlformats-officedocument.presentationml.notesSlide+xml"/>
  <Override PartName="/ppt/notesSlides/notesSlide13.xml" ContentType="application/vnd.openxmlformats-officedocument.presentationml.notesSlide+xml"/>
  <Override PartName="/ppt/notesSlides/notesSlide1.xml" ContentType="application/vnd.openxmlformats-officedocument.presentationml.notesSlide+xml"/>
  <Override PartName="/ppt/notesSlides/notesSlide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 name="PlaceHolder 1"/>
          <p:cNvSpPr>
            <a:spLocks noGrp="1"/>
          </p:cNvSpPr>
          <p:nvPr>
            <p:ph type="sldImg"/>
          </p:nvPr>
        </p:nvSpPr>
        <p:spPr>
          <a:xfrm>
            <a:off x="0" y="764280"/>
            <a:ext cx="0" cy="0"/>
          </a:xfrm>
          <a:prstGeom prst="rect">
            <a:avLst/>
          </a:prstGeom>
          <a:noFill/>
          <a:ln w="0">
            <a:noFill/>
          </a:ln>
        </p:spPr>
        <p:txBody>
          <a:bodyPr lIns="0" tIns="0" rIns="0" bIns="0" anchor="ctr">
            <a:noAutofit/>
          </a:bodyPr>
          <a:p>
            <a:r>
              <a:rPr lang="en-US" sz="1800" b="0" u="none" strike="noStrike">
                <a:solidFill>
                  <a:schemeClr val="dk1"/>
                </a:solidFill>
                <a:effectLst/>
                <a:uFillTx/>
                <a:latin typeface="Aptos"/>
              </a:rPr>
              <a:t>Click to </a:t>
            </a:r>
            <a:r>
              <a:rPr lang="en-US" sz="1800" b="0" u="none" strike="noStrike">
                <a:solidFill>
                  <a:schemeClr val="dk1"/>
                </a:solidFill>
                <a:effectLst/>
                <a:uFillTx/>
                <a:latin typeface="Aptos"/>
              </a:rPr>
              <a:t>move the </a:t>
            </a:r>
            <a:r>
              <a:rPr lang="en-US" sz="1800" b="0" u="none" strike="noStrike">
                <a:solidFill>
                  <a:schemeClr val="dk1"/>
                </a:solidFill>
                <a:effectLst/>
                <a:uFillTx/>
                <a:latin typeface="Aptos"/>
              </a:rPr>
              <a:t>slide</a:t>
            </a:r>
            <a:endParaRPr lang="en-US" sz="1800" b="0" u="none" strike="noStrike">
              <a:solidFill>
                <a:schemeClr val="dk1"/>
              </a:solidFill>
              <a:effectLst/>
              <a:uFillTx/>
              <a:latin typeface="Aptos"/>
            </a:endParaRPr>
          </a:p>
        </p:txBody>
      </p:sp>
      <p:sp>
        <p:nvSpPr>
          <p:cNvPr id="7"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a:t>
            </a:r>
            <a:r>
              <a:rPr lang="en-US" sz="2000" b="0" u="none" strike="noStrike">
                <a:solidFill>
                  <a:srgbClr val="000000"/>
                </a:solidFill>
                <a:effectLst/>
                <a:uFillTx/>
                <a:latin typeface="Arial"/>
              </a:rPr>
              <a:t>notes format</a:t>
            </a:r>
            <a:endParaRPr lang="en-US" sz="2000" b="0" u="none" strike="noStrike">
              <a:solidFill>
                <a:srgbClr val="000000"/>
              </a:solidFill>
              <a:effectLst/>
              <a:uFillTx/>
              <a:latin typeface="Arial"/>
            </a:endParaRPr>
          </a:p>
        </p:txBody>
      </p:sp>
      <p:sp>
        <p:nvSpPr>
          <p:cNvPr id="8"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9" name="PlaceHolder 4"/>
          <p:cNvSpPr>
            <a:spLocks noGrp="1"/>
          </p:cNvSpPr>
          <p:nvPr>
            <p:ph type="dt" idx="2"/>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0" name="PlaceHolder 5"/>
          <p:cNvSpPr>
            <a:spLocks noGrp="1"/>
          </p:cNvSpPr>
          <p:nvPr>
            <p:ph type="ftr" idx="3"/>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1" name="PlaceHolder 6"/>
          <p:cNvSpPr>
            <a:spLocks noGrp="1"/>
          </p:cNvSpPr>
          <p:nvPr>
            <p:ph type="sldNum" idx="4"/>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E8BB2B85-2BB0-433C-BE33-F3D825E8A9A9}"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9" name="PlaceHolder 1"/>
          <p:cNvSpPr>
            <a:spLocks noGrp="1"/>
          </p:cNvSpPr>
          <p:nvPr>
            <p:ph type="sldImg"/>
          </p:nvPr>
        </p:nvSpPr>
        <p:spPr>
          <a:xfrm>
            <a:off x="685800" y="1143000"/>
            <a:ext cx="5486040" cy="3085920"/>
          </a:xfrm>
          <a:prstGeom prst="rect">
            <a:avLst/>
          </a:prstGeom>
          <a:ln w="0">
            <a:noFill/>
          </a:ln>
        </p:spPr>
      </p:sp>
      <p:sp>
        <p:nvSpPr>
          <p:cNvPr id="49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Welcome students to Lab 1. Explain that this lab is not an isolated Python tutorial. It is the first building block of an eight-week path toward a complete agent system. Today we will not use an LLM yet; we will build the programming foundation that later becomes tools, data validation, APIs, and agent loops.</a:t>
            </a:r>
            <a:endParaRPr lang="en-US" sz="2000" b="0" u="none" strike="noStrike">
              <a:solidFill>
                <a:srgbClr val="000000"/>
              </a:solidFill>
              <a:effectLst/>
              <a:uFillTx/>
              <a:latin typeface="Arial"/>
            </a:endParaRPr>
          </a:p>
        </p:txBody>
      </p:sp>
      <p:sp>
        <p:nvSpPr>
          <p:cNvPr id="491" name="PlaceHolder 3"/>
          <p:cNvSpPr>
            <a:spLocks noGrp="1"/>
          </p:cNvSpPr>
          <p:nvPr>
            <p:ph type="sldNum" idx="2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A6ABCB3-8F48-4C74-A453-4308B8E5E7AE}" type="slidenum">
              <a:rPr lang="en-US" sz="1200" b="0" u="none" strike="noStrike">
                <a:solidFill>
                  <a:schemeClr val="dk1"/>
                </a:solidFill>
                <a:effectLst/>
                <a:uFillTx/>
                <a:latin typeface="+mn-lt"/>
                <a:ea typeface="+mn-ea"/>
              </a:rPr>
              <a:t>22</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2" name="PlaceHolder 1"/>
          <p:cNvSpPr>
            <a:spLocks noGrp="1"/>
          </p:cNvSpPr>
          <p:nvPr>
            <p:ph type="sldImg"/>
          </p:nvPr>
        </p:nvSpPr>
        <p:spPr>
          <a:xfrm>
            <a:off x="685800" y="1143000"/>
            <a:ext cx="5486040" cy="3085920"/>
          </a:xfrm>
          <a:prstGeom prst="rect">
            <a:avLst/>
          </a:prstGeom>
          <a:ln w="0">
            <a:noFill/>
          </a:ln>
        </p:spPr>
      </p:sp>
      <p:sp>
        <p:nvSpPr>
          <p:cNvPr id="49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Show the eight-week path. Emphasize that each week is not a separate topic; it adds one layer to the same final system. Week 1 gives Python basics. Week 2 validates data. Week 3 exposes functions through APIs. Week 4 introduces the local LLM. Weeks 5 to 8 turn this into an agent with a loop and human review.</a:t>
            </a:r>
            <a:endParaRPr lang="en-US" sz="2000" b="0" u="none" strike="noStrike">
              <a:solidFill>
                <a:srgbClr val="000000"/>
              </a:solidFill>
              <a:effectLst/>
              <a:uFillTx/>
              <a:latin typeface="Arial"/>
            </a:endParaRPr>
          </a:p>
        </p:txBody>
      </p:sp>
      <p:sp>
        <p:nvSpPr>
          <p:cNvPr id="494" name="PlaceHolder 3"/>
          <p:cNvSpPr>
            <a:spLocks noGrp="1"/>
          </p:cNvSpPr>
          <p:nvPr>
            <p:ph type="sldNum" idx="2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D25AB2A-8E8C-4D41-8759-5B605D8FF873}" type="slidenum">
              <a:rPr lang="en-US" sz="1200" b="0" u="none" strike="noStrike">
                <a:solidFill>
                  <a:schemeClr val="dk1"/>
                </a:solidFill>
                <a:effectLst/>
                <a:uFillTx/>
                <a:latin typeface="+mn-lt"/>
                <a:ea typeface="+mn-ea"/>
              </a:rPr>
              <a:t>22</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5" name="PlaceHolder 1"/>
          <p:cNvSpPr>
            <a:spLocks noGrp="1"/>
          </p:cNvSpPr>
          <p:nvPr>
            <p:ph type="sldImg"/>
          </p:nvPr>
        </p:nvSpPr>
        <p:spPr>
          <a:xfrm>
            <a:off x="685800" y="1143000"/>
            <a:ext cx="5486040" cy="3085920"/>
          </a:xfrm>
          <a:prstGeom prst="rect">
            <a:avLst/>
          </a:prstGeom>
          <a:ln w="0">
            <a:noFill/>
          </a:ln>
        </p:spPr>
      </p:sp>
      <p:sp>
        <p:nvSpPr>
          <p:cNvPr id="49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Use this slide to fight the misconception that agents are just a prompt. An agent is a software system. Even when an LLM is added later, the surrounding code still manages data, tools, decisions, and safety. Today's ticket processor is intentionally simple because it becomes the foundation for later labs.</a:t>
            </a:r>
            <a:endParaRPr lang="en-US" sz="2000" b="0" u="none" strike="noStrike">
              <a:solidFill>
                <a:srgbClr val="000000"/>
              </a:solidFill>
              <a:effectLst/>
              <a:uFillTx/>
              <a:latin typeface="Arial"/>
            </a:endParaRPr>
          </a:p>
        </p:txBody>
      </p:sp>
      <p:sp>
        <p:nvSpPr>
          <p:cNvPr id="497" name="PlaceHolder 3"/>
          <p:cNvSpPr>
            <a:spLocks noGrp="1"/>
          </p:cNvSpPr>
          <p:nvPr>
            <p:ph type="sldNum" idx="2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059A62A-EA43-4617-BD72-0CB2DAB04800}" type="slidenum">
              <a:rPr lang="en-US" sz="1200" b="0" u="none" strike="noStrike">
                <a:solidFill>
                  <a:schemeClr val="dk1"/>
                </a:solidFill>
                <a:effectLst/>
                <a:uFillTx/>
                <a:latin typeface="+mn-lt"/>
                <a:ea typeface="+mn-ea"/>
              </a:rPr>
              <a:t>22</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8" name="PlaceHolder 1"/>
          <p:cNvSpPr>
            <a:spLocks noGrp="1"/>
          </p:cNvSpPr>
          <p:nvPr>
            <p:ph type="sldImg"/>
          </p:nvPr>
        </p:nvSpPr>
        <p:spPr>
          <a:xfrm>
            <a:off x="685800" y="1143000"/>
            <a:ext cx="5486040" cy="3085920"/>
          </a:xfrm>
          <a:prstGeom prst="rect">
            <a:avLst/>
          </a:prstGeom>
          <a:ln w="0">
            <a:noFill/>
          </a:ln>
        </p:spPr>
      </p:sp>
      <p:sp>
        <p:nvSpPr>
          <p:cNvPr id="49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Set expectations clearly. This is a practical lab. Students should not leave with only theoretical definitions. They should leave having run code and built a small but complete program.</a:t>
            </a:r>
            <a:endParaRPr lang="en-US" sz="2000" b="0" u="none" strike="noStrike">
              <a:solidFill>
                <a:srgbClr val="000000"/>
              </a:solidFill>
              <a:effectLst/>
              <a:uFillTx/>
              <a:latin typeface="Arial"/>
            </a:endParaRPr>
          </a:p>
        </p:txBody>
      </p:sp>
      <p:sp>
        <p:nvSpPr>
          <p:cNvPr id="500" name="PlaceHolder 3"/>
          <p:cNvSpPr>
            <a:spLocks noGrp="1"/>
          </p:cNvSpPr>
          <p:nvPr>
            <p:ph type="sldNum" idx="3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9E2D6C5-A471-450B-BACF-EC5D7B82FC5A}" type="slidenum">
              <a:rPr lang="en-US" sz="1200" b="0" u="none" strike="noStrike">
                <a:solidFill>
                  <a:schemeClr val="dk1"/>
                </a:solidFill>
                <a:effectLst/>
                <a:uFillTx/>
                <a:latin typeface="+mn-lt"/>
                <a:ea typeface="+mn-ea"/>
              </a:rPr>
              <a:t>22</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1" name="PlaceHolder 1"/>
          <p:cNvSpPr>
            <a:spLocks noGrp="1"/>
          </p:cNvSpPr>
          <p:nvPr>
            <p:ph type="sldImg"/>
          </p:nvPr>
        </p:nvSpPr>
        <p:spPr>
          <a:xfrm>
            <a:off x="685800" y="1143000"/>
            <a:ext cx="5486040" cy="3085920"/>
          </a:xfrm>
          <a:prstGeom prst="rect">
            <a:avLst/>
          </a:prstGeom>
          <a:ln w="0">
            <a:noFill/>
          </a:ln>
        </p:spPr>
      </p:sp>
      <p:sp>
        <p:nvSpPr>
          <p:cNvPr id="50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Say that Python is the glue language for the lab. We use it to build the system around the model. Students do not need to be advanced Python programmers today; they only need the basic vocabulary that allows them to understand later labs.</a:t>
            </a:r>
            <a:endParaRPr lang="en-US" sz="2000" b="0" u="none" strike="noStrike">
              <a:solidFill>
                <a:srgbClr val="000000"/>
              </a:solidFill>
              <a:effectLst/>
              <a:uFillTx/>
              <a:latin typeface="Arial"/>
            </a:endParaRPr>
          </a:p>
        </p:txBody>
      </p:sp>
      <p:sp>
        <p:nvSpPr>
          <p:cNvPr id="503" name="PlaceHolder 3"/>
          <p:cNvSpPr>
            <a:spLocks noGrp="1"/>
          </p:cNvSpPr>
          <p:nvPr>
            <p:ph type="sldNum" idx="3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7E80DEA-3E1C-43F2-ACB0-A9A6DB555F07}" type="slidenum">
              <a:rPr lang="en-US" sz="1200" b="0" u="none" strike="noStrike">
                <a:solidFill>
                  <a:schemeClr val="dk1"/>
                </a:solidFill>
                <a:effectLst/>
                <a:uFillTx/>
                <a:latin typeface="+mn-lt"/>
                <a:ea typeface="+mn-ea"/>
              </a:rPr>
              <a:t>22</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4" name="PlaceHolder 1"/>
          <p:cNvSpPr>
            <a:spLocks noGrp="1"/>
          </p:cNvSpPr>
          <p:nvPr>
            <p:ph type="sldImg"/>
          </p:nvPr>
        </p:nvSpPr>
        <p:spPr>
          <a:xfrm>
            <a:off x="685800" y="1143000"/>
            <a:ext cx="5486040" cy="3085920"/>
          </a:xfrm>
          <a:prstGeom prst="rect">
            <a:avLst/>
          </a:prstGeom>
          <a:ln w="0">
            <a:noFill/>
          </a:ln>
        </p:spPr>
      </p:sp>
      <p:sp>
        <p:nvSpPr>
          <p:cNvPr id="50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Walk around the room during this step. The goal is that every student can run one Python file. Avoid spending too long on installation problems. If someone's machine is blocked, pair them with another student or let them follow on your screen first.</a:t>
            </a:r>
            <a:endParaRPr lang="en-US" sz="2000" b="0" u="none" strike="noStrike">
              <a:solidFill>
                <a:srgbClr val="000000"/>
              </a:solidFill>
              <a:effectLst/>
              <a:uFillTx/>
              <a:latin typeface="Arial"/>
            </a:endParaRPr>
          </a:p>
        </p:txBody>
      </p:sp>
      <p:sp>
        <p:nvSpPr>
          <p:cNvPr id="506" name="PlaceHolder 3"/>
          <p:cNvSpPr>
            <a:spLocks noGrp="1"/>
          </p:cNvSpPr>
          <p:nvPr>
            <p:ph type="sldNum" idx="3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119EFA8-A851-4A46-9D03-A03BEB2AB411}" type="slidenum">
              <a:rPr lang="en-US" sz="1200" b="0" u="none" strike="noStrike">
                <a:solidFill>
                  <a:schemeClr val="dk1"/>
                </a:solidFill>
                <a:effectLst/>
                <a:uFillTx/>
                <a:latin typeface="+mn-lt"/>
                <a:ea typeface="+mn-ea"/>
              </a:rPr>
              <a:t>22</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7" name="PlaceHolder 1"/>
          <p:cNvSpPr>
            <a:spLocks noGrp="1"/>
          </p:cNvSpPr>
          <p:nvPr>
            <p:ph type="sldImg"/>
          </p:nvPr>
        </p:nvSpPr>
        <p:spPr>
          <a:xfrm>
            <a:off x="685800" y="1143000"/>
            <a:ext cx="5486040" cy="3085920"/>
          </a:xfrm>
          <a:prstGeom prst="rect">
            <a:avLst/>
          </a:prstGeom>
          <a:ln w="0">
            <a:noFill/>
          </a:ln>
        </p:spPr>
      </p:sp>
      <p:sp>
        <p:nvSpPr>
          <p:cNvPr id="50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Make sure students know the mental model: Python executes from top to bottom. Explain that debugging often starts with asking: which line did Python reach, what value did this variable have, and where did the error occur?</a:t>
            </a:r>
            <a:endParaRPr lang="en-US" sz="2000" b="0" u="none" strike="noStrike">
              <a:solidFill>
                <a:srgbClr val="000000"/>
              </a:solidFill>
              <a:effectLst/>
              <a:uFillTx/>
              <a:latin typeface="Arial"/>
            </a:endParaRPr>
          </a:p>
        </p:txBody>
      </p:sp>
      <p:sp>
        <p:nvSpPr>
          <p:cNvPr id="509" name="PlaceHolder 3"/>
          <p:cNvSpPr>
            <a:spLocks noGrp="1"/>
          </p:cNvSpPr>
          <p:nvPr>
            <p:ph type="sldNum" idx="3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B99F237-6E51-4300-A82B-2F5889027601}" type="slidenum">
              <a:rPr lang="en-US" sz="1200" b="0" u="none" strike="noStrike">
                <a:solidFill>
                  <a:schemeClr val="dk1"/>
                </a:solidFill>
                <a:effectLst/>
                <a:uFillTx/>
                <a:latin typeface="+mn-lt"/>
                <a:ea typeface="+mn-ea"/>
              </a:rPr>
              <a:t>22</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0" name="PlaceHolder 1"/>
          <p:cNvSpPr>
            <a:spLocks noGrp="1"/>
          </p:cNvSpPr>
          <p:nvPr>
            <p:ph type="sldImg"/>
          </p:nvPr>
        </p:nvSpPr>
        <p:spPr>
          <a:xfrm>
            <a:off x="685800" y="1143000"/>
            <a:ext cx="5486040" cy="3085920"/>
          </a:xfrm>
          <a:prstGeom prst="rect">
            <a:avLst/>
          </a:prstGeom>
          <a:ln w="0">
            <a:noFill/>
          </a:ln>
        </p:spPr>
      </p:sp>
      <p:sp>
        <p:nvSpPr>
          <p:cNvPr id="51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Explain the basic types using ticket-related examples. Emphasize that variables are names for values. Then ask students to change the values and use type() to inspect them.</a:t>
            </a:r>
            <a:endParaRPr lang="en-US" sz="2000" b="0" u="none" strike="noStrike">
              <a:solidFill>
                <a:srgbClr val="000000"/>
              </a:solidFill>
              <a:effectLst/>
              <a:uFillTx/>
              <a:latin typeface="Arial"/>
            </a:endParaRPr>
          </a:p>
        </p:txBody>
      </p:sp>
      <p:sp>
        <p:nvSpPr>
          <p:cNvPr id="512" name="PlaceHolder 3"/>
          <p:cNvSpPr>
            <a:spLocks noGrp="1"/>
          </p:cNvSpPr>
          <p:nvPr>
            <p:ph type="sldNum" idx="3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13E2165-EF41-42A3-8DA3-1974E78B8582}" type="slidenum">
              <a:rPr lang="en-US" sz="1200" b="0" u="none" strike="noStrike">
                <a:solidFill>
                  <a:schemeClr val="dk1"/>
                </a:solidFill>
                <a:effectLst/>
                <a:uFillTx/>
                <a:latin typeface="+mn-lt"/>
                <a:ea typeface="+mn-ea"/>
              </a:rPr>
              <a:t>22</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3" name="PlaceHolder 1"/>
          <p:cNvSpPr>
            <a:spLocks noGrp="1"/>
          </p:cNvSpPr>
          <p:nvPr>
            <p:ph type="sldImg"/>
          </p:nvPr>
        </p:nvSpPr>
        <p:spPr>
          <a:xfrm>
            <a:off x="685800" y="1143000"/>
            <a:ext cx="5486040" cy="3085920"/>
          </a:xfrm>
          <a:prstGeom prst="rect">
            <a:avLst/>
          </a:prstGeom>
          <a:ln w="0">
            <a:noFill/>
          </a:ln>
        </p:spPr>
      </p:sp>
      <p:sp>
        <p:nvSpPr>
          <p:cNvPr id="51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Show f-strings early because they make output readable. Mention that today we use simple string matching to classify tickets. Later the LLM will make this more flexible, but the program structure remains similar.</a:t>
            </a:r>
            <a:endParaRPr lang="en-US" sz="2000" b="0" u="none" strike="noStrike">
              <a:solidFill>
                <a:srgbClr val="000000"/>
              </a:solidFill>
              <a:effectLst/>
              <a:uFillTx/>
              <a:latin typeface="Arial"/>
            </a:endParaRPr>
          </a:p>
        </p:txBody>
      </p:sp>
      <p:sp>
        <p:nvSpPr>
          <p:cNvPr id="515" name="PlaceHolder 3"/>
          <p:cNvSpPr>
            <a:spLocks noGrp="1"/>
          </p:cNvSpPr>
          <p:nvPr>
            <p:ph type="sldNum" idx="3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75C32CC-907C-4C5E-BBC0-1BFDAE4B41F0}" type="slidenum">
              <a:rPr lang="en-US" sz="1200" b="0" u="none" strike="noStrike">
                <a:solidFill>
                  <a:schemeClr val="dk1"/>
                </a:solidFill>
                <a:effectLst/>
                <a:uFillTx/>
                <a:latin typeface="+mn-lt"/>
                <a:ea typeface="+mn-ea"/>
              </a:rPr>
              <a:t>22</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6" name="PlaceHolder 1"/>
          <p:cNvSpPr>
            <a:spLocks noGrp="1"/>
          </p:cNvSpPr>
          <p:nvPr>
            <p:ph type="sldImg"/>
          </p:nvPr>
        </p:nvSpPr>
        <p:spPr>
          <a:xfrm>
            <a:off x="685800" y="1143000"/>
            <a:ext cx="5486040" cy="3085920"/>
          </a:xfrm>
          <a:prstGeom prst="rect">
            <a:avLst/>
          </a:prstGeom>
          <a:ln w="0">
            <a:noFill/>
          </a:ln>
        </p:spPr>
      </p:sp>
      <p:sp>
        <p:nvSpPr>
          <p:cNvPr id="51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Slow down here. Lists and dictionaries are the foundation of the mini project and the foundation of JSON-like data students will see in APIs. Explain that a list holds many items; a dictionary holds fields for one item.</a:t>
            </a:r>
            <a:endParaRPr lang="en-US" sz="2000" b="0" u="none" strike="noStrike">
              <a:solidFill>
                <a:srgbClr val="000000"/>
              </a:solidFill>
              <a:effectLst/>
              <a:uFillTx/>
              <a:latin typeface="Arial"/>
            </a:endParaRPr>
          </a:p>
        </p:txBody>
      </p:sp>
      <p:sp>
        <p:nvSpPr>
          <p:cNvPr id="518" name="PlaceHolder 3"/>
          <p:cNvSpPr>
            <a:spLocks noGrp="1"/>
          </p:cNvSpPr>
          <p:nvPr>
            <p:ph type="sldNum" idx="3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EFF9E0A-CDC5-43DC-B11A-C590FFF79C41}" type="slidenum">
              <a:rPr lang="en-US" sz="1200" b="0" u="none" strike="noStrike">
                <a:solidFill>
                  <a:schemeClr val="dk1"/>
                </a:solidFill>
                <a:effectLst/>
                <a:uFillTx/>
                <a:latin typeface="+mn-lt"/>
                <a:ea typeface="+mn-ea"/>
              </a:rPr>
              <a:t>22</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9" name="PlaceHolder 1"/>
          <p:cNvSpPr>
            <a:spLocks noGrp="1"/>
          </p:cNvSpPr>
          <p:nvPr>
            <p:ph type="sldImg"/>
          </p:nvPr>
        </p:nvSpPr>
        <p:spPr>
          <a:xfrm>
            <a:off x="685800" y="1143000"/>
            <a:ext cx="5486040" cy="3085920"/>
          </a:xfrm>
          <a:prstGeom prst="rect">
            <a:avLst/>
          </a:prstGeom>
          <a:ln w="0">
            <a:noFill/>
          </a:ln>
        </p:spPr>
      </p:sp>
      <p:sp>
        <p:nvSpPr>
          <p:cNvPr id="52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Connect directly to Week 2. Today our data is a plain Python list of dictionaries. Next week, Pydantic will give this structure rules: id must be an integer, customer must be a string, and message cannot be missing.</a:t>
            </a:r>
            <a:endParaRPr lang="en-US" sz="2000" b="0" u="none" strike="noStrike">
              <a:solidFill>
                <a:srgbClr val="000000"/>
              </a:solidFill>
              <a:effectLst/>
              <a:uFillTx/>
              <a:latin typeface="Arial"/>
            </a:endParaRPr>
          </a:p>
        </p:txBody>
      </p:sp>
      <p:sp>
        <p:nvSpPr>
          <p:cNvPr id="521" name="PlaceHolder 3"/>
          <p:cNvSpPr>
            <a:spLocks noGrp="1"/>
          </p:cNvSpPr>
          <p:nvPr>
            <p:ph type="sldNum" idx="3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E8D5057-1235-4B82-A240-DCF05B0AC553}" type="slidenum">
              <a:rPr lang="en-US" sz="1200" b="0" u="none" strike="noStrike">
                <a:solidFill>
                  <a:schemeClr val="dk1"/>
                </a:solidFill>
                <a:effectLst/>
                <a:uFillTx/>
                <a:latin typeface="+mn-lt"/>
                <a:ea typeface="+mn-ea"/>
              </a:rPr>
              <a:t>22</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2" name="PlaceHolder 1"/>
          <p:cNvSpPr>
            <a:spLocks noGrp="1"/>
          </p:cNvSpPr>
          <p:nvPr>
            <p:ph type="sldImg"/>
          </p:nvPr>
        </p:nvSpPr>
        <p:spPr>
          <a:xfrm>
            <a:off x="685800" y="1143000"/>
            <a:ext cx="5486040" cy="3085920"/>
          </a:xfrm>
          <a:prstGeom prst="rect">
            <a:avLst/>
          </a:prstGeom>
          <a:ln w="0">
            <a:noFill/>
          </a:ln>
        </p:spPr>
      </p:sp>
      <p:sp>
        <p:nvSpPr>
          <p:cNvPr id="52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Tell students clearly: this is not AI. This is rule-based logic. That is okay. The point is to understand how decisions work in code. Later, LLMs can replace some brittle text-matching parts, but the system still needs conditional logic.</a:t>
            </a:r>
            <a:endParaRPr lang="en-US" sz="2000" b="0" u="none" strike="noStrike">
              <a:solidFill>
                <a:srgbClr val="000000"/>
              </a:solidFill>
              <a:effectLst/>
              <a:uFillTx/>
              <a:latin typeface="Arial"/>
            </a:endParaRPr>
          </a:p>
        </p:txBody>
      </p:sp>
      <p:sp>
        <p:nvSpPr>
          <p:cNvPr id="524" name="PlaceHolder 3"/>
          <p:cNvSpPr>
            <a:spLocks noGrp="1"/>
          </p:cNvSpPr>
          <p:nvPr>
            <p:ph type="sldNum" idx="3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D4AFBC0-889C-42AF-A88D-2851C62784E1}" type="slidenum">
              <a:rPr lang="en-US" sz="1200" b="0" u="none" strike="noStrike">
                <a:solidFill>
                  <a:schemeClr val="dk1"/>
                </a:solidFill>
                <a:effectLst/>
                <a:uFillTx/>
                <a:latin typeface="+mn-lt"/>
                <a:ea typeface="+mn-ea"/>
              </a:rPr>
              <a:t>22</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5" name="PlaceHolder 1"/>
          <p:cNvSpPr>
            <a:spLocks noGrp="1"/>
          </p:cNvSpPr>
          <p:nvPr>
            <p:ph type="sldImg"/>
          </p:nvPr>
        </p:nvSpPr>
        <p:spPr>
          <a:xfrm>
            <a:off x="685800" y="1143000"/>
            <a:ext cx="5486040" cy="3085920"/>
          </a:xfrm>
          <a:prstGeom prst="rect">
            <a:avLst/>
          </a:prstGeom>
          <a:ln w="0">
            <a:noFill/>
          </a:ln>
        </p:spPr>
      </p:sp>
      <p:sp>
        <p:nvSpPr>
          <p:cNvPr id="52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Have students say the loop out loud: for each ticket in tickets. Explain that agent loops in Week 6 are conceptually similar: repeat an action until a condition is met. Today the loop is simple; later the loop will be goal-directed.</a:t>
            </a:r>
            <a:endParaRPr lang="en-US" sz="2000" b="0" u="none" strike="noStrike">
              <a:solidFill>
                <a:srgbClr val="000000"/>
              </a:solidFill>
              <a:effectLst/>
              <a:uFillTx/>
              <a:latin typeface="Arial"/>
            </a:endParaRPr>
          </a:p>
        </p:txBody>
      </p:sp>
      <p:sp>
        <p:nvSpPr>
          <p:cNvPr id="527" name="PlaceHolder 3"/>
          <p:cNvSpPr>
            <a:spLocks noGrp="1"/>
          </p:cNvSpPr>
          <p:nvPr>
            <p:ph type="sldNum" idx="3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B162197-B7D6-4D9A-A834-A2FC7C704CF0}" type="slidenum">
              <a:rPr lang="en-US" sz="1200" b="0" u="none" strike="noStrike">
                <a:solidFill>
                  <a:schemeClr val="dk1"/>
                </a:solidFill>
                <a:effectLst/>
                <a:uFillTx/>
                <a:latin typeface="+mn-lt"/>
                <a:ea typeface="+mn-ea"/>
              </a:rPr>
              <a:t>22</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8" name="PlaceHolder 1"/>
          <p:cNvSpPr>
            <a:spLocks noGrp="1"/>
          </p:cNvSpPr>
          <p:nvPr>
            <p:ph type="sldImg"/>
          </p:nvPr>
        </p:nvSpPr>
        <p:spPr>
          <a:xfrm>
            <a:off x="685800" y="1143000"/>
            <a:ext cx="5486040" cy="3085920"/>
          </a:xfrm>
          <a:prstGeom prst="rect">
            <a:avLst/>
          </a:prstGeom>
          <a:ln w="0">
            <a:noFill/>
          </a:ln>
        </p:spPr>
      </p:sp>
      <p:sp>
        <p:nvSpPr>
          <p:cNvPr id="52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Pause on the distinction between print and return. print shows something to the user. return gives a value back to the program. This distinction is essential before students build tools and APIs.</a:t>
            </a:r>
            <a:endParaRPr lang="en-US" sz="2000" b="0" u="none" strike="noStrike">
              <a:solidFill>
                <a:srgbClr val="000000"/>
              </a:solidFill>
              <a:effectLst/>
              <a:uFillTx/>
              <a:latin typeface="Arial"/>
            </a:endParaRPr>
          </a:p>
        </p:txBody>
      </p:sp>
      <p:sp>
        <p:nvSpPr>
          <p:cNvPr id="530" name="PlaceHolder 3"/>
          <p:cNvSpPr>
            <a:spLocks noGrp="1"/>
          </p:cNvSpPr>
          <p:nvPr>
            <p:ph type="sldNum" idx="4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C224663-1956-4B63-8095-96DC97C6C8CE}" type="slidenum">
              <a:rPr lang="en-US" sz="1200" b="0" u="none" strike="noStrike">
                <a:solidFill>
                  <a:schemeClr val="dk1"/>
                </a:solidFill>
                <a:effectLst/>
                <a:uFillTx/>
                <a:latin typeface="+mn-lt"/>
                <a:ea typeface="+mn-ea"/>
              </a:rPr>
              <a:t>22</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1" name="PlaceHolder 1"/>
          <p:cNvSpPr>
            <a:spLocks noGrp="1"/>
          </p:cNvSpPr>
          <p:nvPr>
            <p:ph type="sldImg"/>
          </p:nvPr>
        </p:nvSpPr>
        <p:spPr>
          <a:xfrm>
            <a:off x="685800" y="1143000"/>
            <a:ext cx="5486040" cy="3085920"/>
          </a:xfrm>
          <a:prstGeom prst="rect">
            <a:avLst/>
          </a:prstGeom>
          <a:ln w="0">
            <a:noFill/>
          </a:ln>
        </p:spPr>
      </p:sp>
      <p:sp>
        <p:nvSpPr>
          <p:cNvPr id="53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Introduce the mini project before showing the full code. Students should understand the target first. Then build it in steps. The goal is not a perfect classifier. The goal is a complete working program.</a:t>
            </a:r>
            <a:endParaRPr lang="en-US" sz="2000" b="0" u="none" strike="noStrike">
              <a:solidFill>
                <a:srgbClr val="000000"/>
              </a:solidFill>
              <a:effectLst/>
              <a:uFillTx/>
              <a:latin typeface="Arial"/>
            </a:endParaRPr>
          </a:p>
        </p:txBody>
      </p:sp>
      <p:sp>
        <p:nvSpPr>
          <p:cNvPr id="533" name="PlaceHolder 3"/>
          <p:cNvSpPr>
            <a:spLocks noGrp="1"/>
          </p:cNvSpPr>
          <p:nvPr>
            <p:ph type="sldNum" idx="4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7E8885C-B485-4A02-AA23-82D93D2E86C0}" type="slidenum">
              <a:rPr lang="en-US" sz="1200" b="0" u="none" strike="noStrike">
                <a:solidFill>
                  <a:schemeClr val="dk1"/>
                </a:solidFill>
                <a:effectLst/>
                <a:uFillTx/>
                <a:latin typeface="+mn-lt"/>
                <a:ea typeface="+mn-ea"/>
              </a:rPr>
              <a:t>22</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4" name="PlaceHolder 1"/>
          <p:cNvSpPr>
            <a:spLocks noGrp="1"/>
          </p:cNvSpPr>
          <p:nvPr>
            <p:ph type="sldImg"/>
          </p:nvPr>
        </p:nvSpPr>
        <p:spPr>
          <a:xfrm>
            <a:off x="685800" y="1143000"/>
            <a:ext cx="5486040" cy="3085920"/>
          </a:xfrm>
          <a:prstGeom prst="rect">
            <a:avLst/>
          </a:prstGeom>
          <a:ln w="0">
            <a:noFill/>
          </a:ln>
        </p:spPr>
      </p:sp>
      <p:sp>
        <p:nvSpPr>
          <p:cNvPr id="53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Ask questions rather than simply typing the data. Students should see that this structure is flexible but also dangerous: Python will not stop us if one dictionary has missing fields. That motivates Pydantic next week.</a:t>
            </a:r>
            <a:endParaRPr lang="en-US" sz="2000" b="0" u="none" strike="noStrike">
              <a:solidFill>
                <a:srgbClr val="000000"/>
              </a:solidFill>
              <a:effectLst/>
              <a:uFillTx/>
              <a:latin typeface="Arial"/>
            </a:endParaRPr>
          </a:p>
        </p:txBody>
      </p:sp>
      <p:sp>
        <p:nvSpPr>
          <p:cNvPr id="536" name="PlaceHolder 3"/>
          <p:cNvSpPr>
            <a:spLocks noGrp="1"/>
          </p:cNvSpPr>
          <p:nvPr>
            <p:ph type="sldNum" idx="4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D5AE058-5C6D-48FE-8C2A-897679C4614E}" type="slidenum">
              <a:rPr lang="en-US" sz="1200" b="0" u="none" strike="noStrike">
                <a:solidFill>
                  <a:schemeClr val="dk1"/>
                </a:solidFill>
                <a:effectLst/>
                <a:uFillTx/>
                <a:latin typeface="+mn-lt"/>
                <a:ea typeface="+mn-ea"/>
              </a:rPr>
              <a:t>22</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7" name="PlaceHolder 1"/>
          <p:cNvSpPr>
            <a:spLocks noGrp="1"/>
          </p:cNvSpPr>
          <p:nvPr>
            <p:ph type="sldImg"/>
          </p:nvPr>
        </p:nvSpPr>
        <p:spPr>
          <a:xfrm>
            <a:off x="685800" y="1143000"/>
            <a:ext cx="5486040" cy="3085920"/>
          </a:xfrm>
          <a:prstGeom prst="rect">
            <a:avLst/>
          </a:prstGeom>
          <a:ln w="0">
            <a:noFill/>
          </a:ln>
        </p:spPr>
      </p:sp>
      <p:sp>
        <p:nvSpPr>
          <p:cNvPr id="53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Explain that the classifier is deliberately simple. Ask students what messages this function will classify badly. Examples: 'my card was declined' may be billing but does not contain payment or invoice. That opens the door to why LLMs are useful later.</a:t>
            </a:r>
            <a:endParaRPr lang="en-US" sz="2000" b="0" u="none" strike="noStrike">
              <a:solidFill>
                <a:srgbClr val="000000"/>
              </a:solidFill>
              <a:effectLst/>
              <a:uFillTx/>
              <a:latin typeface="Arial"/>
            </a:endParaRPr>
          </a:p>
        </p:txBody>
      </p:sp>
      <p:sp>
        <p:nvSpPr>
          <p:cNvPr id="539" name="PlaceHolder 3"/>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54436B2-29F5-4CAB-885F-9E485E59CC9D}" type="slidenum">
              <a:rPr lang="en-US" sz="1200" b="0" u="none" strike="noStrike">
                <a:solidFill>
                  <a:schemeClr val="dk1"/>
                </a:solidFill>
                <a:effectLst/>
                <a:uFillTx/>
                <a:latin typeface="+mn-lt"/>
                <a:ea typeface="+mn-ea"/>
              </a:rPr>
              <a:t>22</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0" name="PlaceHolder 1"/>
          <p:cNvSpPr>
            <a:spLocks noGrp="1"/>
          </p:cNvSpPr>
          <p:nvPr>
            <p:ph type="sldImg"/>
          </p:nvPr>
        </p:nvSpPr>
        <p:spPr>
          <a:xfrm>
            <a:off x="685800" y="1143000"/>
            <a:ext cx="5486040" cy="3085920"/>
          </a:xfrm>
          <a:prstGeom prst="rect">
            <a:avLst/>
          </a:prstGeom>
          <a:ln w="0">
            <a:noFill/>
          </a:ln>
        </p:spPr>
      </p:sp>
      <p:sp>
        <p:nvSpPr>
          <p:cNvPr id="54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Point out the pattern: we initialize state, loop over data, update state, and print a result. This same thinking will reappear in the agent loop. The difference later is that the agent's next step will depend on observations from tools.</a:t>
            </a:r>
            <a:endParaRPr lang="en-US" sz="2000" b="0" u="none" strike="noStrike">
              <a:solidFill>
                <a:srgbClr val="000000"/>
              </a:solidFill>
              <a:effectLst/>
              <a:uFillTx/>
              <a:latin typeface="Arial"/>
            </a:endParaRPr>
          </a:p>
        </p:txBody>
      </p:sp>
      <p:sp>
        <p:nvSpPr>
          <p:cNvPr id="542" name="PlaceHolder 3"/>
          <p:cNvSpPr>
            <a:spLocks noGrp="1"/>
          </p:cNvSpPr>
          <p:nvPr>
            <p:ph type="sldNum" idx="4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AEC97D9-EAB6-43D9-8DE5-C85CD58F828C}" type="slidenum">
              <a:rPr lang="en-US" sz="1200" b="0" u="none" strike="noStrike">
                <a:solidFill>
                  <a:schemeClr val="dk1"/>
                </a:solidFill>
                <a:effectLst/>
                <a:uFillTx/>
                <a:latin typeface="+mn-lt"/>
                <a:ea typeface="+mn-ea"/>
              </a:rPr>
              <a:t>22</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3" name="PlaceHolder 1"/>
          <p:cNvSpPr>
            <a:spLocks noGrp="1"/>
          </p:cNvSpPr>
          <p:nvPr>
            <p:ph type="sldImg"/>
          </p:nvPr>
        </p:nvSpPr>
        <p:spPr>
          <a:xfrm>
            <a:off x="685800" y="1143000"/>
            <a:ext cx="5486040" cy="3085920"/>
          </a:xfrm>
          <a:prstGeom prst="rect">
            <a:avLst/>
          </a:prstGeom>
          <a:ln w="0">
            <a:noFill/>
          </a:ln>
        </p:spPr>
      </p:sp>
      <p:sp>
        <p:nvSpPr>
          <p:cNvPr id="54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Do not solve this immediately. Give students time. Walk around and check who can modify the code. If time is short, ask one student to explain their solution rather than writing all possible answers yourself.</a:t>
            </a:r>
            <a:endParaRPr lang="en-US" sz="2000" b="0" u="none" strike="noStrike">
              <a:solidFill>
                <a:srgbClr val="000000"/>
              </a:solidFill>
              <a:effectLst/>
              <a:uFillTx/>
              <a:latin typeface="Arial"/>
            </a:endParaRPr>
          </a:p>
        </p:txBody>
      </p:sp>
      <p:sp>
        <p:nvSpPr>
          <p:cNvPr id="545" name="PlaceHolder 3"/>
          <p:cNvSpPr>
            <a:spLocks noGrp="1"/>
          </p:cNvSpPr>
          <p:nvPr>
            <p:ph type="sldNum" idx="4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784B007-F199-4811-B98C-FD0CB156F67A}"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6" name="PlaceHolder 1"/>
          <p:cNvSpPr>
            <a:spLocks noGrp="1"/>
          </p:cNvSpPr>
          <p:nvPr>
            <p:ph type="sldImg"/>
          </p:nvPr>
        </p:nvSpPr>
        <p:spPr>
          <a:xfrm>
            <a:off x="685800" y="1143000"/>
            <a:ext cx="5486040" cy="3085920"/>
          </a:xfrm>
          <a:prstGeom prst="rect">
            <a:avLst/>
          </a:prstGeom>
          <a:ln w="0">
            <a:noFill/>
          </a:ln>
        </p:spPr>
      </p:sp>
      <p:sp>
        <p:nvSpPr>
          <p:cNvPr id="54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Students will hit errors. Normalize that. The skill is not avoiding errors; it is reading tracebacks. Show them how to find the line number and the error type. Encourage them not to panic when Python complains.</a:t>
            </a:r>
            <a:endParaRPr lang="en-US" sz="2000" b="0" u="none" strike="noStrike">
              <a:solidFill>
                <a:srgbClr val="000000"/>
              </a:solidFill>
              <a:effectLst/>
              <a:uFillTx/>
              <a:latin typeface="Arial"/>
            </a:endParaRPr>
          </a:p>
        </p:txBody>
      </p:sp>
      <p:sp>
        <p:nvSpPr>
          <p:cNvPr id="548" name="PlaceHolder 3"/>
          <p:cNvSpPr>
            <a:spLocks noGrp="1"/>
          </p:cNvSpPr>
          <p:nvPr>
            <p:ph type="sldNum" idx="4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B7097F2-A39F-43FB-A01B-020CF75FF5D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9" name="PlaceHolder 1"/>
          <p:cNvSpPr>
            <a:spLocks noGrp="1"/>
          </p:cNvSpPr>
          <p:nvPr>
            <p:ph type="sldImg"/>
          </p:nvPr>
        </p:nvSpPr>
        <p:spPr>
          <a:xfrm>
            <a:off x="685800" y="1143000"/>
            <a:ext cx="5486040" cy="3085920"/>
          </a:xfrm>
          <a:prstGeom prst="rect">
            <a:avLst/>
          </a:prstGeom>
          <a:ln w="0">
            <a:noFill/>
          </a:ln>
        </p:spPr>
      </p:sp>
      <p:sp>
        <p:nvSpPr>
          <p:cNvPr id="55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Keep homework aligned with Week 1. Do not ask for APIs, Pydantic models, or LLMs yet. The goal is mastery of Python basics. Optional challenge is for stronger students without overwhelming beginners.</a:t>
            </a:r>
            <a:endParaRPr lang="en-US" sz="2000" b="0" u="none" strike="noStrike">
              <a:solidFill>
                <a:srgbClr val="000000"/>
              </a:solidFill>
              <a:effectLst/>
              <a:uFillTx/>
              <a:latin typeface="Arial"/>
            </a:endParaRPr>
          </a:p>
        </p:txBody>
      </p:sp>
      <p:sp>
        <p:nvSpPr>
          <p:cNvPr id="551" name="PlaceHolder 3"/>
          <p:cNvSpPr>
            <a:spLocks noGrp="1"/>
          </p:cNvSpPr>
          <p:nvPr>
            <p:ph type="sldNum" idx="4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BAB8445-E04E-48E0-AD0E-EEFEE520E5F3}"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2" name="PlaceHolder 1"/>
          <p:cNvSpPr>
            <a:spLocks noGrp="1"/>
          </p:cNvSpPr>
          <p:nvPr>
            <p:ph type="sldImg"/>
          </p:nvPr>
        </p:nvSpPr>
        <p:spPr>
          <a:xfrm>
            <a:off x="685800" y="1143000"/>
            <a:ext cx="5486040" cy="3085920"/>
          </a:xfrm>
          <a:prstGeom prst="rect">
            <a:avLst/>
          </a:prstGeom>
          <a:ln w="0">
            <a:noFill/>
          </a:ln>
        </p:spPr>
      </p:sp>
      <p:sp>
        <p:nvSpPr>
          <p:cNvPr id="55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Close by linking Week 1 to Week 2. Students should understand why Pydantic matters: it protects the agent from bad inputs. End with a reminder to submit main.py and to bring questions next week.</a:t>
            </a:r>
            <a:endParaRPr lang="en-US" sz="2000" b="0" u="none" strike="noStrike">
              <a:solidFill>
                <a:srgbClr val="000000"/>
              </a:solidFill>
              <a:effectLst/>
              <a:uFillTx/>
              <a:latin typeface="Arial"/>
            </a:endParaRPr>
          </a:p>
        </p:txBody>
      </p:sp>
      <p:sp>
        <p:nvSpPr>
          <p:cNvPr id="554" name="PlaceHolder 3"/>
          <p:cNvSpPr>
            <a:spLocks noGrp="1"/>
          </p:cNvSpPr>
          <p:nvPr>
            <p:ph type="sldNum" idx="4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C50C02E-6ECE-4829-ABDC-0730115BA20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411480" y="6510240"/>
            <a:ext cx="11384280" cy="360"/>
          </a:xfrm>
          <a:prstGeom prst="line">
            <a:avLst/>
          </a:prstGeom>
          <a:ln w="12700">
            <a:solidFill>
              <a:srgbClr val="D7E3EE"/>
            </a:solidFill>
            <a:round/>
          </a:ln>
        </p:spPr>
        <p:style>
          <a:lnRef idx="0"/>
          <a:fillRef idx="0"/>
          <a:effectRef idx="0"/>
          <a:fontRef idx="minor"/>
        </p:style>
        <p:txBody>
          <a:bodyPr lIns="90000" tIns="-44640" rIns="90000" bIns="-44640" anchor="t" anchorCtr="1">
            <a:noAutofit/>
          </a:bodyPr>
          <a:p>
            <a:endParaRPr lang="en-US" sz="1800" b="0" u="none" strike="noStrike">
              <a:solidFill>
                <a:srgbClr val="000000"/>
              </a:solidFill>
              <a:effectLst/>
              <a:uFillTx/>
              <a:latin typeface="Arial"/>
            </a:endParaRPr>
          </a:p>
        </p:txBody>
      </p:sp>
      <p:sp>
        <p:nvSpPr>
          <p:cNvPr id="3" name="PlaceHolder 1"/>
          <p:cNvSpPr>
            <a:spLocks noGrp="1"/>
          </p:cNvSpPr>
          <p:nvPr>
            <p:ph type="sldNum" idx="1"/>
          </p:nvPr>
        </p:nvSpPr>
        <p:spPr>
          <a:xfrm>
            <a:off x="11292840" y="6546960"/>
            <a:ext cx="799560" cy="299520"/>
          </a:xfrm>
          <a:prstGeom prst="rect">
            <a:avLst/>
          </a:prstGeom>
          <a:noFill/>
          <a:ln w="0">
            <a:noFill/>
          </a:ln>
        </p:spPr>
        <p:txBody>
          <a:bodyPr lIns="90000" tIns="45000" rIns="90000" bIns="45000" anchor="t">
            <a:noAutofit/>
          </a:bodyPr>
          <a:lstStyle>
            <a:lvl1pPr indent="0" algn="l" defTabSz="914400">
              <a:lnSpc>
                <a:spcPct val="100000"/>
              </a:lnSpc>
              <a:buNone/>
              <a:defRPr lang="en-US" sz="900" b="0" u="none" strike="noStrike">
                <a:solidFill>
                  <a:srgbClr val="78909C"/>
                </a:solidFill>
                <a:effectLst/>
                <a:uFillTx/>
                <a:latin typeface="Aptos"/>
                <a:ea typeface="Aptos"/>
              </a:defRPr>
            </a:lvl1pPr>
          </a:lstStyle>
          <a:p>
            <a:pPr indent="0" algn="l" defTabSz="914400">
              <a:lnSpc>
                <a:spcPct val="100000"/>
              </a:lnSpc>
              <a:buNone/>
            </a:pPr>
            <a:fld id="{DACF9733-F1A4-4C13-BC32-99994A1DF31D}" type="slidenum">
              <a:rPr lang="en-US" sz="900" b="0" u="none" strike="noStrike">
                <a:solidFill>
                  <a:srgbClr val="78909C"/>
                </a:solidFill>
                <a:effectLst/>
                <a:uFillTx/>
                <a:latin typeface="Aptos"/>
                <a:ea typeface="Aptos"/>
              </a:rPr>
              <a:t>&lt;number&gt;</a:t>
            </a:fld>
            <a:endParaRPr lang="en-US" sz="900" b="0" u="none" strike="noStrike">
              <a:solidFill>
                <a:srgbClr val="000000"/>
              </a:solidFill>
              <a:effectLst/>
              <a:uFillTx/>
              <a:latin typeface="Times New Roman"/>
            </a:endParaRPr>
          </a:p>
        </p:txBody>
      </p:sp>
      <p:sp>
        <p:nvSpPr>
          <p:cNvPr id="4" name="PlaceHolder 2"/>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Aptos"/>
              </a:defRPr>
            </a:lvl1pPr>
          </a:lstStyle>
          <a:p>
            <a:pPr indent="0" algn="l">
              <a:buNone/>
            </a:pPr>
            <a:r>
              <a:rPr lang="en-US" sz="1800" b="0" u="none" strike="noStrike">
                <a:solidFill>
                  <a:schemeClr val="dk1"/>
                </a:solidFill>
                <a:effectLst/>
                <a:uFillTx/>
                <a:latin typeface="Aptos"/>
              </a:rPr>
              <a:t>Click to edit the title text </a:t>
            </a:r>
            <a:r>
              <a:rPr lang="en-US" sz="1800" b="0" u="none" strike="noStrike">
                <a:solidFill>
                  <a:schemeClr val="dk1"/>
                </a:solidFill>
                <a:effectLst/>
                <a:uFillTx/>
                <a:latin typeface="Aptos"/>
              </a:rPr>
              <a:t>format</a:t>
            </a:r>
            <a:endParaRPr lang="en-US" sz="1800" b="0" u="none" strike="noStrike">
              <a:solidFill>
                <a:schemeClr val="dk1"/>
              </a:solidFill>
              <a:effectLst/>
              <a:uFillTx/>
              <a:latin typeface="Aptos"/>
            </a:endParaRPr>
          </a:p>
        </p:txBody>
      </p:sp>
      <p:sp>
        <p:nvSpPr>
          <p:cNvPr id="5" name="PlaceHolder 3"/>
          <p:cNvSpPr>
            <a:spLocks noGrp="1"/>
          </p:cNvSpPr>
          <p:nvPr>
            <p:ph type="body"/>
          </p:nvPr>
        </p:nvSpPr>
        <p:spPr>
          <a:xfrm>
            <a:off x="609480" y="1604520"/>
            <a:ext cx="1097208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Aptos"/>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Aptos"/>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Aptos"/>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Aptos"/>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Aptos"/>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Aptos"/>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Aptos"/>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Aptos"/>
              </a:rPr>
              <a:t>Click to edit the outline text format</a:t>
            </a:r>
            <a:endParaRPr lang="en-US" sz="3200" b="0" u="none" strike="noStrike">
              <a:solidFill>
                <a:schemeClr val="dk1"/>
              </a:solidFill>
              <a:effectLst/>
              <a:uFillTx/>
              <a:latin typeface="Aptos"/>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Aptos"/>
              </a:rPr>
              <a:t>Second Outline Level</a:t>
            </a:r>
            <a:endParaRPr lang="en-US" sz="2400" b="0" u="none" strike="noStrike">
              <a:solidFill>
                <a:schemeClr val="dk1"/>
              </a:solidFill>
              <a:effectLst/>
              <a:uFillTx/>
              <a:latin typeface="Aptos"/>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Aptos"/>
              </a:rPr>
              <a:t>Third Outline Level</a:t>
            </a:r>
            <a:endParaRPr lang="en-US" sz="2000" b="0" u="none" strike="noStrike">
              <a:solidFill>
                <a:schemeClr val="dk1"/>
              </a:solidFill>
              <a:effectLst/>
              <a:uFillTx/>
              <a:latin typeface="Aptos"/>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Aptos"/>
              </a:rPr>
              <a:t>Fourth Outline Level</a:t>
            </a:r>
            <a:endParaRPr lang="en-US" sz="2000" b="0" u="none" strike="noStrike">
              <a:solidFill>
                <a:schemeClr val="dk1"/>
              </a:solidFill>
              <a:effectLst/>
              <a:uFillTx/>
              <a:latin typeface="Aptos"/>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Aptos"/>
              </a:rPr>
              <a:t>Fifth Outline Level</a:t>
            </a:r>
            <a:endParaRPr lang="en-US" sz="2000" b="0" u="none" strike="noStrike">
              <a:solidFill>
                <a:schemeClr val="dk1"/>
              </a:solidFill>
              <a:effectLst/>
              <a:uFillTx/>
              <a:latin typeface="Aptos"/>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endParaRPr lang="en-US" sz="2000" b="0" u="none" strike="noStrike">
              <a:solidFill>
                <a:schemeClr val="dk1"/>
              </a:solidFill>
              <a:effectLst/>
              <a:uFillTx/>
              <a:latin typeface="Aptos"/>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endParaRPr lang="en-US" sz="2000" b="0" u="none" strike="noStrike">
              <a:solidFill>
                <a:schemeClr val="dk1"/>
              </a:solidFill>
              <a:effectLst/>
              <a:uFillTx/>
              <a:latin typeface="Aptos"/>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AFC"/>
        </a:solidFill>
      </p:bgPr>
    </p:bg>
    <p:spTree>
      <p:nvGrpSpPr>
        <p:cNvPr id="1" name=""/>
        <p:cNvGrpSpPr/>
        <p:nvPr/>
      </p:nvGrpSpPr>
      <p:grpSpPr>
        <a:xfrm>
          <a:off x="0" y="0"/>
          <a:ext cx="0" cy="0"/>
          <a:chOff x="0" y="0"/>
          <a:chExt cx="0" cy="0"/>
        </a:xfrm>
      </p:grpSpPr>
      <p:sp>
        <p:nvSpPr>
          <p:cNvPr id="12" name="Shape 0"/>
          <p:cNvSpPr/>
          <p:nvPr/>
        </p:nvSpPr>
        <p:spPr>
          <a:xfrm>
            <a:off x="0" y="0"/>
            <a:ext cx="12191400" cy="6857640"/>
          </a:xfrm>
          <a:prstGeom prst="rect">
            <a:avLst/>
          </a:prstGeom>
          <a:solidFill>
            <a:srgbClr val="F7FAFC"/>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3" name="Shape 1"/>
          <p:cNvSpPr/>
          <p:nvPr/>
        </p:nvSpPr>
        <p:spPr>
          <a:xfrm>
            <a:off x="0" y="0"/>
            <a:ext cx="164160" cy="6857640"/>
          </a:xfrm>
          <a:prstGeom prst="rect">
            <a:avLst/>
          </a:prstGeom>
          <a:solidFill>
            <a:srgbClr val="153B52"/>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4" name="Shape 2"/>
          <p:cNvSpPr/>
          <p:nvPr/>
        </p:nvSpPr>
        <p:spPr>
          <a:xfrm>
            <a:off x="164520" y="0"/>
            <a:ext cx="12026880" cy="6857640"/>
          </a:xfrm>
          <a:prstGeom prst="rect">
            <a:avLst/>
          </a:prstGeom>
          <a:solidFill>
            <a:srgbClr val="153B52"/>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5" name="Shape 3"/>
          <p:cNvSpPr/>
          <p:nvPr/>
        </p:nvSpPr>
        <p:spPr>
          <a:xfrm>
            <a:off x="6812280" y="0"/>
            <a:ext cx="5376240" cy="6857640"/>
          </a:xfrm>
          <a:prstGeom prst="rect">
            <a:avLst/>
          </a:prstGeom>
          <a:solidFill>
            <a:srgbClr val="0F2D3F">
              <a:alpha val="92000"/>
            </a:srgbClr>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6" name="Text 4"/>
          <p:cNvSpPr/>
          <p:nvPr/>
        </p:nvSpPr>
        <p:spPr>
          <a:xfrm>
            <a:off x="658440" y="676800"/>
            <a:ext cx="27428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80DEEA"/>
                </a:solidFill>
                <a:effectLst/>
                <a:uFillTx/>
                <a:latin typeface="Aptos"/>
              </a:rPr>
              <a:t>CS 415 LAB 1</a:t>
            </a:r>
            <a:endParaRPr lang="en-US" sz="1100" b="0" u="none" strike="noStrike">
              <a:solidFill>
                <a:srgbClr val="000000"/>
              </a:solidFill>
              <a:effectLst/>
              <a:uFillTx/>
              <a:latin typeface="Arial"/>
            </a:endParaRPr>
          </a:p>
        </p:txBody>
      </p:sp>
      <p:sp>
        <p:nvSpPr>
          <p:cNvPr id="17" name="Text 5"/>
          <p:cNvSpPr/>
          <p:nvPr/>
        </p:nvSpPr>
        <p:spPr>
          <a:xfrm>
            <a:off x="658440" y="1261800"/>
            <a:ext cx="6126120" cy="1234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800" b="1" u="none" strike="noStrike">
                <a:solidFill>
                  <a:srgbClr val="FFFFFF"/>
                </a:solidFill>
                <a:effectLst/>
                <a:uFillTx/>
                <a:latin typeface="Aptos Display"/>
                <a:ea typeface="Aptos Display"/>
              </a:rPr>
              <a:t>Python Fundamentals</a:t>
            </a:r>
            <a:endParaRPr lang="en-US" sz="3800" b="0" u="none" strike="noStrike">
              <a:solidFill>
                <a:srgbClr val="000000"/>
              </a:solidFill>
              <a:effectLst/>
              <a:uFillTx/>
              <a:latin typeface="Arial"/>
            </a:endParaRPr>
          </a:p>
          <a:p>
            <a:pPr defTabSz="914400">
              <a:lnSpc>
                <a:spcPct val="100000"/>
              </a:lnSpc>
              <a:tabLst>
                <a:tab pos="0" algn="l"/>
              </a:tabLst>
            </a:pPr>
            <a:r>
              <a:rPr lang="en-US" sz="3800" b="1" u="none" strike="noStrike">
                <a:solidFill>
                  <a:srgbClr val="FFFFFF"/>
                </a:solidFill>
                <a:effectLst/>
                <a:uFillTx/>
                <a:latin typeface="Aptos Display"/>
                <a:ea typeface="Aptos Display"/>
              </a:rPr>
              <a:t>for AI Agents</a:t>
            </a:r>
            <a:endParaRPr lang="en-US" sz="3800" b="0" u="none" strike="noStrike">
              <a:solidFill>
                <a:srgbClr val="000000"/>
              </a:solidFill>
              <a:effectLst/>
              <a:uFillTx/>
              <a:latin typeface="Arial"/>
            </a:endParaRPr>
          </a:p>
        </p:txBody>
      </p:sp>
      <p:sp>
        <p:nvSpPr>
          <p:cNvPr id="18" name="Text 6"/>
          <p:cNvSpPr/>
          <p:nvPr/>
        </p:nvSpPr>
        <p:spPr>
          <a:xfrm>
            <a:off x="685800" y="2788920"/>
            <a:ext cx="544032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rgbClr val="DCEBF7"/>
                </a:solidFill>
                <a:effectLst/>
                <a:uFillTx/>
                <a:latin typeface="Aptos"/>
              </a:rPr>
              <a:t>A practical first lab: from simple Python data structures to the building blocks of an agent system.</a:t>
            </a:r>
            <a:endParaRPr lang="en-US" sz="1700" b="0" u="none" strike="noStrike">
              <a:solidFill>
                <a:srgbClr val="000000"/>
              </a:solidFill>
              <a:effectLst/>
              <a:uFillTx/>
              <a:latin typeface="Arial"/>
            </a:endParaRPr>
          </a:p>
        </p:txBody>
      </p:sp>
      <p:sp>
        <p:nvSpPr>
          <p:cNvPr id="19" name="Shape 7"/>
          <p:cNvSpPr/>
          <p:nvPr/>
        </p:nvSpPr>
        <p:spPr>
          <a:xfrm>
            <a:off x="676800" y="3703320"/>
            <a:ext cx="1170000" cy="310680"/>
          </a:xfrm>
          <a:prstGeom prst="roundRect">
            <a:avLst>
              <a:gd name="adj" fmla="val 17647"/>
            </a:avLst>
          </a:prstGeom>
          <a:solidFill>
            <a:srgbClr val="0E8F8F"/>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0" name="Text 8"/>
          <p:cNvSpPr/>
          <p:nvPr/>
        </p:nvSpPr>
        <p:spPr>
          <a:xfrm>
            <a:off x="749880" y="3772080"/>
            <a:ext cx="102384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FFFFFF"/>
                </a:solidFill>
                <a:effectLst/>
                <a:uFillTx/>
                <a:latin typeface="Aptos"/>
              </a:rPr>
              <a:t>Week 1 of 8</a:t>
            </a:r>
            <a:endParaRPr lang="en-US" sz="900" b="0" u="none" strike="noStrike">
              <a:solidFill>
                <a:srgbClr val="000000"/>
              </a:solidFill>
              <a:effectLst/>
              <a:uFillTx/>
              <a:latin typeface="Arial"/>
            </a:endParaRPr>
          </a:p>
        </p:txBody>
      </p:sp>
      <p:sp>
        <p:nvSpPr>
          <p:cNvPr id="21" name="Shape 9"/>
          <p:cNvSpPr/>
          <p:nvPr/>
        </p:nvSpPr>
        <p:spPr>
          <a:xfrm>
            <a:off x="1993320" y="3703320"/>
            <a:ext cx="1078560" cy="310680"/>
          </a:xfrm>
          <a:prstGeom prst="roundRect">
            <a:avLst>
              <a:gd name="adj" fmla="val 17647"/>
            </a:avLst>
          </a:prstGeom>
          <a:solidFill>
            <a:srgbClr val="2B6CB0"/>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2" name="Text 10"/>
          <p:cNvSpPr/>
          <p:nvPr/>
        </p:nvSpPr>
        <p:spPr>
          <a:xfrm>
            <a:off x="2066400" y="3772080"/>
            <a:ext cx="93240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FFFFFF"/>
                </a:solidFill>
                <a:effectLst/>
                <a:uFillTx/>
                <a:latin typeface="Aptos"/>
              </a:rPr>
              <a:t>Hands-on</a:t>
            </a:r>
            <a:endParaRPr lang="en-US" sz="900" b="0" u="none" strike="noStrike">
              <a:solidFill>
                <a:srgbClr val="000000"/>
              </a:solidFill>
              <a:effectLst/>
              <a:uFillTx/>
              <a:latin typeface="Arial"/>
            </a:endParaRPr>
          </a:p>
        </p:txBody>
      </p:sp>
      <p:sp>
        <p:nvSpPr>
          <p:cNvPr id="23" name="Shape 11"/>
          <p:cNvSpPr/>
          <p:nvPr/>
        </p:nvSpPr>
        <p:spPr>
          <a:xfrm>
            <a:off x="3218760" y="3703320"/>
            <a:ext cx="1508400" cy="310680"/>
          </a:xfrm>
          <a:prstGeom prst="roundRect">
            <a:avLst>
              <a:gd name="adj" fmla="val 17647"/>
            </a:avLst>
          </a:prstGeom>
          <a:solidFill>
            <a:srgbClr val="7B61FF"/>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4" name="Text 12"/>
          <p:cNvSpPr/>
          <p:nvPr/>
        </p:nvSpPr>
        <p:spPr>
          <a:xfrm>
            <a:off x="3291840" y="3772080"/>
            <a:ext cx="136224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FFFFFF"/>
                </a:solidFill>
                <a:effectLst/>
                <a:uFillTx/>
                <a:latin typeface="Aptos"/>
              </a:rPr>
              <a:t>No AI magic yet</a:t>
            </a:r>
            <a:endParaRPr lang="en-US" sz="900" b="0" u="none" strike="noStrike">
              <a:solidFill>
                <a:srgbClr val="000000"/>
              </a:solidFill>
              <a:effectLst/>
              <a:uFillTx/>
              <a:latin typeface="Arial"/>
            </a:endParaRPr>
          </a:p>
        </p:txBody>
      </p:sp>
      <p:sp>
        <p:nvSpPr>
          <p:cNvPr id="25" name="Shape 13"/>
          <p:cNvSpPr/>
          <p:nvPr/>
        </p:nvSpPr>
        <p:spPr>
          <a:xfrm>
            <a:off x="7269480" y="1078920"/>
            <a:ext cx="3520080" cy="566640"/>
          </a:xfrm>
          <a:prstGeom prst="roundRect">
            <a:avLst>
              <a:gd name="adj" fmla="val 12903"/>
            </a:avLst>
          </a:prstGeom>
          <a:solidFill>
            <a:srgbClr val="173F56"/>
          </a:solidFill>
          <a:ln w="10160">
            <a:solidFill>
              <a:srgbClr val="315E75"/>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6" name="Text 14"/>
          <p:cNvSpPr/>
          <p:nvPr/>
        </p:nvSpPr>
        <p:spPr>
          <a:xfrm>
            <a:off x="7425000" y="1225440"/>
            <a:ext cx="41112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80DEEA"/>
                </a:solidFill>
                <a:effectLst/>
                <a:uFillTx/>
                <a:latin typeface="Aptos"/>
              </a:rPr>
              <a:t>1</a:t>
            </a:r>
            <a:endParaRPr lang="en-US" sz="1100" b="0" u="none" strike="noStrike">
              <a:solidFill>
                <a:srgbClr val="000000"/>
              </a:solidFill>
              <a:effectLst/>
              <a:uFillTx/>
              <a:latin typeface="Arial"/>
            </a:endParaRPr>
          </a:p>
        </p:txBody>
      </p:sp>
      <p:sp>
        <p:nvSpPr>
          <p:cNvPr id="27" name="Text 15"/>
          <p:cNvSpPr/>
          <p:nvPr/>
        </p:nvSpPr>
        <p:spPr>
          <a:xfrm>
            <a:off x="7936920" y="1197720"/>
            <a:ext cx="246852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FFFFFF"/>
                </a:solidFill>
                <a:effectLst/>
                <a:uFillTx/>
                <a:latin typeface="Aptos"/>
              </a:rPr>
              <a:t>Python</a:t>
            </a:r>
            <a:endParaRPr lang="en-US" sz="1500" b="0" u="none" strike="noStrike">
              <a:solidFill>
                <a:srgbClr val="000000"/>
              </a:solidFill>
              <a:effectLst/>
              <a:uFillTx/>
              <a:latin typeface="Arial"/>
            </a:endParaRPr>
          </a:p>
        </p:txBody>
      </p:sp>
      <p:sp>
        <p:nvSpPr>
          <p:cNvPr id="28" name="Shape 16"/>
          <p:cNvSpPr/>
          <p:nvPr/>
        </p:nvSpPr>
        <p:spPr>
          <a:xfrm>
            <a:off x="8915400" y="1654920"/>
            <a:ext cx="360" cy="228600"/>
          </a:xfrm>
          <a:prstGeom prst="line">
            <a:avLst/>
          </a:prstGeom>
          <a:ln w="25400">
            <a:solidFill>
              <a:srgbClr val="80DEEA"/>
            </a:solidFill>
            <a:round/>
            <a:tailEnd len="med" type="triangle" w="me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9" name="Shape 17"/>
          <p:cNvSpPr/>
          <p:nvPr/>
        </p:nvSpPr>
        <p:spPr>
          <a:xfrm>
            <a:off x="7269480" y="1920240"/>
            <a:ext cx="3520080" cy="566640"/>
          </a:xfrm>
          <a:prstGeom prst="roundRect">
            <a:avLst>
              <a:gd name="adj" fmla="val 12903"/>
            </a:avLst>
          </a:prstGeom>
          <a:solidFill>
            <a:srgbClr val="173F56"/>
          </a:solidFill>
          <a:ln w="10160">
            <a:solidFill>
              <a:srgbClr val="315E75"/>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0" name="Text 18"/>
          <p:cNvSpPr/>
          <p:nvPr/>
        </p:nvSpPr>
        <p:spPr>
          <a:xfrm>
            <a:off x="7425000" y="2066400"/>
            <a:ext cx="41112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80DEEA"/>
                </a:solidFill>
                <a:effectLst/>
                <a:uFillTx/>
                <a:latin typeface="Aptos"/>
              </a:rPr>
              <a:t>2</a:t>
            </a:r>
            <a:endParaRPr lang="en-US" sz="1100" b="0" u="none" strike="noStrike">
              <a:solidFill>
                <a:srgbClr val="000000"/>
              </a:solidFill>
              <a:effectLst/>
              <a:uFillTx/>
              <a:latin typeface="Arial"/>
            </a:endParaRPr>
          </a:p>
        </p:txBody>
      </p:sp>
      <p:sp>
        <p:nvSpPr>
          <p:cNvPr id="31" name="Text 19"/>
          <p:cNvSpPr/>
          <p:nvPr/>
        </p:nvSpPr>
        <p:spPr>
          <a:xfrm>
            <a:off x="7936920" y="2039040"/>
            <a:ext cx="246852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FFFFFF"/>
                </a:solidFill>
                <a:effectLst/>
                <a:uFillTx/>
                <a:latin typeface="Aptos"/>
              </a:rPr>
              <a:t>Data</a:t>
            </a:r>
            <a:endParaRPr lang="en-US" sz="1500" b="0" u="none" strike="noStrike">
              <a:solidFill>
                <a:srgbClr val="000000"/>
              </a:solidFill>
              <a:effectLst/>
              <a:uFillTx/>
              <a:latin typeface="Arial"/>
            </a:endParaRPr>
          </a:p>
        </p:txBody>
      </p:sp>
      <p:sp>
        <p:nvSpPr>
          <p:cNvPr id="32" name="Shape 20"/>
          <p:cNvSpPr/>
          <p:nvPr/>
        </p:nvSpPr>
        <p:spPr>
          <a:xfrm>
            <a:off x="8915400" y="2496240"/>
            <a:ext cx="360" cy="228600"/>
          </a:xfrm>
          <a:prstGeom prst="line">
            <a:avLst/>
          </a:prstGeom>
          <a:ln w="25400">
            <a:solidFill>
              <a:srgbClr val="80DEEA"/>
            </a:solidFill>
            <a:round/>
            <a:tailEnd len="med" type="triangle" w="me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3" name="Shape 21"/>
          <p:cNvSpPr/>
          <p:nvPr/>
        </p:nvSpPr>
        <p:spPr>
          <a:xfrm>
            <a:off x="7269480" y="2761560"/>
            <a:ext cx="3520080" cy="566640"/>
          </a:xfrm>
          <a:prstGeom prst="roundRect">
            <a:avLst>
              <a:gd name="adj" fmla="val 12903"/>
            </a:avLst>
          </a:prstGeom>
          <a:solidFill>
            <a:srgbClr val="173F56"/>
          </a:solidFill>
          <a:ln w="10160">
            <a:solidFill>
              <a:srgbClr val="315E75"/>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4" name="Text 22"/>
          <p:cNvSpPr/>
          <p:nvPr/>
        </p:nvSpPr>
        <p:spPr>
          <a:xfrm>
            <a:off x="7425000" y="2907720"/>
            <a:ext cx="41112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80DEEA"/>
                </a:solidFill>
                <a:effectLst/>
                <a:uFillTx/>
                <a:latin typeface="Aptos"/>
              </a:rPr>
              <a:t>3</a:t>
            </a:r>
            <a:endParaRPr lang="en-US" sz="1100" b="0" u="none" strike="noStrike">
              <a:solidFill>
                <a:srgbClr val="000000"/>
              </a:solidFill>
              <a:effectLst/>
              <a:uFillTx/>
              <a:latin typeface="Arial"/>
            </a:endParaRPr>
          </a:p>
        </p:txBody>
      </p:sp>
      <p:sp>
        <p:nvSpPr>
          <p:cNvPr id="35" name="Text 23"/>
          <p:cNvSpPr/>
          <p:nvPr/>
        </p:nvSpPr>
        <p:spPr>
          <a:xfrm>
            <a:off x="7936920" y="2880360"/>
            <a:ext cx="246852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FFFFFF"/>
                </a:solidFill>
                <a:effectLst/>
                <a:uFillTx/>
                <a:latin typeface="Aptos"/>
              </a:rPr>
              <a:t>APIs</a:t>
            </a:r>
            <a:endParaRPr lang="en-US" sz="1500" b="0" u="none" strike="noStrike">
              <a:solidFill>
                <a:srgbClr val="000000"/>
              </a:solidFill>
              <a:effectLst/>
              <a:uFillTx/>
              <a:latin typeface="Arial"/>
            </a:endParaRPr>
          </a:p>
        </p:txBody>
      </p:sp>
      <p:sp>
        <p:nvSpPr>
          <p:cNvPr id="36" name="Shape 24"/>
          <p:cNvSpPr/>
          <p:nvPr/>
        </p:nvSpPr>
        <p:spPr>
          <a:xfrm>
            <a:off x="8915400" y="3337560"/>
            <a:ext cx="360" cy="228600"/>
          </a:xfrm>
          <a:prstGeom prst="line">
            <a:avLst/>
          </a:prstGeom>
          <a:ln w="25400">
            <a:solidFill>
              <a:srgbClr val="80DEEA"/>
            </a:solidFill>
            <a:round/>
            <a:tailEnd len="med" type="triangle" w="me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7" name="Shape 25"/>
          <p:cNvSpPr/>
          <p:nvPr/>
        </p:nvSpPr>
        <p:spPr>
          <a:xfrm>
            <a:off x="7269480" y="3602880"/>
            <a:ext cx="3520080" cy="566640"/>
          </a:xfrm>
          <a:prstGeom prst="roundRect">
            <a:avLst>
              <a:gd name="adj" fmla="val 12903"/>
            </a:avLst>
          </a:prstGeom>
          <a:solidFill>
            <a:srgbClr val="173F56"/>
          </a:solidFill>
          <a:ln w="10160">
            <a:solidFill>
              <a:srgbClr val="315E75"/>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8" name="Text 26"/>
          <p:cNvSpPr/>
          <p:nvPr/>
        </p:nvSpPr>
        <p:spPr>
          <a:xfrm>
            <a:off x="7425000" y="3749040"/>
            <a:ext cx="41112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80DEEA"/>
                </a:solidFill>
                <a:effectLst/>
                <a:uFillTx/>
                <a:latin typeface="Aptos"/>
              </a:rPr>
              <a:t>4</a:t>
            </a:r>
            <a:endParaRPr lang="en-US" sz="1100" b="0" u="none" strike="noStrike">
              <a:solidFill>
                <a:srgbClr val="000000"/>
              </a:solidFill>
              <a:effectLst/>
              <a:uFillTx/>
              <a:latin typeface="Arial"/>
            </a:endParaRPr>
          </a:p>
        </p:txBody>
      </p:sp>
      <p:sp>
        <p:nvSpPr>
          <p:cNvPr id="39" name="Text 27"/>
          <p:cNvSpPr/>
          <p:nvPr/>
        </p:nvSpPr>
        <p:spPr>
          <a:xfrm>
            <a:off x="7936920" y="3721680"/>
            <a:ext cx="246852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FFFFFF"/>
                </a:solidFill>
                <a:effectLst/>
                <a:uFillTx/>
                <a:latin typeface="Aptos"/>
              </a:rPr>
              <a:t>LLMs</a:t>
            </a:r>
            <a:endParaRPr lang="en-US" sz="1500" b="0" u="none" strike="noStrike">
              <a:solidFill>
                <a:srgbClr val="000000"/>
              </a:solidFill>
              <a:effectLst/>
              <a:uFillTx/>
              <a:latin typeface="Arial"/>
            </a:endParaRPr>
          </a:p>
        </p:txBody>
      </p:sp>
      <p:sp>
        <p:nvSpPr>
          <p:cNvPr id="40" name="Shape 28"/>
          <p:cNvSpPr/>
          <p:nvPr/>
        </p:nvSpPr>
        <p:spPr>
          <a:xfrm>
            <a:off x="8915400" y="4178520"/>
            <a:ext cx="360" cy="228600"/>
          </a:xfrm>
          <a:prstGeom prst="line">
            <a:avLst/>
          </a:prstGeom>
          <a:ln w="25400">
            <a:solidFill>
              <a:srgbClr val="80DEEA"/>
            </a:solidFill>
            <a:round/>
            <a:tailEnd len="med" type="triangle" w="me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1" name="Shape 29"/>
          <p:cNvSpPr/>
          <p:nvPr/>
        </p:nvSpPr>
        <p:spPr>
          <a:xfrm>
            <a:off x="7269480" y="4443840"/>
            <a:ext cx="3520080" cy="566640"/>
          </a:xfrm>
          <a:prstGeom prst="roundRect">
            <a:avLst>
              <a:gd name="adj" fmla="val 12903"/>
            </a:avLst>
          </a:prstGeom>
          <a:solidFill>
            <a:srgbClr val="173F56"/>
          </a:solidFill>
          <a:ln w="10160">
            <a:solidFill>
              <a:srgbClr val="315E75"/>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2" name="Text 30"/>
          <p:cNvSpPr/>
          <p:nvPr/>
        </p:nvSpPr>
        <p:spPr>
          <a:xfrm>
            <a:off x="7425000" y="4590360"/>
            <a:ext cx="41112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80DEEA"/>
                </a:solidFill>
                <a:effectLst/>
                <a:uFillTx/>
                <a:latin typeface="Aptos"/>
              </a:rPr>
              <a:t>5–8</a:t>
            </a:r>
            <a:endParaRPr lang="en-US" sz="1100" b="0" u="none" strike="noStrike">
              <a:solidFill>
                <a:srgbClr val="000000"/>
              </a:solidFill>
              <a:effectLst/>
              <a:uFillTx/>
              <a:latin typeface="Arial"/>
            </a:endParaRPr>
          </a:p>
        </p:txBody>
      </p:sp>
      <p:sp>
        <p:nvSpPr>
          <p:cNvPr id="43" name="Text 31"/>
          <p:cNvSpPr/>
          <p:nvPr/>
        </p:nvSpPr>
        <p:spPr>
          <a:xfrm>
            <a:off x="7936920" y="4563000"/>
            <a:ext cx="2468520" cy="209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FFFFFF"/>
                </a:solidFill>
                <a:effectLst/>
                <a:uFillTx/>
                <a:latin typeface="Aptos"/>
              </a:rPr>
              <a:t>Agents</a:t>
            </a:r>
            <a:endParaRPr lang="en-US" sz="1500" b="0" u="none" strike="noStrike">
              <a:solidFill>
                <a:srgbClr val="000000"/>
              </a:solidFill>
              <a:effectLst/>
              <a:uFillTx/>
              <a:latin typeface="Arial"/>
            </a:endParaRPr>
          </a:p>
        </p:txBody>
      </p:sp>
      <p:sp>
        <p:nvSpPr>
          <p:cNvPr id="44" name="PlaceHolder 1"/>
          <p:cNvSpPr>
            <a:spLocks noGrp="1"/>
          </p:cNvSpPr>
          <p:nvPr>
            <p:ph type="sldNum" idx="5"/>
          </p:nvPr>
        </p:nvSpPr>
        <p:spPr>
          <a:xfrm>
            <a:off x="11292840" y="6546960"/>
            <a:ext cx="799560" cy="299520"/>
          </a:xfrm>
          <a:prstGeom prst="rect">
            <a:avLst/>
          </a:prstGeom>
          <a:noFill/>
          <a:ln w="0">
            <a:noFill/>
          </a:ln>
        </p:spPr>
        <p:txBody>
          <a:bodyPr lIns="90000" tIns="45000" rIns="90000" bIns="45000" anchor="t">
            <a:noAutofit/>
          </a:bodyPr>
          <a:lstStyle>
            <a:lvl1pPr indent="0" algn="l" defTabSz="914400">
              <a:lnSpc>
                <a:spcPct val="100000"/>
              </a:lnSpc>
              <a:buNone/>
              <a:defRPr lang="en-US" sz="900" b="0" u="none" strike="noStrike">
                <a:solidFill>
                  <a:srgbClr val="78909C"/>
                </a:solidFill>
                <a:effectLst/>
                <a:uFillTx/>
                <a:latin typeface="Aptos"/>
                <a:ea typeface="Aptos"/>
              </a:defRPr>
            </a:lvl1pPr>
          </a:lstStyle>
          <a:p>
            <a:pPr indent="0" algn="l" defTabSz="914400">
              <a:lnSpc>
                <a:spcPct val="100000"/>
              </a:lnSpc>
              <a:buNone/>
            </a:pPr>
            <a:fld id="{605DB58C-D1D9-4B9B-8660-AD1692DA3D37}" type="slidenum">
              <a:rPr lang="en-US" sz="900" b="0" u="none" strike="noStrike">
                <a:solidFill>
                  <a:srgbClr val="78909C"/>
                </a:solidFill>
                <a:effectLst/>
                <a:uFillTx/>
                <a:latin typeface="Aptos"/>
                <a:ea typeface="Aptos"/>
              </a:rPr>
              <a:t>&lt;number&gt;</a:t>
            </a:fld>
            <a:endParaRPr lang="en-US" sz="9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AFC"/>
        </a:solidFill>
      </p:bgPr>
    </p:bg>
    <p:spTree>
      <p:nvGrpSpPr>
        <p:cNvPr id="1" name=""/>
        <p:cNvGrpSpPr/>
        <p:nvPr/>
      </p:nvGrpSpPr>
      <p:grpSpPr>
        <a:xfrm>
          <a:off x="0" y="0"/>
          <a:ext cx="0" cy="0"/>
          <a:chOff x="0" y="0"/>
          <a:chExt cx="0" cy="0"/>
        </a:xfrm>
      </p:grpSpPr>
      <p:sp>
        <p:nvSpPr>
          <p:cNvPr id="45" name="Shape 0"/>
          <p:cNvSpPr/>
          <p:nvPr/>
        </p:nvSpPr>
        <p:spPr>
          <a:xfrm>
            <a:off x="0" y="0"/>
            <a:ext cx="12191400" cy="6857640"/>
          </a:xfrm>
          <a:prstGeom prst="rect">
            <a:avLst/>
          </a:prstGeom>
          <a:solidFill>
            <a:srgbClr val="F7FAFC"/>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6" name="Shape 1"/>
          <p:cNvSpPr/>
          <p:nvPr/>
        </p:nvSpPr>
        <p:spPr>
          <a:xfrm>
            <a:off x="0" y="0"/>
            <a:ext cx="164160" cy="6857640"/>
          </a:xfrm>
          <a:prstGeom prst="rect">
            <a:avLst/>
          </a:prstGeom>
          <a:solidFill>
            <a:srgbClr val="153B52"/>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7" name="Text 2"/>
          <p:cNvSpPr/>
          <p:nvPr/>
        </p:nvSpPr>
        <p:spPr>
          <a:xfrm>
            <a:off x="521280" y="109800"/>
            <a:ext cx="420588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1" u="none" strike="noStrike">
                <a:solidFill>
                  <a:srgbClr val="0E8F8F"/>
                </a:solidFill>
                <a:effectLst/>
                <a:uFillTx/>
                <a:latin typeface="Aptos"/>
              </a:rPr>
              <a:t>COURSE ROADMAP</a:t>
            </a:r>
            <a:endParaRPr lang="en-US" sz="850" b="0" u="none" strike="noStrike">
              <a:solidFill>
                <a:srgbClr val="000000"/>
              </a:solidFill>
              <a:effectLst/>
              <a:uFillTx/>
              <a:latin typeface="Arial"/>
            </a:endParaRPr>
          </a:p>
        </p:txBody>
      </p:sp>
      <p:sp>
        <p:nvSpPr>
          <p:cNvPr id="48" name="Text 3"/>
          <p:cNvSpPr/>
          <p:nvPr/>
        </p:nvSpPr>
        <p:spPr>
          <a:xfrm>
            <a:off x="502920" y="320040"/>
            <a:ext cx="1106388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153B52"/>
                </a:solidFill>
                <a:effectLst/>
                <a:uFillTx/>
                <a:latin typeface="Aptos Display"/>
                <a:ea typeface="Aptos Display"/>
              </a:rPr>
              <a:t>Eight-Week Lab Structure</a:t>
            </a:r>
            <a:endParaRPr lang="en-US" sz="2600" b="0" u="none" strike="noStrike">
              <a:solidFill>
                <a:srgbClr val="000000"/>
              </a:solidFill>
              <a:effectLst/>
              <a:uFillTx/>
              <a:latin typeface="Arial"/>
            </a:endParaRPr>
          </a:p>
        </p:txBody>
      </p:sp>
      <p:sp>
        <p:nvSpPr>
          <p:cNvPr id="49" name="Text 4"/>
          <p:cNvSpPr/>
          <p:nvPr/>
        </p:nvSpPr>
        <p:spPr>
          <a:xfrm>
            <a:off x="511920" y="786240"/>
            <a:ext cx="1078956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52616B"/>
                </a:solidFill>
                <a:effectLst/>
                <a:uFillTx/>
                <a:latin typeface="Aptos"/>
              </a:rPr>
              <a:t>One project idea grows from basic Python into a complete agent system.</a:t>
            </a:r>
            <a:endParaRPr lang="en-US" sz="1250" b="0" u="none" strike="noStrike">
              <a:solidFill>
                <a:srgbClr val="000000"/>
              </a:solidFill>
              <a:effectLst/>
              <a:uFillTx/>
              <a:latin typeface="Arial"/>
            </a:endParaRPr>
          </a:p>
        </p:txBody>
      </p:sp>
      <p:sp>
        <p:nvSpPr>
          <p:cNvPr id="50" name="Shape 5"/>
          <p:cNvSpPr/>
          <p:nvPr/>
        </p:nvSpPr>
        <p:spPr>
          <a:xfrm>
            <a:off x="594360" y="1234440"/>
            <a:ext cx="10972440" cy="420120"/>
          </a:xfrm>
          <a:prstGeom prst="rect">
            <a:avLst/>
          </a:prstGeom>
          <a:solidFill>
            <a:srgbClr val="153B52"/>
          </a:solidFill>
          <a:ln w="12700">
            <a:solidFill>
              <a:srgbClr val="153B52"/>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51" name="Text 6"/>
          <p:cNvSpPr/>
          <p:nvPr/>
        </p:nvSpPr>
        <p:spPr>
          <a:xfrm>
            <a:off x="713160" y="1362600"/>
            <a:ext cx="658080" cy="145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FFFFFF"/>
                </a:solidFill>
                <a:effectLst/>
                <a:uFillTx/>
                <a:latin typeface="Aptos"/>
              </a:rPr>
              <a:t>Week</a:t>
            </a:r>
            <a:endParaRPr lang="en-US" sz="1100" b="0" u="none" strike="noStrike">
              <a:solidFill>
                <a:srgbClr val="000000"/>
              </a:solidFill>
              <a:effectLst/>
              <a:uFillTx/>
              <a:latin typeface="Arial"/>
            </a:endParaRPr>
          </a:p>
        </p:txBody>
      </p:sp>
      <p:sp>
        <p:nvSpPr>
          <p:cNvPr id="52" name="Text 7"/>
          <p:cNvSpPr/>
          <p:nvPr/>
        </p:nvSpPr>
        <p:spPr>
          <a:xfrm>
            <a:off x="1691640" y="1362600"/>
            <a:ext cx="3108600" cy="145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FFFFFF"/>
                </a:solidFill>
                <a:effectLst/>
                <a:uFillTx/>
                <a:latin typeface="Aptos"/>
              </a:rPr>
              <a:t>Topic</a:t>
            </a:r>
            <a:endParaRPr lang="en-US" sz="1100" b="0" u="none" strike="noStrike">
              <a:solidFill>
                <a:srgbClr val="000000"/>
              </a:solidFill>
              <a:effectLst/>
              <a:uFillTx/>
              <a:latin typeface="Arial"/>
            </a:endParaRPr>
          </a:p>
        </p:txBody>
      </p:sp>
      <p:sp>
        <p:nvSpPr>
          <p:cNvPr id="53" name="Text 8"/>
          <p:cNvSpPr/>
          <p:nvPr/>
        </p:nvSpPr>
        <p:spPr>
          <a:xfrm>
            <a:off x="5321880" y="1362600"/>
            <a:ext cx="5211720" cy="145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trike="noStrike">
                <a:solidFill>
                  <a:srgbClr val="FFFFFF"/>
                </a:solidFill>
                <a:effectLst/>
                <a:uFillTx/>
                <a:latin typeface="Aptos"/>
              </a:rPr>
              <a:t>What students build</a:t>
            </a:r>
            <a:endParaRPr lang="en-US" sz="1100" b="0" u="none" strike="noStrike">
              <a:solidFill>
                <a:srgbClr val="000000"/>
              </a:solidFill>
              <a:effectLst/>
              <a:uFillTx/>
              <a:latin typeface="Arial"/>
            </a:endParaRPr>
          </a:p>
        </p:txBody>
      </p:sp>
      <p:sp>
        <p:nvSpPr>
          <p:cNvPr id="54" name="Shape 9"/>
          <p:cNvSpPr/>
          <p:nvPr/>
        </p:nvSpPr>
        <p:spPr>
          <a:xfrm>
            <a:off x="594360" y="1654920"/>
            <a:ext cx="10972440" cy="529920"/>
          </a:xfrm>
          <a:prstGeom prst="rect">
            <a:avLst/>
          </a:prstGeom>
          <a:solidFill>
            <a:srgbClr val="FFFFFF"/>
          </a:solidFill>
          <a:ln w="10160">
            <a:solidFill>
              <a:srgbClr val="D7E3E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55" name="Text 10"/>
          <p:cNvSpPr/>
          <p:nvPr/>
        </p:nvSpPr>
        <p:spPr>
          <a:xfrm>
            <a:off x="786240" y="1810440"/>
            <a:ext cx="319680" cy="136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0E8F8F"/>
                </a:solidFill>
                <a:effectLst/>
                <a:uFillTx/>
                <a:latin typeface="Aptos"/>
              </a:rPr>
              <a:t>1</a:t>
            </a:r>
            <a:endParaRPr lang="en-US" sz="1100" b="0" u="none" strike="noStrike">
              <a:solidFill>
                <a:srgbClr val="000000"/>
              </a:solidFill>
              <a:effectLst/>
              <a:uFillTx/>
              <a:latin typeface="Arial"/>
            </a:endParaRPr>
          </a:p>
        </p:txBody>
      </p:sp>
      <p:sp>
        <p:nvSpPr>
          <p:cNvPr id="56" name="Text 11"/>
          <p:cNvSpPr/>
          <p:nvPr/>
        </p:nvSpPr>
        <p:spPr>
          <a:xfrm>
            <a:off x="1691640" y="1801440"/>
            <a:ext cx="3108600" cy="145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102A43"/>
                </a:solidFill>
                <a:effectLst/>
                <a:uFillTx/>
                <a:latin typeface="Aptos"/>
              </a:rPr>
              <a:t>Python Fundamentals</a:t>
            </a:r>
            <a:endParaRPr lang="en-US" sz="1250" b="0" u="none" strike="noStrike">
              <a:solidFill>
                <a:srgbClr val="000000"/>
              </a:solidFill>
              <a:effectLst/>
              <a:uFillTx/>
              <a:latin typeface="Arial"/>
            </a:endParaRPr>
          </a:p>
        </p:txBody>
      </p:sp>
      <p:sp>
        <p:nvSpPr>
          <p:cNvPr id="57" name="Text 12"/>
          <p:cNvSpPr/>
          <p:nvPr/>
        </p:nvSpPr>
        <p:spPr>
          <a:xfrm>
            <a:off x="5321880" y="1801440"/>
            <a:ext cx="5668920" cy="145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52616B"/>
                </a:solidFill>
                <a:effectLst/>
                <a:uFillTx/>
                <a:latin typeface="Aptos"/>
              </a:rPr>
              <a:t>Data, control flow, functions, mini ticket processor</a:t>
            </a:r>
            <a:endParaRPr lang="en-US" sz="1150" b="0" u="none" strike="noStrike">
              <a:solidFill>
                <a:srgbClr val="000000"/>
              </a:solidFill>
              <a:effectLst/>
              <a:uFillTx/>
              <a:latin typeface="Arial"/>
            </a:endParaRPr>
          </a:p>
        </p:txBody>
      </p:sp>
      <p:sp>
        <p:nvSpPr>
          <p:cNvPr id="58" name="Shape 13"/>
          <p:cNvSpPr/>
          <p:nvPr/>
        </p:nvSpPr>
        <p:spPr>
          <a:xfrm>
            <a:off x="594360" y="2185560"/>
            <a:ext cx="10972440" cy="529920"/>
          </a:xfrm>
          <a:prstGeom prst="rect">
            <a:avLst/>
          </a:prstGeom>
          <a:solidFill>
            <a:srgbClr val="F1F5F9"/>
          </a:solidFill>
          <a:ln w="10160">
            <a:solidFill>
              <a:srgbClr val="D7E3E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59" name="Text 14"/>
          <p:cNvSpPr/>
          <p:nvPr/>
        </p:nvSpPr>
        <p:spPr>
          <a:xfrm>
            <a:off x="786240" y="2340720"/>
            <a:ext cx="319680" cy="136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0E8F8F"/>
                </a:solidFill>
                <a:effectLst/>
                <a:uFillTx/>
                <a:latin typeface="Aptos"/>
              </a:rPr>
              <a:t>2</a:t>
            </a:r>
            <a:endParaRPr lang="en-US" sz="1100" b="0" u="none" strike="noStrike">
              <a:solidFill>
                <a:srgbClr val="000000"/>
              </a:solidFill>
              <a:effectLst/>
              <a:uFillTx/>
              <a:latin typeface="Arial"/>
            </a:endParaRPr>
          </a:p>
        </p:txBody>
      </p:sp>
      <p:sp>
        <p:nvSpPr>
          <p:cNvPr id="60" name="Text 15"/>
          <p:cNvSpPr/>
          <p:nvPr/>
        </p:nvSpPr>
        <p:spPr>
          <a:xfrm>
            <a:off x="1691640" y="2331720"/>
            <a:ext cx="3108600" cy="145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102A43"/>
                </a:solidFill>
                <a:effectLst/>
                <a:uFillTx/>
                <a:latin typeface="Aptos"/>
              </a:rPr>
              <a:t>Pydantic &amp; Structured Data</a:t>
            </a:r>
            <a:endParaRPr lang="en-US" sz="1250" b="0" u="none" strike="noStrike">
              <a:solidFill>
                <a:srgbClr val="000000"/>
              </a:solidFill>
              <a:effectLst/>
              <a:uFillTx/>
              <a:latin typeface="Arial"/>
            </a:endParaRPr>
          </a:p>
        </p:txBody>
      </p:sp>
      <p:sp>
        <p:nvSpPr>
          <p:cNvPr id="61" name="Text 16"/>
          <p:cNvSpPr/>
          <p:nvPr/>
        </p:nvSpPr>
        <p:spPr>
          <a:xfrm>
            <a:off x="5321880" y="2331720"/>
            <a:ext cx="5668920" cy="145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52616B"/>
                </a:solidFill>
                <a:effectLst/>
                <a:uFillTx/>
                <a:latin typeface="Aptos"/>
              </a:rPr>
              <a:t>Schemas, validation, typed ticket objects</a:t>
            </a:r>
            <a:endParaRPr lang="en-US" sz="1150" b="0" u="none" strike="noStrike">
              <a:solidFill>
                <a:srgbClr val="000000"/>
              </a:solidFill>
              <a:effectLst/>
              <a:uFillTx/>
              <a:latin typeface="Arial"/>
            </a:endParaRPr>
          </a:p>
        </p:txBody>
      </p:sp>
      <p:sp>
        <p:nvSpPr>
          <p:cNvPr id="62" name="Shape 17"/>
          <p:cNvSpPr/>
          <p:nvPr/>
        </p:nvSpPr>
        <p:spPr>
          <a:xfrm>
            <a:off x="594360" y="2715840"/>
            <a:ext cx="10972440" cy="529920"/>
          </a:xfrm>
          <a:prstGeom prst="rect">
            <a:avLst/>
          </a:prstGeom>
          <a:solidFill>
            <a:srgbClr val="FFFFFF"/>
          </a:solidFill>
          <a:ln w="10160">
            <a:solidFill>
              <a:srgbClr val="D7E3E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3" name="Text 18"/>
          <p:cNvSpPr/>
          <p:nvPr/>
        </p:nvSpPr>
        <p:spPr>
          <a:xfrm>
            <a:off x="786240" y="2871360"/>
            <a:ext cx="319680" cy="136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0E8F8F"/>
                </a:solidFill>
                <a:effectLst/>
                <a:uFillTx/>
                <a:latin typeface="Aptos"/>
              </a:rPr>
              <a:t>3</a:t>
            </a:r>
            <a:endParaRPr lang="en-US" sz="1100" b="0" u="none" strike="noStrike">
              <a:solidFill>
                <a:srgbClr val="000000"/>
              </a:solidFill>
              <a:effectLst/>
              <a:uFillTx/>
              <a:latin typeface="Arial"/>
            </a:endParaRPr>
          </a:p>
        </p:txBody>
      </p:sp>
      <p:sp>
        <p:nvSpPr>
          <p:cNvPr id="64" name="Text 19"/>
          <p:cNvSpPr/>
          <p:nvPr/>
        </p:nvSpPr>
        <p:spPr>
          <a:xfrm>
            <a:off x="1691640" y="2862000"/>
            <a:ext cx="3108600" cy="145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102A43"/>
                </a:solidFill>
                <a:effectLst/>
                <a:uFillTx/>
                <a:latin typeface="Aptos"/>
              </a:rPr>
              <a:t>FastAPI &amp; APIs</a:t>
            </a:r>
            <a:endParaRPr lang="en-US" sz="1250" b="0" u="none" strike="noStrike">
              <a:solidFill>
                <a:srgbClr val="000000"/>
              </a:solidFill>
              <a:effectLst/>
              <a:uFillTx/>
              <a:latin typeface="Arial"/>
            </a:endParaRPr>
          </a:p>
        </p:txBody>
      </p:sp>
      <p:sp>
        <p:nvSpPr>
          <p:cNvPr id="65" name="Text 20"/>
          <p:cNvSpPr/>
          <p:nvPr/>
        </p:nvSpPr>
        <p:spPr>
          <a:xfrm>
            <a:off x="5321880" y="2862000"/>
            <a:ext cx="5668920" cy="145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52616B"/>
                </a:solidFill>
                <a:effectLst/>
                <a:uFillTx/>
                <a:latin typeface="Aptos"/>
              </a:rPr>
              <a:t>Expose tools as API endpoints</a:t>
            </a:r>
            <a:endParaRPr lang="en-US" sz="1150" b="0" u="none" strike="noStrike">
              <a:solidFill>
                <a:srgbClr val="000000"/>
              </a:solidFill>
              <a:effectLst/>
              <a:uFillTx/>
              <a:latin typeface="Arial"/>
            </a:endParaRPr>
          </a:p>
        </p:txBody>
      </p:sp>
      <p:sp>
        <p:nvSpPr>
          <p:cNvPr id="66" name="Shape 21"/>
          <p:cNvSpPr/>
          <p:nvPr/>
        </p:nvSpPr>
        <p:spPr>
          <a:xfrm>
            <a:off x="594360" y="3246120"/>
            <a:ext cx="10972440" cy="529920"/>
          </a:xfrm>
          <a:prstGeom prst="rect">
            <a:avLst/>
          </a:prstGeom>
          <a:solidFill>
            <a:srgbClr val="F1F5F9"/>
          </a:solidFill>
          <a:ln w="10160">
            <a:solidFill>
              <a:srgbClr val="D7E3E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67" name="Text 22"/>
          <p:cNvSpPr/>
          <p:nvPr/>
        </p:nvSpPr>
        <p:spPr>
          <a:xfrm>
            <a:off x="786240" y="3401640"/>
            <a:ext cx="319680" cy="136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0E8F8F"/>
                </a:solidFill>
                <a:effectLst/>
                <a:uFillTx/>
                <a:latin typeface="Aptos"/>
              </a:rPr>
              <a:t>4</a:t>
            </a:r>
            <a:endParaRPr lang="en-US" sz="1100" b="0" u="none" strike="noStrike">
              <a:solidFill>
                <a:srgbClr val="000000"/>
              </a:solidFill>
              <a:effectLst/>
              <a:uFillTx/>
              <a:latin typeface="Arial"/>
            </a:endParaRPr>
          </a:p>
        </p:txBody>
      </p:sp>
      <p:sp>
        <p:nvSpPr>
          <p:cNvPr id="68" name="Text 23"/>
          <p:cNvSpPr/>
          <p:nvPr/>
        </p:nvSpPr>
        <p:spPr>
          <a:xfrm>
            <a:off x="1691640" y="3392280"/>
            <a:ext cx="3108600" cy="145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102A43"/>
                </a:solidFill>
                <a:effectLst/>
                <a:uFillTx/>
                <a:latin typeface="Aptos"/>
              </a:rPr>
              <a:t>LLMs &amp; Ollama</a:t>
            </a:r>
            <a:endParaRPr lang="en-US" sz="1250" b="0" u="none" strike="noStrike">
              <a:solidFill>
                <a:srgbClr val="000000"/>
              </a:solidFill>
              <a:effectLst/>
              <a:uFillTx/>
              <a:latin typeface="Arial"/>
            </a:endParaRPr>
          </a:p>
        </p:txBody>
      </p:sp>
      <p:sp>
        <p:nvSpPr>
          <p:cNvPr id="69" name="Text 24"/>
          <p:cNvSpPr/>
          <p:nvPr/>
        </p:nvSpPr>
        <p:spPr>
          <a:xfrm>
            <a:off x="5321880" y="3392280"/>
            <a:ext cx="5668920" cy="145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52616B"/>
                </a:solidFill>
                <a:effectLst/>
                <a:uFillTx/>
                <a:latin typeface="Aptos"/>
              </a:rPr>
              <a:t>Call local models; prompts and responses</a:t>
            </a:r>
            <a:endParaRPr lang="en-US" sz="1150" b="0" u="none" strike="noStrike">
              <a:solidFill>
                <a:srgbClr val="000000"/>
              </a:solidFill>
              <a:effectLst/>
              <a:uFillTx/>
              <a:latin typeface="Arial"/>
            </a:endParaRPr>
          </a:p>
        </p:txBody>
      </p:sp>
      <p:sp>
        <p:nvSpPr>
          <p:cNvPr id="70" name="Shape 25"/>
          <p:cNvSpPr/>
          <p:nvPr/>
        </p:nvSpPr>
        <p:spPr>
          <a:xfrm>
            <a:off x="594360" y="3776400"/>
            <a:ext cx="10972440" cy="529920"/>
          </a:xfrm>
          <a:prstGeom prst="rect">
            <a:avLst/>
          </a:prstGeom>
          <a:solidFill>
            <a:srgbClr val="FFFFFF"/>
          </a:solidFill>
          <a:ln w="10160">
            <a:solidFill>
              <a:srgbClr val="D7E3E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71" name="Text 26"/>
          <p:cNvSpPr/>
          <p:nvPr/>
        </p:nvSpPr>
        <p:spPr>
          <a:xfrm>
            <a:off x="786240" y="3931920"/>
            <a:ext cx="319680" cy="136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0E8F8F"/>
                </a:solidFill>
                <a:effectLst/>
                <a:uFillTx/>
                <a:latin typeface="Aptos"/>
              </a:rPr>
              <a:t>5</a:t>
            </a:r>
            <a:endParaRPr lang="en-US" sz="1100" b="0" u="none" strike="noStrike">
              <a:solidFill>
                <a:srgbClr val="000000"/>
              </a:solidFill>
              <a:effectLst/>
              <a:uFillTx/>
              <a:latin typeface="Arial"/>
            </a:endParaRPr>
          </a:p>
        </p:txBody>
      </p:sp>
      <p:sp>
        <p:nvSpPr>
          <p:cNvPr id="72" name="Text 27"/>
          <p:cNvSpPr/>
          <p:nvPr/>
        </p:nvSpPr>
        <p:spPr>
          <a:xfrm>
            <a:off x="1691640" y="3922920"/>
            <a:ext cx="3108600" cy="145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102A43"/>
                </a:solidFill>
                <a:effectLst/>
                <a:uFillTx/>
                <a:latin typeface="Aptos"/>
              </a:rPr>
              <a:t>Building a Basic Agent</a:t>
            </a:r>
            <a:endParaRPr lang="en-US" sz="1250" b="0" u="none" strike="noStrike">
              <a:solidFill>
                <a:srgbClr val="000000"/>
              </a:solidFill>
              <a:effectLst/>
              <a:uFillTx/>
              <a:latin typeface="Arial"/>
            </a:endParaRPr>
          </a:p>
        </p:txBody>
      </p:sp>
      <p:sp>
        <p:nvSpPr>
          <p:cNvPr id="73" name="Text 28"/>
          <p:cNvSpPr/>
          <p:nvPr/>
        </p:nvSpPr>
        <p:spPr>
          <a:xfrm>
            <a:off x="5321880" y="3922920"/>
            <a:ext cx="5668920" cy="145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52616B"/>
                </a:solidFill>
                <a:effectLst/>
                <a:uFillTx/>
                <a:latin typeface="Aptos"/>
              </a:rPr>
              <a:t>Connect model + tools + structured data</a:t>
            </a:r>
            <a:endParaRPr lang="en-US" sz="1150" b="0" u="none" strike="noStrike">
              <a:solidFill>
                <a:srgbClr val="000000"/>
              </a:solidFill>
              <a:effectLst/>
              <a:uFillTx/>
              <a:latin typeface="Arial"/>
            </a:endParaRPr>
          </a:p>
        </p:txBody>
      </p:sp>
      <p:sp>
        <p:nvSpPr>
          <p:cNvPr id="74" name="Shape 29"/>
          <p:cNvSpPr/>
          <p:nvPr/>
        </p:nvSpPr>
        <p:spPr>
          <a:xfrm>
            <a:off x="594360" y="4306680"/>
            <a:ext cx="10972440" cy="529920"/>
          </a:xfrm>
          <a:prstGeom prst="rect">
            <a:avLst/>
          </a:prstGeom>
          <a:solidFill>
            <a:srgbClr val="F1F5F9"/>
          </a:solidFill>
          <a:ln w="10160">
            <a:solidFill>
              <a:srgbClr val="D7E3E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75" name="Text 30"/>
          <p:cNvSpPr/>
          <p:nvPr/>
        </p:nvSpPr>
        <p:spPr>
          <a:xfrm>
            <a:off x="786240" y="4462200"/>
            <a:ext cx="319680" cy="136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0E8F8F"/>
                </a:solidFill>
                <a:effectLst/>
                <a:uFillTx/>
                <a:latin typeface="Aptos"/>
              </a:rPr>
              <a:t>6</a:t>
            </a:r>
            <a:endParaRPr lang="en-US" sz="1100" b="0" u="none" strike="noStrike">
              <a:solidFill>
                <a:srgbClr val="000000"/>
              </a:solidFill>
              <a:effectLst/>
              <a:uFillTx/>
              <a:latin typeface="Arial"/>
            </a:endParaRPr>
          </a:p>
        </p:txBody>
      </p:sp>
      <p:sp>
        <p:nvSpPr>
          <p:cNvPr id="76" name="Text 31"/>
          <p:cNvSpPr/>
          <p:nvPr/>
        </p:nvSpPr>
        <p:spPr>
          <a:xfrm>
            <a:off x="1691640" y="4453200"/>
            <a:ext cx="3108600" cy="145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102A43"/>
                </a:solidFill>
                <a:effectLst/>
                <a:uFillTx/>
                <a:latin typeface="Aptos"/>
              </a:rPr>
              <a:t>Agent Loop</a:t>
            </a:r>
            <a:endParaRPr lang="en-US" sz="1250" b="0" u="none" strike="noStrike">
              <a:solidFill>
                <a:srgbClr val="000000"/>
              </a:solidFill>
              <a:effectLst/>
              <a:uFillTx/>
              <a:latin typeface="Arial"/>
            </a:endParaRPr>
          </a:p>
        </p:txBody>
      </p:sp>
      <p:sp>
        <p:nvSpPr>
          <p:cNvPr id="77" name="Text 32"/>
          <p:cNvSpPr/>
          <p:nvPr/>
        </p:nvSpPr>
        <p:spPr>
          <a:xfrm>
            <a:off x="5321880" y="4453200"/>
            <a:ext cx="5668920" cy="145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52616B"/>
                </a:solidFill>
                <a:effectLst/>
                <a:uFillTx/>
                <a:latin typeface="Aptos"/>
              </a:rPr>
              <a:t>Plan → Act → Observe → Reflect</a:t>
            </a:r>
            <a:endParaRPr lang="en-US" sz="1150" b="0" u="none" strike="noStrike">
              <a:solidFill>
                <a:srgbClr val="000000"/>
              </a:solidFill>
              <a:effectLst/>
              <a:uFillTx/>
              <a:latin typeface="Arial"/>
            </a:endParaRPr>
          </a:p>
        </p:txBody>
      </p:sp>
      <p:sp>
        <p:nvSpPr>
          <p:cNvPr id="78" name="Shape 33"/>
          <p:cNvSpPr/>
          <p:nvPr/>
        </p:nvSpPr>
        <p:spPr>
          <a:xfrm>
            <a:off x="594360" y="4837320"/>
            <a:ext cx="10972440" cy="529920"/>
          </a:xfrm>
          <a:prstGeom prst="rect">
            <a:avLst/>
          </a:prstGeom>
          <a:solidFill>
            <a:srgbClr val="FFFFFF"/>
          </a:solidFill>
          <a:ln w="10160">
            <a:solidFill>
              <a:srgbClr val="D7E3E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79" name="Text 34"/>
          <p:cNvSpPr/>
          <p:nvPr/>
        </p:nvSpPr>
        <p:spPr>
          <a:xfrm>
            <a:off x="786240" y="4992480"/>
            <a:ext cx="319680" cy="136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0E8F8F"/>
                </a:solidFill>
                <a:effectLst/>
                <a:uFillTx/>
                <a:latin typeface="Aptos"/>
              </a:rPr>
              <a:t>7</a:t>
            </a:r>
            <a:endParaRPr lang="en-US" sz="1100" b="0" u="none" strike="noStrike">
              <a:solidFill>
                <a:srgbClr val="000000"/>
              </a:solidFill>
              <a:effectLst/>
              <a:uFillTx/>
              <a:latin typeface="Arial"/>
            </a:endParaRPr>
          </a:p>
        </p:txBody>
      </p:sp>
      <p:sp>
        <p:nvSpPr>
          <p:cNvPr id="80" name="Text 35"/>
          <p:cNvSpPr/>
          <p:nvPr/>
        </p:nvSpPr>
        <p:spPr>
          <a:xfrm>
            <a:off x="1691640" y="4983480"/>
            <a:ext cx="3108600" cy="145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102A43"/>
                </a:solidFill>
                <a:effectLst/>
                <a:uFillTx/>
                <a:latin typeface="Aptos"/>
              </a:rPr>
              <a:t>Human in the Loop</a:t>
            </a:r>
            <a:endParaRPr lang="en-US" sz="1250" b="0" u="none" strike="noStrike">
              <a:solidFill>
                <a:srgbClr val="000000"/>
              </a:solidFill>
              <a:effectLst/>
              <a:uFillTx/>
              <a:latin typeface="Arial"/>
            </a:endParaRPr>
          </a:p>
        </p:txBody>
      </p:sp>
      <p:sp>
        <p:nvSpPr>
          <p:cNvPr id="81" name="Text 36"/>
          <p:cNvSpPr/>
          <p:nvPr/>
        </p:nvSpPr>
        <p:spPr>
          <a:xfrm>
            <a:off x="5321880" y="4983480"/>
            <a:ext cx="5668920" cy="145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52616B"/>
                </a:solidFill>
                <a:effectLst/>
                <a:uFillTx/>
                <a:latin typeface="Aptos"/>
              </a:rPr>
              <a:t>Approval, escalation, safe handoff</a:t>
            </a:r>
            <a:endParaRPr lang="en-US" sz="1150" b="0" u="none" strike="noStrike">
              <a:solidFill>
                <a:srgbClr val="000000"/>
              </a:solidFill>
              <a:effectLst/>
              <a:uFillTx/>
              <a:latin typeface="Arial"/>
            </a:endParaRPr>
          </a:p>
        </p:txBody>
      </p:sp>
      <p:sp>
        <p:nvSpPr>
          <p:cNvPr id="82" name="Shape 37"/>
          <p:cNvSpPr/>
          <p:nvPr/>
        </p:nvSpPr>
        <p:spPr>
          <a:xfrm>
            <a:off x="594360" y="5367600"/>
            <a:ext cx="10972440" cy="529920"/>
          </a:xfrm>
          <a:prstGeom prst="rect">
            <a:avLst/>
          </a:prstGeom>
          <a:solidFill>
            <a:srgbClr val="F1F5F9"/>
          </a:solidFill>
          <a:ln w="10160">
            <a:solidFill>
              <a:srgbClr val="D7E3E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83" name="Text 38"/>
          <p:cNvSpPr/>
          <p:nvPr/>
        </p:nvSpPr>
        <p:spPr>
          <a:xfrm>
            <a:off x="786240" y="5523120"/>
            <a:ext cx="319680" cy="136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0E8F8F"/>
                </a:solidFill>
                <a:effectLst/>
                <a:uFillTx/>
                <a:latin typeface="Aptos"/>
              </a:rPr>
              <a:t>8</a:t>
            </a:r>
            <a:endParaRPr lang="en-US" sz="1100" b="0" u="none" strike="noStrike">
              <a:solidFill>
                <a:srgbClr val="000000"/>
              </a:solidFill>
              <a:effectLst/>
              <a:uFillTx/>
              <a:latin typeface="Arial"/>
            </a:endParaRPr>
          </a:p>
        </p:txBody>
      </p:sp>
      <p:sp>
        <p:nvSpPr>
          <p:cNvPr id="84" name="Text 39"/>
          <p:cNvSpPr/>
          <p:nvPr/>
        </p:nvSpPr>
        <p:spPr>
          <a:xfrm>
            <a:off x="1691640" y="5513760"/>
            <a:ext cx="3108600" cy="145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102A43"/>
                </a:solidFill>
                <a:effectLst/>
                <a:uFillTx/>
                <a:latin typeface="Aptos"/>
              </a:rPr>
              <a:t>Complete Agent System</a:t>
            </a:r>
            <a:endParaRPr lang="en-US" sz="1250" b="0" u="none" strike="noStrike">
              <a:solidFill>
                <a:srgbClr val="000000"/>
              </a:solidFill>
              <a:effectLst/>
              <a:uFillTx/>
              <a:latin typeface="Arial"/>
            </a:endParaRPr>
          </a:p>
        </p:txBody>
      </p:sp>
      <p:sp>
        <p:nvSpPr>
          <p:cNvPr id="85" name="Text 40"/>
          <p:cNvSpPr/>
          <p:nvPr/>
        </p:nvSpPr>
        <p:spPr>
          <a:xfrm>
            <a:off x="5321880" y="5513760"/>
            <a:ext cx="5668920" cy="145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50" b="0" u="none" strike="noStrike">
                <a:solidFill>
                  <a:srgbClr val="52616B"/>
                </a:solidFill>
                <a:effectLst/>
                <a:uFillTx/>
                <a:latin typeface="Aptos"/>
              </a:rPr>
              <a:t>Integrated prototype and demo</a:t>
            </a:r>
            <a:endParaRPr lang="en-US" sz="1150" b="0" u="none" strike="noStrike">
              <a:solidFill>
                <a:srgbClr val="000000"/>
              </a:solidFill>
              <a:effectLst/>
              <a:uFillTx/>
              <a:latin typeface="Arial"/>
            </a:endParaRPr>
          </a:p>
        </p:txBody>
      </p:sp>
      <p:sp>
        <p:nvSpPr>
          <p:cNvPr id="86" name="PlaceHolder 1"/>
          <p:cNvSpPr>
            <a:spLocks noGrp="1"/>
          </p:cNvSpPr>
          <p:nvPr>
            <p:ph type="sldNum" idx="6"/>
          </p:nvPr>
        </p:nvSpPr>
        <p:spPr>
          <a:xfrm>
            <a:off x="11292840" y="6546960"/>
            <a:ext cx="799560" cy="299520"/>
          </a:xfrm>
          <a:prstGeom prst="rect">
            <a:avLst/>
          </a:prstGeom>
          <a:noFill/>
          <a:ln w="0">
            <a:noFill/>
          </a:ln>
        </p:spPr>
        <p:txBody>
          <a:bodyPr lIns="90000" tIns="45000" rIns="90000" bIns="45000" anchor="t">
            <a:noAutofit/>
          </a:bodyPr>
          <a:lstStyle>
            <a:lvl1pPr indent="0" algn="l" defTabSz="914400">
              <a:lnSpc>
                <a:spcPct val="100000"/>
              </a:lnSpc>
              <a:buNone/>
              <a:defRPr lang="en-US" sz="900" b="0" u="none" strike="noStrike">
                <a:solidFill>
                  <a:srgbClr val="78909C"/>
                </a:solidFill>
                <a:effectLst/>
                <a:uFillTx/>
                <a:latin typeface="Aptos"/>
                <a:ea typeface="Aptos"/>
              </a:defRPr>
            </a:lvl1pPr>
          </a:lstStyle>
          <a:p>
            <a:pPr indent="0" algn="l" defTabSz="914400">
              <a:lnSpc>
                <a:spcPct val="100000"/>
              </a:lnSpc>
              <a:buNone/>
            </a:pPr>
            <a:fld id="{C8088C9B-97D9-4CC0-98AC-2868376F3F6F}" type="slidenum">
              <a:rPr lang="en-US" sz="900" b="0" u="none" strike="noStrike">
                <a:solidFill>
                  <a:srgbClr val="78909C"/>
                </a:solidFill>
                <a:effectLst/>
                <a:uFillTx/>
                <a:latin typeface="Aptos"/>
                <a:ea typeface="Aptos"/>
              </a:rPr>
              <a:t>&lt;number&gt;</a:t>
            </a:fld>
            <a:endParaRPr lang="en-US" sz="9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AFC"/>
        </a:solidFill>
      </p:bgPr>
    </p:bg>
    <p:spTree>
      <p:nvGrpSpPr>
        <p:cNvPr id="1" name=""/>
        <p:cNvGrpSpPr/>
        <p:nvPr/>
      </p:nvGrpSpPr>
      <p:grpSpPr>
        <a:xfrm>
          <a:off x="0" y="0"/>
          <a:ext cx="0" cy="0"/>
          <a:chOff x="0" y="0"/>
          <a:chExt cx="0" cy="0"/>
        </a:xfrm>
      </p:grpSpPr>
      <p:sp>
        <p:nvSpPr>
          <p:cNvPr id="87" name="Shape 0"/>
          <p:cNvSpPr/>
          <p:nvPr/>
        </p:nvSpPr>
        <p:spPr>
          <a:xfrm>
            <a:off x="0" y="0"/>
            <a:ext cx="12191400" cy="6857640"/>
          </a:xfrm>
          <a:prstGeom prst="rect">
            <a:avLst/>
          </a:prstGeom>
          <a:solidFill>
            <a:srgbClr val="F7FAFC"/>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88" name="Shape 1"/>
          <p:cNvSpPr/>
          <p:nvPr/>
        </p:nvSpPr>
        <p:spPr>
          <a:xfrm>
            <a:off x="0" y="0"/>
            <a:ext cx="164160" cy="6857640"/>
          </a:xfrm>
          <a:prstGeom prst="rect">
            <a:avLst/>
          </a:prstGeom>
          <a:solidFill>
            <a:srgbClr val="153B52"/>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89" name="Text 2"/>
          <p:cNvSpPr/>
          <p:nvPr/>
        </p:nvSpPr>
        <p:spPr>
          <a:xfrm>
            <a:off x="521280" y="109800"/>
            <a:ext cx="420588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1" u="none" strike="noStrike">
                <a:solidFill>
                  <a:srgbClr val="0E8F8F"/>
                </a:solidFill>
                <a:effectLst/>
                <a:uFillTx/>
                <a:latin typeface="Aptos"/>
              </a:rPr>
              <a:t>BIG PICTURE</a:t>
            </a:r>
            <a:endParaRPr lang="en-US" sz="850" b="0" u="none" strike="noStrike">
              <a:solidFill>
                <a:srgbClr val="000000"/>
              </a:solidFill>
              <a:effectLst/>
              <a:uFillTx/>
              <a:latin typeface="Arial"/>
            </a:endParaRPr>
          </a:p>
        </p:txBody>
      </p:sp>
      <p:sp>
        <p:nvSpPr>
          <p:cNvPr id="90" name="Text 3"/>
          <p:cNvSpPr/>
          <p:nvPr/>
        </p:nvSpPr>
        <p:spPr>
          <a:xfrm>
            <a:off x="502920" y="320040"/>
            <a:ext cx="1106388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153B52"/>
                </a:solidFill>
                <a:effectLst/>
                <a:uFillTx/>
                <a:latin typeface="Aptos Display"/>
                <a:ea typeface="Aptos Display"/>
              </a:rPr>
              <a:t>What Are We Actually Building?</a:t>
            </a:r>
            <a:endParaRPr lang="en-US" sz="2600" b="0" u="none" strike="noStrike">
              <a:solidFill>
                <a:srgbClr val="000000"/>
              </a:solidFill>
              <a:effectLst/>
              <a:uFillTx/>
              <a:latin typeface="Arial"/>
            </a:endParaRPr>
          </a:p>
        </p:txBody>
      </p:sp>
      <p:sp>
        <p:nvSpPr>
          <p:cNvPr id="91" name="Text 4"/>
          <p:cNvSpPr/>
          <p:nvPr/>
        </p:nvSpPr>
        <p:spPr>
          <a:xfrm>
            <a:off x="511920" y="786240"/>
            <a:ext cx="1078956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52616B"/>
                </a:solidFill>
                <a:effectLst/>
                <a:uFillTx/>
                <a:latin typeface="Aptos"/>
              </a:rPr>
              <a:t>A simple support-ticket example will evolve into an agent system.</a:t>
            </a:r>
            <a:endParaRPr lang="en-US" sz="1250" b="0" u="none" strike="noStrike">
              <a:solidFill>
                <a:srgbClr val="000000"/>
              </a:solidFill>
              <a:effectLst/>
              <a:uFillTx/>
              <a:latin typeface="Arial"/>
            </a:endParaRPr>
          </a:p>
        </p:txBody>
      </p:sp>
      <p:sp>
        <p:nvSpPr>
          <p:cNvPr id="92" name="Shape 5"/>
          <p:cNvSpPr/>
          <p:nvPr/>
        </p:nvSpPr>
        <p:spPr>
          <a:xfrm>
            <a:off x="731520" y="2057400"/>
            <a:ext cx="1608840" cy="950760"/>
          </a:xfrm>
          <a:prstGeom prst="roundRect">
            <a:avLst>
              <a:gd name="adj" fmla="val 7692"/>
            </a:avLst>
          </a:prstGeom>
          <a:solidFill>
            <a:srgbClr val="EAF4FF"/>
          </a:solidFill>
          <a:ln w="10160">
            <a:solidFill>
              <a:srgbClr val="CCE0F5"/>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93" name="Text 6"/>
          <p:cNvSpPr/>
          <p:nvPr/>
        </p:nvSpPr>
        <p:spPr>
          <a:xfrm>
            <a:off x="822960" y="2258640"/>
            <a:ext cx="142596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2B6CB0"/>
                </a:solidFill>
                <a:effectLst/>
                <a:uFillTx/>
                <a:latin typeface="Aptos"/>
              </a:rPr>
              <a:t>Input</a:t>
            </a:r>
            <a:endParaRPr lang="en-US" sz="1100" b="0" u="none" strike="noStrike">
              <a:solidFill>
                <a:srgbClr val="000000"/>
              </a:solidFill>
              <a:effectLst/>
              <a:uFillTx/>
              <a:latin typeface="Arial"/>
            </a:endParaRPr>
          </a:p>
        </p:txBody>
      </p:sp>
      <p:sp>
        <p:nvSpPr>
          <p:cNvPr id="94" name="Text 7"/>
          <p:cNvSpPr/>
          <p:nvPr/>
        </p:nvSpPr>
        <p:spPr>
          <a:xfrm>
            <a:off x="822960" y="2514600"/>
            <a:ext cx="142596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39" b="0" u="none" strike="noStrike">
                <a:solidFill>
                  <a:srgbClr val="52616B"/>
                </a:solidFill>
                <a:effectLst/>
                <a:uFillTx/>
                <a:latin typeface="Aptos"/>
              </a:rPr>
              <a:t>Customer message</a:t>
            </a:r>
            <a:endParaRPr lang="en-US" sz="939" b="0" u="none" strike="noStrike">
              <a:solidFill>
                <a:srgbClr val="000000"/>
              </a:solidFill>
              <a:effectLst/>
              <a:uFillTx/>
              <a:latin typeface="Arial"/>
            </a:endParaRPr>
          </a:p>
        </p:txBody>
      </p:sp>
      <p:sp>
        <p:nvSpPr>
          <p:cNvPr id="95" name="Shape 8"/>
          <p:cNvSpPr/>
          <p:nvPr/>
        </p:nvSpPr>
        <p:spPr>
          <a:xfrm>
            <a:off x="2359080" y="2532600"/>
            <a:ext cx="365760" cy="360"/>
          </a:xfrm>
          <a:prstGeom prst="line">
            <a:avLst/>
          </a:prstGeom>
          <a:ln w="25400">
            <a:solidFill>
              <a:srgbClr val="2B6CB0"/>
            </a:solidFill>
            <a:round/>
            <a:tailEnd len="med" type="triangle" w="me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Aptos"/>
            </a:endParaRPr>
          </a:p>
        </p:txBody>
      </p:sp>
      <p:sp>
        <p:nvSpPr>
          <p:cNvPr id="96" name="Shape 9"/>
          <p:cNvSpPr/>
          <p:nvPr/>
        </p:nvSpPr>
        <p:spPr>
          <a:xfrm>
            <a:off x="2606040" y="2057400"/>
            <a:ext cx="1608840" cy="950760"/>
          </a:xfrm>
          <a:prstGeom prst="roundRect">
            <a:avLst>
              <a:gd name="adj" fmla="val 7692"/>
            </a:avLst>
          </a:prstGeom>
          <a:solidFill>
            <a:srgbClr val="EAF4FF"/>
          </a:solidFill>
          <a:ln w="10160">
            <a:solidFill>
              <a:srgbClr val="CCE0F5"/>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97" name="Text 10"/>
          <p:cNvSpPr/>
          <p:nvPr/>
        </p:nvSpPr>
        <p:spPr>
          <a:xfrm>
            <a:off x="2697480" y="2258640"/>
            <a:ext cx="142596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2B6CB0"/>
                </a:solidFill>
                <a:effectLst/>
                <a:uFillTx/>
                <a:latin typeface="Aptos"/>
              </a:rPr>
              <a:t>Python logic</a:t>
            </a:r>
            <a:endParaRPr lang="en-US" sz="1100" b="0" u="none" strike="noStrike">
              <a:solidFill>
                <a:srgbClr val="000000"/>
              </a:solidFill>
              <a:effectLst/>
              <a:uFillTx/>
              <a:latin typeface="Arial"/>
            </a:endParaRPr>
          </a:p>
        </p:txBody>
      </p:sp>
      <p:sp>
        <p:nvSpPr>
          <p:cNvPr id="98" name="Text 11"/>
          <p:cNvSpPr/>
          <p:nvPr/>
        </p:nvSpPr>
        <p:spPr>
          <a:xfrm>
            <a:off x="2697480" y="2514600"/>
            <a:ext cx="142596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39" b="0" u="none" strike="noStrike">
                <a:solidFill>
                  <a:srgbClr val="52616B"/>
                </a:solidFill>
                <a:effectLst/>
                <a:uFillTx/>
                <a:latin typeface="Aptos"/>
              </a:rPr>
              <a:t>Classify &amp; count</a:t>
            </a:r>
            <a:endParaRPr lang="en-US" sz="939" b="0" u="none" strike="noStrike">
              <a:solidFill>
                <a:srgbClr val="000000"/>
              </a:solidFill>
              <a:effectLst/>
              <a:uFillTx/>
              <a:latin typeface="Arial"/>
            </a:endParaRPr>
          </a:p>
        </p:txBody>
      </p:sp>
      <p:sp>
        <p:nvSpPr>
          <p:cNvPr id="99" name="Shape 12"/>
          <p:cNvSpPr/>
          <p:nvPr/>
        </p:nvSpPr>
        <p:spPr>
          <a:xfrm>
            <a:off x="4233600" y="2532600"/>
            <a:ext cx="365760" cy="360"/>
          </a:xfrm>
          <a:prstGeom prst="line">
            <a:avLst/>
          </a:prstGeom>
          <a:ln w="25400">
            <a:solidFill>
              <a:srgbClr val="2B6CB0"/>
            </a:solidFill>
            <a:round/>
            <a:tailEnd len="med" type="triangle" w="me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Aptos"/>
            </a:endParaRPr>
          </a:p>
        </p:txBody>
      </p:sp>
      <p:sp>
        <p:nvSpPr>
          <p:cNvPr id="100" name="Shape 13"/>
          <p:cNvSpPr/>
          <p:nvPr/>
        </p:nvSpPr>
        <p:spPr>
          <a:xfrm>
            <a:off x="4480560" y="2057400"/>
            <a:ext cx="1608840" cy="950760"/>
          </a:xfrm>
          <a:prstGeom prst="roundRect">
            <a:avLst>
              <a:gd name="adj" fmla="val 7692"/>
            </a:avLst>
          </a:prstGeom>
          <a:solidFill>
            <a:srgbClr val="E6FFFA"/>
          </a:solidFill>
          <a:ln w="10160">
            <a:solidFill>
              <a:srgbClr val="CCE0F5"/>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01" name="Text 14"/>
          <p:cNvSpPr/>
          <p:nvPr/>
        </p:nvSpPr>
        <p:spPr>
          <a:xfrm>
            <a:off x="4572000" y="2258640"/>
            <a:ext cx="142596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0E8F8F"/>
                </a:solidFill>
                <a:effectLst/>
                <a:uFillTx/>
                <a:latin typeface="Aptos"/>
              </a:rPr>
              <a:t>Structured data</a:t>
            </a:r>
            <a:endParaRPr lang="en-US" sz="1100" b="0" u="none" strike="noStrike">
              <a:solidFill>
                <a:srgbClr val="000000"/>
              </a:solidFill>
              <a:effectLst/>
              <a:uFillTx/>
              <a:latin typeface="Arial"/>
            </a:endParaRPr>
          </a:p>
        </p:txBody>
      </p:sp>
      <p:sp>
        <p:nvSpPr>
          <p:cNvPr id="102" name="Text 15"/>
          <p:cNvSpPr/>
          <p:nvPr/>
        </p:nvSpPr>
        <p:spPr>
          <a:xfrm>
            <a:off x="4572000" y="2514600"/>
            <a:ext cx="142596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39" b="0" u="none" strike="noStrike">
                <a:solidFill>
                  <a:srgbClr val="52616B"/>
                </a:solidFill>
                <a:effectLst/>
                <a:uFillTx/>
                <a:latin typeface="Aptos"/>
              </a:rPr>
              <a:t>Validate fields</a:t>
            </a:r>
            <a:endParaRPr lang="en-US" sz="939" b="0" u="none" strike="noStrike">
              <a:solidFill>
                <a:srgbClr val="000000"/>
              </a:solidFill>
              <a:effectLst/>
              <a:uFillTx/>
              <a:latin typeface="Arial"/>
            </a:endParaRPr>
          </a:p>
        </p:txBody>
      </p:sp>
      <p:sp>
        <p:nvSpPr>
          <p:cNvPr id="103" name="Shape 16"/>
          <p:cNvSpPr/>
          <p:nvPr/>
        </p:nvSpPr>
        <p:spPr>
          <a:xfrm>
            <a:off x="6108120" y="2532600"/>
            <a:ext cx="365760" cy="360"/>
          </a:xfrm>
          <a:prstGeom prst="line">
            <a:avLst/>
          </a:prstGeom>
          <a:ln w="25400">
            <a:solidFill>
              <a:srgbClr val="2B6CB0"/>
            </a:solidFill>
            <a:round/>
            <a:tailEnd len="med" type="triangle" w="me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Aptos"/>
            </a:endParaRPr>
          </a:p>
        </p:txBody>
      </p:sp>
      <p:sp>
        <p:nvSpPr>
          <p:cNvPr id="104" name="Shape 17"/>
          <p:cNvSpPr/>
          <p:nvPr/>
        </p:nvSpPr>
        <p:spPr>
          <a:xfrm>
            <a:off x="6355080" y="2057400"/>
            <a:ext cx="1608840" cy="950760"/>
          </a:xfrm>
          <a:prstGeom prst="roundRect">
            <a:avLst>
              <a:gd name="adj" fmla="val 7692"/>
            </a:avLst>
          </a:prstGeom>
          <a:solidFill>
            <a:srgbClr val="E6FFFA"/>
          </a:solidFill>
          <a:ln w="10160">
            <a:solidFill>
              <a:srgbClr val="CCE0F5"/>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05" name="Text 18"/>
          <p:cNvSpPr/>
          <p:nvPr/>
        </p:nvSpPr>
        <p:spPr>
          <a:xfrm>
            <a:off x="6446520" y="2258640"/>
            <a:ext cx="142596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0E8F8F"/>
                </a:solidFill>
                <a:effectLst/>
                <a:uFillTx/>
                <a:latin typeface="Aptos"/>
              </a:rPr>
              <a:t>API tool</a:t>
            </a:r>
            <a:endParaRPr lang="en-US" sz="1100" b="0" u="none" strike="noStrike">
              <a:solidFill>
                <a:srgbClr val="000000"/>
              </a:solidFill>
              <a:effectLst/>
              <a:uFillTx/>
              <a:latin typeface="Arial"/>
            </a:endParaRPr>
          </a:p>
        </p:txBody>
      </p:sp>
      <p:sp>
        <p:nvSpPr>
          <p:cNvPr id="106" name="Text 19"/>
          <p:cNvSpPr/>
          <p:nvPr/>
        </p:nvSpPr>
        <p:spPr>
          <a:xfrm>
            <a:off x="6446520" y="2514600"/>
            <a:ext cx="142596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39" b="0" u="none" strike="noStrike">
                <a:solidFill>
                  <a:srgbClr val="52616B"/>
                </a:solidFill>
                <a:effectLst/>
                <a:uFillTx/>
                <a:latin typeface="Aptos"/>
              </a:rPr>
              <a:t>Expose functions</a:t>
            </a:r>
            <a:endParaRPr lang="en-US" sz="939" b="0" u="none" strike="noStrike">
              <a:solidFill>
                <a:srgbClr val="000000"/>
              </a:solidFill>
              <a:effectLst/>
              <a:uFillTx/>
              <a:latin typeface="Arial"/>
            </a:endParaRPr>
          </a:p>
        </p:txBody>
      </p:sp>
      <p:sp>
        <p:nvSpPr>
          <p:cNvPr id="107" name="Shape 20"/>
          <p:cNvSpPr/>
          <p:nvPr/>
        </p:nvSpPr>
        <p:spPr>
          <a:xfrm>
            <a:off x="7982640" y="2532600"/>
            <a:ext cx="365760" cy="360"/>
          </a:xfrm>
          <a:prstGeom prst="line">
            <a:avLst/>
          </a:prstGeom>
          <a:ln w="25400">
            <a:solidFill>
              <a:srgbClr val="2B6CB0"/>
            </a:solidFill>
            <a:round/>
            <a:tailEnd len="med" type="triangle" w="me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Aptos"/>
            </a:endParaRPr>
          </a:p>
        </p:txBody>
      </p:sp>
      <p:sp>
        <p:nvSpPr>
          <p:cNvPr id="108" name="Shape 21"/>
          <p:cNvSpPr/>
          <p:nvPr/>
        </p:nvSpPr>
        <p:spPr>
          <a:xfrm>
            <a:off x="8229600" y="2057400"/>
            <a:ext cx="1608840" cy="950760"/>
          </a:xfrm>
          <a:prstGeom prst="roundRect">
            <a:avLst>
              <a:gd name="adj" fmla="val 7692"/>
            </a:avLst>
          </a:prstGeom>
          <a:solidFill>
            <a:srgbClr val="F3E8FF"/>
          </a:solidFill>
          <a:ln w="10160">
            <a:solidFill>
              <a:srgbClr val="CCE0F5"/>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09" name="Text 22"/>
          <p:cNvSpPr/>
          <p:nvPr/>
        </p:nvSpPr>
        <p:spPr>
          <a:xfrm>
            <a:off x="8321040" y="2258640"/>
            <a:ext cx="142596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553C9A"/>
                </a:solidFill>
                <a:effectLst/>
                <a:uFillTx/>
                <a:latin typeface="Aptos"/>
              </a:rPr>
              <a:t>LLM</a:t>
            </a:r>
            <a:endParaRPr lang="en-US" sz="1100" b="0" u="none" strike="noStrike">
              <a:solidFill>
                <a:srgbClr val="000000"/>
              </a:solidFill>
              <a:effectLst/>
              <a:uFillTx/>
              <a:latin typeface="Arial"/>
            </a:endParaRPr>
          </a:p>
        </p:txBody>
      </p:sp>
      <p:sp>
        <p:nvSpPr>
          <p:cNvPr id="110" name="Text 23"/>
          <p:cNvSpPr/>
          <p:nvPr/>
        </p:nvSpPr>
        <p:spPr>
          <a:xfrm>
            <a:off x="8321040" y="2514600"/>
            <a:ext cx="142596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39" b="0" u="none" strike="noStrike">
                <a:solidFill>
                  <a:srgbClr val="52616B"/>
                </a:solidFill>
                <a:effectLst/>
                <a:uFillTx/>
                <a:latin typeface="Aptos"/>
              </a:rPr>
              <a:t>Understand text</a:t>
            </a:r>
            <a:endParaRPr lang="en-US" sz="939" b="0" u="none" strike="noStrike">
              <a:solidFill>
                <a:srgbClr val="000000"/>
              </a:solidFill>
              <a:effectLst/>
              <a:uFillTx/>
              <a:latin typeface="Arial"/>
            </a:endParaRPr>
          </a:p>
        </p:txBody>
      </p:sp>
      <p:sp>
        <p:nvSpPr>
          <p:cNvPr id="111" name="Shape 24"/>
          <p:cNvSpPr/>
          <p:nvPr/>
        </p:nvSpPr>
        <p:spPr>
          <a:xfrm>
            <a:off x="9857160" y="2532600"/>
            <a:ext cx="365760" cy="360"/>
          </a:xfrm>
          <a:prstGeom prst="line">
            <a:avLst/>
          </a:prstGeom>
          <a:ln w="25400">
            <a:solidFill>
              <a:srgbClr val="2B6CB0"/>
            </a:solidFill>
            <a:round/>
            <a:tailEnd len="med" type="triangle" w="me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Aptos"/>
            </a:endParaRPr>
          </a:p>
        </p:txBody>
      </p:sp>
      <p:sp>
        <p:nvSpPr>
          <p:cNvPr id="112" name="Shape 25"/>
          <p:cNvSpPr/>
          <p:nvPr/>
        </p:nvSpPr>
        <p:spPr>
          <a:xfrm>
            <a:off x="10104120" y="2057400"/>
            <a:ext cx="1608840" cy="950760"/>
          </a:xfrm>
          <a:prstGeom prst="roundRect">
            <a:avLst>
              <a:gd name="adj" fmla="val 7692"/>
            </a:avLst>
          </a:prstGeom>
          <a:solidFill>
            <a:srgbClr val="F3E8FF"/>
          </a:solidFill>
          <a:ln w="10160">
            <a:solidFill>
              <a:srgbClr val="CCE0F5"/>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13" name="Text 26"/>
          <p:cNvSpPr/>
          <p:nvPr/>
        </p:nvSpPr>
        <p:spPr>
          <a:xfrm>
            <a:off x="10195560" y="2258640"/>
            <a:ext cx="142596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553C9A"/>
                </a:solidFill>
                <a:effectLst/>
                <a:uFillTx/>
                <a:latin typeface="Aptos"/>
              </a:rPr>
              <a:t>Agent</a:t>
            </a:r>
            <a:endParaRPr lang="en-US" sz="1100" b="0" u="none" strike="noStrike">
              <a:solidFill>
                <a:srgbClr val="000000"/>
              </a:solidFill>
              <a:effectLst/>
              <a:uFillTx/>
              <a:latin typeface="Arial"/>
            </a:endParaRPr>
          </a:p>
        </p:txBody>
      </p:sp>
      <p:sp>
        <p:nvSpPr>
          <p:cNvPr id="114" name="Text 27"/>
          <p:cNvSpPr/>
          <p:nvPr/>
        </p:nvSpPr>
        <p:spPr>
          <a:xfrm>
            <a:off x="10195560" y="2514600"/>
            <a:ext cx="142596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39" b="0" u="none" strike="noStrike">
                <a:solidFill>
                  <a:srgbClr val="52616B"/>
                </a:solidFill>
                <a:effectLst/>
                <a:uFillTx/>
                <a:latin typeface="Aptos"/>
              </a:rPr>
              <a:t>Choose next step</a:t>
            </a:r>
            <a:endParaRPr lang="en-US" sz="939" b="0" u="none" strike="noStrike">
              <a:solidFill>
                <a:srgbClr val="000000"/>
              </a:solidFill>
              <a:effectLst/>
              <a:uFillTx/>
              <a:latin typeface="Arial"/>
            </a:endParaRPr>
          </a:p>
        </p:txBody>
      </p:sp>
      <p:sp>
        <p:nvSpPr>
          <p:cNvPr id="115" name="Shape 28"/>
          <p:cNvSpPr/>
          <p:nvPr/>
        </p:nvSpPr>
        <p:spPr>
          <a:xfrm>
            <a:off x="914400" y="3794760"/>
            <a:ext cx="4754520" cy="1554120"/>
          </a:xfrm>
          <a:prstGeom prst="roundRect">
            <a:avLst>
              <a:gd name="adj" fmla="val 4706"/>
            </a:avLst>
          </a:prstGeom>
          <a:solidFill>
            <a:srgbClr val="0B1720"/>
          </a:solidFill>
          <a:ln w="10160">
            <a:solidFill>
              <a:srgbClr val="122334"/>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16" name="Shape 29"/>
          <p:cNvSpPr/>
          <p:nvPr/>
        </p:nvSpPr>
        <p:spPr>
          <a:xfrm>
            <a:off x="1024200" y="3904560"/>
            <a:ext cx="1462680" cy="310680"/>
          </a:xfrm>
          <a:prstGeom prst="roundRect">
            <a:avLst>
              <a:gd name="adj" fmla="val 17647"/>
            </a:avLst>
          </a:prstGeom>
          <a:solidFill>
            <a:srgbClr val="0E8F8F"/>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17" name="Text 30"/>
          <p:cNvSpPr/>
          <p:nvPr/>
        </p:nvSpPr>
        <p:spPr>
          <a:xfrm>
            <a:off x="1097280" y="3972960"/>
            <a:ext cx="131652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FFFFFF"/>
                </a:solidFill>
                <a:effectLst/>
                <a:uFillTx/>
                <a:latin typeface="Aptos"/>
              </a:rPr>
              <a:t>TODAY</a:t>
            </a:r>
            <a:endParaRPr lang="en-US" sz="900" b="0" u="none" strike="noStrike">
              <a:solidFill>
                <a:srgbClr val="000000"/>
              </a:solidFill>
              <a:effectLst/>
              <a:uFillTx/>
              <a:latin typeface="Arial"/>
            </a:endParaRPr>
          </a:p>
        </p:txBody>
      </p:sp>
      <p:sp>
        <p:nvSpPr>
          <p:cNvPr id="118" name="Text 31"/>
          <p:cNvSpPr/>
          <p:nvPr/>
        </p:nvSpPr>
        <p:spPr>
          <a:xfrm>
            <a:off x="1115640" y="4325040"/>
            <a:ext cx="4352040" cy="877320"/>
          </a:xfrm>
          <a:prstGeom prst="rect">
            <a:avLst/>
          </a:prstGeom>
          <a:noFill/>
          <a:ln w="0">
            <a:noFill/>
          </a:ln>
        </p:spPr>
        <p:style>
          <a:lnRef idx="0"/>
          <a:fillRef idx="0"/>
          <a:effectRef idx="0"/>
          <a:fontRef idx="minor"/>
        </p:style>
        <p:txBody>
          <a:bodyPr lIns="360" tIns="360" rIns="360" bIns="360" anchor="t">
            <a:normAutofit fontScale="92500" lnSpcReduction="9999"/>
          </a:bodyPr>
          <a:p>
            <a:pPr defTabSz="914400">
              <a:lnSpc>
                <a:spcPct val="100000"/>
              </a:lnSpc>
              <a:tabLst>
                <a:tab pos="0" algn="l"/>
              </a:tabLst>
            </a:pPr>
            <a:r>
              <a:rPr lang="en-US" sz="1120" b="0" u="none" strike="noStrike">
                <a:solidFill>
                  <a:srgbClr val="E8F1F8"/>
                </a:solidFill>
                <a:effectLst/>
                <a:uFillTx/>
                <a:latin typeface="Courier New"/>
                <a:ea typeface="Courier New"/>
              </a:rPr>
              <a:t>ticket = {</a:t>
            </a:r>
            <a:endParaRPr lang="en-US" sz="1120" b="0" u="none" strike="noStrike">
              <a:solidFill>
                <a:srgbClr val="000000"/>
              </a:solidFill>
              <a:effectLst/>
              <a:uFillTx/>
              <a:latin typeface="Arial"/>
            </a:endParaRPr>
          </a:p>
          <a:p>
            <a:pPr defTabSz="914400">
              <a:lnSpc>
                <a:spcPct val="100000"/>
              </a:lnSpc>
              <a:tabLst>
                <a:tab pos="0" algn="l"/>
              </a:tabLst>
            </a:pPr>
            <a:r>
              <a:rPr lang="en-US" sz="1120" b="0" u="none" strike="noStrike">
                <a:solidFill>
                  <a:srgbClr val="E8F1F8"/>
                </a:solidFill>
                <a:effectLst/>
                <a:uFillTx/>
                <a:latin typeface="Courier New"/>
                <a:ea typeface="Courier New"/>
              </a:rPr>
              <a:t>  "customer": "Ahmed",</a:t>
            </a:r>
            <a:endParaRPr lang="en-US" sz="1120" b="0" u="none" strike="noStrike">
              <a:solidFill>
                <a:srgbClr val="000000"/>
              </a:solidFill>
              <a:effectLst/>
              <a:uFillTx/>
              <a:latin typeface="Arial"/>
            </a:endParaRPr>
          </a:p>
          <a:p>
            <a:pPr defTabSz="914400">
              <a:lnSpc>
                <a:spcPct val="100000"/>
              </a:lnSpc>
              <a:tabLst>
                <a:tab pos="0" algn="l"/>
              </a:tabLst>
            </a:pPr>
            <a:r>
              <a:rPr lang="en-US" sz="1120" b="0" u="none" strike="noStrike">
                <a:solidFill>
                  <a:srgbClr val="E8F1F8"/>
                </a:solidFill>
                <a:effectLst/>
                <a:uFillTx/>
                <a:latin typeface="Courier New"/>
                <a:ea typeface="Courier New"/>
              </a:rPr>
              <a:t>  "message": "My payment failed"</a:t>
            </a:r>
            <a:endParaRPr lang="en-US" sz="1120" b="0" u="none" strike="noStrike">
              <a:solidFill>
                <a:srgbClr val="000000"/>
              </a:solidFill>
              <a:effectLst/>
              <a:uFillTx/>
              <a:latin typeface="Arial"/>
            </a:endParaRPr>
          </a:p>
          <a:p>
            <a:pPr defTabSz="914400">
              <a:lnSpc>
                <a:spcPct val="100000"/>
              </a:lnSpc>
              <a:tabLst>
                <a:tab pos="0" algn="l"/>
              </a:tabLst>
            </a:pPr>
            <a:r>
              <a:rPr lang="en-US" sz="1120" b="0" u="none" strike="noStrike">
                <a:solidFill>
                  <a:srgbClr val="E8F1F8"/>
                </a:solidFill>
                <a:effectLst/>
                <a:uFillTx/>
                <a:latin typeface="Courier New"/>
                <a:ea typeface="Courier New"/>
              </a:rPr>
              <a:t>}</a:t>
            </a:r>
            <a:endParaRPr lang="en-US" sz="1120" b="0" u="none" strike="noStrike">
              <a:solidFill>
                <a:srgbClr val="000000"/>
              </a:solidFill>
              <a:effectLst/>
              <a:uFillTx/>
              <a:latin typeface="Arial"/>
            </a:endParaRPr>
          </a:p>
          <a:p>
            <a:pPr defTabSz="914400">
              <a:lnSpc>
                <a:spcPct val="100000"/>
              </a:lnSpc>
              <a:tabLst>
                <a:tab pos="0" algn="l"/>
              </a:tabLst>
            </a:pPr>
            <a:endParaRPr lang="en-US" sz="1120" b="0" u="none" strike="noStrike">
              <a:solidFill>
                <a:srgbClr val="000000"/>
              </a:solidFill>
              <a:effectLst/>
              <a:uFillTx/>
              <a:latin typeface="Arial"/>
            </a:endParaRPr>
          </a:p>
          <a:p>
            <a:pPr defTabSz="914400">
              <a:lnSpc>
                <a:spcPct val="100000"/>
              </a:lnSpc>
              <a:tabLst>
                <a:tab pos="0" algn="l"/>
              </a:tabLst>
            </a:pPr>
            <a:r>
              <a:rPr lang="en-US" sz="1120" b="0" u="none" strike="noStrike">
                <a:solidFill>
                  <a:srgbClr val="E8F1F8"/>
                </a:solidFill>
                <a:effectLst/>
                <a:uFillTx/>
                <a:latin typeface="Courier New"/>
                <a:ea typeface="Courier New"/>
              </a:rPr>
              <a:t>category = classify_ticket(ticket["message"])</a:t>
            </a:r>
            <a:endParaRPr lang="en-US" sz="1120" b="0" u="none" strike="noStrike">
              <a:solidFill>
                <a:srgbClr val="000000"/>
              </a:solidFill>
              <a:effectLst/>
              <a:uFillTx/>
              <a:latin typeface="Arial"/>
            </a:endParaRPr>
          </a:p>
        </p:txBody>
      </p:sp>
      <p:sp>
        <p:nvSpPr>
          <p:cNvPr id="119" name="Shape 32"/>
          <p:cNvSpPr/>
          <p:nvPr/>
        </p:nvSpPr>
        <p:spPr>
          <a:xfrm>
            <a:off x="6446520" y="3803760"/>
            <a:ext cx="4480200" cy="1554120"/>
          </a:xfrm>
          <a:prstGeom prst="roundRect">
            <a:avLst>
              <a:gd name="adj" fmla="val 4706"/>
            </a:avLst>
          </a:prstGeom>
          <a:solidFill>
            <a:srgbClr val="FFFFFF"/>
          </a:solidFill>
          <a:ln w="10160">
            <a:solidFill>
              <a:srgbClr val="D7E3E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20" name="Text 33"/>
          <p:cNvSpPr/>
          <p:nvPr/>
        </p:nvSpPr>
        <p:spPr>
          <a:xfrm>
            <a:off x="6675120" y="4069080"/>
            <a:ext cx="397728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153B52"/>
                </a:solidFill>
                <a:effectLst/>
                <a:uFillTx/>
                <a:latin typeface="Aptos"/>
              </a:rPr>
              <a:t>Today we build the non-AI foundation.</a:t>
            </a:r>
            <a:endParaRPr lang="en-US" sz="1800" b="0" u="none" strike="noStrike">
              <a:solidFill>
                <a:srgbClr val="000000"/>
              </a:solidFill>
              <a:effectLst/>
              <a:uFillTx/>
              <a:latin typeface="Arial"/>
            </a:endParaRPr>
          </a:p>
        </p:txBody>
      </p:sp>
      <p:sp>
        <p:nvSpPr>
          <p:cNvPr id="121" name="Text 34"/>
          <p:cNvSpPr/>
          <p:nvPr/>
        </p:nvSpPr>
        <p:spPr>
          <a:xfrm>
            <a:off x="6675120" y="4480560"/>
            <a:ext cx="3840120" cy="502560"/>
          </a:xfrm>
          <a:prstGeom prst="rect">
            <a:avLst/>
          </a:prstGeom>
          <a:noFill/>
          <a:ln w="0">
            <a:noFill/>
          </a:ln>
        </p:spPr>
        <p:style>
          <a:lnRef idx="0"/>
          <a:fillRef idx="0"/>
          <a:effectRef idx="0"/>
          <a:fontRef idx="minor"/>
        </p:style>
        <p:txBody>
          <a:bodyPr lIns="360" tIns="360" rIns="360" bIns="360" anchor="ctr">
            <a:normAutofit fontScale="92500" lnSpcReduction="9999"/>
          </a:bodyPr>
          <a:p>
            <a:pPr defTabSz="914400">
              <a:lnSpc>
                <a:spcPct val="100000"/>
              </a:lnSpc>
              <a:tabLst>
                <a:tab pos="0" algn="l"/>
              </a:tabLst>
            </a:pPr>
            <a:r>
              <a:rPr lang="en-US" sz="1350" b="0" u="none" strike="noStrike">
                <a:solidFill>
                  <a:srgbClr val="52616B"/>
                </a:solidFill>
                <a:effectLst/>
                <a:uFillTx/>
                <a:latin typeface="Aptos"/>
              </a:rPr>
              <a:t>The agent later will still need normal code: data structures, functions, conditions, loops, and safe execution.</a:t>
            </a:r>
            <a:endParaRPr lang="en-US" sz="1350" b="0" u="none" strike="noStrike">
              <a:solidFill>
                <a:srgbClr val="000000"/>
              </a:solidFill>
              <a:effectLst/>
              <a:uFillTx/>
              <a:latin typeface="Arial"/>
            </a:endParaRPr>
          </a:p>
        </p:txBody>
      </p:sp>
      <p:sp>
        <p:nvSpPr>
          <p:cNvPr id="122" name="PlaceHolder 1"/>
          <p:cNvSpPr>
            <a:spLocks noGrp="1"/>
          </p:cNvSpPr>
          <p:nvPr>
            <p:ph type="sldNum" idx="7"/>
          </p:nvPr>
        </p:nvSpPr>
        <p:spPr>
          <a:xfrm>
            <a:off x="11292840" y="6546960"/>
            <a:ext cx="799560" cy="299520"/>
          </a:xfrm>
          <a:prstGeom prst="rect">
            <a:avLst/>
          </a:prstGeom>
          <a:noFill/>
          <a:ln w="0">
            <a:noFill/>
          </a:ln>
        </p:spPr>
        <p:txBody>
          <a:bodyPr lIns="90000" tIns="45000" rIns="90000" bIns="45000" anchor="t">
            <a:noAutofit/>
          </a:bodyPr>
          <a:lstStyle>
            <a:lvl1pPr indent="0" algn="l" defTabSz="914400">
              <a:lnSpc>
                <a:spcPct val="100000"/>
              </a:lnSpc>
              <a:buNone/>
              <a:defRPr lang="en-US" sz="900" b="0" u="none" strike="noStrike">
                <a:solidFill>
                  <a:srgbClr val="78909C"/>
                </a:solidFill>
                <a:effectLst/>
                <a:uFillTx/>
                <a:latin typeface="Aptos"/>
                <a:ea typeface="Aptos"/>
              </a:defRPr>
            </a:lvl1pPr>
          </a:lstStyle>
          <a:p>
            <a:pPr indent="0" algn="l" defTabSz="914400">
              <a:lnSpc>
                <a:spcPct val="100000"/>
              </a:lnSpc>
              <a:buNone/>
            </a:pPr>
            <a:fld id="{FB21A368-90E0-478A-BFA4-2FC3F4D150AF}" type="slidenum">
              <a:rPr lang="en-US" sz="900" b="0" u="none" strike="noStrike">
                <a:solidFill>
                  <a:srgbClr val="78909C"/>
                </a:solidFill>
                <a:effectLst/>
                <a:uFillTx/>
                <a:latin typeface="Aptos"/>
                <a:ea typeface="Aptos"/>
              </a:rPr>
              <a:t>3</a:t>
            </a:fld>
            <a:endParaRPr lang="en-US" sz="9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AFC"/>
        </a:solidFill>
      </p:bgPr>
    </p:bg>
    <p:spTree>
      <p:nvGrpSpPr>
        <p:cNvPr id="1" name=""/>
        <p:cNvGrpSpPr/>
        <p:nvPr/>
      </p:nvGrpSpPr>
      <p:grpSpPr>
        <a:xfrm>
          <a:off x="0" y="0"/>
          <a:ext cx="0" cy="0"/>
          <a:chOff x="0" y="0"/>
          <a:chExt cx="0" cy="0"/>
        </a:xfrm>
      </p:grpSpPr>
      <p:sp>
        <p:nvSpPr>
          <p:cNvPr id="123" name="Shape 0"/>
          <p:cNvSpPr/>
          <p:nvPr/>
        </p:nvSpPr>
        <p:spPr>
          <a:xfrm>
            <a:off x="0" y="0"/>
            <a:ext cx="12191400" cy="6857640"/>
          </a:xfrm>
          <a:prstGeom prst="rect">
            <a:avLst/>
          </a:prstGeom>
          <a:solidFill>
            <a:srgbClr val="F7FAFC"/>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24" name="Shape 1"/>
          <p:cNvSpPr/>
          <p:nvPr/>
        </p:nvSpPr>
        <p:spPr>
          <a:xfrm>
            <a:off x="0" y="0"/>
            <a:ext cx="164160" cy="6857640"/>
          </a:xfrm>
          <a:prstGeom prst="rect">
            <a:avLst/>
          </a:prstGeom>
          <a:solidFill>
            <a:srgbClr val="153B52"/>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25" name="Text 2"/>
          <p:cNvSpPr/>
          <p:nvPr/>
        </p:nvSpPr>
        <p:spPr>
          <a:xfrm>
            <a:off x="521280" y="109800"/>
            <a:ext cx="420588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1" u="none" strike="noStrike">
                <a:solidFill>
                  <a:srgbClr val="0E8F8F"/>
                </a:solidFill>
                <a:effectLst/>
                <a:uFillTx/>
                <a:latin typeface="Aptos"/>
              </a:rPr>
              <a:t>LAB 1</a:t>
            </a:r>
            <a:endParaRPr lang="en-US" sz="850" b="0" u="none" strike="noStrike">
              <a:solidFill>
                <a:srgbClr val="000000"/>
              </a:solidFill>
              <a:effectLst/>
              <a:uFillTx/>
              <a:latin typeface="Arial"/>
            </a:endParaRPr>
          </a:p>
        </p:txBody>
      </p:sp>
      <p:sp>
        <p:nvSpPr>
          <p:cNvPr id="126" name="Text 3"/>
          <p:cNvSpPr/>
          <p:nvPr/>
        </p:nvSpPr>
        <p:spPr>
          <a:xfrm>
            <a:off x="502920" y="320040"/>
            <a:ext cx="1106388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153B52"/>
                </a:solidFill>
                <a:effectLst/>
                <a:uFillTx/>
                <a:latin typeface="Aptos Display"/>
                <a:ea typeface="Aptos Display"/>
              </a:rPr>
              <a:t>Learning Outcomes</a:t>
            </a:r>
            <a:endParaRPr lang="en-US" sz="2600" b="0" u="none" strike="noStrike">
              <a:solidFill>
                <a:srgbClr val="000000"/>
              </a:solidFill>
              <a:effectLst/>
              <a:uFillTx/>
              <a:latin typeface="Arial"/>
            </a:endParaRPr>
          </a:p>
        </p:txBody>
      </p:sp>
      <p:sp>
        <p:nvSpPr>
          <p:cNvPr id="127" name="Text 4"/>
          <p:cNvSpPr/>
          <p:nvPr/>
        </p:nvSpPr>
        <p:spPr>
          <a:xfrm>
            <a:off x="511920" y="786240"/>
            <a:ext cx="1078956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52616B"/>
                </a:solidFill>
                <a:effectLst/>
                <a:uFillTx/>
                <a:latin typeface="Aptos"/>
              </a:rPr>
              <a:t>By the end of this lab, students should be able to:</a:t>
            </a:r>
            <a:endParaRPr lang="en-US" sz="1250" b="0" u="none" strike="noStrike">
              <a:solidFill>
                <a:srgbClr val="000000"/>
              </a:solidFill>
              <a:effectLst/>
              <a:uFillTx/>
              <a:latin typeface="Arial"/>
            </a:endParaRPr>
          </a:p>
        </p:txBody>
      </p:sp>
      <p:sp>
        <p:nvSpPr>
          <p:cNvPr id="128" name="Shape 5"/>
          <p:cNvSpPr/>
          <p:nvPr/>
        </p:nvSpPr>
        <p:spPr>
          <a:xfrm>
            <a:off x="777240" y="1417320"/>
            <a:ext cx="5047200" cy="932400"/>
          </a:xfrm>
          <a:prstGeom prst="roundRect">
            <a:avLst>
              <a:gd name="adj" fmla="val 7843"/>
            </a:avLst>
          </a:prstGeom>
          <a:solidFill>
            <a:srgbClr val="FFFFFF"/>
          </a:solidFill>
          <a:ln w="10160">
            <a:solidFill>
              <a:srgbClr val="D7E3E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29" name="Shape 6"/>
          <p:cNvSpPr/>
          <p:nvPr/>
        </p:nvSpPr>
        <p:spPr>
          <a:xfrm>
            <a:off x="978480" y="1636920"/>
            <a:ext cx="438480" cy="438480"/>
          </a:xfrm>
          <a:prstGeom prst="ellipse">
            <a:avLst/>
          </a:prstGeom>
          <a:solidFill>
            <a:srgbClr val="0E8F8F"/>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30" name="Text 7"/>
          <p:cNvSpPr/>
          <p:nvPr/>
        </p:nvSpPr>
        <p:spPr>
          <a:xfrm>
            <a:off x="978480" y="1755720"/>
            <a:ext cx="438480" cy="118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rgbClr val="FFFFFF"/>
                </a:solidFill>
                <a:effectLst/>
                <a:uFillTx/>
                <a:latin typeface="Aptos"/>
              </a:rPr>
              <a:t>1</a:t>
            </a:r>
            <a:endParaRPr lang="en-US" sz="1000" b="0" u="none" strike="noStrike">
              <a:solidFill>
                <a:srgbClr val="000000"/>
              </a:solidFill>
              <a:effectLst/>
              <a:uFillTx/>
              <a:latin typeface="Arial"/>
            </a:endParaRPr>
          </a:p>
        </p:txBody>
      </p:sp>
      <p:sp>
        <p:nvSpPr>
          <p:cNvPr id="131" name="Text 8"/>
          <p:cNvSpPr/>
          <p:nvPr/>
        </p:nvSpPr>
        <p:spPr>
          <a:xfrm>
            <a:off x="1600200" y="1636920"/>
            <a:ext cx="310860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02A43"/>
                </a:solidFill>
                <a:effectLst/>
                <a:uFillTx/>
                <a:latin typeface="Aptos"/>
              </a:rPr>
              <a:t>Run Python files</a:t>
            </a:r>
            <a:endParaRPr lang="en-US" sz="1500" b="0" u="none" strike="noStrike">
              <a:solidFill>
                <a:srgbClr val="000000"/>
              </a:solidFill>
              <a:effectLst/>
              <a:uFillTx/>
              <a:latin typeface="Arial"/>
            </a:endParaRPr>
          </a:p>
        </p:txBody>
      </p:sp>
      <p:sp>
        <p:nvSpPr>
          <p:cNvPr id="132" name="Text 9"/>
          <p:cNvSpPr/>
          <p:nvPr/>
        </p:nvSpPr>
        <p:spPr>
          <a:xfrm>
            <a:off x="1600200" y="1938600"/>
            <a:ext cx="388584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40" b="0" u="none" strike="noStrike">
                <a:solidFill>
                  <a:srgbClr val="52616B"/>
                </a:solidFill>
                <a:effectLst/>
                <a:uFillTx/>
                <a:latin typeface="Aptos"/>
              </a:rPr>
              <a:t>Use a terminal and execute a `.py` script.</a:t>
            </a:r>
            <a:endParaRPr lang="en-US" sz="1140" b="0" u="none" strike="noStrike">
              <a:solidFill>
                <a:srgbClr val="000000"/>
              </a:solidFill>
              <a:effectLst/>
              <a:uFillTx/>
              <a:latin typeface="Arial"/>
            </a:endParaRPr>
          </a:p>
        </p:txBody>
      </p:sp>
      <p:sp>
        <p:nvSpPr>
          <p:cNvPr id="133" name="Shape 10"/>
          <p:cNvSpPr/>
          <p:nvPr/>
        </p:nvSpPr>
        <p:spPr>
          <a:xfrm>
            <a:off x="6355080" y="1417320"/>
            <a:ext cx="5047200" cy="932400"/>
          </a:xfrm>
          <a:prstGeom prst="roundRect">
            <a:avLst>
              <a:gd name="adj" fmla="val 7843"/>
            </a:avLst>
          </a:prstGeom>
          <a:solidFill>
            <a:srgbClr val="FFFFFF"/>
          </a:solidFill>
          <a:ln w="10160">
            <a:solidFill>
              <a:srgbClr val="D7E3E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34" name="Shape 11"/>
          <p:cNvSpPr/>
          <p:nvPr/>
        </p:nvSpPr>
        <p:spPr>
          <a:xfrm>
            <a:off x="6556320" y="1636920"/>
            <a:ext cx="438480" cy="438480"/>
          </a:xfrm>
          <a:prstGeom prst="ellipse">
            <a:avLst/>
          </a:prstGeom>
          <a:solidFill>
            <a:srgbClr val="0E8F8F"/>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35" name="Text 12"/>
          <p:cNvSpPr/>
          <p:nvPr/>
        </p:nvSpPr>
        <p:spPr>
          <a:xfrm>
            <a:off x="6556320" y="1755720"/>
            <a:ext cx="438480" cy="118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rgbClr val="FFFFFF"/>
                </a:solidFill>
                <a:effectLst/>
                <a:uFillTx/>
                <a:latin typeface="Aptos"/>
              </a:rPr>
              <a:t>2</a:t>
            </a:r>
            <a:endParaRPr lang="en-US" sz="1000" b="0" u="none" strike="noStrike">
              <a:solidFill>
                <a:srgbClr val="000000"/>
              </a:solidFill>
              <a:effectLst/>
              <a:uFillTx/>
              <a:latin typeface="Arial"/>
            </a:endParaRPr>
          </a:p>
        </p:txBody>
      </p:sp>
      <p:sp>
        <p:nvSpPr>
          <p:cNvPr id="136" name="Text 13"/>
          <p:cNvSpPr/>
          <p:nvPr/>
        </p:nvSpPr>
        <p:spPr>
          <a:xfrm>
            <a:off x="7178040" y="1636920"/>
            <a:ext cx="310860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02A43"/>
                </a:solidFill>
                <a:effectLst/>
                <a:uFillTx/>
                <a:latin typeface="Aptos"/>
              </a:rPr>
              <a:t>Represent data</a:t>
            </a:r>
            <a:endParaRPr lang="en-US" sz="1500" b="0" u="none" strike="noStrike">
              <a:solidFill>
                <a:srgbClr val="000000"/>
              </a:solidFill>
              <a:effectLst/>
              <a:uFillTx/>
              <a:latin typeface="Arial"/>
            </a:endParaRPr>
          </a:p>
        </p:txBody>
      </p:sp>
      <p:sp>
        <p:nvSpPr>
          <p:cNvPr id="137" name="Text 14"/>
          <p:cNvSpPr/>
          <p:nvPr/>
        </p:nvSpPr>
        <p:spPr>
          <a:xfrm>
            <a:off x="7178040" y="1938600"/>
            <a:ext cx="388584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40" b="0" u="none" strike="noStrike">
                <a:solidFill>
                  <a:srgbClr val="52616B"/>
                </a:solidFill>
                <a:effectLst/>
                <a:uFillTx/>
                <a:latin typeface="Aptos"/>
              </a:rPr>
              <a:t>Use strings, numbers, booleans, lists, and dictionaries.</a:t>
            </a:r>
            <a:endParaRPr lang="en-US" sz="1140" b="0" u="none" strike="noStrike">
              <a:solidFill>
                <a:srgbClr val="000000"/>
              </a:solidFill>
              <a:effectLst/>
              <a:uFillTx/>
              <a:latin typeface="Arial"/>
            </a:endParaRPr>
          </a:p>
        </p:txBody>
      </p:sp>
      <p:sp>
        <p:nvSpPr>
          <p:cNvPr id="138" name="Shape 15"/>
          <p:cNvSpPr/>
          <p:nvPr/>
        </p:nvSpPr>
        <p:spPr>
          <a:xfrm>
            <a:off x="777240" y="2743200"/>
            <a:ext cx="5047200" cy="932400"/>
          </a:xfrm>
          <a:prstGeom prst="roundRect">
            <a:avLst>
              <a:gd name="adj" fmla="val 7843"/>
            </a:avLst>
          </a:prstGeom>
          <a:solidFill>
            <a:srgbClr val="FFFFFF"/>
          </a:solidFill>
          <a:ln w="10160">
            <a:solidFill>
              <a:srgbClr val="D7E3E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39" name="Shape 16"/>
          <p:cNvSpPr/>
          <p:nvPr/>
        </p:nvSpPr>
        <p:spPr>
          <a:xfrm>
            <a:off x="978480" y="2962800"/>
            <a:ext cx="438480" cy="438480"/>
          </a:xfrm>
          <a:prstGeom prst="ellipse">
            <a:avLst/>
          </a:prstGeom>
          <a:solidFill>
            <a:srgbClr val="0E8F8F"/>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40" name="Text 17"/>
          <p:cNvSpPr/>
          <p:nvPr/>
        </p:nvSpPr>
        <p:spPr>
          <a:xfrm>
            <a:off x="978480" y="3081600"/>
            <a:ext cx="438480" cy="118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rgbClr val="FFFFFF"/>
                </a:solidFill>
                <a:effectLst/>
                <a:uFillTx/>
                <a:latin typeface="Aptos"/>
              </a:rPr>
              <a:t>3</a:t>
            </a:r>
            <a:endParaRPr lang="en-US" sz="1000" b="0" u="none" strike="noStrike">
              <a:solidFill>
                <a:srgbClr val="000000"/>
              </a:solidFill>
              <a:effectLst/>
              <a:uFillTx/>
              <a:latin typeface="Arial"/>
            </a:endParaRPr>
          </a:p>
        </p:txBody>
      </p:sp>
      <p:sp>
        <p:nvSpPr>
          <p:cNvPr id="141" name="Text 18"/>
          <p:cNvSpPr/>
          <p:nvPr/>
        </p:nvSpPr>
        <p:spPr>
          <a:xfrm>
            <a:off x="1600200" y="2962800"/>
            <a:ext cx="310860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02A43"/>
                </a:solidFill>
                <a:effectLst/>
                <a:uFillTx/>
                <a:latin typeface="Aptos"/>
              </a:rPr>
              <a:t>Control decisions</a:t>
            </a:r>
            <a:endParaRPr lang="en-US" sz="1500" b="0" u="none" strike="noStrike">
              <a:solidFill>
                <a:srgbClr val="000000"/>
              </a:solidFill>
              <a:effectLst/>
              <a:uFillTx/>
              <a:latin typeface="Arial"/>
            </a:endParaRPr>
          </a:p>
        </p:txBody>
      </p:sp>
      <p:sp>
        <p:nvSpPr>
          <p:cNvPr id="142" name="Text 19"/>
          <p:cNvSpPr/>
          <p:nvPr/>
        </p:nvSpPr>
        <p:spPr>
          <a:xfrm>
            <a:off x="1600200" y="3264480"/>
            <a:ext cx="388584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40" b="0" u="none" strike="noStrike">
                <a:solidFill>
                  <a:srgbClr val="52616B"/>
                </a:solidFill>
                <a:effectLst/>
                <a:uFillTx/>
                <a:latin typeface="Aptos"/>
              </a:rPr>
              <a:t>Use `if / elif / else` </a:t>
            </a:r>
            <a:r>
              <a:rPr lang="en-US" sz="1140" b="0" u="none" strike="noStrike">
                <a:solidFill>
                  <a:srgbClr val="52616B"/>
                </a:solidFill>
                <a:effectLst/>
                <a:uFillTx/>
                <a:latin typeface="Aptos"/>
              </a:rPr>
              <a:t>to choose behavior.</a:t>
            </a:r>
            <a:endParaRPr lang="en-US" sz="1140" b="0" u="none" strike="noStrike">
              <a:solidFill>
                <a:srgbClr val="000000"/>
              </a:solidFill>
              <a:effectLst/>
              <a:uFillTx/>
              <a:latin typeface="Arial"/>
            </a:endParaRPr>
          </a:p>
        </p:txBody>
      </p:sp>
      <p:sp>
        <p:nvSpPr>
          <p:cNvPr id="143" name="Shape 20"/>
          <p:cNvSpPr/>
          <p:nvPr/>
        </p:nvSpPr>
        <p:spPr>
          <a:xfrm>
            <a:off x="6355080" y="2743200"/>
            <a:ext cx="5047200" cy="932400"/>
          </a:xfrm>
          <a:prstGeom prst="roundRect">
            <a:avLst>
              <a:gd name="adj" fmla="val 7843"/>
            </a:avLst>
          </a:prstGeom>
          <a:solidFill>
            <a:srgbClr val="FFFFFF"/>
          </a:solidFill>
          <a:ln w="10160">
            <a:solidFill>
              <a:srgbClr val="D7E3E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44" name="Shape 21"/>
          <p:cNvSpPr/>
          <p:nvPr/>
        </p:nvSpPr>
        <p:spPr>
          <a:xfrm>
            <a:off x="6556320" y="2962800"/>
            <a:ext cx="438480" cy="438480"/>
          </a:xfrm>
          <a:prstGeom prst="ellipse">
            <a:avLst/>
          </a:prstGeom>
          <a:solidFill>
            <a:srgbClr val="0E8F8F"/>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45" name="Text 22"/>
          <p:cNvSpPr/>
          <p:nvPr/>
        </p:nvSpPr>
        <p:spPr>
          <a:xfrm>
            <a:off x="6556320" y="3081600"/>
            <a:ext cx="438480" cy="118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rgbClr val="FFFFFF"/>
                </a:solidFill>
                <a:effectLst/>
                <a:uFillTx/>
                <a:latin typeface="Aptos"/>
              </a:rPr>
              <a:t>4</a:t>
            </a:r>
            <a:endParaRPr lang="en-US" sz="1000" b="0" u="none" strike="noStrike">
              <a:solidFill>
                <a:srgbClr val="000000"/>
              </a:solidFill>
              <a:effectLst/>
              <a:uFillTx/>
              <a:latin typeface="Arial"/>
            </a:endParaRPr>
          </a:p>
        </p:txBody>
      </p:sp>
      <p:sp>
        <p:nvSpPr>
          <p:cNvPr id="146" name="Text 23"/>
          <p:cNvSpPr/>
          <p:nvPr/>
        </p:nvSpPr>
        <p:spPr>
          <a:xfrm>
            <a:off x="7178040" y="2962800"/>
            <a:ext cx="310860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02A43"/>
                </a:solidFill>
                <a:effectLst/>
                <a:uFillTx/>
                <a:latin typeface="Aptos"/>
              </a:rPr>
              <a:t>Process collections</a:t>
            </a:r>
            <a:endParaRPr lang="en-US" sz="1500" b="0" u="none" strike="noStrike">
              <a:solidFill>
                <a:srgbClr val="000000"/>
              </a:solidFill>
              <a:effectLst/>
              <a:uFillTx/>
              <a:latin typeface="Arial"/>
            </a:endParaRPr>
          </a:p>
        </p:txBody>
      </p:sp>
      <p:sp>
        <p:nvSpPr>
          <p:cNvPr id="147" name="Text 24"/>
          <p:cNvSpPr/>
          <p:nvPr/>
        </p:nvSpPr>
        <p:spPr>
          <a:xfrm>
            <a:off x="7178040" y="3264480"/>
            <a:ext cx="388584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40" b="0" u="none" strike="noStrike">
                <a:solidFill>
                  <a:srgbClr val="52616B"/>
                </a:solidFill>
                <a:effectLst/>
                <a:uFillTx/>
                <a:latin typeface="Aptos"/>
              </a:rPr>
              <a:t>Use `for` loops to handle many tickets.</a:t>
            </a:r>
            <a:endParaRPr lang="en-US" sz="1140" b="0" u="none" strike="noStrike">
              <a:solidFill>
                <a:srgbClr val="000000"/>
              </a:solidFill>
              <a:effectLst/>
              <a:uFillTx/>
              <a:latin typeface="Arial"/>
            </a:endParaRPr>
          </a:p>
        </p:txBody>
      </p:sp>
      <p:sp>
        <p:nvSpPr>
          <p:cNvPr id="148" name="Shape 25"/>
          <p:cNvSpPr/>
          <p:nvPr/>
        </p:nvSpPr>
        <p:spPr>
          <a:xfrm>
            <a:off x="777240" y="4069080"/>
            <a:ext cx="5047200" cy="932400"/>
          </a:xfrm>
          <a:prstGeom prst="roundRect">
            <a:avLst>
              <a:gd name="adj" fmla="val 7843"/>
            </a:avLst>
          </a:prstGeom>
          <a:solidFill>
            <a:srgbClr val="FFFFFF"/>
          </a:solidFill>
          <a:ln w="10160">
            <a:solidFill>
              <a:srgbClr val="D7E3E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49" name="Shape 26"/>
          <p:cNvSpPr/>
          <p:nvPr/>
        </p:nvSpPr>
        <p:spPr>
          <a:xfrm>
            <a:off x="978480" y="4288680"/>
            <a:ext cx="438480" cy="438480"/>
          </a:xfrm>
          <a:prstGeom prst="ellipse">
            <a:avLst/>
          </a:prstGeom>
          <a:solidFill>
            <a:srgbClr val="0E8F8F"/>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50" name="Text 27"/>
          <p:cNvSpPr/>
          <p:nvPr/>
        </p:nvSpPr>
        <p:spPr>
          <a:xfrm>
            <a:off x="978480" y="4407480"/>
            <a:ext cx="438480" cy="118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rgbClr val="FFFFFF"/>
                </a:solidFill>
                <a:effectLst/>
                <a:uFillTx/>
                <a:latin typeface="Aptos"/>
              </a:rPr>
              <a:t>5</a:t>
            </a:r>
            <a:endParaRPr lang="en-US" sz="1000" b="0" u="none" strike="noStrike">
              <a:solidFill>
                <a:srgbClr val="000000"/>
              </a:solidFill>
              <a:effectLst/>
              <a:uFillTx/>
              <a:latin typeface="Arial"/>
            </a:endParaRPr>
          </a:p>
        </p:txBody>
      </p:sp>
      <p:sp>
        <p:nvSpPr>
          <p:cNvPr id="151" name="Text 28"/>
          <p:cNvSpPr/>
          <p:nvPr/>
        </p:nvSpPr>
        <p:spPr>
          <a:xfrm>
            <a:off x="1600200" y="4288680"/>
            <a:ext cx="310860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02A43"/>
                </a:solidFill>
                <a:effectLst/>
                <a:uFillTx/>
                <a:latin typeface="Aptos"/>
              </a:rPr>
              <a:t>Write functions</a:t>
            </a:r>
            <a:endParaRPr lang="en-US" sz="1500" b="0" u="none" strike="noStrike">
              <a:solidFill>
                <a:srgbClr val="000000"/>
              </a:solidFill>
              <a:effectLst/>
              <a:uFillTx/>
              <a:latin typeface="Arial"/>
            </a:endParaRPr>
          </a:p>
        </p:txBody>
      </p:sp>
      <p:sp>
        <p:nvSpPr>
          <p:cNvPr id="152" name="Text 29"/>
          <p:cNvSpPr/>
          <p:nvPr/>
        </p:nvSpPr>
        <p:spPr>
          <a:xfrm>
            <a:off x="1600200" y="4590360"/>
            <a:ext cx="388584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40" b="0" u="none" strike="noStrike">
                <a:solidFill>
                  <a:srgbClr val="52616B"/>
                </a:solidFill>
                <a:effectLst/>
                <a:uFillTx/>
                <a:latin typeface="Aptos"/>
              </a:rPr>
              <a:t>Reuse logic in clean, testable blocks.</a:t>
            </a:r>
            <a:endParaRPr lang="en-US" sz="1140" b="0" u="none" strike="noStrike">
              <a:solidFill>
                <a:srgbClr val="000000"/>
              </a:solidFill>
              <a:effectLst/>
              <a:uFillTx/>
              <a:latin typeface="Arial"/>
            </a:endParaRPr>
          </a:p>
        </p:txBody>
      </p:sp>
      <p:sp>
        <p:nvSpPr>
          <p:cNvPr id="153" name="Shape 30"/>
          <p:cNvSpPr/>
          <p:nvPr/>
        </p:nvSpPr>
        <p:spPr>
          <a:xfrm>
            <a:off x="6355080" y="4069080"/>
            <a:ext cx="5047200" cy="932400"/>
          </a:xfrm>
          <a:prstGeom prst="roundRect">
            <a:avLst>
              <a:gd name="adj" fmla="val 7843"/>
            </a:avLst>
          </a:prstGeom>
          <a:solidFill>
            <a:srgbClr val="FFFFFF"/>
          </a:solidFill>
          <a:ln w="10160">
            <a:solidFill>
              <a:srgbClr val="D7E3E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54" name="Shape 31"/>
          <p:cNvSpPr/>
          <p:nvPr/>
        </p:nvSpPr>
        <p:spPr>
          <a:xfrm>
            <a:off x="6556320" y="4288680"/>
            <a:ext cx="438480" cy="438480"/>
          </a:xfrm>
          <a:prstGeom prst="ellipse">
            <a:avLst/>
          </a:prstGeom>
          <a:solidFill>
            <a:srgbClr val="0E8F8F"/>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55" name="Text 32"/>
          <p:cNvSpPr/>
          <p:nvPr/>
        </p:nvSpPr>
        <p:spPr>
          <a:xfrm>
            <a:off x="6556320" y="4407480"/>
            <a:ext cx="438480" cy="118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000" b="1" u="none" strike="noStrike">
                <a:solidFill>
                  <a:srgbClr val="FFFFFF"/>
                </a:solidFill>
                <a:effectLst/>
                <a:uFillTx/>
                <a:latin typeface="Aptos"/>
              </a:rPr>
              <a:t>6</a:t>
            </a:r>
            <a:endParaRPr lang="en-US" sz="1000" b="0" u="none" strike="noStrike">
              <a:solidFill>
                <a:srgbClr val="000000"/>
              </a:solidFill>
              <a:effectLst/>
              <a:uFillTx/>
              <a:latin typeface="Arial"/>
            </a:endParaRPr>
          </a:p>
        </p:txBody>
      </p:sp>
      <p:sp>
        <p:nvSpPr>
          <p:cNvPr id="156" name="Text 33"/>
          <p:cNvSpPr/>
          <p:nvPr/>
        </p:nvSpPr>
        <p:spPr>
          <a:xfrm>
            <a:off x="7178040" y="4288680"/>
            <a:ext cx="310860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02A43"/>
                </a:solidFill>
                <a:effectLst/>
                <a:uFillTx/>
                <a:latin typeface="Aptos"/>
              </a:rPr>
              <a:t>Build a mini project</a:t>
            </a:r>
            <a:endParaRPr lang="en-US" sz="1500" b="0" u="none" strike="noStrike">
              <a:solidFill>
                <a:srgbClr val="000000"/>
              </a:solidFill>
              <a:effectLst/>
              <a:uFillTx/>
              <a:latin typeface="Arial"/>
            </a:endParaRPr>
          </a:p>
        </p:txBody>
      </p:sp>
      <p:sp>
        <p:nvSpPr>
          <p:cNvPr id="157" name="Text 34"/>
          <p:cNvSpPr/>
          <p:nvPr/>
        </p:nvSpPr>
        <p:spPr>
          <a:xfrm>
            <a:off x="7178040" y="4590360"/>
            <a:ext cx="388584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40" b="0" u="none" strike="noStrike">
                <a:solidFill>
                  <a:srgbClr val="52616B"/>
                </a:solidFill>
                <a:effectLst/>
                <a:uFillTx/>
                <a:latin typeface="Aptos"/>
              </a:rPr>
              <a:t>Create a ticket classifier and summary counter.</a:t>
            </a:r>
            <a:endParaRPr lang="en-US" sz="1140" b="0" u="none" strike="noStrike">
              <a:solidFill>
                <a:srgbClr val="000000"/>
              </a:solidFill>
              <a:effectLst/>
              <a:uFillTx/>
              <a:latin typeface="Arial"/>
            </a:endParaRPr>
          </a:p>
        </p:txBody>
      </p:sp>
      <p:sp>
        <p:nvSpPr>
          <p:cNvPr id="158" name="PlaceHolder 1"/>
          <p:cNvSpPr>
            <a:spLocks noGrp="1"/>
          </p:cNvSpPr>
          <p:nvPr>
            <p:ph type="sldNum" idx="8"/>
          </p:nvPr>
        </p:nvSpPr>
        <p:spPr>
          <a:xfrm>
            <a:off x="11292840" y="6546960"/>
            <a:ext cx="799560" cy="299520"/>
          </a:xfrm>
          <a:prstGeom prst="rect">
            <a:avLst/>
          </a:prstGeom>
          <a:noFill/>
          <a:ln w="0">
            <a:noFill/>
          </a:ln>
        </p:spPr>
        <p:txBody>
          <a:bodyPr lIns="90000" tIns="45000" rIns="90000" bIns="45000" anchor="t">
            <a:noAutofit/>
          </a:bodyPr>
          <a:lstStyle>
            <a:lvl1pPr indent="0" algn="l" defTabSz="914400">
              <a:lnSpc>
                <a:spcPct val="100000"/>
              </a:lnSpc>
              <a:buNone/>
              <a:defRPr lang="en-US" sz="900" b="0" u="none" strike="noStrike">
                <a:solidFill>
                  <a:srgbClr val="78909C"/>
                </a:solidFill>
                <a:effectLst/>
                <a:uFillTx/>
                <a:latin typeface="Aptos"/>
                <a:ea typeface="Aptos"/>
              </a:defRPr>
            </a:lvl1pPr>
          </a:lstStyle>
          <a:p>
            <a:pPr indent="0" algn="l" defTabSz="914400">
              <a:lnSpc>
                <a:spcPct val="100000"/>
              </a:lnSpc>
              <a:buNone/>
            </a:pPr>
            <a:fld id="{66F80338-3582-4205-BB35-511989BB3BE8}" type="slidenum">
              <a:rPr lang="en-US" sz="900" b="0" u="none" strike="noStrike">
                <a:solidFill>
                  <a:srgbClr val="78909C"/>
                </a:solidFill>
                <a:effectLst/>
                <a:uFillTx/>
                <a:latin typeface="Aptos"/>
                <a:ea typeface="Aptos"/>
              </a:rPr>
              <a:t>3</a:t>
            </a:fld>
            <a:endParaRPr lang="en-US" sz="9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AFC"/>
        </a:solidFill>
      </p:bgPr>
    </p:bg>
    <p:spTree>
      <p:nvGrpSpPr>
        <p:cNvPr id="1" name=""/>
        <p:cNvGrpSpPr/>
        <p:nvPr/>
      </p:nvGrpSpPr>
      <p:grpSpPr>
        <a:xfrm>
          <a:off x="0" y="0"/>
          <a:ext cx="0" cy="0"/>
          <a:chOff x="0" y="0"/>
          <a:chExt cx="0" cy="0"/>
        </a:xfrm>
      </p:grpSpPr>
      <p:sp>
        <p:nvSpPr>
          <p:cNvPr id="159" name="Shape 0"/>
          <p:cNvSpPr/>
          <p:nvPr/>
        </p:nvSpPr>
        <p:spPr>
          <a:xfrm>
            <a:off x="-624600" y="457560"/>
            <a:ext cx="12191400" cy="6857640"/>
          </a:xfrm>
          <a:prstGeom prst="rect">
            <a:avLst/>
          </a:prstGeom>
          <a:solidFill>
            <a:srgbClr val="F7FAFC"/>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60" name="Shape 1"/>
          <p:cNvSpPr/>
          <p:nvPr/>
        </p:nvSpPr>
        <p:spPr>
          <a:xfrm>
            <a:off x="0" y="0"/>
            <a:ext cx="164160" cy="6857640"/>
          </a:xfrm>
          <a:prstGeom prst="rect">
            <a:avLst/>
          </a:prstGeom>
          <a:solidFill>
            <a:srgbClr val="153B52"/>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61" name="Text 2"/>
          <p:cNvSpPr/>
          <p:nvPr/>
        </p:nvSpPr>
        <p:spPr>
          <a:xfrm>
            <a:off x="521280" y="109800"/>
            <a:ext cx="420588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1" u="none" strike="noStrike">
                <a:solidFill>
                  <a:srgbClr val="0E8F8F"/>
                </a:solidFill>
                <a:effectLst/>
                <a:uFillTx/>
                <a:latin typeface="Aptos"/>
              </a:rPr>
              <a:t>MOTIVATION</a:t>
            </a:r>
            <a:endParaRPr lang="en-US" sz="850" b="0" u="none" strike="noStrike">
              <a:solidFill>
                <a:srgbClr val="000000"/>
              </a:solidFill>
              <a:effectLst/>
              <a:uFillTx/>
              <a:latin typeface="Arial"/>
            </a:endParaRPr>
          </a:p>
        </p:txBody>
      </p:sp>
      <p:sp>
        <p:nvSpPr>
          <p:cNvPr id="162" name="Text 3"/>
          <p:cNvSpPr/>
          <p:nvPr/>
        </p:nvSpPr>
        <p:spPr>
          <a:xfrm>
            <a:off x="502920" y="320040"/>
            <a:ext cx="1106388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153B52"/>
                </a:solidFill>
                <a:effectLst/>
                <a:uFillTx/>
                <a:latin typeface="Aptos Display"/>
                <a:ea typeface="Aptos Display"/>
              </a:rPr>
              <a:t>Why Python for AI Agents?</a:t>
            </a:r>
            <a:endParaRPr lang="en-US" sz="2600" b="0" u="none" strike="noStrike">
              <a:solidFill>
                <a:srgbClr val="000000"/>
              </a:solidFill>
              <a:effectLst/>
              <a:uFillTx/>
              <a:latin typeface="Arial"/>
            </a:endParaRPr>
          </a:p>
        </p:txBody>
      </p:sp>
      <p:sp>
        <p:nvSpPr>
          <p:cNvPr id="163" name="Text 4"/>
          <p:cNvSpPr/>
          <p:nvPr/>
        </p:nvSpPr>
        <p:spPr>
          <a:xfrm>
            <a:off x="511920" y="786240"/>
            <a:ext cx="1078956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52616B"/>
                </a:solidFill>
                <a:effectLst/>
                <a:uFillTx/>
                <a:latin typeface="Aptos"/>
              </a:rPr>
              <a:t>Because agents are not magic prompts; they are software systems.</a:t>
            </a:r>
            <a:endParaRPr lang="en-US" sz="1250" b="0" u="none" strike="noStrike">
              <a:solidFill>
                <a:srgbClr val="000000"/>
              </a:solidFill>
              <a:effectLst/>
              <a:uFillTx/>
              <a:latin typeface="Arial"/>
            </a:endParaRPr>
          </a:p>
        </p:txBody>
      </p:sp>
      <p:sp>
        <p:nvSpPr>
          <p:cNvPr id="164" name="Shape 5"/>
          <p:cNvSpPr/>
          <p:nvPr/>
        </p:nvSpPr>
        <p:spPr>
          <a:xfrm>
            <a:off x="822960" y="1325880"/>
            <a:ext cx="4892040" cy="3017520"/>
          </a:xfrm>
          <a:prstGeom prst="roundRect">
            <a:avLst>
              <a:gd name="adj" fmla="val 1758"/>
            </a:avLst>
          </a:prstGeom>
          <a:solidFill>
            <a:srgbClr val="EAF4FF"/>
          </a:solidFill>
          <a:ln w="10160">
            <a:solidFill>
              <a:srgbClr val="BCD7F0"/>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65" name="Text 6"/>
          <p:cNvSpPr/>
          <p:nvPr/>
        </p:nvSpPr>
        <p:spPr>
          <a:xfrm>
            <a:off x="1143000" y="1645920"/>
            <a:ext cx="41144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100" b="1" u="none" strike="noStrike">
                <a:solidFill>
                  <a:srgbClr val="153B52"/>
                </a:solidFill>
                <a:effectLst/>
                <a:uFillTx/>
                <a:latin typeface="Aptos"/>
              </a:rPr>
              <a:t>An agent needs code to…</a:t>
            </a:r>
            <a:endParaRPr lang="en-US" sz="2100" b="0" u="none" strike="noStrike">
              <a:solidFill>
                <a:srgbClr val="000000"/>
              </a:solidFill>
              <a:effectLst/>
              <a:uFillTx/>
              <a:latin typeface="Arial"/>
            </a:endParaRPr>
          </a:p>
        </p:txBody>
      </p:sp>
      <p:sp>
        <p:nvSpPr>
          <p:cNvPr id="166" name="Text 7"/>
          <p:cNvSpPr/>
          <p:nvPr/>
        </p:nvSpPr>
        <p:spPr>
          <a:xfrm>
            <a:off x="1234440" y="2148840"/>
            <a:ext cx="4114440" cy="2148480"/>
          </a:xfrm>
          <a:prstGeom prst="rect">
            <a:avLst/>
          </a:prstGeom>
          <a:noFill/>
          <a:ln w="0">
            <a:noFill/>
          </a:ln>
        </p:spPr>
        <p:style>
          <a:lnRef idx="0"/>
          <a:fillRef idx="0"/>
          <a:effectRef idx="0"/>
          <a:fontRef idx="minor"/>
        </p:style>
        <p:txBody>
          <a:bodyPr lIns="720" tIns="720" rIns="720" bIns="720" anchor="t">
            <a:normAutofit/>
          </a:bodyPr>
          <a:p>
            <a:r>
              <a:rPr lang="en-US" sz="1420" b="0" u="none" strike="noStrike">
                <a:solidFill>
                  <a:srgbClr val="102A43"/>
                </a:solidFill>
                <a:effectLst/>
                <a:uFillTx/>
                <a:latin typeface="Aptos"/>
              </a:rPr>
              <a:t>Receive user input and operational data</a:t>
            </a:r>
            <a:endParaRPr lang="en-US" sz="1420" b="0" u="none" strike="noStrike">
              <a:solidFill>
                <a:srgbClr val="000000"/>
              </a:solidFill>
              <a:effectLst/>
              <a:uFillTx/>
              <a:latin typeface="Arial"/>
            </a:endParaRPr>
          </a:p>
          <a:p>
            <a:pPr defTabSz="914400">
              <a:lnSpc>
                <a:spcPct val="100000"/>
              </a:lnSpc>
              <a:tabLst>
                <a:tab pos="0" algn="l"/>
              </a:tabLst>
            </a:pPr>
            <a:endParaRPr lang="en-US" sz="1420" b="0" u="none" strike="noStrike">
              <a:solidFill>
                <a:srgbClr val="000000"/>
              </a:solidFill>
              <a:effectLst/>
              <a:uFillTx/>
              <a:latin typeface="Arial"/>
            </a:endParaRPr>
          </a:p>
          <a:p>
            <a:pPr defTabSz="914400">
              <a:lnSpc>
                <a:spcPct val="100000"/>
              </a:lnSpc>
              <a:tabLst>
                <a:tab pos="0" algn="l"/>
              </a:tabLst>
            </a:pPr>
            <a:r>
              <a:rPr lang="en-US" sz="1420" b="0" u="none" strike="noStrike">
                <a:solidFill>
                  <a:srgbClr val="102A43"/>
                </a:solidFill>
                <a:effectLst/>
                <a:uFillTx/>
                <a:latin typeface="Aptos"/>
              </a:rPr>
              <a:t>Call tools such as APIs, databases, and functions</a:t>
            </a:r>
            <a:endParaRPr lang="en-US" sz="1420" b="0" u="none" strike="noStrike">
              <a:solidFill>
                <a:srgbClr val="000000"/>
              </a:solidFill>
              <a:effectLst/>
              <a:uFillTx/>
              <a:latin typeface="Arial"/>
            </a:endParaRPr>
          </a:p>
          <a:p>
            <a:pPr defTabSz="914400">
              <a:lnSpc>
                <a:spcPct val="100000"/>
              </a:lnSpc>
              <a:tabLst>
                <a:tab pos="0" algn="l"/>
              </a:tabLst>
            </a:pPr>
            <a:endParaRPr lang="en-US" sz="1420" b="0" u="none" strike="noStrike">
              <a:solidFill>
                <a:srgbClr val="000000"/>
              </a:solidFill>
              <a:effectLst/>
              <a:uFillTx/>
              <a:latin typeface="Arial"/>
            </a:endParaRPr>
          </a:p>
          <a:p>
            <a:pPr defTabSz="914400">
              <a:lnSpc>
                <a:spcPct val="100000"/>
              </a:lnSpc>
              <a:tabLst>
                <a:tab pos="0" algn="l"/>
              </a:tabLst>
            </a:pPr>
            <a:r>
              <a:rPr lang="en-US" sz="1420" b="0" u="none" strike="noStrike">
                <a:solidFill>
                  <a:srgbClr val="102A43"/>
                </a:solidFill>
                <a:effectLst/>
                <a:uFillTx/>
                <a:latin typeface="Aptos"/>
              </a:rPr>
              <a:t>Store intermediate state and results</a:t>
            </a:r>
            <a:endParaRPr lang="en-US" sz="1420" b="0" u="none" strike="noStrike">
              <a:solidFill>
                <a:srgbClr val="000000"/>
              </a:solidFill>
              <a:effectLst/>
              <a:uFillTx/>
              <a:latin typeface="Arial"/>
            </a:endParaRPr>
          </a:p>
          <a:p>
            <a:pPr defTabSz="914400">
              <a:lnSpc>
                <a:spcPct val="100000"/>
              </a:lnSpc>
              <a:tabLst>
                <a:tab pos="0" algn="l"/>
              </a:tabLst>
            </a:pPr>
            <a:endParaRPr lang="en-US" sz="1420" b="0" u="none" strike="noStrike">
              <a:solidFill>
                <a:srgbClr val="000000"/>
              </a:solidFill>
              <a:effectLst/>
              <a:uFillTx/>
              <a:latin typeface="Arial"/>
            </a:endParaRPr>
          </a:p>
          <a:p>
            <a:pPr defTabSz="914400">
              <a:lnSpc>
                <a:spcPct val="100000"/>
              </a:lnSpc>
              <a:tabLst>
                <a:tab pos="0" algn="l"/>
              </a:tabLst>
            </a:pPr>
            <a:r>
              <a:rPr lang="en-US" sz="1420" b="0" u="none" strike="noStrike">
                <a:solidFill>
                  <a:srgbClr val="102A43"/>
                </a:solidFill>
                <a:effectLst/>
                <a:uFillTx/>
                <a:latin typeface="Aptos"/>
              </a:rPr>
              <a:t>Check conditions and decide when to stop</a:t>
            </a:r>
            <a:endParaRPr lang="en-US" sz="1420" b="0" u="none" strike="noStrike">
              <a:solidFill>
                <a:srgbClr val="000000"/>
              </a:solidFill>
              <a:effectLst/>
              <a:uFillTx/>
              <a:latin typeface="Arial"/>
            </a:endParaRPr>
          </a:p>
          <a:p>
            <a:pPr defTabSz="914400">
              <a:lnSpc>
                <a:spcPct val="100000"/>
              </a:lnSpc>
              <a:tabLst>
                <a:tab pos="0" algn="l"/>
              </a:tabLst>
            </a:pPr>
            <a:endParaRPr lang="en-US" sz="1420" b="0" u="none" strike="noStrike">
              <a:solidFill>
                <a:srgbClr val="000000"/>
              </a:solidFill>
              <a:effectLst/>
              <a:uFillTx/>
              <a:latin typeface="Arial"/>
            </a:endParaRPr>
          </a:p>
          <a:p>
            <a:pPr defTabSz="914400">
              <a:lnSpc>
                <a:spcPct val="100000"/>
              </a:lnSpc>
              <a:tabLst>
                <a:tab pos="0" algn="l"/>
              </a:tabLst>
            </a:pPr>
            <a:r>
              <a:rPr lang="en-US" sz="1420" b="0" u="none" strike="noStrike">
                <a:solidFill>
                  <a:srgbClr val="102A43"/>
                </a:solidFill>
                <a:effectLst/>
                <a:uFillTx/>
                <a:latin typeface="Aptos"/>
              </a:rPr>
              <a:t>Log, debug, evaluate, and handle errors</a:t>
            </a:r>
            <a:endParaRPr lang="en-US" sz="1420" b="0" u="none" strike="noStrike">
              <a:solidFill>
                <a:srgbClr val="000000"/>
              </a:solidFill>
              <a:effectLst/>
              <a:uFillTx/>
              <a:latin typeface="Arial"/>
            </a:endParaRPr>
          </a:p>
        </p:txBody>
      </p:sp>
      <p:sp>
        <p:nvSpPr>
          <p:cNvPr id="167" name="Shape 8"/>
          <p:cNvSpPr/>
          <p:nvPr/>
        </p:nvSpPr>
        <p:spPr>
          <a:xfrm>
            <a:off x="5943600" y="1096920"/>
            <a:ext cx="5943600" cy="4846680"/>
          </a:xfrm>
          <a:prstGeom prst="roundRect">
            <a:avLst>
              <a:gd name="adj" fmla="val 3478"/>
            </a:avLst>
          </a:prstGeom>
          <a:solidFill>
            <a:srgbClr val="0B1720"/>
          </a:solidFill>
          <a:ln w="10160">
            <a:solidFill>
              <a:srgbClr val="122334"/>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68" name="Shape 9"/>
          <p:cNvSpPr/>
          <p:nvPr/>
        </p:nvSpPr>
        <p:spPr>
          <a:xfrm>
            <a:off x="6556320" y="1527120"/>
            <a:ext cx="1462680" cy="310680"/>
          </a:xfrm>
          <a:prstGeom prst="roundRect">
            <a:avLst>
              <a:gd name="adj" fmla="val 17647"/>
            </a:avLst>
          </a:prstGeom>
          <a:solidFill>
            <a:srgbClr val="0E8F8F"/>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69" name="Text 10"/>
          <p:cNvSpPr/>
          <p:nvPr/>
        </p:nvSpPr>
        <p:spPr>
          <a:xfrm>
            <a:off x="6629400" y="1595520"/>
            <a:ext cx="131652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FFFFFF"/>
                </a:solidFill>
                <a:effectLst/>
                <a:uFillTx/>
                <a:latin typeface="Aptos"/>
              </a:rPr>
              <a:t>FUTURE TOOL</a:t>
            </a:r>
            <a:endParaRPr lang="en-US" sz="900" b="0" u="none" strike="noStrike">
              <a:solidFill>
                <a:srgbClr val="000000"/>
              </a:solidFill>
              <a:effectLst/>
              <a:uFillTx/>
              <a:latin typeface="Arial"/>
            </a:endParaRPr>
          </a:p>
        </p:txBody>
      </p:sp>
      <p:sp>
        <p:nvSpPr>
          <p:cNvPr id="170" name="Text 11"/>
          <p:cNvSpPr/>
          <p:nvPr/>
        </p:nvSpPr>
        <p:spPr>
          <a:xfrm>
            <a:off x="6172200" y="1947600"/>
            <a:ext cx="4032000" cy="1425960"/>
          </a:xfrm>
          <a:prstGeom prst="rect">
            <a:avLst/>
          </a:prstGeom>
          <a:noFill/>
          <a:ln w="0">
            <a:noFill/>
          </a:ln>
        </p:spPr>
        <p:style>
          <a:lnRef idx="0"/>
          <a:fillRef idx="0"/>
          <a:effectRef idx="0"/>
          <a:fontRef idx="minor"/>
        </p:style>
        <p:txBody>
          <a:bodyPr wrap="none" lIns="101520" tIns="228600" rIns="76320" bIns="101520" anchor="t">
            <a:noAutofit/>
          </a:bodyPr>
          <a:p>
            <a:pPr defTabSz="914400">
              <a:lnSpc>
                <a:spcPct val="85000"/>
              </a:lnSpc>
            </a:pPr>
            <a:r>
              <a:rPr lang="en-US" sz="1400" b="0" u="none" strike="noStrike">
                <a:solidFill>
                  <a:srgbClr val="FFFFFF"/>
                </a:solidFill>
                <a:effectLst/>
                <a:uFillTx/>
                <a:latin typeface="Consolas"/>
              </a:rPr>
              <a:t>def get_order(order_id: str) -&gt; dict:</a:t>
            </a:r>
            <a:endParaRPr lang="en-US" sz="1400" b="0" u="none" strike="noStrike">
              <a:solidFill>
                <a:srgbClr val="000000"/>
              </a:solidFill>
              <a:effectLst/>
              <a:uFillTx/>
              <a:latin typeface="Arial"/>
            </a:endParaRPr>
          </a:p>
          <a:p>
            <a:pPr defTabSz="914400">
              <a:lnSpc>
                <a:spcPct val="85000"/>
              </a:lnSpc>
            </a:pPr>
            <a:r>
              <a:rPr lang="en-US" sz="1400" b="0" u="none" strike="noStrike">
                <a:solidFill>
                  <a:srgbClr val="FFFFFF"/>
                </a:solidFill>
                <a:effectLst/>
                <a:uFillTx/>
                <a:latin typeface="Consolas"/>
              </a:rPr>
              <a:t>    """Return order data for a given order id.</a:t>
            </a:r>
            <a:endParaRPr lang="en-US" sz="1400" b="0" u="none" strike="noStrike">
              <a:solidFill>
                <a:srgbClr val="000000"/>
              </a:solidFill>
              <a:effectLst/>
              <a:uFillTx/>
              <a:latin typeface="Arial"/>
            </a:endParaRPr>
          </a:p>
          <a:p>
            <a:pPr defTabSz="914400">
              <a:lnSpc>
                <a:spcPct val="85000"/>
              </a:lnSpc>
            </a:pPr>
            <a:endParaRPr lang="en-US" sz="1800" b="0" u="none" strike="noStrike">
              <a:solidFill>
                <a:srgbClr val="000000"/>
              </a:solidFill>
              <a:effectLst/>
              <a:uFillTx/>
              <a:latin typeface="Arial"/>
            </a:endParaRPr>
          </a:p>
          <a:p>
            <a:pPr defTabSz="914400">
              <a:lnSpc>
                <a:spcPct val="85000"/>
              </a:lnSpc>
            </a:pPr>
            <a:r>
              <a:rPr lang="en-US" sz="1400" b="0" u="none" strike="noStrike">
                <a:solidFill>
                  <a:srgbClr val="FFFFFF"/>
                </a:solidFill>
                <a:effectLst/>
                <a:uFillTx/>
                <a:latin typeface="Consolas"/>
              </a:rPr>
              <a:t>    Later, this may call an ERP API.</a:t>
            </a:r>
            <a:endParaRPr lang="en-US" sz="1400" b="0" u="none" strike="noStrike">
              <a:solidFill>
                <a:srgbClr val="000000"/>
              </a:solidFill>
              <a:effectLst/>
              <a:uFillTx/>
              <a:latin typeface="Arial"/>
            </a:endParaRPr>
          </a:p>
          <a:p>
            <a:pPr defTabSz="914400">
              <a:lnSpc>
                <a:spcPct val="85000"/>
              </a:lnSpc>
            </a:pPr>
            <a:r>
              <a:rPr lang="en-US" sz="1400" b="0" u="none" strike="noStrike">
                <a:solidFill>
                  <a:srgbClr val="FFFFFF"/>
                </a:solidFill>
                <a:effectLst/>
                <a:uFillTx/>
                <a:latin typeface="Consolas"/>
              </a:rPr>
              <a:t>    """</a:t>
            </a:r>
            <a:endParaRPr lang="en-US" sz="1400" b="0" u="none" strike="noStrike">
              <a:solidFill>
                <a:srgbClr val="000000"/>
              </a:solidFill>
              <a:effectLst/>
              <a:uFillTx/>
              <a:latin typeface="Arial"/>
            </a:endParaRPr>
          </a:p>
          <a:p>
            <a:pPr defTabSz="914400">
              <a:lnSpc>
                <a:spcPct val="85000"/>
              </a:lnSpc>
            </a:pPr>
            <a:r>
              <a:rPr lang="en-US" sz="1400" b="0" u="none" strike="noStrike">
                <a:solidFill>
                  <a:srgbClr val="FFFFFF"/>
                </a:solidFill>
                <a:effectLst/>
                <a:uFillTx/>
                <a:latin typeface="Consolas"/>
              </a:rPr>
              <a:t>    return {</a:t>
            </a:r>
            <a:endParaRPr lang="en-US" sz="1400" b="0" u="none" strike="noStrike">
              <a:solidFill>
                <a:srgbClr val="000000"/>
              </a:solidFill>
              <a:effectLst/>
              <a:uFillTx/>
              <a:latin typeface="Arial"/>
            </a:endParaRPr>
          </a:p>
          <a:p>
            <a:pPr defTabSz="914400">
              <a:lnSpc>
                <a:spcPct val="85000"/>
              </a:lnSpc>
            </a:pPr>
            <a:r>
              <a:rPr lang="en-US" sz="1400" b="0" u="none" strike="noStrike">
                <a:solidFill>
                  <a:srgbClr val="FFFFFF"/>
                </a:solidFill>
                <a:effectLst/>
                <a:uFillTx/>
                <a:latin typeface="Consolas"/>
              </a:rPr>
              <a:t>        "status": "shipped",</a:t>
            </a:r>
            <a:endParaRPr lang="en-US" sz="1400" b="0" u="none" strike="noStrike">
              <a:solidFill>
                <a:srgbClr val="000000"/>
              </a:solidFill>
              <a:effectLst/>
              <a:uFillTx/>
              <a:latin typeface="Arial"/>
            </a:endParaRPr>
          </a:p>
          <a:p>
            <a:pPr defTabSz="914400">
              <a:lnSpc>
                <a:spcPct val="85000"/>
              </a:lnSpc>
            </a:pPr>
            <a:r>
              <a:rPr lang="en-US" sz="1400" b="0" u="none" strike="noStrike">
                <a:solidFill>
                  <a:srgbClr val="FFFFFF"/>
                </a:solidFill>
                <a:effectLst/>
                <a:uFillTx/>
                <a:latin typeface="Consolas"/>
              </a:rPr>
              <a:t>        "value": 340</a:t>
            </a:r>
            <a:endParaRPr lang="en-US" sz="1400" b="0" u="none" strike="noStrike">
              <a:solidFill>
                <a:srgbClr val="000000"/>
              </a:solidFill>
              <a:effectLst/>
              <a:uFillTx/>
              <a:latin typeface="Arial"/>
            </a:endParaRPr>
          </a:p>
          <a:p>
            <a:pPr defTabSz="914400">
              <a:lnSpc>
                <a:spcPct val="85000"/>
              </a:lnSpc>
            </a:pPr>
            <a:r>
              <a:rPr lang="en-US" sz="1400" b="0" u="none" strike="noStrike">
                <a:solidFill>
                  <a:srgbClr val="FFFFFF"/>
                </a:solidFill>
                <a:effectLst/>
                <a:uFillTx/>
                <a:latin typeface="Consolas"/>
              </a:rPr>
              <a:t>    }</a:t>
            </a:r>
            <a:endParaRPr lang="en-US" sz="1400" b="0" u="none" strike="noStrike">
              <a:solidFill>
                <a:srgbClr val="000000"/>
              </a:solidFill>
              <a:effectLst/>
              <a:uFillTx/>
              <a:latin typeface="Arial"/>
            </a:endParaRPr>
          </a:p>
        </p:txBody>
      </p:sp>
      <p:sp>
        <p:nvSpPr>
          <p:cNvPr id="171" name="Shape 12"/>
          <p:cNvSpPr/>
          <p:nvPr/>
        </p:nvSpPr>
        <p:spPr>
          <a:xfrm>
            <a:off x="685800" y="4453560"/>
            <a:ext cx="4434480" cy="1261440"/>
          </a:xfrm>
          <a:prstGeom prst="roundRect">
            <a:avLst>
              <a:gd name="adj" fmla="val 5797"/>
            </a:avLst>
          </a:prstGeom>
          <a:solidFill>
            <a:srgbClr val="F7FFFE"/>
          </a:solidFill>
          <a:ln w="10160">
            <a:solidFill>
              <a:srgbClr val="BFECE9"/>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72" name="Text 13"/>
          <p:cNvSpPr/>
          <p:nvPr/>
        </p:nvSpPr>
        <p:spPr>
          <a:xfrm>
            <a:off x="914400" y="4572000"/>
            <a:ext cx="210276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0E8F8F"/>
                </a:solidFill>
                <a:effectLst/>
                <a:uFillTx/>
                <a:latin typeface="Aptos"/>
              </a:rPr>
              <a:t>Week 1 principle</a:t>
            </a:r>
            <a:endParaRPr lang="en-US" sz="1400" b="0" u="none" strike="noStrike">
              <a:solidFill>
                <a:srgbClr val="000000"/>
              </a:solidFill>
              <a:effectLst/>
              <a:uFillTx/>
              <a:latin typeface="Arial"/>
            </a:endParaRPr>
          </a:p>
        </p:txBody>
      </p:sp>
      <p:sp>
        <p:nvSpPr>
          <p:cNvPr id="173" name="Text 14"/>
          <p:cNvSpPr/>
          <p:nvPr/>
        </p:nvSpPr>
        <p:spPr>
          <a:xfrm>
            <a:off x="914400" y="4910760"/>
            <a:ext cx="3886200" cy="5756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300" b="0" u="none" strike="noStrike">
                <a:solidFill>
                  <a:srgbClr val="102A43"/>
                </a:solidFill>
                <a:effectLst/>
                <a:uFillTx/>
                <a:latin typeface="Aptos"/>
              </a:rPr>
              <a:t>Before we connect an LLM, we must be able to represent data and write reliable logic.</a:t>
            </a:r>
            <a:endParaRPr lang="en-US" sz="1300" b="0" u="none" strike="noStrike">
              <a:solidFill>
                <a:srgbClr val="000000"/>
              </a:solidFill>
              <a:effectLst/>
              <a:uFillTx/>
              <a:latin typeface="Arial"/>
            </a:endParaRPr>
          </a:p>
        </p:txBody>
      </p:sp>
      <p:sp>
        <p:nvSpPr>
          <p:cNvPr id="174" name="PlaceHolder 1"/>
          <p:cNvSpPr>
            <a:spLocks noGrp="1"/>
          </p:cNvSpPr>
          <p:nvPr>
            <p:ph type="sldNum" idx="9"/>
          </p:nvPr>
        </p:nvSpPr>
        <p:spPr>
          <a:xfrm>
            <a:off x="11292840" y="6546960"/>
            <a:ext cx="799560" cy="299520"/>
          </a:xfrm>
          <a:prstGeom prst="rect">
            <a:avLst/>
          </a:prstGeom>
          <a:noFill/>
          <a:ln w="0">
            <a:noFill/>
          </a:ln>
        </p:spPr>
        <p:txBody>
          <a:bodyPr lIns="90000" tIns="45000" rIns="90000" bIns="45000" anchor="t">
            <a:noAutofit/>
          </a:bodyPr>
          <a:lstStyle>
            <a:lvl1pPr indent="0" algn="l" defTabSz="914400">
              <a:lnSpc>
                <a:spcPct val="100000"/>
              </a:lnSpc>
              <a:buNone/>
              <a:defRPr lang="en-US" sz="900" b="0" u="none" strike="noStrike">
                <a:solidFill>
                  <a:srgbClr val="78909C"/>
                </a:solidFill>
                <a:effectLst/>
                <a:uFillTx/>
                <a:latin typeface="Aptos"/>
                <a:ea typeface="Aptos"/>
              </a:defRPr>
            </a:lvl1pPr>
          </a:lstStyle>
          <a:p>
            <a:pPr indent="0" algn="l" defTabSz="914400">
              <a:lnSpc>
                <a:spcPct val="100000"/>
              </a:lnSpc>
              <a:buNone/>
            </a:pPr>
            <a:fld id="{196B6576-6D2F-4D07-B420-7EA4FD659260}" type="slidenum">
              <a:rPr lang="en-US" sz="900" b="0" u="none" strike="noStrike">
                <a:solidFill>
                  <a:srgbClr val="78909C"/>
                </a:solidFill>
                <a:effectLst/>
                <a:uFillTx/>
                <a:latin typeface="Aptos"/>
                <a:ea typeface="Aptos"/>
              </a:rPr>
              <a:t>5</a:t>
            </a:fld>
            <a:endParaRPr lang="en-US" sz="9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AFC"/>
        </a:solidFill>
      </p:bgPr>
    </p:bg>
    <p:spTree>
      <p:nvGrpSpPr>
        <p:cNvPr id="1" name=""/>
        <p:cNvGrpSpPr/>
        <p:nvPr/>
      </p:nvGrpSpPr>
      <p:grpSpPr>
        <a:xfrm>
          <a:off x="0" y="0"/>
          <a:ext cx="0" cy="0"/>
          <a:chOff x="0" y="0"/>
          <a:chExt cx="0" cy="0"/>
        </a:xfrm>
      </p:grpSpPr>
      <p:sp>
        <p:nvSpPr>
          <p:cNvPr id="175" name="Shape 0"/>
          <p:cNvSpPr/>
          <p:nvPr/>
        </p:nvSpPr>
        <p:spPr>
          <a:xfrm>
            <a:off x="0" y="0"/>
            <a:ext cx="12191400" cy="6857640"/>
          </a:xfrm>
          <a:prstGeom prst="rect">
            <a:avLst/>
          </a:prstGeom>
          <a:solidFill>
            <a:srgbClr val="F7FAFC"/>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76" name="Shape 1"/>
          <p:cNvSpPr/>
          <p:nvPr/>
        </p:nvSpPr>
        <p:spPr>
          <a:xfrm>
            <a:off x="0" y="0"/>
            <a:ext cx="164160" cy="6857640"/>
          </a:xfrm>
          <a:prstGeom prst="rect">
            <a:avLst/>
          </a:prstGeom>
          <a:solidFill>
            <a:srgbClr val="153B52"/>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77" name="Text 2"/>
          <p:cNvSpPr/>
          <p:nvPr/>
        </p:nvSpPr>
        <p:spPr>
          <a:xfrm>
            <a:off x="521280" y="109800"/>
            <a:ext cx="420588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1" u="none" strike="noStrike">
                <a:solidFill>
                  <a:srgbClr val="0E8F8F"/>
                </a:solidFill>
                <a:effectLst/>
                <a:uFillTx/>
                <a:latin typeface="Aptos"/>
              </a:rPr>
              <a:t>SETUP</a:t>
            </a:r>
            <a:endParaRPr lang="en-US" sz="850" b="0" u="none" strike="noStrike">
              <a:solidFill>
                <a:srgbClr val="000000"/>
              </a:solidFill>
              <a:effectLst/>
              <a:uFillTx/>
              <a:latin typeface="Arial"/>
            </a:endParaRPr>
          </a:p>
        </p:txBody>
      </p:sp>
      <p:sp>
        <p:nvSpPr>
          <p:cNvPr id="178" name="Text 3"/>
          <p:cNvSpPr/>
          <p:nvPr/>
        </p:nvSpPr>
        <p:spPr>
          <a:xfrm>
            <a:off x="502920" y="320040"/>
            <a:ext cx="1106388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153B52"/>
                </a:solidFill>
                <a:effectLst/>
                <a:uFillTx/>
                <a:latin typeface="Aptos Display"/>
                <a:ea typeface="Aptos Display"/>
              </a:rPr>
              <a:t>Development Setup</a:t>
            </a:r>
            <a:endParaRPr lang="en-US" sz="2600" b="0" u="none" strike="noStrike">
              <a:solidFill>
                <a:srgbClr val="000000"/>
              </a:solidFill>
              <a:effectLst/>
              <a:uFillTx/>
              <a:latin typeface="Arial"/>
            </a:endParaRPr>
          </a:p>
        </p:txBody>
      </p:sp>
      <p:sp>
        <p:nvSpPr>
          <p:cNvPr id="179" name="Text 4"/>
          <p:cNvSpPr/>
          <p:nvPr/>
        </p:nvSpPr>
        <p:spPr>
          <a:xfrm>
            <a:off x="511920" y="786240"/>
            <a:ext cx="1078956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52616B"/>
                </a:solidFill>
                <a:effectLst/>
                <a:uFillTx/>
                <a:latin typeface="Aptos"/>
              </a:rPr>
              <a:t>Keep setup simple so students spend time coding.</a:t>
            </a:r>
            <a:endParaRPr lang="en-US" sz="1250" b="0" u="none" strike="noStrike">
              <a:solidFill>
                <a:srgbClr val="000000"/>
              </a:solidFill>
              <a:effectLst/>
              <a:uFillTx/>
              <a:latin typeface="Arial"/>
            </a:endParaRPr>
          </a:p>
        </p:txBody>
      </p:sp>
      <p:sp>
        <p:nvSpPr>
          <p:cNvPr id="180" name="Shape 5"/>
          <p:cNvSpPr/>
          <p:nvPr/>
        </p:nvSpPr>
        <p:spPr>
          <a:xfrm>
            <a:off x="868680" y="1234440"/>
            <a:ext cx="4891680" cy="776880"/>
          </a:xfrm>
          <a:prstGeom prst="roundRect">
            <a:avLst>
              <a:gd name="adj" fmla="val 9412"/>
            </a:avLst>
          </a:prstGeom>
          <a:solidFill>
            <a:srgbClr val="FFFFFF"/>
          </a:solidFill>
          <a:ln w="10160">
            <a:solidFill>
              <a:srgbClr val="D7E3E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81" name="Text 6"/>
          <p:cNvSpPr/>
          <p:nvPr/>
        </p:nvSpPr>
        <p:spPr>
          <a:xfrm>
            <a:off x="1097280" y="1463040"/>
            <a:ext cx="319680" cy="155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0E8F8F"/>
                </a:solidFill>
                <a:effectLst/>
                <a:uFillTx/>
                <a:latin typeface="Aptos"/>
              </a:rPr>
              <a:t>1</a:t>
            </a:r>
            <a:endParaRPr lang="en-US" sz="1200" b="0" u="none" strike="noStrike">
              <a:solidFill>
                <a:srgbClr val="000000"/>
              </a:solidFill>
              <a:effectLst/>
              <a:uFillTx/>
              <a:latin typeface="Arial"/>
            </a:endParaRPr>
          </a:p>
        </p:txBody>
      </p:sp>
      <p:sp>
        <p:nvSpPr>
          <p:cNvPr id="182" name="Text 7"/>
          <p:cNvSpPr/>
          <p:nvPr/>
        </p:nvSpPr>
        <p:spPr>
          <a:xfrm>
            <a:off x="1536120" y="1398960"/>
            <a:ext cx="292572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02A43"/>
                </a:solidFill>
                <a:effectLst/>
                <a:uFillTx/>
                <a:latin typeface="Aptos"/>
              </a:rPr>
              <a:t>Install / verify Python 3.10+</a:t>
            </a:r>
            <a:endParaRPr lang="en-US" sz="1400" b="0" u="none" strike="noStrike">
              <a:solidFill>
                <a:srgbClr val="000000"/>
              </a:solidFill>
              <a:effectLst/>
              <a:uFillTx/>
              <a:latin typeface="Arial"/>
            </a:endParaRPr>
          </a:p>
        </p:txBody>
      </p:sp>
      <p:sp>
        <p:nvSpPr>
          <p:cNvPr id="183" name="Text 8"/>
          <p:cNvSpPr/>
          <p:nvPr/>
        </p:nvSpPr>
        <p:spPr>
          <a:xfrm>
            <a:off x="1536120" y="1682640"/>
            <a:ext cx="3748680" cy="127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70" b="0" u="none" strike="noStrike">
                <a:solidFill>
                  <a:srgbClr val="52616B"/>
                </a:solidFill>
                <a:effectLst/>
                <a:uFillTx/>
                <a:latin typeface="Courier New"/>
                <a:ea typeface="Courier New"/>
              </a:rPr>
              <a:t>python --version  or  python3 --version</a:t>
            </a:r>
            <a:endParaRPr lang="en-US" sz="970" b="0" u="none" strike="noStrike">
              <a:solidFill>
                <a:srgbClr val="000000"/>
              </a:solidFill>
              <a:effectLst/>
              <a:uFillTx/>
              <a:latin typeface="Arial"/>
            </a:endParaRPr>
          </a:p>
        </p:txBody>
      </p:sp>
      <p:sp>
        <p:nvSpPr>
          <p:cNvPr id="184" name="Shape 9"/>
          <p:cNvSpPr/>
          <p:nvPr/>
        </p:nvSpPr>
        <p:spPr>
          <a:xfrm>
            <a:off x="868680" y="2286000"/>
            <a:ext cx="4891680" cy="776880"/>
          </a:xfrm>
          <a:prstGeom prst="roundRect">
            <a:avLst>
              <a:gd name="adj" fmla="val 9412"/>
            </a:avLst>
          </a:prstGeom>
          <a:solidFill>
            <a:srgbClr val="FFFFFF"/>
          </a:solidFill>
          <a:ln w="10160">
            <a:solidFill>
              <a:srgbClr val="D7E3E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85" name="Text 10"/>
          <p:cNvSpPr/>
          <p:nvPr/>
        </p:nvSpPr>
        <p:spPr>
          <a:xfrm>
            <a:off x="1097280" y="2514600"/>
            <a:ext cx="319680" cy="155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0E8F8F"/>
                </a:solidFill>
                <a:effectLst/>
                <a:uFillTx/>
                <a:latin typeface="Aptos"/>
              </a:rPr>
              <a:t>2</a:t>
            </a:r>
            <a:endParaRPr lang="en-US" sz="1200" b="0" u="none" strike="noStrike">
              <a:solidFill>
                <a:srgbClr val="000000"/>
              </a:solidFill>
              <a:effectLst/>
              <a:uFillTx/>
              <a:latin typeface="Arial"/>
            </a:endParaRPr>
          </a:p>
        </p:txBody>
      </p:sp>
      <p:sp>
        <p:nvSpPr>
          <p:cNvPr id="186" name="Text 11"/>
          <p:cNvSpPr/>
          <p:nvPr/>
        </p:nvSpPr>
        <p:spPr>
          <a:xfrm>
            <a:off x="1536120" y="2450520"/>
            <a:ext cx="292572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02A43"/>
                </a:solidFill>
                <a:effectLst/>
                <a:uFillTx/>
                <a:latin typeface="Aptos"/>
              </a:rPr>
              <a:t>Open VS Code</a:t>
            </a:r>
            <a:endParaRPr lang="en-US" sz="1400" b="0" u="none" strike="noStrike">
              <a:solidFill>
                <a:srgbClr val="000000"/>
              </a:solidFill>
              <a:effectLst/>
              <a:uFillTx/>
              <a:latin typeface="Arial"/>
            </a:endParaRPr>
          </a:p>
        </p:txBody>
      </p:sp>
      <p:sp>
        <p:nvSpPr>
          <p:cNvPr id="187" name="Text 12"/>
          <p:cNvSpPr/>
          <p:nvPr/>
        </p:nvSpPr>
        <p:spPr>
          <a:xfrm>
            <a:off x="1536120" y="2734200"/>
            <a:ext cx="3748680" cy="127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70" b="0" u="none" strike="noStrike">
                <a:solidFill>
                  <a:srgbClr val="52616B"/>
                </a:solidFill>
                <a:effectLst/>
                <a:uFillTx/>
                <a:latin typeface="Courier New"/>
                <a:ea typeface="Courier New"/>
              </a:rPr>
              <a:t>Create a folder named CS415_Lab1</a:t>
            </a:r>
            <a:endParaRPr lang="en-US" sz="970" b="0" u="none" strike="noStrike">
              <a:solidFill>
                <a:srgbClr val="000000"/>
              </a:solidFill>
              <a:effectLst/>
              <a:uFillTx/>
              <a:latin typeface="Arial"/>
            </a:endParaRPr>
          </a:p>
        </p:txBody>
      </p:sp>
      <p:sp>
        <p:nvSpPr>
          <p:cNvPr id="188" name="Shape 13"/>
          <p:cNvSpPr/>
          <p:nvPr/>
        </p:nvSpPr>
        <p:spPr>
          <a:xfrm>
            <a:off x="868680" y="3337560"/>
            <a:ext cx="4891680" cy="776880"/>
          </a:xfrm>
          <a:prstGeom prst="roundRect">
            <a:avLst>
              <a:gd name="adj" fmla="val 9412"/>
            </a:avLst>
          </a:prstGeom>
          <a:solidFill>
            <a:srgbClr val="FFFFFF"/>
          </a:solidFill>
          <a:ln w="10160">
            <a:solidFill>
              <a:srgbClr val="D7E3E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89" name="Text 14"/>
          <p:cNvSpPr/>
          <p:nvPr/>
        </p:nvSpPr>
        <p:spPr>
          <a:xfrm>
            <a:off x="1097280" y="3566160"/>
            <a:ext cx="319680" cy="155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0E8F8F"/>
                </a:solidFill>
                <a:effectLst/>
                <a:uFillTx/>
                <a:latin typeface="Aptos"/>
              </a:rPr>
              <a:t>3</a:t>
            </a:r>
            <a:endParaRPr lang="en-US" sz="1200" b="0" u="none" strike="noStrike">
              <a:solidFill>
                <a:srgbClr val="000000"/>
              </a:solidFill>
              <a:effectLst/>
              <a:uFillTx/>
              <a:latin typeface="Arial"/>
            </a:endParaRPr>
          </a:p>
        </p:txBody>
      </p:sp>
      <p:sp>
        <p:nvSpPr>
          <p:cNvPr id="190" name="Text 15"/>
          <p:cNvSpPr/>
          <p:nvPr/>
        </p:nvSpPr>
        <p:spPr>
          <a:xfrm>
            <a:off x="1536120" y="3502080"/>
            <a:ext cx="292572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02A43"/>
                </a:solidFill>
                <a:effectLst/>
                <a:uFillTx/>
                <a:latin typeface="Aptos"/>
              </a:rPr>
              <a:t>Create main.py</a:t>
            </a:r>
            <a:endParaRPr lang="en-US" sz="1400" b="0" u="none" strike="noStrike">
              <a:solidFill>
                <a:srgbClr val="000000"/>
              </a:solidFill>
              <a:effectLst/>
              <a:uFillTx/>
              <a:latin typeface="Arial"/>
            </a:endParaRPr>
          </a:p>
        </p:txBody>
      </p:sp>
      <p:sp>
        <p:nvSpPr>
          <p:cNvPr id="191" name="Text 16"/>
          <p:cNvSpPr/>
          <p:nvPr/>
        </p:nvSpPr>
        <p:spPr>
          <a:xfrm>
            <a:off x="1536120" y="3785760"/>
            <a:ext cx="3748680" cy="127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70" b="0" u="none" strike="noStrike">
                <a:solidFill>
                  <a:srgbClr val="52616B"/>
                </a:solidFill>
                <a:effectLst/>
                <a:uFillTx/>
                <a:latin typeface="Courier New"/>
                <a:ea typeface="Courier New"/>
              </a:rPr>
              <a:t>Write one line: print("Hello, AI Agents!")</a:t>
            </a:r>
            <a:endParaRPr lang="en-US" sz="970" b="0" u="none" strike="noStrike">
              <a:solidFill>
                <a:srgbClr val="000000"/>
              </a:solidFill>
              <a:effectLst/>
              <a:uFillTx/>
              <a:latin typeface="Arial"/>
            </a:endParaRPr>
          </a:p>
        </p:txBody>
      </p:sp>
      <p:sp>
        <p:nvSpPr>
          <p:cNvPr id="192" name="Shape 17"/>
          <p:cNvSpPr/>
          <p:nvPr/>
        </p:nvSpPr>
        <p:spPr>
          <a:xfrm>
            <a:off x="868680" y="4389120"/>
            <a:ext cx="4891680" cy="776880"/>
          </a:xfrm>
          <a:prstGeom prst="roundRect">
            <a:avLst>
              <a:gd name="adj" fmla="val 9412"/>
            </a:avLst>
          </a:prstGeom>
          <a:solidFill>
            <a:srgbClr val="FFFFFF"/>
          </a:solidFill>
          <a:ln w="10160">
            <a:solidFill>
              <a:srgbClr val="D7E3E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93" name="Text 18"/>
          <p:cNvSpPr/>
          <p:nvPr/>
        </p:nvSpPr>
        <p:spPr>
          <a:xfrm>
            <a:off x="1097280" y="4617720"/>
            <a:ext cx="319680" cy="155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0E8F8F"/>
                </a:solidFill>
                <a:effectLst/>
                <a:uFillTx/>
                <a:latin typeface="Aptos"/>
              </a:rPr>
              <a:t>4</a:t>
            </a:r>
            <a:endParaRPr lang="en-US" sz="1200" b="0" u="none" strike="noStrike">
              <a:solidFill>
                <a:srgbClr val="000000"/>
              </a:solidFill>
              <a:effectLst/>
              <a:uFillTx/>
              <a:latin typeface="Arial"/>
            </a:endParaRPr>
          </a:p>
        </p:txBody>
      </p:sp>
      <p:sp>
        <p:nvSpPr>
          <p:cNvPr id="194" name="Text 19"/>
          <p:cNvSpPr/>
          <p:nvPr/>
        </p:nvSpPr>
        <p:spPr>
          <a:xfrm>
            <a:off x="1536120" y="4553640"/>
            <a:ext cx="292572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02A43"/>
                </a:solidFill>
                <a:effectLst/>
                <a:uFillTx/>
                <a:latin typeface="Aptos"/>
              </a:rPr>
              <a:t>Run from terminal</a:t>
            </a:r>
            <a:endParaRPr lang="en-US" sz="1400" b="0" u="none" strike="noStrike">
              <a:solidFill>
                <a:srgbClr val="000000"/>
              </a:solidFill>
              <a:effectLst/>
              <a:uFillTx/>
              <a:latin typeface="Arial"/>
            </a:endParaRPr>
          </a:p>
        </p:txBody>
      </p:sp>
      <p:sp>
        <p:nvSpPr>
          <p:cNvPr id="195" name="Text 20"/>
          <p:cNvSpPr/>
          <p:nvPr/>
        </p:nvSpPr>
        <p:spPr>
          <a:xfrm>
            <a:off x="1536120" y="4837320"/>
            <a:ext cx="3748680" cy="127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70" b="0" u="none" strike="noStrike">
                <a:solidFill>
                  <a:srgbClr val="52616B"/>
                </a:solidFill>
                <a:effectLst/>
                <a:uFillTx/>
                <a:latin typeface="Courier New"/>
                <a:ea typeface="Courier New"/>
              </a:rPr>
              <a:t>python main.py  or  python3 main.py</a:t>
            </a:r>
            <a:endParaRPr lang="en-US" sz="970" b="0" u="none" strike="noStrike">
              <a:solidFill>
                <a:srgbClr val="000000"/>
              </a:solidFill>
              <a:effectLst/>
              <a:uFillTx/>
              <a:latin typeface="Arial"/>
            </a:endParaRPr>
          </a:p>
        </p:txBody>
      </p:sp>
      <p:sp>
        <p:nvSpPr>
          <p:cNvPr id="196" name="Shape 21"/>
          <p:cNvSpPr/>
          <p:nvPr/>
        </p:nvSpPr>
        <p:spPr>
          <a:xfrm>
            <a:off x="6400800" y="1325880"/>
            <a:ext cx="4525920" cy="3611520"/>
          </a:xfrm>
          <a:prstGeom prst="roundRect">
            <a:avLst>
              <a:gd name="adj" fmla="val 2025"/>
            </a:avLst>
          </a:prstGeom>
          <a:solidFill>
            <a:srgbClr val="0B1720"/>
          </a:solidFill>
          <a:ln w="10160">
            <a:solidFill>
              <a:srgbClr val="122334"/>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97" name="Shape 22"/>
          <p:cNvSpPr/>
          <p:nvPr/>
        </p:nvSpPr>
        <p:spPr>
          <a:xfrm>
            <a:off x="6510600" y="1435680"/>
            <a:ext cx="1462680" cy="310680"/>
          </a:xfrm>
          <a:prstGeom prst="roundRect">
            <a:avLst>
              <a:gd name="adj" fmla="val 17647"/>
            </a:avLst>
          </a:prstGeom>
          <a:solidFill>
            <a:srgbClr val="0E8F8F"/>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198" name="Text 23"/>
          <p:cNvSpPr/>
          <p:nvPr/>
        </p:nvSpPr>
        <p:spPr>
          <a:xfrm>
            <a:off x="6583680" y="1504080"/>
            <a:ext cx="131652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FFFFFF"/>
                </a:solidFill>
                <a:effectLst/>
                <a:uFillTx/>
                <a:latin typeface="Aptos"/>
              </a:rPr>
              <a:t>TERMINAL</a:t>
            </a:r>
            <a:endParaRPr lang="en-US" sz="900" b="0" u="none" strike="noStrike">
              <a:solidFill>
                <a:srgbClr val="000000"/>
              </a:solidFill>
              <a:effectLst/>
              <a:uFillTx/>
              <a:latin typeface="Arial"/>
            </a:endParaRPr>
          </a:p>
        </p:txBody>
      </p:sp>
      <p:sp>
        <p:nvSpPr>
          <p:cNvPr id="199" name="Text 24"/>
          <p:cNvSpPr/>
          <p:nvPr/>
        </p:nvSpPr>
        <p:spPr>
          <a:xfrm>
            <a:off x="6602040" y="1856160"/>
            <a:ext cx="4123440" cy="2934720"/>
          </a:xfrm>
          <a:prstGeom prst="rect">
            <a:avLst/>
          </a:prstGeom>
          <a:noFill/>
          <a:ln w="0">
            <a:noFill/>
          </a:ln>
        </p:spPr>
        <p:style>
          <a:lnRef idx="0"/>
          <a:fillRef idx="0"/>
          <a:effectRef idx="0"/>
          <a:fontRef idx="minor"/>
        </p:style>
        <p:txBody>
          <a:bodyPr lIns="360" tIns="360" rIns="360" bIns="360" anchor="t">
            <a:normAutofit/>
          </a:bodyPr>
          <a:p>
            <a:pPr defTabSz="914400">
              <a:lnSpc>
                <a:spcPct val="100000"/>
              </a:lnSpc>
              <a:tabLst>
                <a:tab pos="0" algn="l"/>
              </a:tabLst>
            </a:pPr>
            <a:r>
              <a:rPr lang="en-US" sz="1120" b="0" u="none" strike="noStrike">
                <a:solidFill>
                  <a:srgbClr val="E8F1F8"/>
                </a:solidFill>
                <a:effectLst/>
                <a:uFillTx/>
                <a:latin typeface="Courier New"/>
                <a:ea typeface="Courier New"/>
              </a:rPr>
              <a:t>$ mkdir CS415_Lab1</a:t>
            </a:r>
            <a:endParaRPr lang="en-US" sz="1120" b="0" u="none" strike="noStrike">
              <a:solidFill>
                <a:srgbClr val="000000"/>
              </a:solidFill>
              <a:effectLst/>
              <a:uFillTx/>
              <a:latin typeface="Arial"/>
            </a:endParaRPr>
          </a:p>
          <a:p>
            <a:pPr defTabSz="914400">
              <a:lnSpc>
                <a:spcPct val="100000"/>
              </a:lnSpc>
              <a:tabLst>
                <a:tab pos="0" algn="l"/>
              </a:tabLst>
            </a:pPr>
            <a:r>
              <a:rPr lang="en-US" sz="1120" b="0" u="none" strike="noStrike">
                <a:solidFill>
                  <a:srgbClr val="E8F1F8"/>
                </a:solidFill>
                <a:effectLst/>
                <a:uFillTx/>
                <a:latin typeface="Courier New"/>
                <a:ea typeface="Courier New"/>
              </a:rPr>
              <a:t>$ cd CS415_Lab1</a:t>
            </a:r>
            <a:endParaRPr lang="en-US" sz="1120" b="0" u="none" strike="noStrike">
              <a:solidFill>
                <a:srgbClr val="000000"/>
              </a:solidFill>
              <a:effectLst/>
              <a:uFillTx/>
              <a:latin typeface="Arial"/>
            </a:endParaRPr>
          </a:p>
          <a:p>
            <a:pPr defTabSz="914400">
              <a:lnSpc>
                <a:spcPct val="100000"/>
              </a:lnSpc>
              <a:tabLst>
                <a:tab pos="0" algn="l"/>
              </a:tabLst>
            </a:pPr>
            <a:r>
              <a:rPr lang="en-US" sz="1120" b="0" u="none" strike="noStrike">
                <a:solidFill>
                  <a:srgbClr val="E8F1F8"/>
                </a:solidFill>
                <a:effectLst/>
                <a:uFillTx/>
                <a:latin typeface="Courier New"/>
                <a:ea typeface="Courier New"/>
              </a:rPr>
              <a:t>$ code .</a:t>
            </a:r>
            <a:endParaRPr lang="en-US" sz="1120" b="0" u="none" strike="noStrike">
              <a:solidFill>
                <a:srgbClr val="000000"/>
              </a:solidFill>
              <a:effectLst/>
              <a:uFillTx/>
              <a:latin typeface="Arial"/>
            </a:endParaRPr>
          </a:p>
          <a:p>
            <a:pPr defTabSz="914400">
              <a:lnSpc>
                <a:spcPct val="100000"/>
              </a:lnSpc>
              <a:tabLst>
                <a:tab pos="0" algn="l"/>
              </a:tabLst>
            </a:pPr>
            <a:endParaRPr lang="en-US" sz="1120" b="0" u="none" strike="noStrike">
              <a:solidFill>
                <a:srgbClr val="000000"/>
              </a:solidFill>
              <a:effectLst/>
              <a:uFillTx/>
              <a:latin typeface="Arial"/>
            </a:endParaRPr>
          </a:p>
          <a:p>
            <a:pPr defTabSz="914400">
              <a:lnSpc>
                <a:spcPct val="100000"/>
              </a:lnSpc>
              <a:tabLst>
                <a:tab pos="0" algn="l"/>
              </a:tabLst>
            </a:pPr>
            <a:r>
              <a:rPr lang="en-US" sz="1120" b="0" u="none" strike="noStrike">
                <a:solidFill>
                  <a:srgbClr val="E8F1F8"/>
                </a:solidFill>
                <a:effectLst/>
                <a:uFillTx/>
                <a:latin typeface="Courier New"/>
                <a:ea typeface="Courier New"/>
              </a:rPr>
              <a:t># create main.py</a:t>
            </a:r>
            <a:endParaRPr lang="en-US" sz="1120" b="0" u="none" strike="noStrike">
              <a:solidFill>
                <a:srgbClr val="000000"/>
              </a:solidFill>
              <a:effectLst/>
              <a:uFillTx/>
              <a:latin typeface="Arial"/>
            </a:endParaRPr>
          </a:p>
          <a:p>
            <a:pPr defTabSz="914400">
              <a:lnSpc>
                <a:spcPct val="100000"/>
              </a:lnSpc>
              <a:tabLst>
                <a:tab pos="0" algn="l"/>
              </a:tabLst>
            </a:pPr>
            <a:r>
              <a:rPr lang="en-US" sz="1120" b="0" u="none" strike="noStrike">
                <a:solidFill>
                  <a:srgbClr val="E8F1F8"/>
                </a:solidFill>
                <a:effectLst/>
                <a:uFillTx/>
                <a:latin typeface="Courier New"/>
                <a:ea typeface="Courier New"/>
              </a:rPr>
              <a:t>print("Hello, AI Agents!")</a:t>
            </a:r>
            <a:endParaRPr lang="en-US" sz="1120" b="0" u="none" strike="noStrike">
              <a:solidFill>
                <a:srgbClr val="000000"/>
              </a:solidFill>
              <a:effectLst/>
              <a:uFillTx/>
              <a:latin typeface="Arial"/>
            </a:endParaRPr>
          </a:p>
          <a:p>
            <a:pPr defTabSz="914400">
              <a:lnSpc>
                <a:spcPct val="100000"/>
              </a:lnSpc>
              <a:tabLst>
                <a:tab pos="0" algn="l"/>
              </a:tabLst>
            </a:pPr>
            <a:endParaRPr lang="en-US" sz="1120" b="0" u="none" strike="noStrike">
              <a:solidFill>
                <a:srgbClr val="000000"/>
              </a:solidFill>
              <a:effectLst/>
              <a:uFillTx/>
              <a:latin typeface="Arial"/>
            </a:endParaRPr>
          </a:p>
          <a:p>
            <a:pPr defTabSz="914400">
              <a:lnSpc>
                <a:spcPct val="100000"/>
              </a:lnSpc>
              <a:tabLst>
                <a:tab pos="0" algn="l"/>
              </a:tabLst>
            </a:pPr>
            <a:r>
              <a:rPr lang="en-US" sz="1120" b="0" u="none" strike="noStrike">
                <a:solidFill>
                  <a:srgbClr val="E8F1F8"/>
                </a:solidFill>
                <a:effectLst/>
                <a:uFillTx/>
                <a:latin typeface="Courier New"/>
                <a:ea typeface="Courier New"/>
              </a:rPr>
              <a:t>$ python main.py</a:t>
            </a:r>
            <a:endParaRPr lang="en-US" sz="1120" b="0" u="none" strike="noStrike">
              <a:solidFill>
                <a:srgbClr val="000000"/>
              </a:solidFill>
              <a:effectLst/>
              <a:uFillTx/>
              <a:latin typeface="Arial"/>
            </a:endParaRPr>
          </a:p>
        </p:txBody>
      </p:sp>
      <p:sp>
        <p:nvSpPr>
          <p:cNvPr id="200" name="PlaceHolder 1"/>
          <p:cNvSpPr>
            <a:spLocks noGrp="1"/>
          </p:cNvSpPr>
          <p:nvPr>
            <p:ph type="sldNum" idx="10"/>
          </p:nvPr>
        </p:nvSpPr>
        <p:spPr>
          <a:xfrm>
            <a:off x="11292840" y="6546960"/>
            <a:ext cx="799560" cy="299520"/>
          </a:xfrm>
          <a:prstGeom prst="rect">
            <a:avLst/>
          </a:prstGeom>
          <a:noFill/>
          <a:ln w="0">
            <a:noFill/>
          </a:ln>
        </p:spPr>
        <p:txBody>
          <a:bodyPr lIns="90000" tIns="45000" rIns="90000" bIns="45000" anchor="t">
            <a:noAutofit/>
          </a:bodyPr>
          <a:lstStyle>
            <a:lvl1pPr indent="0" algn="l" defTabSz="914400">
              <a:lnSpc>
                <a:spcPct val="100000"/>
              </a:lnSpc>
              <a:buNone/>
              <a:defRPr lang="en-US" sz="900" b="0" u="none" strike="noStrike">
                <a:solidFill>
                  <a:srgbClr val="78909C"/>
                </a:solidFill>
                <a:effectLst/>
                <a:uFillTx/>
                <a:latin typeface="Aptos"/>
                <a:ea typeface="Aptos"/>
              </a:defRPr>
            </a:lvl1pPr>
          </a:lstStyle>
          <a:p>
            <a:pPr indent="0" algn="l" defTabSz="914400">
              <a:lnSpc>
                <a:spcPct val="100000"/>
              </a:lnSpc>
              <a:buNone/>
            </a:pPr>
            <a:fld id="{4F3BD23F-FBB9-48FD-911F-3C720AE0985C}" type="slidenum">
              <a:rPr lang="en-US" sz="900" b="0" u="none" strike="noStrike">
                <a:solidFill>
                  <a:srgbClr val="78909C"/>
                </a:solidFill>
                <a:effectLst/>
                <a:uFillTx/>
                <a:latin typeface="Aptos"/>
                <a:ea typeface="Aptos"/>
              </a:rPr>
              <a:t>6</a:t>
            </a:fld>
            <a:endParaRPr lang="en-US" sz="9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AFC"/>
        </a:solidFill>
      </p:bgPr>
    </p:bg>
    <p:spTree>
      <p:nvGrpSpPr>
        <p:cNvPr id="1" name=""/>
        <p:cNvGrpSpPr/>
        <p:nvPr/>
      </p:nvGrpSpPr>
      <p:grpSpPr>
        <a:xfrm>
          <a:off x="0" y="0"/>
          <a:ext cx="0" cy="0"/>
          <a:chOff x="0" y="0"/>
          <a:chExt cx="0" cy="0"/>
        </a:xfrm>
      </p:grpSpPr>
      <p:sp>
        <p:nvSpPr>
          <p:cNvPr id="201" name="Shape 0"/>
          <p:cNvSpPr/>
          <p:nvPr/>
        </p:nvSpPr>
        <p:spPr>
          <a:xfrm>
            <a:off x="0" y="0"/>
            <a:ext cx="12191400" cy="6857640"/>
          </a:xfrm>
          <a:prstGeom prst="rect">
            <a:avLst/>
          </a:prstGeom>
          <a:solidFill>
            <a:srgbClr val="F7FAFC"/>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02" name="Shape 1"/>
          <p:cNvSpPr/>
          <p:nvPr/>
        </p:nvSpPr>
        <p:spPr>
          <a:xfrm>
            <a:off x="0" y="0"/>
            <a:ext cx="164160" cy="6857640"/>
          </a:xfrm>
          <a:prstGeom prst="rect">
            <a:avLst/>
          </a:prstGeom>
          <a:solidFill>
            <a:srgbClr val="153B52"/>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03" name="Text 2"/>
          <p:cNvSpPr/>
          <p:nvPr/>
        </p:nvSpPr>
        <p:spPr>
          <a:xfrm>
            <a:off x="521280" y="109800"/>
            <a:ext cx="420588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1" u="none" strike="noStrike">
                <a:solidFill>
                  <a:srgbClr val="0E8F8F"/>
                </a:solidFill>
                <a:effectLst/>
                <a:uFillTx/>
                <a:latin typeface="Aptos"/>
              </a:rPr>
              <a:t>FIRST PROGRAM</a:t>
            </a:r>
            <a:endParaRPr lang="en-US" sz="850" b="0" u="none" strike="noStrike">
              <a:solidFill>
                <a:srgbClr val="000000"/>
              </a:solidFill>
              <a:effectLst/>
              <a:uFillTx/>
              <a:latin typeface="Arial"/>
            </a:endParaRPr>
          </a:p>
        </p:txBody>
      </p:sp>
      <p:sp>
        <p:nvSpPr>
          <p:cNvPr id="204" name="Text 3"/>
          <p:cNvSpPr/>
          <p:nvPr/>
        </p:nvSpPr>
        <p:spPr>
          <a:xfrm>
            <a:off x="502920" y="320040"/>
            <a:ext cx="1106388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153B52"/>
                </a:solidFill>
                <a:effectLst/>
                <a:uFillTx/>
                <a:latin typeface="Aptos Display"/>
                <a:ea typeface="Aptos Display"/>
              </a:rPr>
              <a:t>A Python File Is Executed Top to Bottom</a:t>
            </a:r>
            <a:endParaRPr lang="en-US" sz="2600" b="0" u="none" strike="noStrike">
              <a:solidFill>
                <a:srgbClr val="000000"/>
              </a:solidFill>
              <a:effectLst/>
              <a:uFillTx/>
              <a:latin typeface="Arial"/>
            </a:endParaRPr>
          </a:p>
        </p:txBody>
      </p:sp>
      <p:sp>
        <p:nvSpPr>
          <p:cNvPr id="205" name="Text 4"/>
          <p:cNvSpPr/>
          <p:nvPr/>
        </p:nvSpPr>
        <p:spPr>
          <a:xfrm>
            <a:off x="511920" y="786240"/>
            <a:ext cx="1078956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52616B"/>
                </a:solidFill>
                <a:effectLst/>
                <a:uFillTx/>
                <a:latin typeface="Aptos"/>
              </a:rPr>
              <a:t>Students should understand what happens when they press Run.</a:t>
            </a:r>
            <a:endParaRPr lang="en-US" sz="1250" b="0" u="none" strike="noStrike">
              <a:solidFill>
                <a:srgbClr val="000000"/>
              </a:solidFill>
              <a:effectLst/>
              <a:uFillTx/>
              <a:latin typeface="Arial"/>
            </a:endParaRPr>
          </a:p>
        </p:txBody>
      </p:sp>
      <p:sp>
        <p:nvSpPr>
          <p:cNvPr id="206" name="Shape 5"/>
          <p:cNvSpPr/>
          <p:nvPr/>
        </p:nvSpPr>
        <p:spPr>
          <a:xfrm>
            <a:off x="868680" y="1353240"/>
            <a:ext cx="4663080" cy="3382920"/>
          </a:xfrm>
          <a:prstGeom prst="roundRect">
            <a:avLst>
              <a:gd name="adj" fmla="val 2162"/>
            </a:avLst>
          </a:prstGeom>
          <a:solidFill>
            <a:srgbClr val="0B1720"/>
          </a:solidFill>
          <a:ln w="10160">
            <a:solidFill>
              <a:srgbClr val="122334"/>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07" name="Shape 6"/>
          <p:cNvSpPr/>
          <p:nvPr/>
        </p:nvSpPr>
        <p:spPr>
          <a:xfrm>
            <a:off x="978480" y="1463040"/>
            <a:ext cx="1462680" cy="310680"/>
          </a:xfrm>
          <a:prstGeom prst="roundRect">
            <a:avLst>
              <a:gd name="adj" fmla="val 17647"/>
            </a:avLst>
          </a:prstGeom>
          <a:solidFill>
            <a:srgbClr val="0E8F8F"/>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08" name="Text 7"/>
          <p:cNvSpPr/>
          <p:nvPr/>
        </p:nvSpPr>
        <p:spPr>
          <a:xfrm>
            <a:off x="1051560" y="1531800"/>
            <a:ext cx="131652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FFFFFF"/>
                </a:solidFill>
                <a:effectLst/>
                <a:uFillTx/>
                <a:latin typeface="Aptos"/>
              </a:rPr>
              <a:t>main.py</a:t>
            </a:r>
            <a:endParaRPr lang="en-US" sz="900" b="0" u="none" strike="noStrike">
              <a:solidFill>
                <a:srgbClr val="000000"/>
              </a:solidFill>
              <a:effectLst/>
              <a:uFillTx/>
              <a:latin typeface="Arial"/>
            </a:endParaRPr>
          </a:p>
        </p:txBody>
      </p:sp>
      <p:sp>
        <p:nvSpPr>
          <p:cNvPr id="209" name="Text 8"/>
          <p:cNvSpPr/>
          <p:nvPr/>
        </p:nvSpPr>
        <p:spPr>
          <a:xfrm>
            <a:off x="1069920" y="1883520"/>
            <a:ext cx="4260600" cy="2706120"/>
          </a:xfrm>
          <a:prstGeom prst="rect">
            <a:avLst/>
          </a:prstGeom>
          <a:noFill/>
          <a:ln w="0">
            <a:noFill/>
          </a:ln>
        </p:spPr>
        <p:style>
          <a:lnRef idx="0"/>
          <a:fillRef idx="0"/>
          <a:effectRef idx="0"/>
          <a:fontRef idx="minor"/>
        </p:style>
        <p:txBody>
          <a:bodyPr lIns="360" tIns="360" rIns="360" bIns="360" anchor="t">
            <a:normAutofit/>
          </a:bodyPr>
          <a:p>
            <a:pPr defTabSz="914400">
              <a:lnSpc>
                <a:spcPct val="100000"/>
              </a:lnSpc>
              <a:tabLst>
                <a:tab pos="0" algn="l"/>
              </a:tabLst>
            </a:pPr>
            <a:r>
              <a:rPr lang="en-US" sz="1120" b="0" u="none" strike="noStrike">
                <a:solidFill>
                  <a:srgbClr val="E8F1F8"/>
                </a:solidFill>
                <a:effectLst/>
                <a:uFillTx/>
                <a:latin typeface="Courier New"/>
                <a:ea typeface="Courier New"/>
              </a:rPr>
              <a:t>print("Hello, AI Agents!")</a:t>
            </a:r>
            <a:endParaRPr lang="en-US" sz="1120" b="0" u="none" strike="noStrike">
              <a:solidFill>
                <a:srgbClr val="000000"/>
              </a:solidFill>
              <a:effectLst/>
              <a:uFillTx/>
              <a:latin typeface="Arial"/>
            </a:endParaRPr>
          </a:p>
          <a:p>
            <a:pPr defTabSz="914400">
              <a:lnSpc>
                <a:spcPct val="100000"/>
              </a:lnSpc>
              <a:tabLst>
                <a:tab pos="0" algn="l"/>
              </a:tabLst>
            </a:pPr>
            <a:endParaRPr lang="en-US" sz="1120" b="0" u="none" strike="noStrike">
              <a:solidFill>
                <a:srgbClr val="000000"/>
              </a:solidFill>
              <a:effectLst/>
              <a:uFillTx/>
              <a:latin typeface="Arial"/>
            </a:endParaRPr>
          </a:p>
          <a:p>
            <a:pPr defTabSz="914400">
              <a:lnSpc>
                <a:spcPct val="100000"/>
              </a:lnSpc>
              <a:tabLst>
                <a:tab pos="0" algn="l"/>
              </a:tabLst>
            </a:pPr>
            <a:r>
              <a:rPr lang="en-US" sz="1120" b="0" u="none" strike="noStrike">
                <a:solidFill>
                  <a:srgbClr val="E8F1F8"/>
                </a:solidFill>
                <a:effectLst/>
                <a:uFillTx/>
                <a:latin typeface="Courier New"/>
                <a:ea typeface="Courier New"/>
              </a:rPr>
              <a:t>name = "Mona"</a:t>
            </a:r>
            <a:endParaRPr lang="en-US" sz="1120" b="0" u="none" strike="noStrike">
              <a:solidFill>
                <a:srgbClr val="000000"/>
              </a:solidFill>
              <a:effectLst/>
              <a:uFillTx/>
              <a:latin typeface="Arial"/>
            </a:endParaRPr>
          </a:p>
          <a:p>
            <a:pPr defTabSz="914400">
              <a:lnSpc>
                <a:spcPct val="100000"/>
              </a:lnSpc>
              <a:tabLst>
                <a:tab pos="0" algn="l"/>
              </a:tabLst>
            </a:pPr>
            <a:r>
              <a:rPr lang="en-US" sz="1120" b="0" u="none" strike="noStrike">
                <a:solidFill>
                  <a:srgbClr val="E8F1F8"/>
                </a:solidFill>
                <a:effectLst/>
                <a:uFillTx/>
                <a:latin typeface="Courier New"/>
                <a:ea typeface="Courier New"/>
              </a:rPr>
              <a:t>print("Welcome", name)</a:t>
            </a:r>
            <a:endParaRPr lang="en-US" sz="1120" b="0" u="none" strike="noStrike">
              <a:solidFill>
                <a:srgbClr val="000000"/>
              </a:solidFill>
              <a:effectLst/>
              <a:uFillTx/>
              <a:latin typeface="Arial"/>
            </a:endParaRPr>
          </a:p>
          <a:p>
            <a:pPr defTabSz="914400">
              <a:lnSpc>
                <a:spcPct val="100000"/>
              </a:lnSpc>
              <a:tabLst>
                <a:tab pos="0" algn="l"/>
              </a:tabLst>
            </a:pPr>
            <a:endParaRPr lang="en-US" sz="1120" b="0" u="none" strike="noStrike">
              <a:solidFill>
                <a:srgbClr val="000000"/>
              </a:solidFill>
              <a:effectLst/>
              <a:uFillTx/>
              <a:latin typeface="Arial"/>
            </a:endParaRPr>
          </a:p>
          <a:p>
            <a:pPr defTabSz="914400">
              <a:lnSpc>
                <a:spcPct val="100000"/>
              </a:lnSpc>
              <a:tabLst>
                <a:tab pos="0" algn="l"/>
              </a:tabLst>
            </a:pPr>
            <a:r>
              <a:rPr lang="en-US" sz="1120" b="0" u="none" strike="noStrike">
                <a:solidFill>
                  <a:srgbClr val="E8F1F8"/>
                </a:solidFill>
                <a:effectLst/>
                <a:uFillTx/>
                <a:latin typeface="Courier New"/>
                <a:ea typeface="Courier New"/>
              </a:rPr>
              <a:t>message = "My order is delayed"</a:t>
            </a:r>
            <a:endParaRPr lang="en-US" sz="1120" b="0" u="none" strike="noStrike">
              <a:solidFill>
                <a:srgbClr val="000000"/>
              </a:solidFill>
              <a:effectLst/>
              <a:uFillTx/>
              <a:latin typeface="Arial"/>
            </a:endParaRPr>
          </a:p>
          <a:p>
            <a:pPr defTabSz="914400">
              <a:lnSpc>
                <a:spcPct val="100000"/>
              </a:lnSpc>
              <a:tabLst>
                <a:tab pos="0" algn="l"/>
              </a:tabLst>
            </a:pPr>
            <a:r>
              <a:rPr lang="en-US" sz="1120" b="0" u="none" strike="noStrike">
                <a:solidFill>
                  <a:srgbClr val="E8F1F8"/>
                </a:solidFill>
                <a:effectLst/>
                <a:uFillTx/>
                <a:latin typeface="Courier New"/>
                <a:ea typeface="Courier New"/>
              </a:rPr>
              <a:t>print(message)</a:t>
            </a:r>
            <a:endParaRPr lang="en-US" sz="1120" b="0" u="none" strike="noStrike">
              <a:solidFill>
                <a:srgbClr val="000000"/>
              </a:solidFill>
              <a:effectLst/>
              <a:uFillTx/>
              <a:latin typeface="Arial"/>
            </a:endParaRPr>
          </a:p>
        </p:txBody>
      </p:sp>
      <p:sp>
        <p:nvSpPr>
          <p:cNvPr id="210" name="Shape 9"/>
          <p:cNvSpPr/>
          <p:nvPr/>
        </p:nvSpPr>
        <p:spPr>
          <a:xfrm>
            <a:off x="6400800" y="1353240"/>
            <a:ext cx="4525920" cy="3382920"/>
          </a:xfrm>
          <a:prstGeom prst="roundRect">
            <a:avLst>
              <a:gd name="adj" fmla="val 2162"/>
            </a:avLst>
          </a:prstGeom>
          <a:solidFill>
            <a:srgbClr val="FFFFFF"/>
          </a:solidFill>
          <a:ln w="10160">
            <a:solidFill>
              <a:srgbClr val="D7E3E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11" name="Text 10"/>
          <p:cNvSpPr/>
          <p:nvPr/>
        </p:nvSpPr>
        <p:spPr>
          <a:xfrm>
            <a:off x="6675120" y="1673280"/>
            <a:ext cx="3382920" cy="237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153B52"/>
                </a:solidFill>
                <a:effectLst/>
                <a:uFillTx/>
                <a:latin typeface="Aptos"/>
              </a:rPr>
              <a:t>Execution model</a:t>
            </a:r>
            <a:endParaRPr lang="en-US" sz="2200" b="0" u="none" strike="noStrike">
              <a:solidFill>
                <a:srgbClr val="000000"/>
              </a:solidFill>
              <a:effectLst/>
              <a:uFillTx/>
              <a:latin typeface="Arial"/>
            </a:endParaRPr>
          </a:p>
        </p:txBody>
      </p:sp>
      <p:sp>
        <p:nvSpPr>
          <p:cNvPr id="212" name="Text 11"/>
          <p:cNvSpPr/>
          <p:nvPr/>
        </p:nvSpPr>
        <p:spPr>
          <a:xfrm>
            <a:off x="6720840" y="2240280"/>
            <a:ext cx="3611520" cy="1508400"/>
          </a:xfrm>
          <a:prstGeom prst="rect">
            <a:avLst/>
          </a:prstGeom>
          <a:noFill/>
          <a:ln w="0">
            <a:noFill/>
          </a:ln>
        </p:spPr>
        <p:style>
          <a:lnRef idx="0"/>
          <a:fillRef idx="0"/>
          <a:effectRef idx="0"/>
          <a:fontRef idx="minor"/>
        </p:style>
        <p:txBody>
          <a:bodyPr lIns="720" tIns="720" rIns="720" bIns="720" anchor="t">
            <a:normAutofit fontScale="85000" lnSpcReduction="9999"/>
          </a:bodyPr>
          <a:p>
            <a:r>
              <a:rPr lang="en-US" sz="1320" b="0" u="none" strike="noStrike">
                <a:solidFill>
                  <a:srgbClr val="102A43"/>
                </a:solidFill>
                <a:effectLst/>
                <a:uFillTx/>
                <a:latin typeface="Aptos"/>
              </a:rPr>
              <a:t>Python reads the file from the first line to the last line.</a:t>
            </a:r>
            <a:endParaRPr lang="en-US" sz="1320" b="0" u="none" strike="noStrike">
              <a:solidFill>
                <a:srgbClr val="000000"/>
              </a:solidFill>
              <a:effectLst/>
              <a:uFillTx/>
              <a:latin typeface="Arial"/>
            </a:endParaRPr>
          </a:p>
          <a:p>
            <a:pPr defTabSz="914400">
              <a:lnSpc>
                <a:spcPct val="100000"/>
              </a:lnSpc>
              <a:tabLst>
                <a:tab pos="0" algn="l"/>
              </a:tabLst>
            </a:pPr>
            <a:endParaRPr lang="en-US" sz="1320" b="0" u="none" strike="noStrike">
              <a:solidFill>
                <a:srgbClr val="000000"/>
              </a:solidFill>
              <a:effectLst/>
              <a:uFillTx/>
              <a:latin typeface="Arial"/>
            </a:endParaRPr>
          </a:p>
          <a:p>
            <a:pPr defTabSz="914400">
              <a:lnSpc>
                <a:spcPct val="100000"/>
              </a:lnSpc>
              <a:tabLst>
                <a:tab pos="0" algn="l"/>
              </a:tabLst>
            </a:pPr>
            <a:r>
              <a:rPr lang="en-US" sz="1320" b="0" u="none" strike="noStrike">
                <a:solidFill>
                  <a:srgbClr val="102A43"/>
                </a:solidFill>
                <a:effectLst/>
                <a:uFillTx/>
                <a:latin typeface="Aptos"/>
              </a:rPr>
              <a:t>`print()` displays output in the terminal.</a:t>
            </a:r>
            <a:endParaRPr lang="en-US" sz="1320" b="0" u="none" strike="noStrike">
              <a:solidFill>
                <a:srgbClr val="000000"/>
              </a:solidFill>
              <a:effectLst/>
              <a:uFillTx/>
              <a:latin typeface="Arial"/>
            </a:endParaRPr>
          </a:p>
          <a:p>
            <a:pPr defTabSz="914400">
              <a:lnSpc>
                <a:spcPct val="100000"/>
              </a:lnSpc>
              <a:tabLst>
                <a:tab pos="0" algn="l"/>
              </a:tabLst>
            </a:pPr>
            <a:endParaRPr lang="en-US" sz="1320" b="0" u="none" strike="noStrike">
              <a:solidFill>
                <a:srgbClr val="000000"/>
              </a:solidFill>
              <a:effectLst/>
              <a:uFillTx/>
              <a:latin typeface="Arial"/>
            </a:endParaRPr>
          </a:p>
          <a:p>
            <a:pPr defTabSz="914400">
              <a:lnSpc>
                <a:spcPct val="100000"/>
              </a:lnSpc>
              <a:tabLst>
                <a:tab pos="0" algn="l"/>
              </a:tabLst>
            </a:pPr>
            <a:r>
              <a:rPr lang="en-US" sz="1320" b="0" u="none" strike="noStrike">
                <a:solidFill>
                  <a:srgbClr val="102A43"/>
                </a:solidFill>
                <a:effectLst/>
                <a:uFillTx/>
                <a:latin typeface="Aptos"/>
              </a:rPr>
              <a:t>Names such as `name` and `message` store values.</a:t>
            </a:r>
            <a:endParaRPr lang="en-US" sz="1320" b="0" u="none" strike="noStrike">
              <a:solidFill>
                <a:srgbClr val="000000"/>
              </a:solidFill>
              <a:effectLst/>
              <a:uFillTx/>
              <a:latin typeface="Arial"/>
            </a:endParaRPr>
          </a:p>
          <a:p>
            <a:pPr defTabSz="914400">
              <a:lnSpc>
                <a:spcPct val="100000"/>
              </a:lnSpc>
              <a:tabLst>
                <a:tab pos="0" algn="l"/>
              </a:tabLst>
            </a:pPr>
            <a:endParaRPr lang="en-US" sz="1320" b="0" u="none" strike="noStrike">
              <a:solidFill>
                <a:srgbClr val="000000"/>
              </a:solidFill>
              <a:effectLst/>
              <a:uFillTx/>
              <a:latin typeface="Arial"/>
            </a:endParaRPr>
          </a:p>
          <a:p>
            <a:pPr defTabSz="914400">
              <a:lnSpc>
                <a:spcPct val="100000"/>
              </a:lnSpc>
              <a:tabLst>
                <a:tab pos="0" algn="l"/>
              </a:tabLst>
            </a:pPr>
            <a:r>
              <a:rPr lang="en-US" sz="1320" b="0" u="none" strike="noStrike">
                <a:solidFill>
                  <a:srgbClr val="102A43"/>
                </a:solidFill>
                <a:effectLst/>
                <a:uFillTx/>
                <a:latin typeface="Aptos"/>
              </a:rPr>
              <a:t>Errors stop execution and show a traceback.</a:t>
            </a:r>
            <a:endParaRPr lang="en-US" sz="1320" b="0" u="none" strike="noStrike">
              <a:solidFill>
                <a:srgbClr val="000000"/>
              </a:solidFill>
              <a:effectLst/>
              <a:uFillTx/>
              <a:latin typeface="Arial"/>
            </a:endParaRPr>
          </a:p>
        </p:txBody>
      </p:sp>
      <p:sp>
        <p:nvSpPr>
          <p:cNvPr id="213" name="Shape 12"/>
          <p:cNvSpPr/>
          <p:nvPr/>
        </p:nvSpPr>
        <p:spPr>
          <a:xfrm>
            <a:off x="5897880" y="1554480"/>
            <a:ext cx="360" cy="3017520"/>
          </a:xfrm>
          <a:prstGeom prst="line">
            <a:avLst/>
          </a:prstGeom>
          <a:ln w="25400">
            <a:solidFill>
              <a:srgbClr val="0E8F8F"/>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14" name="PlaceHolder 1"/>
          <p:cNvSpPr>
            <a:spLocks noGrp="1"/>
          </p:cNvSpPr>
          <p:nvPr>
            <p:ph type="sldNum" idx="11"/>
          </p:nvPr>
        </p:nvSpPr>
        <p:spPr>
          <a:xfrm>
            <a:off x="11292840" y="6546960"/>
            <a:ext cx="799560" cy="299520"/>
          </a:xfrm>
          <a:prstGeom prst="rect">
            <a:avLst/>
          </a:prstGeom>
          <a:noFill/>
          <a:ln w="0">
            <a:noFill/>
          </a:ln>
        </p:spPr>
        <p:txBody>
          <a:bodyPr lIns="90000" tIns="45000" rIns="90000" bIns="45000" anchor="t">
            <a:noAutofit/>
          </a:bodyPr>
          <a:lstStyle>
            <a:lvl1pPr indent="0" algn="l" defTabSz="914400">
              <a:lnSpc>
                <a:spcPct val="100000"/>
              </a:lnSpc>
              <a:buNone/>
              <a:defRPr lang="en-US" sz="900" b="0" u="none" strike="noStrike">
                <a:solidFill>
                  <a:srgbClr val="78909C"/>
                </a:solidFill>
                <a:effectLst/>
                <a:uFillTx/>
                <a:latin typeface="Aptos"/>
                <a:ea typeface="Aptos"/>
              </a:defRPr>
            </a:lvl1pPr>
          </a:lstStyle>
          <a:p>
            <a:pPr indent="0" algn="l" defTabSz="914400">
              <a:lnSpc>
                <a:spcPct val="100000"/>
              </a:lnSpc>
              <a:buNone/>
            </a:pPr>
            <a:fld id="{A39D65E1-B9F0-4389-829D-E476CA0C3B4A}" type="slidenum">
              <a:rPr lang="en-US" sz="900" b="0" u="none" strike="noStrike">
                <a:solidFill>
                  <a:srgbClr val="78909C"/>
                </a:solidFill>
                <a:effectLst/>
                <a:uFillTx/>
                <a:latin typeface="Aptos"/>
                <a:ea typeface="Aptos"/>
              </a:rPr>
              <a:t>7</a:t>
            </a:fld>
            <a:endParaRPr lang="en-US" sz="9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AFC"/>
        </a:solidFill>
      </p:bgPr>
    </p:bg>
    <p:spTree>
      <p:nvGrpSpPr>
        <p:cNvPr id="1" name=""/>
        <p:cNvGrpSpPr/>
        <p:nvPr/>
      </p:nvGrpSpPr>
      <p:grpSpPr>
        <a:xfrm>
          <a:off x="0" y="0"/>
          <a:ext cx="0" cy="0"/>
          <a:chOff x="0" y="0"/>
          <a:chExt cx="0" cy="0"/>
        </a:xfrm>
      </p:grpSpPr>
      <p:sp>
        <p:nvSpPr>
          <p:cNvPr id="215" name="Shape 0"/>
          <p:cNvSpPr/>
          <p:nvPr/>
        </p:nvSpPr>
        <p:spPr>
          <a:xfrm>
            <a:off x="0" y="0"/>
            <a:ext cx="12191400" cy="6857640"/>
          </a:xfrm>
          <a:prstGeom prst="rect">
            <a:avLst/>
          </a:prstGeom>
          <a:solidFill>
            <a:srgbClr val="F7FAFC"/>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16" name="Shape 1"/>
          <p:cNvSpPr/>
          <p:nvPr/>
        </p:nvSpPr>
        <p:spPr>
          <a:xfrm>
            <a:off x="0" y="0"/>
            <a:ext cx="164160" cy="6857640"/>
          </a:xfrm>
          <a:prstGeom prst="rect">
            <a:avLst/>
          </a:prstGeom>
          <a:solidFill>
            <a:srgbClr val="153B52"/>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17" name="Text 2"/>
          <p:cNvSpPr/>
          <p:nvPr/>
        </p:nvSpPr>
        <p:spPr>
          <a:xfrm>
            <a:off x="521280" y="109800"/>
            <a:ext cx="420588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1" u="none" strike="noStrike">
                <a:solidFill>
                  <a:srgbClr val="0E8F8F"/>
                </a:solidFill>
                <a:effectLst/>
                <a:uFillTx/>
                <a:latin typeface="Aptos"/>
              </a:rPr>
              <a:t>PYTHON CORE</a:t>
            </a:r>
            <a:endParaRPr lang="en-US" sz="850" b="0" u="none" strike="noStrike">
              <a:solidFill>
                <a:srgbClr val="000000"/>
              </a:solidFill>
              <a:effectLst/>
              <a:uFillTx/>
              <a:latin typeface="Arial"/>
            </a:endParaRPr>
          </a:p>
        </p:txBody>
      </p:sp>
      <p:sp>
        <p:nvSpPr>
          <p:cNvPr id="218" name="Text 3"/>
          <p:cNvSpPr/>
          <p:nvPr/>
        </p:nvSpPr>
        <p:spPr>
          <a:xfrm>
            <a:off x="502920" y="320040"/>
            <a:ext cx="1106388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153B52"/>
                </a:solidFill>
                <a:effectLst/>
                <a:uFillTx/>
                <a:latin typeface="Aptos Display"/>
                <a:ea typeface="Aptos Display"/>
              </a:rPr>
              <a:t>Variables &amp; Data Types</a:t>
            </a:r>
            <a:endParaRPr lang="en-US" sz="2600" b="0" u="none" strike="noStrike">
              <a:solidFill>
                <a:srgbClr val="000000"/>
              </a:solidFill>
              <a:effectLst/>
              <a:uFillTx/>
              <a:latin typeface="Arial"/>
            </a:endParaRPr>
          </a:p>
        </p:txBody>
      </p:sp>
      <p:sp>
        <p:nvSpPr>
          <p:cNvPr id="219" name="Text 4"/>
          <p:cNvSpPr/>
          <p:nvPr/>
        </p:nvSpPr>
        <p:spPr>
          <a:xfrm>
            <a:off x="511920" y="786240"/>
            <a:ext cx="1078956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52616B"/>
                </a:solidFill>
                <a:effectLst/>
                <a:uFillTx/>
                <a:latin typeface="Aptos"/>
              </a:rPr>
              <a:t>Use values that look like business data, not abstract examples.</a:t>
            </a:r>
            <a:endParaRPr lang="en-US" sz="1250" b="0" u="none" strike="noStrike">
              <a:solidFill>
                <a:srgbClr val="000000"/>
              </a:solidFill>
              <a:effectLst/>
              <a:uFillTx/>
              <a:latin typeface="Arial"/>
            </a:endParaRPr>
          </a:p>
        </p:txBody>
      </p:sp>
      <p:sp>
        <p:nvSpPr>
          <p:cNvPr id="220" name="Shape 5"/>
          <p:cNvSpPr/>
          <p:nvPr/>
        </p:nvSpPr>
        <p:spPr>
          <a:xfrm>
            <a:off x="822960" y="1261800"/>
            <a:ext cx="4800240" cy="2742840"/>
          </a:xfrm>
          <a:prstGeom prst="roundRect">
            <a:avLst>
              <a:gd name="adj" fmla="val 2667"/>
            </a:avLst>
          </a:prstGeom>
          <a:solidFill>
            <a:srgbClr val="0B1720"/>
          </a:solidFill>
          <a:ln w="10160">
            <a:solidFill>
              <a:srgbClr val="122334"/>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21" name="Shape 6"/>
          <p:cNvSpPr/>
          <p:nvPr/>
        </p:nvSpPr>
        <p:spPr>
          <a:xfrm>
            <a:off x="932760" y="1371600"/>
            <a:ext cx="1462680" cy="310680"/>
          </a:xfrm>
          <a:prstGeom prst="roundRect">
            <a:avLst>
              <a:gd name="adj" fmla="val 17647"/>
            </a:avLst>
          </a:prstGeom>
          <a:solidFill>
            <a:srgbClr val="0E8F8F"/>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22" name="Text 7"/>
          <p:cNvSpPr/>
          <p:nvPr/>
        </p:nvSpPr>
        <p:spPr>
          <a:xfrm>
            <a:off x="1005840" y="1440360"/>
            <a:ext cx="131652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FFFFFF"/>
                </a:solidFill>
                <a:effectLst/>
                <a:uFillTx/>
                <a:latin typeface="Aptos"/>
              </a:rPr>
              <a:t>EXAMPLE</a:t>
            </a:r>
            <a:endParaRPr lang="en-US" sz="900" b="0" u="none" strike="noStrike">
              <a:solidFill>
                <a:srgbClr val="000000"/>
              </a:solidFill>
              <a:effectLst/>
              <a:uFillTx/>
              <a:latin typeface="Arial"/>
            </a:endParaRPr>
          </a:p>
        </p:txBody>
      </p:sp>
      <p:sp>
        <p:nvSpPr>
          <p:cNvPr id="223" name="Text 8"/>
          <p:cNvSpPr/>
          <p:nvPr/>
        </p:nvSpPr>
        <p:spPr>
          <a:xfrm>
            <a:off x="1024200" y="1792080"/>
            <a:ext cx="4397760" cy="2066040"/>
          </a:xfrm>
          <a:prstGeom prst="rect">
            <a:avLst/>
          </a:prstGeom>
          <a:noFill/>
          <a:ln w="0">
            <a:noFill/>
          </a:ln>
        </p:spPr>
        <p:style>
          <a:lnRef idx="0"/>
          <a:fillRef idx="0"/>
          <a:effectRef idx="0"/>
          <a:fontRef idx="minor"/>
        </p:style>
        <p:txBody>
          <a:bodyPr lIns="360" tIns="360" rIns="360" bIns="360" anchor="t">
            <a:normAutofit/>
          </a:bodyPr>
          <a:p>
            <a:pPr defTabSz="914400">
              <a:lnSpc>
                <a:spcPct val="100000"/>
              </a:lnSpc>
              <a:tabLst>
                <a:tab pos="0" algn="l"/>
              </a:tabLst>
            </a:pPr>
            <a:r>
              <a:rPr lang="en-US" sz="1120" b="0" u="none" strike="noStrike">
                <a:solidFill>
                  <a:srgbClr val="E8F1F8"/>
                </a:solidFill>
                <a:effectLst/>
                <a:uFillTx/>
                <a:latin typeface="Courier New"/>
                <a:ea typeface="Courier New"/>
              </a:rPr>
              <a:t>ticket_id = 101</a:t>
            </a:r>
            <a:endParaRPr lang="en-US" sz="1120" b="0" u="none" strike="noStrike">
              <a:solidFill>
                <a:srgbClr val="000000"/>
              </a:solidFill>
              <a:effectLst/>
              <a:uFillTx/>
              <a:latin typeface="Arial"/>
            </a:endParaRPr>
          </a:p>
          <a:p>
            <a:pPr defTabSz="914400">
              <a:lnSpc>
                <a:spcPct val="100000"/>
              </a:lnSpc>
              <a:tabLst>
                <a:tab pos="0" algn="l"/>
              </a:tabLst>
            </a:pPr>
            <a:r>
              <a:rPr lang="en-US" sz="1120" b="0" u="none" strike="noStrike">
                <a:solidFill>
                  <a:srgbClr val="E8F1F8"/>
                </a:solidFill>
                <a:effectLst/>
                <a:uFillTx/>
                <a:latin typeface="Courier New"/>
                <a:ea typeface="Courier New"/>
              </a:rPr>
              <a:t>customer_name = "Ahmed"</a:t>
            </a:r>
            <a:endParaRPr lang="en-US" sz="1120" b="0" u="none" strike="noStrike">
              <a:solidFill>
                <a:srgbClr val="000000"/>
              </a:solidFill>
              <a:effectLst/>
              <a:uFillTx/>
              <a:latin typeface="Arial"/>
            </a:endParaRPr>
          </a:p>
          <a:p>
            <a:pPr defTabSz="914400">
              <a:lnSpc>
                <a:spcPct val="100000"/>
              </a:lnSpc>
              <a:tabLst>
                <a:tab pos="0" algn="l"/>
              </a:tabLst>
            </a:pPr>
            <a:r>
              <a:rPr lang="en-US" sz="1120" b="0" u="none" strike="noStrike">
                <a:solidFill>
                  <a:srgbClr val="E8F1F8"/>
                </a:solidFill>
                <a:effectLst/>
                <a:uFillTx/>
                <a:latin typeface="Courier New"/>
                <a:ea typeface="Courier New"/>
              </a:rPr>
              <a:t>is_resolved = False</a:t>
            </a:r>
            <a:endParaRPr lang="en-US" sz="1120" b="0" u="none" strike="noStrike">
              <a:solidFill>
                <a:srgbClr val="000000"/>
              </a:solidFill>
              <a:effectLst/>
              <a:uFillTx/>
              <a:latin typeface="Arial"/>
            </a:endParaRPr>
          </a:p>
          <a:p>
            <a:pPr defTabSz="914400">
              <a:lnSpc>
                <a:spcPct val="100000"/>
              </a:lnSpc>
              <a:tabLst>
                <a:tab pos="0" algn="l"/>
              </a:tabLst>
            </a:pPr>
            <a:r>
              <a:rPr lang="en-US" sz="1120" b="0" u="none" strike="noStrike">
                <a:solidFill>
                  <a:srgbClr val="E8F1F8"/>
                </a:solidFill>
                <a:effectLst/>
                <a:uFillTx/>
                <a:latin typeface="Courier New"/>
                <a:ea typeface="Courier New"/>
              </a:rPr>
              <a:t>priority_score = 0.8</a:t>
            </a:r>
            <a:endParaRPr lang="en-US" sz="1120" b="0" u="none" strike="noStrike">
              <a:solidFill>
                <a:srgbClr val="000000"/>
              </a:solidFill>
              <a:effectLst/>
              <a:uFillTx/>
              <a:latin typeface="Arial"/>
            </a:endParaRPr>
          </a:p>
          <a:p>
            <a:pPr defTabSz="914400">
              <a:lnSpc>
                <a:spcPct val="100000"/>
              </a:lnSpc>
              <a:tabLst>
                <a:tab pos="0" algn="l"/>
              </a:tabLst>
            </a:pPr>
            <a:endParaRPr lang="en-US" sz="1120" b="0" u="none" strike="noStrike">
              <a:solidFill>
                <a:srgbClr val="000000"/>
              </a:solidFill>
              <a:effectLst/>
              <a:uFillTx/>
              <a:latin typeface="Arial"/>
            </a:endParaRPr>
          </a:p>
          <a:p>
            <a:pPr defTabSz="914400">
              <a:lnSpc>
                <a:spcPct val="100000"/>
              </a:lnSpc>
              <a:tabLst>
                <a:tab pos="0" algn="l"/>
              </a:tabLst>
            </a:pPr>
            <a:r>
              <a:rPr lang="en-US" sz="1120" b="0" u="none" strike="noStrike">
                <a:solidFill>
                  <a:srgbClr val="E8F1F8"/>
                </a:solidFill>
                <a:effectLst/>
                <a:uFillTx/>
                <a:latin typeface="Courier New"/>
                <a:ea typeface="Courier New"/>
              </a:rPr>
              <a:t>print(type(ticket_id))</a:t>
            </a:r>
            <a:endParaRPr lang="en-US" sz="1120" b="0" u="none" strike="noStrike">
              <a:solidFill>
                <a:srgbClr val="000000"/>
              </a:solidFill>
              <a:effectLst/>
              <a:uFillTx/>
              <a:latin typeface="Arial"/>
            </a:endParaRPr>
          </a:p>
          <a:p>
            <a:pPr defTabSz="914400">
              <a:lnSpc>
                <a:spcPct val="100000"/>
              </a:lnSpc>
              <a:tabLst>
                <a:tab pos="0" algn="l"/>
              </a:tabLst>
            </a:pPr>
            <a:r>
              <a:rPr lang="en-US" sz="1120" b="0" u="none" strike="noStrike">
                <a:solidFill>
                  <a:srgbClr val="E8F1F8"/>
                </a:solidFill>
                <a:effectLst/>
                <a:uFillTx/>
                <a:latin typeface="Courier New"/>
                <a:ea typeface="Courier New"/>
              </a:rPr>
              <a:t>print(type(customer_name))</a:t>
            </a:r>
            <a:endParaRPr lang="en-US" sz="1120" b="0" u="none" strike="noStrike">
              <a:solidFill>
                <a:srgbClr val="000000"/>
              </a:solidFill>
              <a:effectLst/>
              <a:uFillTx/>
              <a:latin typeface="Arial"/>
            </a:endParaRPr>
          </a:p>
        </p:txBody>
      </p:sp>
      <p:sp>
        <p:nvSpPr>
          <p:cNvPr id="224" name="Shape 9"/>
          <p:cNvSpPr/>
          <p:nvPr/>
        </p:nvSpPr>
        <p:spPr>
          <a:xfrm>
            <a:off x="6446520" y="1261800"/>
            <a:ext cx="4388760" cy="456840"/>
          </a:xfrm>
          <a:prstGeom prst="roundRect">
            <a:avLst>
              <a:gd name="adj" fmla="val 16000"/>
            </a:avLst>
          </a:prstGeom>
          <a:solidFill>
            <a:srgbClr val="FFFFFF"/>
          </a:solidFill>
          <a:ln w="10160">
            <a:solidFill>
              <a:srgbClr val="D7E3E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25" name="Text 10"/>
          <p:cNvSpPr/>
          <p:nvPr/>
        </p:nvSpPr>
        <p:spPr>
          <a:xfrm>
            <a:off x="6675120" y="1398960"/>
            <a:ext cx="914040" cy="109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2B6CB0"/>
                </a:solidFill>
                <a:effectLst/>
                <a:uFillTx/>
                <a:latin typeface="Courier New"/>
                <a:ea typeface="Courier New"/>
              </a:rPr>
              <a:t>int</a:t>
            </a:r>
            <a:endParaRPr lang="en-US" sz="1000" b="0" u="none" strike="noStrike">
              <a:solidFill>
                <a:srgbClr val="000000"/>
              </a:solidFill>
              <a:effectLst/>
              <a:uFillTx/>
              <a:latin typeface="Arial"/>
            </a:endParaRPr>
          </a:p>
        </p:txBody>
      </p:sp>
      <p:sp>
        <p:nvSpPr>
          <p:cNvPr id="226" name="Text 11"/>
          <p:cNvSpPr/>
          <p:nvPr/>
        </p:nvSpPr>
        <p:spPr>
          <a:xfrm>
            <a:off x="7909560" y="1398960"/>
            <a:ext cx="2377080" cy="109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102A43"/>
                </a:solidFill>
                <a:effectLst/>
                <a:uFillTx/>
                <a:latin typeface="Courier New"/>
                <a:ea typeface="Courier New"/>
              </a:rPr>
              <a:t>101</a:t>
            </a:r>
            <a:endParaRPr lang="en-US" sz="1000" b="0" u="none" strike="noStrike">
              <a:solidFill>
                <a:srgbClr val="000000"/>
              </a:solidFill>
              <a:effectLst/>
              <a:uFillTx/>
              <a:latin typeface="Arial"/>
            </a:endParaRPr>
          </a:p>
        </p:txBody>
      </p:sp>
      <p:sp>
        <p:nvSpPr>
          <p:cNvPr id="227" name="Shape 12"/>
          <p:cNvSpPr/>
          <p:nvPr/>
        </p:nvSpPr>
        <p:spPr>
          <a:xfrm>
            <a:off x="6446520" y="1837800"/>
            <a:ext cx="4388760" cy="456840"/>
          </a:xfrm>
          <a:prstGeom prst="roundRect">
            <a:avLst>
              <a:gd name="adj" fmla="val 16000"/>
            </a:avLst>
          </a:prstGeom>
          <a:solidFill>
            <a:srgbClr val="F1F5F9"/>
          </a:solidFill>
          <a:ln w="10160">
            <a:solidFill>
              <a:srgbClr val="D7E3E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28" name="Text 13"/>
          <p:cNvSpPr/>
          <p:nvPr/>
        </p:nvSpPr>
        <p:spPr>
          <a:xfrm>
            <a:off x="6675120" y="1974960"/>
            <a:ext cx="914040" cy="109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2B6CB0"/>
                </a:solidFill>
                <a:effectLst/>
                <a:uFillTx/>
                <a:latin typeface="Courier New"/>
                <a:ea typeface="Courier New"/>
              </a:rPr>
              <a:t>str</a:t>
            </a:r>
            <a:endParaRPr lang="en-US" sz="1000" b="0" u="none" strike="noStrike">
              <a:solidFill>
                <a:srgbClr val="000000"/>
              </a:solidFill>
              <a:effectLst/>
              <a:uFillTx/>
              <a:latin typeface="Arial"/>
            </a:endParaRPr>
          </a:p>
        </p:txBody>
      </p:sp>
      <p:sp>
        <p:nvSpPr>
          <p:cNvPr id="229" name="Text 14"/>
          <p:cNvSpPr/>
          <p:nvPr/>
        </p:nvSpPr>
        <p:spPr>
          <a:xfrm>
            <a:off x="7909560" y="1974960"/>
            <a:ext cx="2377080" cy="109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102A43"/>
                </a:solidFill>
                <a:effectLst/>
                <a:uFillTx/>
                <a:latin typeface="Courier New"/>
                <a:ea typeface="Courier New"/>
              </a:rPr>
              <a:t>"Ahmed"</a:t>
            </a:r>
            <a:endParaRPr lang="en-US" sz="1000" b="0" u="none" strike="noStrike">
              <a:solidFill>
                <a:srgbClr val="000000"/>
              </a:solidFill>
              <a:effectLst/>
              <a:uFillTx/>
              <a:latin typeface="Arial"/>
            </a:endParaRPr>
          </a:p>
        </p:txBody>
      </p:sp>
      <p:sp>
        <p:nvSpPr>
          <p:cNvPr id="230" name="Shape 15"/>
          <p:cNvSpPr/>
          <p:nvPr/>
        </p:nvSpPr>
        <p:spPr>
          <a:xfrm>
            <a:off x="6446520" y="2414160"/>
            <a:ext cx="4388760" cy="456840"/>
          </a:xfrm>
          <a:prstGeom prst="roundRect">
            <a:avLst>
              <a:gd name="adj" fmla="val 16000"/>
            </a:avLst>
          </a:prstGeom>
          <a:solidFill>
            <a:srgbClr val="FFFFFF"/>
          </a:solidFill>
          <a:ln w="10160">
            <a:solidFill>
              <a:srgbClr val="D7E3E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31" name="Text 16"/>
          <p:cNvSpPr/>
          <p:nvPr/>
        </p:nvSpPr>
        <p:spPr>
          <a:xfrm>
            <a:off x="6675120" y="2551320"/>
            <a:ext cx="914040" cy="109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2B6CB0"/>
                </a:solidFill>
                <a:effectLst/>
                <a:uFillTx/>
                <a:latin typeface="Courier New"/>
                <a:ea typeface="Courier New"/>
              </a:rPr>
              <a:t>bool</a:t>
            </a:r>
            <a:endParaRPr lang="en-US" sz="1000" b="0" u="none" strike="noStrike">
              <a:solidFill>
                <a:srgbClr val="000000"/>
              </a:solidFill>
              <a:effectLst/>
              <a:uFillTx/>
              <a:latin typeface="Arial"/>
            </a:endParaRPr>
          </a:p>
        </p:txBody>
      </p:sp>
      <p:sp>
        <p:nvSpPr>
          <p:cNvPr id="232" name="Text 17"/>
          <p:cNvSpPr/>
          <p:nvPr/>
        </p:nvSpPr>
        <p:spPr>
          <a:xfrm>
            <a:off x="7909560" y="2551320"/>
            <a:ext cx="2377080" cy="109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102A43"/>
                </a:solidFill>
                <a:effectLst/>
                <a:uFillTx/>
                <a:latin typeface="Courier New"/>
                <a:ea typeface="Courier New"/>
              </a:rPr>
              <a:t>False</a:t>
            </a:r>
            <a:endParaRPr lang="en-US" sz="1000" b="0" u="none" strike="noStrike">
              <a:solidFill>
                <a:srgbClr val="000000"/>
              </a:solidFill>
              <a:effectLst/>
              <a:uFillTx/>
              <a:latin typeface="Arial"/>
            </a:endParaRPr>
          </a:p>
        </p:txBody>
      </p:sp>
      <p:sp>
        <p:nvSpPr>
          <p:cNvPr id="233" name="Shape 18"/>
          <p:cNvSpPr/>
          <p:nvPr/>
        </p:nvSpPr>
        <p:spPr>
          <a:xfrm>
            <a:off x="6446520" y="2990160"/>
            <a:ext cx="4388760" cy="456840"/>
          </a:xfrm>
          <a:prstGeom prst="roundRect">
            <a:avLst>
              <a:gd name="adj" fmla="val 16000"/>
            </a:avLst>
          </a:prstGeom>
          <a:solidFill>
            <a:srgbClr val="F1F5F9"/>
          </a:solidFill>
          <a:ln w="10160">
            <a:solidFill>
              <a:srgbClr val="D7E3E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34" name="Text 19"/>
          <p:cNvSpPr/>
          <p:nvPr/>
        </p:nvSpPr>
        <p:spPr>
          <a:xfrm>
            <a:off x="6675120" y="3127320"/>
            <a:ext cx="914040" cy="109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2B6CB0"/>
                </a:solidFill>
                <a:effectLst/>
                <a:uFillTx/>
                <a:latin typeface="Courier New"/>
                <a:ea typeface="Courier New"/>
              </a:rPr>
              <a:t>float</a:t>
            </a:r>
            <a:endParaRPr lang="en-US" sz="1000" b="0" u="none" strike="noStrike">
              <a:solidFill>
                <a:srgbClr val="000000"/>
              </a:solidFill>
              <a:effectLst/>
              <a:uFillTx/>
              <a:latin typeface="Arial"/>
            </a:endParaRPr>
          </a:p>
        </p:txBody>
      </p:sp>
      <p:sp>
        <p:nvSpPr>
          <p:cNvPr id="235" name="Text 20"/>
          <p:cNvSpPr/>
          <p:nvPr/>
        </p:nvSpPr>
        <p:spPr>
          <a:xfrm>
            <a:off x="7909560" y="3127320"/>
            <a:ext cx="2377080" cy="109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102A43"/>
                </a:solidFill>
                <a:effectLst/>
                <a:uFillTx/>
                <a:latin typeface="Courier New"/>
                <a:ea typeface="Courier New"/>
              </a:rPr>
              <a:t>0.8</a:t>
            </a:r>
            <a:endParaRPr lang="en-US" sz="1000" b="0" u="none" strike="noStrike">
              <a:solidFill>
                <a:srgbClr val="000000"/>
              </a:solidFill>
              <a:effectLst/>
              <a:uFillTx/>
              <a:latin typeface="Arial"/>
            </a:endParaRPr>
          </a:p>
        </p:txBody>
      </p:sp>
      <p:sp>
        <p:nvSpPr>
          <p:cNvPr id="236" name="Shape 21"/>
          <p:cNvSpPr/>
          <p:nvPr/>
        </p:nvSpPr>
        <p:spPr>
          <a:xfrm>
            <a:off x="6446520" y="3566160"/>
            <a:ext cx="4388760" cy="456840"/>
          </a:xfrm>
          <a:prstGeom prst="roundRect">
            <a:avLst>
              <a:gd name="adj" fmla="val 16000"/>
            </a:avLst>
          </a:prstGeom>
          <a:solidFill>
            <a:srgbClr val="FFFFFF"/>
          </a:solidFill>
          <a:ln w="10160">
            <a:solidFill>
              <a:srgbClr val="D7E3E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37" name="Text 22"/>
          <p:cNvSpPr/>
          <p:nvPr/>
        </p:nvSpPr>
        <p:spPr>
          <a:xfrm>
            <a:off x="6675120" y="3703320"/>
            <a:ext cx="914040" cy="109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1" u="none" strike="noStrike">
                <a:solidFill>
                  <a:srgbClr val="2B6CB0"/>
                </a:solidFill>
                <a:effectLst/>
                <a:uFillTx/>
                <a:latin typeface="Courier New"/>
                <a:ea typeface="Courier New"/>
              </a:rPr>
              <a:t>None</a:t>
            </a:r>
            <a:endParaRPr lang="en-US" sz="1000" b="0" u="none" strike="noStrike">
              <a:solidFill>
                <a:srgbClr val="000000"/>
              </a:solidFill>
              <a:effectLst/>
              <a:uFillTx/>
              <a:latin typeface="Arial"/>
            </a:endParaRPr>
          </a:p>
        </p:txBody>
      </p:sp>
      <p:sp>
        <p:nvSpPr>
          <p:cNvPr id="238" name="Text 23"/>
          <p:cNvSpPr/>
          <p:nvPr/>
        </p:nvSpPr>
        <p:spPr>
          <a:xfrm>
            <a:off x="7909560" y="3703320"/>
            <a:ext cx="2377080" cy="109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00" b="0" u="none" strike="noStrike">
                <a:solidFill>
                  <a:srgbClr val="102A43"/>
                </a:solidFill>
                <a:effectLst/>
                <a:uFillTx/>
                <a:latin typeface="Courier New"/>
                <a:ea typeface="Courier New"/>
              </a:rPr>
              <a:t>None</a:t>
            </a:r>
            <a:endParaRPr lang="en-US" sz="1000" b="0" u="none" strike="noStrike">
              <a:solidFill>
                <a:srgbClr val="000000"/>
              </a:solidFill>
              <a:effectLst/>
              <a:uFillTx/>
              <a:latin typeface="Arial"/>
            </a:endParaRPr>
          </a:p>
        </p:txBody>
      </p:sp>
      <p:sp>
        <p:nvSpPr>
          <p:cNvPr id="239" name="Shape 24"/>
          <p:cNvSpPr/>
          <p:nvPr/>
        </p:nvSpPr>
        <p:spPr>
          <a:xfrm>
            <a:off x="822960" y="4370760"/>
            <a:ext cx="10012320" cy="658080"/>
          </a:xfrm>
          <a:prstGeom prst="roundRect">
            <a:avLst>
              <a:gd name="adj" fmla="val 11111"/>
            </a:avLst>
          </a:prstGeom>
          <a:solidFill>
            <a:srgbClr val="FFF7ED"/>
          </a:solidFill>
          <a:ln w="10160">
            <a:solidFill>
              <a:srgbClr val="F5D0A9"/>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40" name="Text 25"/>
          <p:cNvSpPr/>
          <p:nvPr/>
        </p:nvSpPr>
        <p:spPr>
          <a:xfrm>
            <a:off x="1024200" y="4599360"/>
            <a:ext cx="9509400" cy="164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8A4B12"/>
                </a:solidFill>
                <a:effectLst/>
                <a:uFillTx/>
                <a:latin typeface="Aptos"/>
              </a:rPr>
              <a:t>Instructor tip: ask students to change one value, run the program again, and observe the output.</a:t>
            </a:r>
            <a:endParaRPr lang="en-US" sz="1250" b="0" u="none" strike="noStrike">
              <a:solidFill>
                <a:srgbClr val="000000"/>
              </a:solidFill>
              <a:effectLst/>
              <a:uFillTx/>
              <a:latin typeface="Arial"/>
            </a:endParaRPr>
          </a:p>
        </p:txBody>
      </p:sp>
      <p:sp>
        <p:nvSpPr>
          <p:cNvPr id="241" name="PlaceHolder 1"/>
          <p:cNvSpPr>
            <a:spLocks noGrp="1"/>
          </p:cNvSpPr>
          <p:nvPr>
            <p:ph type="sldNum" idx="12"/>
          </p:nvPr>
        </p:nvSpPr>
        <p:spPr>
          <a:xfrm>
            <a:off x="11292840" y="6546960"/>
            <a:ext cx="799560" cy="299520"/>
          </a:xfrm>
          <a:prstGeom prst="rect">
            <a:avLst/>
          </a:prstGeom>
          <a:noFill/>
          <a:ln w="0">
            <a:noFill/>
          </a:ln>
        </p:spPr>
        <p:txBody>
          <a:bodyPr lIns="90000" tIns="45000" rIns="90000" bIns="45000" anchor="t">
            <a:noAutofit/>
          </a:bodyPr>
          <a:lstStyle>
            <a:lvl1pPr indent="0" algn="l" defTabSz="914400">
              <a:lnSpc>
                <a:spcPct val="100000"/>
              </a:lnSpc>
              <a:buNone/>
              <a:defRPr lang="en-US" sz="900" b="0" u="none" strike="noStrike">
                <a:solidFill>
                  <a:srgbClr val="78909C"/>
                </a:solidFill>
                <a:effectLst/>
                <a:uFillTx/>
                <a:latin typeface="Aptos"/>
                <a:ea typeface="Aptos"/>
              </a:defRPr>
            </a:lvl1pPr>
          </a:lstStyle>
          <a:p>
            <a:pPr indent="0" algn="l" defTabSz="914400">
              <a:lnSpc>
                <a:spcPct val="100000"/>
              </a:lnSpc>
              <a:buNone/>
            </a:pPr>
            <a:fld id="{807C1CA2-2AA0-447F-BDDB-F09437E07C1D}" type="slidenum">
              <a:rPr lang="en-US" sz="900" b="0" u="none" strike="noStrike">
                <a:solidFill>
                  <a:srgbClr val="78909C"/>
                </a:solidFill>
                <a:effectLst/>
                <a:uFillTx/>
                <a:latin typeface="Aptos"/>
                <a:ea typeface="Aptos"/>
              </a:rPr>
              <a:t>8</a:t>
            </a:fld>
            <a:endParaRPr lang="en-US" sz="9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AFC"/>
        </a:solidFill>
      </p:bgPr>
    </p:bg>
    <p:spTree>
      <p:nvGrpSpPr>
        <p:cNvPr id="1" name=""/>
        <p:cNvGrpSpPr/>
        <p:nvPr/>
      </p:nvGrpSpPr>
      <p:grpSpPr>
        <a:xfrm>
          <a:off x="0" y="0"/>
          <a:ext cx="0" cy="0"/>
          <a:chOff x="0" y="0"/>
          <a:chExt cx="0" cy="0"/>
        </a:xfrm>
      </p:grpSpPr>
      <p:sp>
        <p:nvSpPr>
          <p:cNvPr id="242" name="Shape 0"/>
          <p:cNvSpPr/>
          <p:nvPr/>
        </p:nvSpPr>
        <p:spPr>
          <a:xfrm>
            <a:off x="0" y="0"/>
            <a:ext cx="12191400" cy="6857640"/>
          </a:xfrm>
          <a:prstGeom prst="rect">
            <a:avLst/>
          </a:prstGeom>
          <a:solidFill>
            <a:srgbClr val="F7FAFC"/>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43" name="Shape 1"/>
          <p:cNvSpPr/>
          <p:nvPr/>
        </p:nvSpPr>
        <p:spPr>
          <a:xfrm>
            <a:off x="0" y="0"/>
            <a:ext cx="164160" cy="6857640"/>
          </a:xfrm>
          <a:prstGeom prst="rect">
            <a:avLst/>
          </a:prstGeom>
          <a:solidFill>
            <a:srgbClr val="153B52"/>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44" name="Text 2"/>
          <p:cNvSpPr/>
          <p:nvPr/>
        </p:nvSpPr>
        <p:spPr>
          <a:xfrm>
            <a:off x="521280" y="109800"/>
            <a:ext cx="420588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1" u="none" strike="noStrike">
                <a:solidFill>
                  <a:srgbClr val="0E8F8F"/>
                </a:solidFill>
                <a:effectLst/>
                <a:uFillTx/>
                <a:latin typeface="Aptos"/>
              </a:rPr>
              <a:t>PYTHON CORE</a:t>
            </a:r>
            <a:endParaRPr lang="en-US" sz="850" b="0" u="none" strike="noStrike">
              <a:solidFill>
                <a:srgbClr val="000000"/>
              </a:solidFill>
              <a:effectLst/>
              <a:uFillTx/>
              <a:latin typeface="Arial"/>
            </a:endParaRPr>
          </a:p>
        </p:txBody>
      </p:sp>
      <p:sp>
        <p:nvSpPr>
          <p:cNvPr id="245" name="Text 3"/>
          <p:cNvSpPr/>
          <p:nvPr/>
        </p:nvSpPr>
        <p:spPr>
          <a:xfrm>
            <a:off x="502920" y="320040"/>
            <a:ext cx="1106388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153B52"/>
                </a:solidFill>
                <a:effectLst/>
                <a:uFillTx/>
                <a:latin typeface="Aptos Display"/>
                <a:ea typeface="Aptos Display"/>
              </a:rPr>
              <a:t>Strings &amp; f-strings</a:t>
            </a:r>
            <a:endParaRPr lang="en-US" sz="2600" b="0" u="none" strike="noStrike">
              <a:solidFill>
                <a:srgbClr val="000000"/>
              </a:solidFill>
              <a:effectLst/>
              <a:uFillTx/>
              <a:latin typeface="Arial"/>
            </a:endParaRPr>
          </a:p>
        </p:txBody>
      </p:sp>
      <p:sp>
        <p:nvSpPr>
          <p:cNvPr id="246" name="Text 4"/>
          <p:cNvSpPr/>
          <p:nvPr/>
        </p:nvSpPr>
        <p:spPr>
          <a:xfrm>
            <a:off x="511920" y="786240"/>
            <a:ext cx="1078956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52616B"/>
                </a:solidFill>
                <a:effectLst/>
                <a:uFillTx/>
                <a:latin typeface="Aptos"/>
              </a:rPr>
              <a:t>Agents spend a lot of time reading and writing text.</a:t>
            </a:r>
            <a:endParaRPr lang="en-US" sz="1250" b="0" u="none" strike="noStrike">
              <a:solidFill>
                <a:srgbClr val="000000"/>
              </a:solidFill>
              <a:effectLst/>
              <a:uFillTx/>
              <a:latin typeface="Arial"/>
            </a:endParaRPr>
          </a:p>
        </p:txBody>
      </p:sp>
      <p:sp>
        <p:nvSpPr>
          <p:cNvPr id="247" name="Shape 5"/>
          <p:cNvSpPr/>
          <p:nvPr/>
        </p:nvSpPr>
        <p:spPr>
          <a:xfrm>
            <a:off x="822960" y="1280160"/>
            <a:ext cx="4891680" cy="2742840"/>
          </a:xfrm>
          <a:prstGeom prst="roundRect">
            <a:avLst>
              <a:gd name="adj" fmla="val 2667"/>
            </a:avLst>
          </a:prstGeom>
          <a:solidFill>
            <a:srgbClr val="0B1720"/>
          </a:solidFill>
          <a:ln w="10160">
            <a:solidFill>
              <a:srgbClr val="122334"/>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48" name="Shape 6"/>
          <p:cNvSpPr/>
          <p:nvPr/>
        </p:nvSpPr>
        <p:spPr>
          <a:xfrm>
            <a:off x="932760" y="1389960"/>
            <a:ext cx="1462680" cy="310680"/>
          </a:xfrm>
          <a:prstGeom prst="roundRect">
            <a:avLst>
              <a:gd name="adj" fmla="val 17647"/>
            </a:avLst>
          </a:prstGeom>
          <a:solidFill>
            <a:srgbClr val="0E8F8F"/>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49" name="Text 7"/>
          <p:cNvSpPr/>
          <p:nvPr/>
        </p:nvSpPr>
        <p:spPr>
          <a:xfrm>
            <a:off x="1005840" y="1458360"/>
            <a:ext cx="131652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FFFFFF"/>
                </a:solidFill>
                <a:effectLst/>
                <a:uFillTx/>
                <a:latin typeface="Aptos"/>
              </a:rPr>
              <a:t>TEXT FORMATTING</a:t>
            </a:r>
            <a:endParaRPr lang="en-US" sz="900" b="0" u="none" strike="noStrike">
              <a:solidFill>
                <a:srgbClr val="000000"/>
              </a:solidFill>
              <a:effectLst/>
              <a:uFillTx/>
              <a:latin typeface="Arial"/>
            </a:endParaRPr>
          </a:p>
        </p:txBody>
      </p:sp>
      <p:sp>
        <p:nvSpPr>
          <p:cNvPr id="250" name="Text 8"/>
          <p:cNvSpPr/>
          <p:nvPr/>
        </p:nvSpPr>
        <p:spPr>
          <a:xfrm>
            <a:off x="1024200" y="1810440"/>
            <a:ext cx="4489200" cy="2066040"/>
          </a:xfrm>
          <a:prstGeom prst="rect">
            <a:avLst/>
          </a:prstGeom>
          <a:noFill/>
          <a:ln w="0">
            <a:noFill/>
          </a:ln>
        </p:spPr>
        <p:style>
          <a:lnRef idx="0"/>
          <a:fillRef idx="0"/>
          <a:effectRef idx="0"/>
          <a:fontRef idx="minor"/>
        </p:style>
        <p:txBody>
          <a:bodyPr lIns="360" tIns="360" rIns="360" bIns="360" anchor="t">
            <a:normAutofit/>
          </a:bodyPr>
          <a:p>
            <a:pPr defTabSz="914400">
              <a:lnSpc>
                <a:spcPct val="100000"/>
              </a:lnSpc>
              <a:tabLst>
                <a:tab pos="0" algn="l"/>
              </a:tabLst>
            </a:pPr>
            <a:r>
              <a:rPr lang="en-US" sz="1120" b="0" u="none" strike="noStrike">
                <a:solidFill>
                  <a:srgbClr val="E8F1F8"/>
                </a:solidFill>
                <a:effectLst/>
                <a:uFillTx/>
                <a:latin typeface="Courier New"/>
                <a:ea typeface="Courier New"/>
              </a:rPr>
              <a:t>customer = "Sara"</a:t>
            </a:r>
            <a:endParaRPr lang="en-US" sz="1120" b="0" u="none" strike="noStrike">
              <a:solidFill>
                <a:srgbClr val="000000"/>
              </a:solidFill>
              <a:effectLst/>
              <a:uFillTx/>
              <a:latin typeface="Arial"/>
            </a:endParaRPr>
          </a:p>
          <a:p>
            <a:pPr defTabSz="914400">
              <a:lnSpc>
                <a:spcPct val="100000"/>
              </a:lnSpc>
              <a:tabLst>
                <a:tab pos="0" algn="l"/>
              </a:tabLst>
            </a:pPr>
            <a:r>
              <a:rPr lang="en-US" sz="1120" b="0" u="none" strike="noStrike">
                <a:solidFill>
                  <a:srgbClr val="E8F1F8"/>
                </a:solidFill>
                <a:effectLst/>
                <a:uFillTx/>
                <a:latin typeface="Courier New"/>
                <a:ea typeface="Courier New"/>
              </a:rPr>
              <a:t>ticket_id = 102</a:t>
            </a:r>
            <a:endParaRPr lang="en-US" sz="1120" b="0" u="none" strike="noStrike">
              <a:solidFill>
                <a:srgbClr val="000000"/>
              </a:solidFill>
              <a:effectLst/>
              <a:uFillTx/>
              <a:latin typeface="Arial"/>
            </a:endParaRPr>
          </a:p>
          <a:p>
            <a:pPr defTabSz="914400">
              <a:lnSpc>
                <a:spcPct val="100000"/>
              </a:lnSpc>
              <a:tabLst>
                <a:tab pos="0" algn="l"/>
              </a:tabLst>
            </a:pPr>
            <a:r>
              <a:rPr lang="en-US" sz="1120" b="0" u="none" strike="noStrike">
                <a:solidFill>
                  <a:srgbClr val="E8F1F8"/>
                </a:solidFill>
                <a:effectLst/>
                <a:uFillTx/>
                <a:latin typeface="Courier New"/>
                <a:ea typeface="Courier New"/>
              </a:rPr>
              <a:t>category = "technical"</a:t>
            </a:r>
            <a:endParaRPr lang="en-US" sz="1120" b="0" u="none" strike="noStrike">
              <a:solidFill>
                <a:srgbClr val="000000"/>
              </a:solidFill>
              <a:effectLst/>
              <a:uFillTx/>
              <a:latin typeface="Arial"/>
            </a:endParaRPr>
          </a:p>
          <a:p>
            <a:pPr defTabSz="914400">
              <a:lnSpc>
                <a:spcPct val="100000"/>
              </a:lnSpc>
              <a:tabLst>
                <a:tab pos="0" algn="l"/>
              </a:tabLst>
            </a:pPr>
            <a:endParaRPr lang="en-US" sz="1120" b="0" u="none" strike="noStrike">
              <a:solidFill>
                <a:srgbClr val="000000"/>
              </a:solidFill>
              <a:effectLst/>
              <a:uFillTx/>
              <a:latin typeface="Arial"/>
            </a:endParaRPr>
          </a:p>
          <a:p>
            <a:pPr defTabSz="914400">
              <a:lnSpc>
                <a:spcPct val="100000"/>
              </a:lnSpc>
              <a:tabLst>
                <a:tab pos="0" algn="l"/>
              </a:tabLst>
            </a:pPr>
            <a:r>
              <a:rPr lang="en-US" sz="1120" b="0" u="none" strike="noStrike">
                <a:solidFill>
                  <a:srgbClr val="E8F1F8"/>
                </a:solidFill>
                <a:effectLst/>
                <a:uFillTx/>
                <a:latin typeface="Courier New"/>
                <a:ea typeface="Courier New"/>
              </a:rPr>
              <a:t>summary = f"Ticket #{ticket_id} - {customer}: {category}"</a:t>
            </a:r>
            <a:endParaRPr lang="en-US" sz="1120" b="0" u="none" strike="noStrike">
              <a:solidFill>
                <a:srgbClr val="000000"/>
              </a:solidFill>
              <a:effectLst/>
              <a:uFillTx/>
              <a:latin typeface="Arial"/>
            </a:endParaRPr>
          </a:p>
          <a:p>
            <a:pPr defTabSz="914400">
              <a:lnSpc>
                <a:spcPct val="100000"/>
              </a:lnSpc>
              <a:tabLst>
                <a:tab pos="0" algn="l"/>
              </a:tabLst>
            </a:pPr>
            <a:endParaRPr lang="en-US" sz="1120" b="0" u="none" strike="noStrike">
              <a:solidFill>
                <a:srgbClr val="000000"/>
              </a:solidFill>
              <a:effectLst/>
              <a:uFillTx/>
              <a:latin typeface="Arial"/>
            </a:endParaRPr>
          </a:p>
          <a:p>
            <a:pPr defTabSz="914400">
              <a:lnSpc>
                <a:spcPct val="100000"/>
              </a:lnSpc>
              <a:tabLst>
                <a:tab pos="0" algn="l"/>
              </a:tabLst>
            </a:pPr>
            <a:r>
              <a:rPr lang="en-US" sz="1120" b="0" u="none" strike="noStrike">
                <a:solidFill>
                  <a:srgbClr val="E8F1F8"/>
                </a:solidFill>
                <a:effectLst/>
                <a:uFillTx/>
                <a:latin typeface="Courier New"/>
                <a:ea typeface="Courier New"/>
              </a:rPr>
              <a:t>print(summary)</a:t>
            </a:r>
            <a:endParaRPr lang="en-US" sz="1120" b="0" u="none" strike="noStrike">
              <a:solidFill>
                <a:srgbClr val="000000"/>
              </a:solidFill>
              <a:effectLst/>
              <a:uFillTx/>
              <a:latin typeface="Arial"/>
            </a:endParaRPr>
          </a:p>
        </p:txBody>
      </p:sp>
      <p:sp>
        <p:nvSpPr>
          <p:cNvPr id="251" name="Shape 9"/>
          <p:cNvSpPr/>
          <p:nvPr/>
        </p:nvSpPr>
        <p:spPr>
          <a:xfrm>
            <a:off x="6492240" y="1325880"/>
            <a:ext cx="4343040" cy="2514240"/>
          </a:xfrm>
          <a:prstGeom prst="roundRect">
            <a:avLst>
              <a:gd name="adj" fmla="val 2909"/>
            </a:avLst>
          </a:prstGeom>
          <a:solidFill>
            <a:srgbClr val="FFFFFF"/>
          </a:solidFill>
          <a:ln w="10160">
            <a:solidFill>
              <a:srgbClr val="D7E3E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52" name="Text 10"/>
          <p:cNvSpPr/>
          <p:nvPr/>
        </p:nvSpPr>
        <p:spPr>
          <a:xfrm>
            <a:off x="6766560" y="1645920"/>
            <a:ext cx="347436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rgbClr val="153B52"/>
                </a:solidFill>
                <a:effectLst/>
                <a:uFillTx/>
                <a:latin typeface="Aptos"/>
              </a:rPr>
              <a:t>String operations</a:t>
            </a:r>
            <a:endParaRPr lang="en-US" sz="2000" b="0" u="none" strike="noStrike">
              <a:solidFill>
                <a:srgbClr val="000000"/>
              </a:solidFill>
              <a:effectLst/>
              <a:uFillTx/>
              <a:latin typeface="Arial"/>
            </a:endParaRPr>
          </a:p>
        </p:txBody>
      </p:sp>
      <p:sp>
        <p:nvSpPr>
          <p:cNvPr id="253" name="Text 11"/>
          <p:cNvSpPr/>
          <p:nvPr/>
        </p:nvSpPr>
        <p:spPr>
          <a:xfrm>
            <a:off x="6784920" y="2084760"/>
            <a:ext cx="3520080" cy="1279800"/>
          </a:xfrm>
          <a:prstGeom prst="rect">
            <a:avLst/>
          </a:prstGeom>
          <a:noFill/>
          <a:ln w="0">
            <a:noFill/>
          </a:ln>
        </p:spPr>
        <p:style>
          <a:lnRef idx="0"/>
          <a:fillRef idx="0"/>
          <a:effectRef idx="0"/>
          <a:fontRef idx="minor"/>
        </p:style>
        <p:txBody>
          <a:bodyPr lIns="720" tIns="720" rIns="720" bIns="720" anchor="t">
            <a:normAutofit fontScale="92500" lnSpcReduction="9999"/>
          </a:bodyPr>
          <a:p>
            <a:r>
              <a:rPr lang="en-US" sz="1290" b="0" u="none" strike="noStrike">
                <a:solidFill>
                  <a:srgbClr val="102A43"/>
                </a:solidFill>
                <a:effectLst/>
                <a:uFillTx/>
                <a:latin typeface="Aptos"/>
              </a:rPr>
              <a:t>`message.lower()` normalizes text.</a:t>
            </a:r>
            <a:endParaRPr lang="en-US" sz="1290" b="0" u="none" strike="noStrike">
              <a:solidFill>
                <a:srgbClr val="000000"/>
              </a:solidFill>
              <a:effectLst/>
              <a:uFillTx/>
              <a:latin typeface="Arial"/>
            </a:endParaRPr>
          </a:p>
          <a:p>
            <a:pPr defTabSz="914400">
              <a:lnSpc>
                <a:spcPct val="100000"/>
              </a:lnSpc>
              <a:tabLst>
                <a:tab pos="0" algn="l"/>
              </a:tabLst>
            </a:pPr>
            <a:endParaRPr lang="en-US" sz="1290" b="0" u="none" strike="noStrike">
              <a:solidFill>
                <a:srgbClr val="000000"/>
              </a:solidFill>
              <a:effectLst/>
              <a:uFillTx/>
              <a:latin typeface="Arial"/>
            </a:endParaRPr>
          </a:p>
          <a:p>
            <a:pPr defTabSz="914400">
              <a:lnSpc>
                <a:spcPct val="100000"/>
              </a:lnSpc>
              <a:tabLst>
                <a:tab pos="0" algn="l"/>
              </a:tabLst>
            </a:pPr>
            <a:r>
              <a:rPr lang="en-US" sz="1290" b="0" u="none" strike="noStrike">
                <a:solidFill>
                  <a:srgbClr val="102A43"/>
                </a:solidFill>
                <a:effectLst/>
                <a:uFillTx/>
                <a:latin typeface="Aptos"/>
              </a:rPr>
              <a:t>`"payment" in message` checks if a word exists.</a:t>
            </a:r>
            <a:endParaRPr lang="en-US" sz="1290" b="0" u="none" strike="noStrike">
              <a:solidFill>
                <a:srgbClr val="000000"/>
              </a:solidFill>
              <a:effectLst/>
              <a:uFillTx/>
              <a:latin typeface="Arial"/>
            </a:endParaRPr>
          </a:p>
          <a:p>
            <a:pPr defTabSz="914400">
              <a:lnSpc>
                <a:spcPct val="100000"/>
              </a:lnSpc>
              <a:tabLst>
                <a:tab pos="0" algn="l"/>
              </a:tabLst>
            </a:pPr>
            <a:endParaRPr lang="en-US" sz="1290" b="0" u="none" strike="noStrike">
              <a:solidFill>
                <a:srgbClr val="000000"/>
              </a:solidFill>
              <a:effectLst/>
              <a:uFillTx/>
              <a:latin typeface="Arial"/>
            </a:endParaRPr>
          </a:p>
          <a:p>
            <a:pPr defTabSz="914400">
              <a:lnSpc>
                <a:spcPct val="100000"/>
              </a:lnSpc>
              <a:tabLst>
                <a:tab pos="0" algn="l"/>
              </a:tabLst>
            </a:pPr>
            <a:r>
              <a:rPr lang="en-US" sz="1290" b="0" u="none" strike="noStrike">
                <a:solidFill>
                  <a:srgbClr val="102A43"/>
                </a:solidFill>
                <a:effectLst/>
                <a:uFillTx/>
                <a:latin typeface="Aptos"/>
              </a:rPr>
              <a:t>`f"...{value}..."` builds readable output.</a:t>
            </a:r>
            <a:endParaRPr lang="en-US" sz="1290" b="0" u="none" strike="noStrike">
              <a:solidFill>
                <a:srgbClr val="000000"/>
              </a:solidFill>
              <a:effectLst/>
              <a:uFillTx/>
              <a:latin typeface="Arial"/>
            </a:endParaRPr>
          </a:p>
          <a:p>
            <a:pPr defTabSz="914400">
              <a:lnSpc>
                <a:spcPct val="100000"/>
              </a:lnSpc>
              <a:tabLst>
                <a:tab pos="0" algn="l"/>
              </a:tabLst>
            </a:pPr>
            <a:endParaRPr lang="en-US" sz="1290" b="0" u="none" strike="noStrike">
              <a:solidFill>
                <a:srgbClr val="000000"/>
              </a:solidFill>
              <a:effectLst/>
              <a:uFillTx/>
              <a:latin typeface="Arial"/>
            </a:endParaRPr>
          </a:p>
          <a:p>
            <a:pPr defTabSz="914400">
              <a:lnSpc>
                <a:spcPct val="100000"/>
              </a:lnSpc>
              <a:tabLst>
                <a:tab pos="0" algn="l"/>
              </a:tabLst>
            </a:pPr>
            <a:r>
              <a:rPr lang="en-US" sz="1290" b="0" u="none" strike="noStrike">
                <a:solidFill>
                  <a:srgbClr val="102A43"/>
                </a:solidFill>
                <a:effectLst/>
                <a:uFillTx/>
                <a:latin typeface="Aptos"/>
              </a:rPr>
              <a:t>Text processing is the first step before LLMs.</a:t>
            </a:r>
            <a:endParaRPr lang="en-US" sz="1290" b="0" u="none" strike="noStrike">
              <a:solidFill>
                <a:srgbClr val="000000"/>
              </a:solidFill>
              <a:effectLst/>
              <a:uFillTx/>
              <a:latin typeface="Arial"/>
            </a:endParaRPr>
          </a:p>
        </p:txBody>
      </p:sp>
      <p:sp>
        <p:nvSpPr>
          <p:cNvPr id="254" name="Shape 12"/>
          <p:cNvSpPr/>
          <p:nvPr/>
        </p:nvSpPr>
        <p:spPr>
          <a:xfrm>
            <a:off x="6656760" y="4343400"/>
            <a:ext cx="1416960" cy="767880"/>
          </a:xfrm>
          <a:prstGeom prst="roundRect">
            <a:avLst>
              <a:gd name="adj" fmla="val 9524"/>
            </a:avLst>
          </a:prstGeom>
          <a:solidFill>
            <a:srgbClr val="FFFFFF"/>
          </a:solidFill>
          <a:ln w="10160">
            <a:solidFill>
              <a:srgbClr val="D7E3E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55" name="Text 13"/>
          <p:cNvSpPr/>
          <p:nvPr/>
        </p:nvSpPr>
        <p:spPr>
          <a:xfrm>
            <a:off x="6766560" y="4453200"/>
            <a:ext cx="1197360" cy="255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700" b="1" u="none" strike="noStrike">
                <a:solidFill>
                  <a:srgbClr val="0E8F8F"/>
                </a:solidFill>
                <a:effectLst/>
                <a:uFillTx/>
                <a:latin typeface="Aptos"/>
              </a:rPr>
              <a:t>text</a:t>
            </a:r>
            <a:endParaRPr lang="en-US" sz="1700" b="0" u="none" strike="noStrike">
              <a:solidFill>
                <a:srgbClr val="000000"/>
              </a:solidFill>
              <a:effectLst/>
              <a:uFillTx/>
              <a:latin typeface="Arial"/>
            </a:endParaRPr>
          </a:p>
        </p:txBody>
      </p:sp>
      <p:sp>
        <p:nvSpPr>
          <p:cNvPr id="256" name="Text 14"/>
          <p:cNvSpPr/>
          <p:nvPr/>
        </p:nvSpPr>
        <p:spPr>
          <a:xfrm>
            <a:off x="6766560" y="4782240"/>
            <a:ext cx="119736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70" b="0" u="none" strike="noStrike">
                <a:solidFill>
                  <a:srgbClr val="52616B"/>
                </a:solidFill>
                <a:effectLst/>
                <a:uFillTx/>
                <a:latin typeface="Aptos"/>
              </a:rPr>
              <a:t>common in support tickets</a:t>
            </a:r>
            <a:endParaRPr lang="en-US" sz="870" b="0" u="none" strike="noStrike">
              <a:solidFill>
                <a:srgbClr val="000000"/>
              </a:solidFill>
              <a:effectLst/>
              <a:uFillTx/>
              <a:latin typeface="Arial"/>
            </a:endParaRPr>
          </a:p>
        </p:txBody>
      </p:sp>
      <p:sp>
        <p:nvSpPr>
          <p:cNvPr id="257" name="Shape 15"/>
          <p:cNvSpPr/>
          <p:nvPr/>
        </p:nvSpPr>
        <p:spPr>
          <a:xfrm>
            <a:off x="8229600" y="4343400"/>
            <a:ext cx="1416960" cy="767880"/>
          </a:xfrm>
          <a:prstGeom prst="roundRect">
            <a:avLst>
              <a:gd name="adj" fmla="val 9524"/>
            </a:avLst>
          </a:prstGeom>
          <a:solidFill>
            <a:srgbClr val="FFFFFF"/>
          </a:solidFill>
          <a:ln w="10160">
            <a:solidFill>
              <a:srgbClr val="D7E3E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58" name="Text 16"/>
          <p:cNvSpPr/>
          <p:nvPr/>
        </p:nvSpPr>
        <p:spPr>
          <a:xfrm>
            <a:off x="8339400" y="4453200"/>
            <a:ext cx="1197360" cy="255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700" b="1" u="none" strike="noStrike">
                <a:solidFill>
                  <a:srgbClr val="2B6CB0"/>
                </a:solidFill>
                <a:effectLst/>
                <a:uFillTx/>
                <a:latin typeface="Aptos"/>
              </a:rPr>
              <a:t>rules</a:t>
            </a:r>
            <a:endParaRPr lang="en-US" sz="1700" b="0" u="none" strike="noStrike">
              <a:solidFill>
                <a:srgbClr val="000000"/>
              </a:solidFill>
              <a:effectLst/>
              <a:uFillTx/>
              <a:latin typeface="Arial"/>
            </a:endParaRPr>
          </a:p>
        </p:txBody>
      </p:sp>
      <p:sp>
        <p:nvSpPr>
          <p:cNvPr id="259" name="Text 17"/>
          <p:cNvSpPr/>
          <p:nvPr/>
        </p:nvSpPr>
        <p:spPr>
          <a:xfrm>
            <a:off x="8339400" y="4782240"/>
            <a:ext cx="119736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70" b="0" u="none" strike="noStrike">
                <a:solidFill>
                  <a:srgbClr val="52616B"/>
                </a:solidFill>
                <a:effectLst/>
                <a:uFillTx/>
                <a:latin typeface="Aptos"/>
              </a:rPr>
              <a:t>first classifier style</a:t>
            </a:r>
            <a:endParaRPr lang="en-US" sz="870" b="0" u="none" strike="noStrike">
              <a:solidFill>
                <a:srgbClr val="000000"/>
              </a:solidFill>
              <a:effectLst/>
              <a:uFillTx/>
              <a:latin typeface="Arial"/>
            </a:endParaRPr>
          </a:p>
        </p:txBody>
      </p:sp>
      <p:sp>
        <p:nvSpPr>
          <p:cNvPr id="260" name="Shape 18"/>
          <p:cNvSpPr/>
          <p:nvPr/>
        </p:nvSpPr>
        <p:spPr>
          <a:xfrm>
            <a:off x="9802440" y="4343400"/>
            <a:ext cx="1416960" cy="767880"/>
          </a:xfrm>
          <a:prstGeom prst="roundRect">
            <a:avLst>
              <a:gd name="adj" fmla="val 9524"/>
            </a:avLst>
          </a:prstGeom>
          <a:solidFill>
            <a:srgbClr val="FFFFFF"/>
          </a:solidFill>
          <a:ln w="10160">
            <a:solidFill>
              <a:srgbClr val="D7E3E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61" name="Text 19"/>
          <p:cNvSpPr/>
          <p:nvPr/>
        </p:nvSpPr>
        <p:spPr>
          <a:xfrm>
            <a:off x="9912240" y="4453200"/>
            <a:ext cx="1197360" cy="255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700" b="1" u="none" strike="noStrike">
                <a:solidFill>
                  <a:srgbClr val="553C9A"/>
                </a:solidFill>
                <a:effectLst/>
                <a:uFillTx/>
                <a:latin typeface="Aptos"/>
              </a:rPr>
              <a:t>LLM</a:t>
            </a:r>
            <a:endParaRPr lang="en-US" sz="1700" b="0" u="none" strike="noStrike">
              <a:solidFill>
                <a:srgbClr val="000000"/>
              </a:solidFill>
              <a:effectLst/>
              <a:uFillTx/>
              <a:latin typeface="Arial"/>
            </a:endParaRPr>
          </a:p>
        </p:txBody>
      </p:sp>
      <p:sp>
        <p:nvSpPr>
          <p:cNvPr id="262" name="Text 20"/>
          <p:cNvSpPr/>
          <p:nvPr/>
        </p:nvSpPr>
        <p:spPr>
          <a:xfrm>
            <a:off x="9912240" y="4782240"/>
            <a:ext cx="119736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870" b="0" u="none" strike="noStrike">
                <a:solidFill>
                  <a:srgbClr val="52616B"/>
                </a:solidFill>
                <a:effectLst/>
                <a:uFillTx/>
                <a:latin typeface="Aptos"/>
              </a:rPr>
              <a:t>later improved by</a:t>
            </a:r>
            <a:endParaRPr lang="en-US" sz="870" b="0" u="none" strike="noStrike">
              <a:solidFill>
                <a:srgbClr val="000000"/>
              </a:solidFill>
              <a:effectLst/>
              <a:uFillTx/>
              <a:latin typeface="Arial"/>
            </a:endParaRPr>
          </a:p>
        </p:txBody>
      </p:sp>
      <p:sp>
        <p:nvSpPr>
          <p:cNvPr id="263" name="PlaceHolder 1"/>
          <p:cNvSpPr>
            <a:spLocks noGrp="1"/>
          </p:cNvSpPr>
          <p:nvPr>
            <p:ph type="sldNum" idx="13"/>
          </p:nvPr>
        </p:nvSpPr>
        <p:spPr>
          <a:xfrm>
            <a:off x="11292840" y="6546960"/>
            <a:ext cx="799560" cy="299520"/>
          </a:xfrm>
          <a:prstGeom prst="rect">
            <a:avLst/>
          </a:prstGeom>
          <a:noFill/>
          <a:ln w="0">
            <a:noFill/>
          </a:ln>
        </p:spPr>
        <p:txBody>
          <a:bodyPr lIns="90000" tIns="45000" rIns="90000" bIns="45000" anchor="t">
            <a:noAutofit/>
          </a:bodyPr>
          <a:lstStyle>
            <a:lvl1pPr indent="0" algn="l" defTabSz="914400">
              <a:lnSpc>
                <a:spcPct val="100000"/>
              </a:lnSpc>
              <a:buNone/>
              <a:defRPr lang="en-US" sz="900" b="0" u="none" strike="noStrike">
                <a:solidFill>
                  <a:srgbClr val="78909C"/>
                </a:solidFill>
                <a:effectLst/>
                <a:uFillTx/>
                <a:latin typeface="Aptos"/>
                <a:ea typeface="Aptos"/>
              </a:defRPr>
            </a:lvl1pPr>
          </a:lstStyle>
          <a:p>
            <a:pPr indent="0" algn="l" defTabSz="914400">
              <a:lnSpc>
                <a:spcPct val="100000"/>
              </a:lnSpc>
              <a:buNone/>
            </a:pPr>
            <a:fld id="{FCFDEC89-0352-4DEC-AEC6-EF71D058E8E9}" type="slidenum">
              <a:rPr lang="en-US" sz="900" b="0" u="none" strike="noStrike">
                <a:solidFill>
                  <a:srgbClr val="78909C"/>
                </a:solidFill>
                <a:effectLst/>
                <a:uFillTx/>
                <a:latin typeface="Aptos"/>
                <a:ea typeface="Aptos"/>
              </a:rPr>
              <a:t>9</a:t>
            </a:fld>
            <a:endParaRPr lang="en-US" sz="9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AFC"/>
        </a:solidFill>
      </p:bgPr>
    </p:bg>
    <p:spTree>
      <p:nvGrpSpPr>
        <p:cNvPr id="1" name=""/>
        <p:cNvGrpSpPr/>
        <p:nvPr/>
      </p:nvGrpSpPr>
      <p:grpSpPr>
        <a:xfrm>
          <a:off x="0" y="0"/>
          <a:ext cx="0" cy="0"/>
          <a:chOff x="0" y="0"/>
          <a:chExt cx="0" cy="0"/>
        </a:xfrm>
      </p:grpSpPr>
      <p:sp>
        <p:nvSpPr>
          <p:cNvPr id="264" name="Shape 0"/>
          <p:cNvSpPr/>
          <p:nvPr/>
        </p:nvSpPr>
        <p:spPr>
          <a:xfrm>
            <a:off x="0" y="0"/>
            <a:ext cx="12191400" cy="6857640"/>
          </a:xfrm>
          <a:prstGeom prst="rect">
            <a:avLst/>
          </a:prstGeom>
          <a:solidFill>
            <a:srgbClr val="F7FAFC"/>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65" name="Shape 1"/>
          <p:cNvSpPr/>
          <p:nvPr/>
        </p:nvSpPr>
        <p:spPr>
          <a:xfrm>
            <a:off x="0" y="0"/>
            <a:ext cx="164160" cy="6857640"/>
          </a:xfrm>
          <a:prstGeom prst="rect">
            <a:avLst/>
          </a:prstGeom>
          <a:solidFill>
            <a:srgbClr val="153B52"/>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66" name="Text 2"/>
          <p:cNvSpPr/>
          <p:nvPr/>
        </p:nvSpPr>
        <p:spPr>
          <a:xfrm>
            <a:off x="521280" y="109800"/>
            <a:ext cx="420588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1" u="none" strike="noStrike">
                <a:solidFill>
                  <a:srgbClr val="0E8F8F"/>
                </a:solidFill>
                <a:effectLst/>
                <a:uFillTx/>
                <a:latin typeface="Aptos"/>
              </a:rPr>
              <a:t>DATA STRUCTURES</a:t>
            </a:r>
            <a:endParaRPr lang="en-US" sz="850" b="0" u="none" strike="noStrike">
              <a:solidFill>
                <a:srgbClr val="000000"/>
              </a:solidFill>
              <a:effectLst/>
              <a:uFillTx/>
              <a:latin typeface="Arial"/>
            </a:endParaRPr>
          </a:p>
        </p:txBody>
      </p:sp>
      <p:sp>
        <p:nvSpPr>
          <p:cNvPr id="267" name="Text 3"/>
          <p:cNvSpPr/>
          <p:nvPr/>
        </p:nvSpPr>
        <p:spPr>
          <a:xfrm>
            <a:off x="502920" y="320040"/>
            <a:ext cx="1106388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153B52"/>
                </a:solidFill>
                <a:effectLst/>
                <a:uFillTx/>
                <a:latin typeface="Aptos Display"/>
                <a:ea typeface="Aptos Display"/>
              </a:rPr>
              <a:t>Lists &amp; Dictionaries</a:t>
            </a:r>
            <a:endParaRPr lang="en-US" sz="2600" b="0" u="none" strike="noStrike">
              <a:solidFill>
                <a:srgbClr val="000000"/>
              </a:solidFill>
              <a:effectLst/>
              <a:uFillTx/>
              <a:latin typeface="Arial"/>
            </a:endParaRPr>
          </a:p>
        </p:txBody>
      </p:sp>
      <p:sp>
        <p:nvSpPr>
          <p:cNvPr id="268" name="Text 4"/>
          <p:cNvSpPr/>
          <p:nvPr/>
        </p:nvSpPr>
        <p:spPr>
          <a:xfrm>
            <a:off x="511920" y="786240"/>
            <a:ext cx="1078956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52616B"/>
                </a:solidFill>
                <a:effectLst/>
                <a:uFillTx/>
                <a:latin typeface="Aptos"/>
              </a:rPr>
              <a:t>The two most important structures for today’s mini project.</a:t>
            </a:r>
            <a:endParaRPr lang="en-US" sz="1250" b="0" u="none" strike="noStrike">
              <a:solidFill>
                <a:srgbClr val="000000"/>
              </a:solidFill>
              <a:effectLst/>
              <a:uFillTx/>
              <a:latin typeface="Arial"/>
            </a:endParaRPr>
          </a:p>
        </p:txBody>
      </p:sp>
      <p:sp>
        <p:nvSpPr>
          <p:cNvPr id="269" name="Shape 5"/>
          <p:cNvSpPr/>
          <p:nvPr/>
        </p:nvSpPr>
        <p:spPr>
          <a:xfrm>
            <a:off x="777240" y="1234440"/>
            <a:ext cx="5166000" cy="4205880"/>
          </a:xfrm>
          <a:prstGeom prst="roundRect">
            <a:avLst>
              <a:gd name="adj" fmla="val 1739"/>
            </a:avLst>
          </a:prstGeom>
          <a:solidFill>
            <a:srgbClr val="EAF4FF"/>
          </a:solidFill>
          <a:ln w="10160">
            <a:solidFill>
              <a:srgbClr val="BCD7F0"/>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70" name="Text 6"/>
          <p:cNvSpPr/>
          <p:nvPr/>
        </p:nvSpPr>
        <p:spPr>
          <a:xfrm>
            <a:off x="1051560" y="1600200"/>
            <a:ext cx="4343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rgbClr val="2B6CB0"/>
                </a:solidFill>
                <a:effectLst/>
                <a:uFillTx/>
                <a:latin typeface="Aptos"/>
              </a:rPr>
              <a:t>List = ordered collection</a:t>
            </a:r>
            <a:endParaRPr lang="en-US" sz="2000" b="0" u="none" strike="noStrike">
              <a:solidFill>
                <a:srgbClr val="000000"/>
              </a:solidFill>
              <a:effectLst/>
              <a:uFillTx/>
              <a:latin typeface="Arial"/>
            </a:endParaRPr>
          </a:p>
        </p:txBody>
      </p:sp>
      <p:sp>
        <p:nvSpPr>
          <p:cNvPr id="271" name="Shape 7"/>
          <p:cNvSpPr/>
          <p:nvPr/>
        </p:nvSpPr>
        <p:spPr>
          <a:xfrm>
            <a:off x="1051560" y="2148840"/>
            <a:ext cx="4525920" cy="2559960"/>
          </a:xfrm>
          <a:prstGeom prst="roundRect">
            <a:avLst>
              <a:gd name="adj" fmla="val 2857"/>
            </a:avLst>
          </a:prstGeom>
          <a:solidFill>
            <a:srgbClr val="0B1720"/>
          </a:solidFill>
          <a:ln w="10160">
            <a:solidFill>
              <a:srgbClr val="122334"/>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72" name="Text 8"/>
          <p:cNvSpPr/>
          <p:nvPr/>
        </p:nvSpPr>
        <p:spPr>
          <a:xfrm>
            <a:off x="1252800" y="2331720"/>
            <a:ext cx="4123440" cy="2230920"/>
          </a:xfrm>
          <a:prstGeom prst="rect">
            <a:avLst/>
          </a:prstGeom>
          <a:noFill/>
          <a:ln w="0">
            <a:noFill/>
          </a:ln>
        </p:spPr>
        <p:style>
          <a:lnRef idx="0"/>
          <a:fillRef idx="0"/>
          <a:effectRef idx="0"/>
          <a:fontRef idx="minor"/>
        </p:style>
        <p:txBody>
          <a:bodyPr lIns="360" tIns="360" rIns="360" bIns="360" anchor="t">
            <a:normAutofit/>
          </a:bodyPr>
          <a:p>
            <a:pPr defTabSz="914400">
              <a:lnSpc>
                <a:spcPct val="100000"/>
              </a:lnSpc>
              <a:tabLst>
                <a:tab pos="0" algn="l"/>
              </a:tabLst>
            </a:pPr>
            <a:r>
              <a:rPr lang="en-US" sz="1120" b="0" u="none" strike="noStrike">
                <a:solidFill>
                  <a:srgbClr val="E8F1F8"/>
                </a:solidFill>
                <a:effectLst/>
                <a:uFillTx/>
                <a:latin typeface="Courier New"/>
                <a:ea typeface="Courier New"/>
              </a:rPr>
              <a:t>messages = [</a:t>
            </a:r>
            <a:endParaRPr lang="en-US" sz="1120" b="0" u="none" strike="noStrike">
              <a:solidFill>
                <a:srgbClr val="000000"/>
              </a:solidFill>
              <a:effectLst/>
              <a:uFillTx/>
              <a:latin typeface="Arial"/>
            </a:endParaRPr>
          </a:p>
          <a:p>
            <a:pPr defTabSz="914400">
              <a:lnSpc>
                <a:spcPct val="100000"/>
              </a:lnSpc>
              <a:tabLst>
                <a:tab pos="0" algn="l"/>
              </a:tabLst>
            </a:pPr>
            <a:r>
              <a:rPr lang="en-US" sz="1120" b="0" u="none" strike="noStrike">
                <a:solidFill>
                  <a:srgbClr val="E8F1F8"/>
                </a:solidFill>
                <a:effectLst/>
                <a:uFillTx/>
                <a:latin typeface="Courier New"/>
                <a:ea typeface="Courier New"/>
              </a:rPr>
              <a:t>  "My order is delayed",</a:t>
            </a:r>
            <a:endParaRPr lang="en-US" sz="1120" b="0" u="none" strike="noStrike">
              <a:solidFill>
                <a:srgbClr val="000000"/>
              </a:solidFill>
              <a:effectLst/>
              <a:uFillTx/>
              <a:latin typeface="Arial"/>
            </a:endParaRPr>
          </a:p>
          <a:p>
            <a:pPr defTabSz="914400">
              <a:lnSpc>
                <a:spcPct val="100000"/>
              </a:lnSpc>
              <a:tabLst>
                <a:tab pos="0" algn="l"/>
              </a:tabLst>
            </a:pPr>
            <a:r>
              <a:rPr lang="en-US" sz="1120" b="0" u="none" strike="noStrike">
                <a:solidFill>
                  <a:srgbClr val="E8F1F8"/>
                </a:solidFill>
                <a:effectLst/>
                <a:uFillTx/>
                <a:latin typeface="Courier New"/>
                <a:ea typeface="Courier New"/>
              </a:rPr>
              <a:t>  "I cannot login",</a:t>
            </a:r>
            <a:endParaRPr lang="en-US" sz="1120" b="0" u="none" strike="noStrike">
              <a:solidFill>
                <a:srgbClr val="000000"/>
              </a:solidFill>
              <a:effectLst/>
              <a:uFillTx/>
              <a:latin typeface="Arial"/>
            </a:endParaRPr>
          </a:p>
          <a:p>
            <a:pPr defTabSz="914400">
              <a:lnSpc>
                <a:spcPct val="100000"/>
              </a:lnSpc>
              <a:tabLst>
                <a:tab pos="0" algn="l"/>
              </a:tabLst>
            </a:pPr>
            <a:r>
              <a:rPr lang="en-US" sz="1120" b="0" u="none" strike="noStrike">
                <a:solidFill>
                  <a:srgbClr val="E8F1F8"/>
                </a:solidFill>
                <a:effectLst/>
                <a:uFillTx/>
                <a:latin typeface="Courier New"/>
                <a:ea typeface="Courier New"/>
              </a:rPr>
              <a:t>  "My invoice is incorrect"</a:t>
            </a:r>
            <a:endParaRPr lang="en-US" sz="1120" b="0" u="none" strike="noStrike">
              <a:solidFill>
                <a:srgbClr val="000000"/>
              </a:solidFill>
              <a:effectLst/>
              <a:uFillTx/>
              <a:latin typeface="Arial"/>
            </a:endParaRPr>
          </a:p>
          <a:p>
            <a:pPr defTabSz="914400">
              <a:lnSpc>
                <a:spcPct val="100000"/>
              </a:lnSpc>
              <a:tabLst>
                <a:tab pos="0" algn="l"/>
              </a:tabLst>
            </a:pPr>
            <a:r>
              <a:rPr lang="en-US" sz="1120" b="0" u="none" strike="noStrike">
                <a:solidFill>
                  <a:srgbClr val="E8F1F8"/>
                </a:solidFill>
                <a:effectLst/>
                <a:uFillTx/>
                <a:latin typeface="Courier New"/>
                <a:ea typeface="Courier New"/>
              </a:rPr>
              <a:t>]</a:t>
            </a:r>
            <a:endParaRPr lang="en-US" sz="1120" b="0" u="none" strike="noStrike">
              <a:solidFill>
                <a:srgbClr val="000000"/>
              </a:solidFill>
              <a:effectLst/>
              <a:uFillTx/>
              <a:latin typeface="Arial"/>
            </a:endParaRPr>
          </a:p>
          <a:p>
            <a:pPr defTabSz="914400">
              <a:lnSpc>
                <a:spcPct val="100000"/>
              </a:lnSpc>
              <a:tabLst>
                <a:tab pos="0" algn="l"/>
              </a:tabLst>
            </a:pPr>
            <a:endParaRPr lang="en-US" sz="1120" b="0" u="none" strike="noStrike">
              <a:solidFill>
                <a:srgbClr val="000000"/>
              </a:solidFill>
              <a:effectLst/>
              <a:uFillTx/>
              <a:latin typeface="Arial"/>
            </a:endParaRPr>
          </a:p>
          <a:p>
            <a:pPr defTabSz="914400">
              <a:lnSpc>
                <a:spcPct val="100000"/>
              </a:lnSpc>
              <a:tabLst>
                <a:tab pos="0" algn="l"/>
              </a:tabLst>
            </a:pPr>
            <a:r>
              <a:rPr lang="en-US" sz="1120" b="0" u="none" strike="noStrike">
                <a:solidFill>
                  <a:srgbClr val="E8F1F8"/>
                </a:solidFill>
                <a:effectLst/>
                <a:uFillTx/>
                <a:latin typeface="Courier New"/>
                <a:ea typeface="Courier New"/>
              </a:rPr>
              <a:t>print(messages[0])</a:t>
            </a:r>
            <a:endParaRPr lang="en-US" sz="1120" b="0" u="none" strike="noStrike">
              <a:solidFill>
                <a:srgbClr val="000000"/>
              </a:solidFill>
              <a:effectLst/>
              <a:uFillTx/>
              <a:latin typeface="Arial"/>
            </a:endParaRPr>
          </a:p>
          <a:p>
            <a:pPr defTabSz="914400">
              <a:lnSpc>
                <a:spcPct val="100000"/>
              </a:lnSpc>
              <a:tabLst>
                <a:tab pos="0" algn="l"/>
              </a:tabLst>
            </a:pPr>
            <a:r>
              <a:rPr lang="en-US" sz="1120" b="0" u="none" strike="noStrike">
                <a:solidFill>
                  <a:srgbClr val="E8F1F8"/>
                </a:solidFill>
                <a:effectLst/>
                <a:uFillTx/>
                <a:latin typeface="Courier New"/>
                <a:ea typeface="Courier New"/>
              </a:rPr>
              <a:t>print(len(messages))</a:t>
            </a:r>
            <a:endParaRPr lang="en-US" sz="1120" b="0" u="none" strike="noStrike">
              <a:solidFill>
                <a:srgbClr val="000000"/>
              </a:solidFill>
              <a:effectLst/>
              <a:uFillTx/>
              <a:latin typeface="Arial"/>
            </a:endParaRPr>
          </a:p>
        </p:txBody>
      </p:sp>
      <p:sp>
        <p:nvSpPr>
          <p:cNvPr id="273" name="Shape 9"/>
          <p:cNvSpPr/>
          <p:nvPr/>
        </p:nvSpPr>
        <p:spPr>
          <a:xfrm>
            <a:off x="6263640" y="1234440"/>
            <a:ext cx="5166000" cy="4205880"/>
          </a:xfrm>
          <a:prstGeom prst="roundRect">
            <a:avLst>
              <a:gd name="adj" fmla="val 1739"/>
            </a:avLst>
          </a:prstGeom>
          <a:solidFill>
            <a:srgbClr val="E6FFFA"/>
          </a:solidFill>
          <a:ln w="10160">
            <a:solidFill>
              <a:srgbClr val="BFECE9"/>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74" name="Text 10"/>
          <p:cNvSpPr/>
          <p:nvPr/>
        </p:nvSpPr>
        <p:spPr>
          <a:xfrm>
            <a:off x="6537960" y="1600200"/>
            <a:ext cx="4343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rgbClr val="0E8F8F"/>
                </a:solidFill>
                <a:effectLst/>
                <a:uFillTx/>
                <a:latin typeface="Aptos"/>
              </a:rPr>
              <a:t>Dictionary = named fields</a:t>
            </a:r>
            <a:endParaRPr lang="en-US" sz="2000" b="0" u="none" strike="noStrike">
              <a:solidFill>
                <a:srgbClr val="000000"/>
              </a:solidFill>
              <a:effectLst/>
              <a:uFillTx/>
              <a:latin typeface="Arial"/>
            </a:endParaRPr>
          </a:p>
        </p:txBody>
      </p:sp>
      <p:sp>
        <p:nvSpPr>
          <p:cNvPr id="275" name="Shape 11"/>
          <p:cNvSpPr/>
          <p:nvPr/>
        </p:nvSpPr>
        <p:spPr>
          <a:xfrm>
            <a:off x="6537960" y="2148840"/>
            <a:ext cx="4525920" cy="2559960"/>
          </a:xfrm>
          <a:prstGeom prst="roundRect">
            <a:avLst>
              <a:gd name="adj" fmla="val 2857"/>
            </a:avLst>
          </a:prstGeom>
          <a:solidFill>
            <a:srgbClr val="0B1720"/>
          </a:solidFill>
          <a:ln w="10160">
            <a:solidFill>
              <a:srgbClr val="122334"/>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76" name="Text 12"/>
          <p:cNvSpPr/>
          <p:nvPr/>
        </p:nvSpPr>
        <p:spPr>
          <a:xfrm>
            <a:off x="6739200" y="2331720"/>
            <a:ext cx="4123440" cy="2230920"/>
          </a:xfrm>
          <a:prstGeom prst="rect">
            <a:avLst/>
          </a:prstGeom>
          <a:noFill/>
          <a:ln w="0">
            <a:noFill/>
          </a:ln>
        </p:spPr>
        <p:style>
          <a:lnRef idx="0"/>
          <a:fillRef idx="0"/>
          <a:effectRef idx="0"/>
          <a:fontRef idx="minor"/>
        </p:style>
        <p:txBody>
          <a:bodyPr lIns="360" tIns="360" rIns="360" bIns="360" anchor="t">
            <a:normAutofit/>
          </a:bodyPr>
          <a:p>
            <a:pPr defTabSz="914400">
              <a:lnSpc>
                <a:spcPct val="100000"/>
              </a:lnSpc>
              <a:tabLst>
                <a:tab pos="0" algn="l"/>
              </a:tabLst>
            </a:pPr>
            <a:r>
              <a:rPr lang="en-US" sz="1120" b="0" u="none" strike="noStrike">
                <a:solidFill>
                  <a:srgbClr val="E8F1F8"/>
                </a:solidFill>
                <a:effectLst/>
                <a:uFillTx/>
                <a:latin typeface="Courier New"/>
                <a:ea typeface="Courier New"/>
              </a:rPr>
              <a:t>ticket = {</a:t>
            </a:r>
            <a:endParaRPr lang="en-US" sz="1120" b="0" u="none" strike="noStrike">
              <a:solidFill>
                <a:srgbClr val="000000"/>
              </a:solidFill>
              <a:effectLst/>
              <a:uFillTx/>
              <a:latin typeface="Arial"/>
            </a:endParaRPr>
          </a:p>
          <a:p>
            <a:pPr defTabSz="914400">
              <a:lnSpc>
                <a:spcPct val="100000"/>
              </a:lnSpc>
              <a:tabLst>
                <a:tab pos="0" algn="l"/>
              </a:tabLst>
            </a:pPr>
            <a:r>
              <a:rPr lang="en-US" sz="1120" b="0" u="none" strike="noStrike">
                <a:solidFill>
                  <a:srgbClr val="E8F1F8"/>
                </a:solidFill>
                <a:effectLst/>
                <a:uFillTx/>
                <a:latin typeface="Courier New"/>
                <a:ea typeface="Courier New"/>
              </a:rPr>
              <a:t>  "id": 101,</a:t>
            </a:r>
            <a:endParaRPr lang="en-US" sz="1120" b="0" u="none" strike="noStrike">
              <a:solidFill>
                <a:srgbClr val="000000"/>
              </a:solidFill>
              <a:effectLst/>
              <a:uFillTx/>
              <a:latin typeface="Arial"/>
            </a:endParaRPr>
          </a:p>
          <a:p>
            <a:pPr defTabSz="914400">
              <a:lnSpc>
                <a:spcPct val="100000"/>
              </a:lnSpc>
              <a:tabLst>
                <a:tab pos="0" algn="l"/>
              </a:tabLst>
            </a:pPr>
            <a:r>
              <a:rPr lang="en-US" sz="1120" b="0" u="none" strike="noStrike">
                <a:solidFill>
                  <a:srgbClr val="E8F1F8"/>
                </a:solidFill>
                <a:effectLst/>
                <a:uFillTx/>
                <a:latin typeface="Courier New"/>
                <a:ea typeface="Courier New"/>
              </a:rPr>
              <a:t>  "customer": "Ahmed",</a:t>
            </a:r>
            <a:endParaRPr lang="en-US" sz="1120" b="0" u="none" strike="noStrike">
              <a:solidFill>
                <a:srgbClr val="000000"/>
              </a:solidFill>
              <a:effectLst/>
              <a:uFillTx/>
              <a:latin typeface="Arial"/>
            </a:endParaRPr>
          </a:p>
          <a:p>
            <a:pPr defTabSz="914400">
              <a:lnSpc>
                <a:spcPct val="100000"/>
              </a:lnSpc>
              <a:tabLst>
                <a:tab pos="0" algn="l"/>
              </a:tabLst>
            </a:pPr>
            <a:r>
              <a:rPr lang="en-US" sz="1120" b="0" u="none" strike="noStrike">
                <a:solidFill>
                  <a:srgbClr val="E8F1F8"/>
                </a:solidFill>
                <a:effectLst/>
                <a:uFillTx/>
                <a:latin typeface="Courier New"/>
                <a:ea typeface="Courier New"/>
              </a:rPr>
              <a:t>  "message": "My order is delayed"</a:t>
            </a:r>
            <a:endParaRPr lang="en-US" sz="1120" b="0" u="none" strike="noStrike">
              <a:solidFill>
                <a:srgbClr val="000000"/>
              </a:solidFill>
              <a:effectLst/>
              <a:uFillTx/>
              <a:latin typeface="Arial"/>
            </a:endParaRPr>
          </a:p>
          <a:p>
            <a:pPr defTabSz="914400">
              <a:lnSpc>
                <a:spcPct val="100000"/>
              </a:lnSpc>
              <a:tabLst>
                <a:tab pos="0" algn="l"/>
              </a:tabLst>
            </a:pPr>
            <a:r>
              <a:rPr lang="en-US" sz="1120" b="0" u="none" strike="noStrike">
                <a:solidFill>
                  <a:srgbClr val="E8F1F8"/>
                </a:solidFill>
                <a:effectLst/>
                <a:uFillTx/>
                <a:latin typeface="Courier New"/>
                <a:ea typeface="Courier New"/>
              </a:rPr>
              <a:t>}</a:t>
            </a:r>
            <a:endParaRPr lang="en-US" sz="1120" b="0" u="none" strike="noStrike">
              <a:solidFill>
                <a:srgbClr val="000000"/>
              </a:solidFill>
              <a:effectLst/>
              <a:uFillTx/>
              <a:latin typeface="Arial"/>
            </a:endParaRPr>
          </a:p>
          <a:p>
            <a:pPr defTabSz="914400">
              <a:lnSpc>
                <a:spcPct val="100000"/>
              </a:lnSpc>
              <a:tabLst>
                <a:tab pos="0" algn="l"/>
              </a:tabLst>
            </a:pPr>
            <a:endParaRPr lang="en-US" sz="1120" b="0" u="none" strike="noStrike">
              <a:solidFill>
                <a:srgbClr val="000000"/>
              </a:solidFill>
              <a:effectLst/>
              <a:uFillTx/>
              <a:latin typeface="Arial"/>
            </a:endParaRPr>
          </a:p>
          <a:p>
            <a:pPr defTabSz="914400">
              <a:lnSpc>
                <a:spcPct val="100000"/>
              </a:lnSpc>
              <a:tabLst>
                <a:tab pos="0" algn="l"/>
              </a:tabLst>
            </a:pPr>
            <a:r>
              <a:rPr lang="en-US" sz="1120" b="0" u="none" strike="noStrike">
                <a:solidFill>
                  <a:srgbClr val="E8F1F8"/>
                </a:solidFill>
                <a:effectLst/>
                <a:uFillTx/>
                <a:latin typeface="Courier New"/>
                <a:ea typeface="Courier New"/>
              </a:rPr>
              <a:t>print(ticket["customer"])</a:t>
            </a:r>
            <a:endParaRPr lang="en-US" sz="1120" b="0" u="none" strike="noStrike">
              <a:solidFill>
                <a:srgbClr val="000000"/>
              </a:solidFill>
              <a:effectLst/>
              <a:uFillTx/>
              <a:latin typeface="Arial"/>
            </a:endParaRPr>
          </a:p>
        </p:txBody>
      </p:sp>
      <p:sp>
        <p:nvSpPr>
          <p:cNvPr id="277" name="PlaceHolder 1"/>
          <p:cNvSpPr>
            <a:spLocks noGrp="1"/>
          </p:cNvSpPr>
          <p:nvPr>
            <p:ph type="sldNum" idx="14"/>
          </p:nvPr>
        </p:nvSpPr>
        <p:spPr>
          <a:xfrm>
            <a:off x="11292840" y="6546960"/>
            <a:ext cx="799560" cy="299520"/>
          </a:xfrm>
          <a:prstGeom prst="rect">
            <a:avLst/>
          </a:prstGeom>
          <a:noFill/>
          <a:ln w="0">
            <a:noFill/>
          </a:ln>
        </p:spPr>
        <p:txBody>
          <a:bodyPr lIns="90000" tIns="45000" rIns="90000" bIns="45000" anchor="t">
            <a:noAutofit/>
          </a:bodyPr>
          <a:lstStyle>
            <a:lvl1pPr indent="0" algn="l" defTabSz="914400">
              <a:lnSpc>
                <a:spcPct val="100000"/>
              </a:lnSpc>
              <a:buNone/>
              <a:defRPr lang="en-US" sz="900" b="0" u="none" strike="noStrike">
                <a:solidFill>
                  <a:srgbClr val="78909C"/>
                </a:solidFill>
                <a:effectLst/>
                <a:uFillTx/>
                <a:latin typeface="Aptos"/>
                <a:ea typeface="Aptos"/>
              </a:defRPr>
            </a:lvl1pPr>
          </a:lstStyle>
          <a:p>
            <a:pPr indent="0" algn="l" defTabSz="914400">
              <a:lnSpc>
                <a:spcPct val="100000"/>
              </a:lnSpc>
              <a:buNone/>
            </a:pPr>
            <a:fld id="{A17DD28E-2A6A-4B18-B16C-29783551FDB0}" type="slidenum">
              <a:rPr lang="en-US" sz="900" b="0" u="none" strike="noStrike">
                <a:solidFill>
                  <a:srgbClr val="78909C"/>
                </a:solidFill>
                <a:effectLst/>
                <a:uFillTx/>
                <a:latin typeface="Aptos"/>
                <a:ea typeface="Aptos"/>
              </a:rPr>
              <a:t>10</a:t>
            </a:fld>
            <a:endParaRPr lang="en-US" sz="9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AFC"/>
        </a:solidFill>
      </p:bgPr>
    </p:bg>
    <p:spTree>
      <p:nvGrpSpPr>
        <p:cNvPr id="1" name=""/>
        <p:cNvGrpSpPr/>
        <p:nvPr/>
      </p:nvGrpSpPr>
      <p:grpSpPr>
        <a:xfrm>
          <a:off x="0" y="0"/>
          <a:ext cx="0" cy="0"/>
          <a:chOff x="0" y="0"/>
          <a:chExt cx="0" cy="0"/>
        </a:xfrm>
      </p:grpSpPr>
      <p:sp>
        <p:nvSpPr>
          <p:cNvPr id="278" name="Shape 0"/>
          <p:cNvSpPr/>
          <p:nvPr/>
        </p:nvSpPr>
        <p:spPr>
          <a:xfrm>
            <a:off x="0" y="0"/>
            <a:ext cx="12191400" cy="6857640"/>
          </a:xfrm>
          <a:prstGeom prst="rect">
            <a:avLst/>
          </a:prstGeom>
          <a:solidFill>
            <a:srgbClr val="F7FAFC"/>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79" name="Shape 1"/>
          <p:cNvSpPr/>
          <p:nvPr/>
        </p:nvSpPr>
        <p:spPr>
          <a:xfrm>
            <a:off x="0" y="0"/>
            <a:ext cx="164160" cy="6857640"/>
          </a:xfrm>
          <a:prstGeom prst="rect">
            <a:avLst/>
          </a:prstGeom>
          <a:solidFill>
            <a:srgbClr val="153B52"/>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80" name="Text 2"/>
          <p:cNvSpPr/>
          <p:nvPr/>
        </p:nvSpPr>
        <p:spPr>
          <a:xfrm>
            <a:off x="521280" y="109800"/>
            <a:ext cx="420588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1" u="none" strike="noStrike">
                <a:solidFill>
                  <a:srgbClr val="0E8F8F"/>
                </a:solidFill>
                <a:effectLst/>
                <a:uFillTx/>
                <a:latin typeface="Aptos"/>
              </a:rPr>
              <a:t>DATA STRUCTURES</a:t>
            </a:r>
            <a:endParaRPr lang="en-US" sz="850" b="0" u="none" strike="noStrike">
              <a:solidFill>
                <a:srgbClr val="000000"/>
              </a:solidFill>
              <a:effectLst/>
              <a:uFillTx/>
              <a:latin typeface="Arial"/>
            </a:endParaRPr>
          </a:p>
        </p:txBody>
      </p:sp>
      <p:sp>
        <p:nvSpPr>
          <p:cNvPr id="281" name="Text 3"/>
          <p:cNvSpPr/>
          <p:nvPr/>
        </p:nvSpPr>
        <p:spPr>
          <a:xfrm>
            <a:off x="502920" y="320040"/>
            <a:ext cx="1106388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153B52"/>
                </a:solidFill>
                <a:effectLst/>
                <a:uFillTx/>
                <a:latin typeface="Aptos Display"/>
                <a:ea typeface="Aptos Display"/>
              </a:rPr>
              <a:t>A List of Ticket Dictionaries</a:t>
            </a:r>
            <a:endParaRPr lang="en-US" sz="2600" b="0" u="none" strike="noStrike">
              <a:solidFill>
                <a:srgbClr val="000000"/>
              </a:solidFill>
              <a:effectLst/>
              <a:uFillTx/>
              <a:latin typeface="Arial"/>
            </a:endParaRPr>
          </a:p>
        </p:txBody>
      </p:sp>
      <p:sp>
        <p:nvSpPr>
          <p:cNvPr id="282" name="Text 4"/>
          <p:cNvSpPr/>
          <p:nvPr/>
        </p:nvSpPr>
        <p:spPr>
          <a:xfrm>
            <a:off x="511920" y="786240"/>
            <a:ext cx="1078956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52616B"/>
                </a:solidFill>
                <a:effectLst/>
                <a:uFillTx/>
                <a:latin typeface="Aptos"/>
              </a:rPr>
              <a:t>This is the simple data model for today.</a:t>
            </a:r>
            <a:endParaRPr lang="en-US" sz="1250" b="0" u="none" strike="noStrike">
              <a:solidFill>
                <a:srgbClr val="000000"/>
              </a:solidFill>
              <a:effectLst/>
              <a:uFillTx/>
              <a:latin typeface="Arial"/>
            </a:endParaRPr>
          </a:p>
        </p:txBody>
      </p:sp>
      <p:sp>
        <p:nvSpPr>
          <p:cNvPr id="283" name="Shape 5"/>
          <p:cNvSpPr/>
          <p:nvPr/>
        </p:nvSpPr>
        <p:spPr>
          <a:xfrm>
            <a:off x="822960" y="1234440"/>
            <a:ext cx="5120280" cy="4251600"/>
          </a:xfrm>
          <a:prstGeom prst="roundRect">
            <a:avLst>
              <a:gd name="adj" fmla="val 1720"/>
            </a:avLst>
          </a:prstGeom>
          <a:solidFill>
            <a:srgbClr val="0B1720"/>
          </a:solidFill>
          <a:ln w="10160">
            <a:solidFill>
              <a:srgbClr val="122334"/>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84" name="Shape 6"/>
          <p:cNvSpPr/>
          <p:nvPr/>
        </p:nvSpPr>
        <p:spPr>
          <a:xfrm>
            <a:off x="932760" y="1344240"/>
            <a:ext cx="1462680" cy="310680"/>
          </a:xfrm>
          <a:prstGeom prst="roundRect">
            <a:avLst>
              <a:gd name="adj" fmla="val 17647"/>
            </a:avLst>
          </a:prstGeom>
          <a:solidFill>
            <a:srgbClr val="0E8F8F"/>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85" name="Text 7"/>
          <p:cNvSpPr/>
          <p:nvPr/>
        </p:nvSpPr>
        <p:spPr>
          <a:xfrm>
            <a:off x="1005840" y="1412640"/>
            <a:ext cx="131652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FFFFFF"/>
                </a:solidFill>
                <a:effectLst/>
                <a:uFillTx/>
                <a:latin typeface="Aptos"/>
              </a:rPr>
              <a:t>DATA</a:t>
            </a:r>
            <a:endParaRPr lang="en-US" sz="900" b="0" u="none" strike="noStrike">
              <a:solidFill>
                <a:srgbClr val="000000"/>
              </a:solidFill>
              <a:effectLst/>
              <a:uFillTx/>
              <a:latin typeface="Arial"/>
            </a:endParaRPr>
          </a:p>
        </p:txBody>
      </p:sp>
      <p:sp>
        <p:nvSpPr>
          <p:cNvPr id="286" name="Text 8"/>
          <p:cNvSpPr/>
          <p:nvPr/>
        </p:nvSpPr>
        <p:spPr>
          <a:xfrm rot="21588000">
            <a:off x="1754640" y="1774800"/>
            <a:ext cx="3042720" cy="2172960"/>
          </a:xfrm>
          <a:prstGeom prst="rect">
            <a:avLst/>
          </a:prstGeom>
          <a:solidFill>
            <a:srgbClr val="355269"/>
          </a:solidFill>
          <a:ln w="0">
            <a:solidFill>
              <a:srgbClr val="3465A4"/>
            </a:solidFill>
          </a:ln>
        </p:spPr>
        <p:style>
          <a:lnRef idx="0"/>
          <a:fillRef idx="0"/>
          <a:effectRef idx="0"/>
          <a:fontRef idx="minor"/>
        </p:style>
        <p:txBody>
          <a:bodyPr lIns="90000" tIns="45000" rIns="90000" bIns="45000" anchor="t">
            <a:spAutoFit/>
          </a:bodyPr>
          <a:p>
            <a:r>
              <a:rPr lang="en-US" sz="1120" b="0" u="none" strike="noStrike">
                <a:solidFill>
                  <a:srgbClr val="E8F1F8"/>
                </a:solidFill>
                <a:effectLst/>
                <a:uFillTx/>
                <a:latin typeface="Courier New"/>
                <a:ea typeface="Courier New"/>
              </a:rPr>
              <a:t>tickets = [</a:t>
            </a:r>
            <a:endParaRPr lang="en-US" sz="1120" b="0" u="none" strike="noStrike">
              <a:solidFill>
                <a:srgbClr val="FFFFFF"/>
              </a:solidFill>
              <a:effectLst/>
              <a:uFillTx/>
              <a:latin typeface="Arial"/>
            </a:endParaRPr>
          </a:p>
          <a:p>
            <a:r>
              <a:rPr lang="en-US" sz="1120" b="0" u="none" strike="noStrike">
                <a:solidFill>
                  <a:srgbClr val="E8F1F8"/>
                </a:solidFill>
                <a:effectLst/>
                <a:uFillTx/>
                <a:latin typeface="Courier New"/>
                <a:ea typeface="Courier New"/>
              </a:rPr>
              <a:t>  {</a:t>
            </a:r>
            <a:endParaRPr lang="en-US" sz="1120" b="0" u="none" strike="noStrike">
              <a:solidFill>
                <a:srgbClr val="FFFFFF"/>
              </a:solidFill>
              <a:effectLst/>
              <a:uFillTx/>
              <a:latin typeface="Arial"/>
            </a:endParaRPr>
          </a:p>
          <a:p>
            <a:r>
              <a:rPr lang="en-US" sz="1120" b="0" u="none" strike="noStrike">
                <a:solidFill>
                  <a:srgbClr val="E8F1F8"/>
                </a:solidFill>
                <a:effectLst/>
                <a:uFillTx/>
                <a:latin typeface="Courier New"/>
                <a:ea typeface="Courier New"/>
              </a:rPr>
              <a:t>    "id": 101,</a:t>
            </a:r>
            <a:endParaRPr lang="en-US" sz="1120" b="0" u="none" strike="noStrike">
              <a:solidFill>
                <a:srgbClr val="FFFFFF"/>
              </a:solidFill>
              <a:effectLst/>
              <a:uFillTx/>
              <a:latin typeface="Arial"/>
            </a:endParaRPr>
          </a:p>
          <a:p>
            <a:r>
              <a:rPr lang="en-US" sz="1120" b="0" u="none" strike="noStrike">
                <a:solidFill>
                  <a:srgbClr val="E8F1F8"/>
                </a:solidFill>
                <a:effectLst/>
                <a:uFillTx/>
                <a:latin typeface="Courier New"/>
                <a:ea typeface="Courier New"/>
              </a:rPr>
              <a:t>    "customer": "Ahmed",</a:t>
            </a:r>
            <a:endParaRPr lang="en-US" sz="1120" b="0" u="none" strike="noStrike">
              <a:solidFill>
                <a:srgbClr val="FFFFFF"/>
              </a:solidFill>
              <a:effectLst/>
              <a:uFillTx/>
              <a:latin typeface="Arial"/>
            </a:endParaRPr>
          </a:p>
          <a:p>
            <a:r>
              <a:rPr lang="en-US" sz="1120" b="0" u="none" strike="noStrike">
                <a:solidFill>
                  <a:srgbClr val="E8F1F8"/>
                </a:solidFill>
                <a:effectLst/>
                <a:uFillTx/>
                <a:latin typeface="Courier New"/>
                <a:ea typeface="Courier New"/>
              </a:rPr>
              <a:t>    "message": "My payment failed"</a:t>
            </a:r>
            <a:endParaRPr lang="en-US" sz="1120" b="0" u="none" strike="noStrike">
              <a:solidFill>
                <a:srgbClr val="FFFFFF"/>
              </a:solidFill>
              <a:effectLst/>
              <a:uFillTx/>
              <a:latin typeface="Arial"/>
            </a:endParaRPr>
          </a:p>
          <a:p>
            <a:r>
              <a:rPr lang="en-US" sz="1120" b="0" u="none" strike="noStrike">
                <a:solidFill>
                  <a:srgbClr val="E8F1F8"/>
                </a:solidFill>
                <a:effectLst/>
                <a:uFillTx/>
                <a:latin typeface="Courier New"/>
                <a:ea typeface="Courier New"/>
              </a:rPr>
              <a:t>  },</a:t>
            </a:r>
            <a:endParaRPr lang="en-US" sz="1120" b="0" u="none" strike="noStrike">
              <a:solidFill>
                <a:srgbClr val="FFFFFF"/>
              </a:solidFill>
              <a:effectLst/>
              <a:uFillTx/>
              <a:latin typeface="Arial"/>
            </a:endParaRPr>
          </a:p>
          <a:p>
            <a:r>
              <a:rPr lang="en-US" sz="1120" b="0" u="none" strike="noStrike">
                <a:solidFill>
                  <a:srgbClr val="E8F1F8"/>
                </a:solidFill>
                <a:effectLst/>
                <a:uFillTx/>
                <a:latin typeface="Courier New"/>
                <a:ea typeface="Courier New"/>
              </a:rPr>
              <a:t>  {</a:t>
            </a:r>
            <a:endParaRPr lang="en-US" sz="1120" b="0" u="none" strike="noStrike">
              <a:solidFill>
                <a:srgbClr val="FFFFFF"/>
              </a:solidFill>
              <a:effectLst/>
              <a:uFillTx/>
              <a:latin typeface="Arial"/>
            </a:endParaRPr>
          </a:p>
          <a:p>
            <a:r>
              <a:rPr lang="en-US" sz="1120" b="0" u="none" strike="noStrike">
                <a:solidFill>
                  <a:srgbClr val="E8F1F8"/>
                </a:solidFill>
                <a:effectLst/>
                <a:uFillTx/>
                <a:latin typeface="Courier New"/>
                <a:ea typeface="Courier New"/>
              </a:rPr>
              <a:t>    "id": 102,</a:t>
            </a:r>
            <a:endParaRPr lang="en-US" sz="1120" b="0" u="none" strike="noStrike">
              <a:solidFill>
                <a:srgbClr val="FFFFFF"/>
              </a:solidFill>
              <a:effectLst/>
              <a:uFillTx/>
              <a:latin typeface="Arial"/>
            </a:endParaRPr>
          </a:p>
          <a:p>
            <a:r>
              <a:rPr lang="en-US" sz="1120" b="0" u="none" strike="noStrike">
                <a:solidFill>
                  <a:srgbClr val="E8F1F8"/>
                </a:solidFill>
                <a:effectLst/>
                <a:uFillTx/>
                <a:latin typeface="Courier New"/>
                <a:ea typeface="Courier New"/>
              </a:rPr>
              <a:t>    "customer": "Sara",</a:t>
            </a:r>
            <a:endParaRPr lang="en-US" sz="1120" b="0" u="none" strike="noStrike">
              <a:solidFill>
                <a:srgbClr val="FFFFFF"/>
              </a:solidFill>
              <a:effectLst/>
              <a:uFillTx/>
              <a:latin typeface="Arial"/>
            </a:endParaRPr>
          </a:p>
          <a:p>
            <a:r>
              <a:rPr lang="en-US" sz="1120" b="0" u="none" strike="noStrike">
                <a:solidFill>
                  <a:srgbClr val="E8F1F8"/>
                </a:solidFill>
                <a:effectLst/>
                <a:uFillTx/>
                <a:latin typeface="Courier New"/>
                <a:ea typeface="Courier New"/>
              </a:rPr>
              <a:t>    "message": "I cannot login"</a:t>
            </a:r>
            <a:endParaRPr lang="en-US" sz="1120" b="0" u="none" strike="noStrike">
              <a:solidFill>
                <a:srgbClr val="FFFFFF"/>
              </a:solidFill>
              <a:effectLst/>
              <a:uFillTx/>
              <a:latin typeface="Arial"/>
            </a:endParaRPr>
          </a:p>
          <a:p>
            <a:r>
              <a:rPr lang="en-US" sz="1120" b="0" u="none" strike="noStrike">
                <a:solidFill>
                  <a:srgbClr val="E8F1F8"/>
                </a:solidFill>
                <a:effectLst/>
                <a:uFillTx/>
                <a:latin typeface="Courier New"/>
                <a:ea typeface="Courier New"/>
              </a:rPr>
              <a:t>  }</a:t>
            </a:r>
            <a:endParaRPr lang="en-US" sz="1120" b="0" u="none" strike="noStrike">
              <a:solidFill>
                <a:srgbClr val="FFFFFF"/>
              </a:solidFill>
              <a:effectLst/>
              <a:uFillTx/>
              <a:latin typeface="Arial"/>
            </a:endParaRPr>
          </a:p>
          <a:p>
            <a:r>
              <a:rPr lang="en-US" sz="1120" b="0" u="none" strike="noStrike">
                <a:solidFill>
                  <a:srgbClr val="E8F1F8"/>
                </a:solidFill>
                <a:effectLst/>
                <a:uFillTx/>
                <a:latin typeface="Courier New"/>
                <a:ea typeface="Courier New"/>
              </a:rPr>
              <a:t>]</a:t>
            </a:r>
            <a:endParaRPr lang="en-US" sz="1120" b="0" u="none" strike="noStrike">
              <a:solidFill>
                <a:srgbClr val="FFFFFF"/>
              </a:solidFill>
              <a:effectLst/>
              <a:uFillTx/>
              <a:latin typeface="Arial"/>
            </a:endParaRPr>
          </a:p>
        </p:txBody>
      </p:sp>
      <p:sp>
        <p:nvSpPr>
          <p:cNvPr id="287" name="Shape 9"/>
          <p:cNvSpPr/>
          <p:nvPr/>
        </p:nvSpPr>
        <p:spPr>
          <a:xfrm>
            <a:off x="6537960" y="1234440"/>
            <a:ext cx="4480200" cy="959760"/>
          </a:xfrm>
          <a:prstGeom prst="roundRect">
            <a:avLst>
              <a:gd name="adj" fmla="val 7619"/>
            </a:avLst>
          </a:prstGeom>
          <a:solidFill>
            <a:srgbClr val="FFFFFF"/>
          </a:solidFill>
          <a:ln w="10160">
            <a:solidFill>
              <a:srgbClr val="D7E3E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88" name="Text 10"/>
          <p:cNvSpPr/>
          <p:nvPr/>
        </p:nvSpPr>
        <p:spPr>
          <a:xfrm>
            <a:off x="6812280" y="1554480"/>
            <a:ext cx="123408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53B52"/>
                </a:solidFill>
                <a:effectLst/>
                <a:uFillTx/>
                <a:latin typeface="Aptos"/>
              </a:rPr>
              <a:t>One ticket</a:t>
            </a:r>
            <a:endParaRPr lang="en-US" sz="1600" b="0" u="none" strike="noStrike">
              <a:solidFill>
                <a:srgbClr val="000000"/>
              </a:solidFill>
              <a:effectLst/>
              <a:uFillTx/>
              <a:latin typeface="Arial"/>
            </a:endParaRPr>
          </a:p>
        </p:txBody>
      </p:sp>
      <p:sp>
        <p:nvSpPr>
          <p:cNvPr id="289" name="Text 11"/>
          <p:cNvSpPr/>
          <p:nvPr/>
        </p:nvSpPr>
        <p:spPr>
          <a:xfrm>
            <a:off x="8275320" y="1581840"/>
            <a:ext cx="2377080" cy="136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0" u="none" strike="noStrike">
                <a:solidFill>
                  <a:srgbClr val="52616B"/>
                </a:solidFill>
                <a:effectLst/>
                <a:uFillTx/>
                <a:latin typeface="Aptos"/>
              </a:rPr>
              <a:t>a dictionary with named fields</a:t>
            </a:r>
            <a:endParaRPr lang="en-US" sz="1050" b="0" u="none" strike="noStrike">
              <a:solidFill>
                <a:srgbClr val="000000"/>
              </a:solidFill>
              <a:effectLst/>
              <a:uFillTx/>
              <a:latin typeface="Arial"/>
            </a:endParaRPr>
          </a:p>
        </p:txBody>
      </p:sp>
      <p:sp>
        <p:nvSpPr>
          <p:cNvPr id="290" name="Shape 12"/>
          <p:cNvSpPr/>
          <p:nvPr/>
        </p:nvSpPr>
        <p:spPr>
          <a:xfrm>
            <a:off x="6537960" y="2560320"/>
            <a:ext cx="4480200" cy="959760"/>
          </a:xfrm>
          <a:prstGeom prst="roundRect">
            <a:avLst>
              <a:gd name="adj" fmla="val 7619"/>
            </a:avLst>
          </a:prstGeom>
          <a:solidFill>
            <a:srgbClr val="FFFFFF"/>
          </a:solidFill>
          <a:ln w="10160">
            <a:solidFill>
              <a:srgbClr val="D7E3E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91" name="Text 13"/>
          <p:cNvSpPr/>
          <p:nvPr/>
        </p:nvSpPr>
        <p:spPr>
          <a:xfrm>
            <a:off x="6812280" y="2880360"/>
            <a:ext cx="132552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53B52"/>
                </a:solidFill>
                <a:effectLst/>
                <a:uFillTx/>
                <a:latin typeface="Aptos"/>
              </a:rPr>
              <a:t>Many tickets</a:t>
            </a:r>
            <a:endParaRPr lang="en-US" sz="1600" b="0" u="none" strike="noStrike">
              <a:solidFill>
                <a:srgbClr val="000000"/>
              </a:solidFill>
              <a:effectLst/>
              <a:uFillTx/>
              <a:latin typeface="Arial"/>
            </a:endParaRPr>
          </a:p>
        </p:txBody>
      </p:sp>
      <p:sp>
        <p:nvSpPr>
          <p:cNvPr id="292" name="Text 14"/>
          <p:cNvSpPr/>
          <p:nvPr/>
        </p:nvSpPr>
        <p:spPr>
          <a:xfrm>
            <a:off x="8275320" y="2907720"/>
            <a:ext cx="2194200" cy="136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0" u="none" strike="noStrike">
                <a:solidFill>
                  <a:srgbClr val="52616B"/>
                </a:solidFill>
                <a:effectLst/>
                <a:uFillTx/>
                <a:latin typeface="Aptos"/>
              </a:rPr>
              <a:t>a list of dictionaries</a:t>
            </a:r>
            <a:endParaRPr lang="en-US" sz="1050" b="0" u="none" strike="noStrike">
              <a:solidFill>
                <a:srgbClr val="000000"/>
              </a:solidFill>
              <a:effectLst/>
              <a:uFillTx/>
              <a:latin typeface="Arial"/>
            </a:endParaRPr>
          </a:p>
        </p:txBody>
      </p:sp>
      <p:sp>
        <p:nvSpPr>
          <p:cNvPr id="293" name="Shape 15"/>
          <p:cNvSpPr/>
          <p:nvPr/>
        </p:nvSpPr>
        <p:spPr>
          <a:xfrm>
            <a:off x="6537960" y="3886200"/>
            <a:ext cx="4480200" cy="959760"/>
          </a:xfrm>
          <a:prstGeom prst="roundRect">
            <a:avLst>
              <a:gd name="adj" fmla="val 7619"/>
            </a:avLst>
          </a:prstGeom>
          <a:solidFill>
            <a:srgbClr val="FFFFFF"/>
          </a:solidFill>
          <a:ln w="10160">
            <a:solidFill>
              <a:srgbClr val="D7E3E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94" name="Text 16"/>
          <p:cNvSpPr/>
          <p:nvPr/>
        </p:nvSpPr>
        <p:spPr>
          <a:xfrm>
            <a:off x="6812280" y="4206240"/>
            <a:ext cx="127980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0E8F8F"/>
                </a:solidFill>
                <a:effectLst/>
                <a:uFillTx/>
                <a:latin typeface="Aptos"/>
              </a:rPr>
              <a:t>Next week</a:t>
            </a:r>
            <a:endParaRPr lang="en-US" sz="1600" b="0" u="none" strike="noStrike">
              <a:solidFill>
                <a:srgbClr val="000000"/>
              </a:solidFill>
              <a:effectLst/>
              <a:uFillTx/>
              <a:latin typeface="Arial"/>
            </a:endParaRPr>
          </a:p>
        </p:txBody>
      </p:sp>
      <p:sp>
        <p:nvSpPr>
          <p:cNvPr id="295" name="Text 17"/>
          <p:cNvSpPr/>
          <p:nvPr/>
        </p:nvSpPr>
        <p:spPr>
          <a:xfrm>
            <a:off x="8275320" y="4233600"/>
            <a:ext cx="2697120" cy="136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050" b="0" u="none" strike="noStrike">
                <a:solidFill>
                  <a:srgbClr val="52616B"/>
                </a:solidFill>
                <a:effectLst/>
                <a:uFillTx/>
                <a:latin typeface="Aptos"/>
              </a:rPr>
              <a:t>Pydantic will validate this structure</a:t>
            </a:r>
            <a:endParaRPr lang="en-US" sz="1050" b="0" u="none" strike="noStrike">
              <a:solidFill>
                <a:srgbClr val="000000"/>
              </a:solidFill>
              <a:effectLst/>
              <a:uFillTx/>
              <a:latin typeface="Arial"/>
            </a:endParaRPr>
          </a:p>
        </p:txBody>
      </p:sp>
      <p:sp>
        <p:nvSpPr>
          <p:cNvPr id="296" name="PlaceHolder 1"/>
          <p:cNvSpPr>
            <a:spLocks noGrp="1"/>
          </p:cNvSpPr>
          <p:nvPr>
            <p:ph type="sldNum" idx="15"/>
          </p:nvPr>
        </p:nvSpPr>
        <p:spPr>
          <a:xfrm>
            <a:off x="11292840" y="6546960"/>
            <a:ext cx="799560" cy="299520"/>
          </a:xfrm>
          <a:prstGeom prst="rect">
            <a:avLst/>
          </a:prstGeom>
          <a:noFill/>
          <a:ln w="0">
            <a:noFill/>
          </a:ln>
        </p:spPr>
        <p:txBody>
          <a:bodyPr lIns="90000" tIns="45000" rIns="90000" bIns="45000" anchor="t">
            <a:noAutofit/>
          </a:bodyPr>
          <a:lstStyle>
            <a:lvl1pPr indent="0" algn="l" defTabSz="914400">
              <a:lnSpc>
                <a:spcPct val="100000"/>
              </a:lnSpc>
              <a:buNone/>
              <a:defRPr lang="en-US" sz="900" b="0" u="none" strike="noStrike">
                <a:solidFill>
                  <a:srgbClr val="78909C"/>
                </a:solidFill>
                <a:effectLst/>
                <a:uFillTx/>
                <a:latin typeface="Aptos"/>
                <a:ea typeface="Aptos"/>
              </a:defRPr>
            </a:lvl1pPr>
          </a:lstStyle>
          <a:p>
            <a:pPr indent="0" algn="l" defTabSz="914400">
              <a:lnSpc>
                <a:spcPct val="100000"/>
              </a:lnSpc>
              <a:buNone/>
            </a:pPr>
            <a:fld id="{357D299D-61E2-4E34-B49E-E4063C4655BB}" type="slidenum">
              <a:rPr lang="en-US" sz="900" b="0" u="none" strike="noStrike">
                <a:solidFill>
                  <a:srgbClr val="78909C"/>
                </a:solidFill>
                <a:effectLst/>
                <a:uFillTx/>
                <a:latin typeface="Aptos"/>
                <a:ea typeface="Aptos"/>
              </a:rPr>
              <a:t>10</a:t>
            </a:fld>
            <a:endParaRPr lang="en-US" sz="9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AFC"/>
        </a:solidFill>
      </p:bgPr>
    </p:bg>
    <p:spTree>
      <p:nvGrpSpPr>
        <p:cNvPr id="1" name=""/>
        <p:cNvGrpSpPr/>
        <p:nvPr/>
      </p:nvGrpSpPr>
      <p:grpSpPr>
        <a:xfrm>
          <a:off x="0" y="0"/>
          <a:ext cx="0" cy="0"/>
          <a:chOff x="0" y="0"/>
          <a:chExt cx="0" cy="0"/>
        </a:xfrm>
      </p:grpSpPr>
      <p:sp>
        <p:nvSpPr>
          <p:cNvPr id="297" name="Shape 0"/>
          <p:cNvSpPr/>
          <p:nvPr/>
        </p:nvSpPr>
        <p:spPr>
          <a:xfrm>
            <a:off x="0" y="0"/>
            <a:ext cx="12191400" cy="6857640"/>
          </a:xfrm>
          <a:prstGeom prst="rect">
            <a:avLst/>
          </a:prstGeom>
          <a:solidFill>
            <a:srgbClr val="F7FAFC"/>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98" name="Shape 1"/>
          <p:cNvSpPr/>
          <p:nvPr/>
        </p:nvSpPr>
        <p:spPr>
          <a:xfrm>
            <a:off x="0" y="0"/>
            <a:ext cx="164160" cy="6857640"/>
          </a:xfrm>
          <a:prstGeom prst="rect">
            <a:avLst/>
          </a:prstGeom>
          <a:solidFill>
            <a:srgbClr val="153B52"/>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299" name="Text 2"/>
          <p:cNvSpPr/>
          <p:nvPr/>
        </p:nvSpPr>
        <p:spPr>
          <a:xfrm>
            <a:off x="521280" y="109800"/>
            <a:ext cx="420588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1" u="none" strike="noStrike">
                <a:solidFill>
                  <a:srgbClr val="0E8F8F"/>
                </a:solidFill>
                <a:effectLst/>
                <a:uFillTx/>
                <a:latin typeface="Aptos"/>
              </a:rPr>
              <a:t>CONTROL FLOW</a:t>
            </a:r>
            <a:endParaRPr lang="en-US" sz="850" b="0" u="none" strike="noStrike">
              <a:solidFill>
                <a:srgbClr val="000000"/>
              </a:solidFill>
              <a:effectLst/>
              <a:uFillTx/>
              <a:latin typeface="Arial"/>
            </a:endParaRPr>
          </a:p>
        </p:txBody>
      </p:sp>
      <p:sp>
        <p:nvSpPr>
          <p:cNvPr id="300" name="Text 3"/>
          <p:cNvSpPr/>
          <p:nvPr/>
        </p:nvSpPr>
        <p:spPr>
          <a:xfrm>
            <a:off x="502920" y="320040"/>
            <a:ext cx="1106388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153B52"/>
                </a:solidFill>
                <a:effectLst/>
                <a:uFillTx/>
                <a:latin typeface="Aptos Display"/>
                <a:ea typeface="Aptos Display"/>
              </a:rPr>
              <a:t>Conditions: Choosing a Category</a:t>
            </a:r>
            <a:endParaRPr lang="en-US" sz="2600" b="0" u="none" strike="noStrike">
              <a:solidFill>
                <a:srgbClr val="000000"/>
              </a:solidFill>
              <a:effectLst/>
              <a:uFillTx/>
              <a:latin typeface="Arial"/>
            </a:endParaRPr>
          </a:p>
        </p:txBody>
      </p:sp>
      <p:sp>
        <p:nvSpPr>
          <p:cNvPr id="301" name="Text 4"/>
          <p:cNvSpPr/>
          <p:nvPr/>
        </p:nvSpPr>
        <p:spPr>
          <a:xfrm>
            <a:off x="511920" y="786240"/>
            <a:ext cx="1078956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52616B"/>
                </a:solidFill>
                <a:effectLst/>
                <a:uFillTx/>
                <a:latin typeface="Aptos"/>
              </a:rPr>
              <a:t>This is a rule-based classifier, not an AI model.</a:t>
            </a:r>
            <a:endParaRPr lang="en-US" sz="1250" b="0" u="none" strike="noStrike">
              <a:solidFill>
                <a:srgbClr val="000000"/>
              </a:solidFill>
              <a:effectLst/>
              <a:uFillTx/>
              <a:latin typeface="Arial"/>
            </a:endParaRPr>
          </a:p>
        </p:txBody>
      </p:sp>
      <p:sp>
        <p:nvSpPr>
          <p:cNvPr id="302" name="Shape 5"/>
          <p:cNvSpPr/>
          <p:nvPr/>
        </p:nvSpPr>
        <p:spPr>
          <a:xfrm>
            <a:off x="822960" y="1234440"/>
            <a:ext cx="5486040" cy="3885840"/>
          </a:xfrm>
          <a:prstGeom prst="roundRect">
            <a:avLst>
              <a:gd name="adj" fmla="val 1882"/>
            </a:avLst>
          </a:prstGeom>
          <a:solidFill>
            <a:srgbClr val="0B1720"/>
          </a:solidFill>
          <a:ln w="10160">
            <a:solidFill>
              <a:srgbClr val="122334"/>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03" name="Shape 6"/>
          <p:cNvSpPr/>
          <p:nvPr/>
        </p:nvSpPr>
        <p:spPr>
          <a:xfrm>
            <a:off x="932760" y="1344240"/>
            <a:ext cx="1462680" cy="310680"/>
          </a:xfrm>
          <a:prstGeom prst="roundRect">
            <a:avLst>
              <a:gd name="adj" fmla="val 17647"/>
            </a:avLst>
          </a:prstGeom>
          <a:solidFill>
            <a:srgbClr val="0E8F8F"/>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04" name="Text 7"/>
          <p:cNvSpPr/>
          <p:nvPr/>
        </p:nvSpPr>
        <p:spPr>
          <a:xfrm>
            <a:off x="1005840" y="1412640"/>
            <a:ext cx="131652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FFFFFF"/>
                </a:solidFill>
                <a:effectLst/>
                <a:uFillTx/>
                <a:latin typeface="Aptos"/>
              </a:rPr>
              <a:t>RULE-BASED CLASSIFICATION</a:t>
            </a:r>
            <a:endParaRPr lang="en-US" sz="900" b="0" u="none" strike="noStrike">
              <a:solidFill>
                <a:srgbClr val="000000"/>
              </a:solidFill>
              <a:effectLst/>
              <a:uFillTx/>
              <a:latin typeface="Arial"/>
            </a:endParaRPr>
          </a:p>
        </p:txBody>
      </p:sp>
      <p:sp>
        <p:nvSpPr>
          <p:cNvPr id="305" name="Text 8"/>
          <p:cNvSpPr/>
          <p:nvPr/>
        </p:nvSpPr>
        <p:spPr>
          <a:xfrm>
            <a:off x="1024200" y="1764720"/>
            <a:ext cx="5083560" cy="3209040"/>
          </a:xfrm>
          <a:prstGeom prst="rect">
            <a:avLst/>
          </a:prstGeom>
          <a:noFill/>
          <a:ln w="0">
            <a:noFill/>
          </a:ln>
        </p:spPr>
        <p:style>
          <a:lnRef idx="0"/>
          <a:fillRef idx="0"/>
          <a:effectRef idx="0"/>
          <a:fontRef idx="minor"/>
        </p:style>
        <p:txBody>
          <a:bodyPr lIns="360" tIns="360" rIns="360" bIns="360" anchor="t">
            <a:normAutofit/>
          </a:bodyPr>
          <a:p>
            <a:pPr defTabSz="914400">
              <a:lnSpc>
                <a:spcPct val="100000"/>
              </a:lnSpc>
              <a:tabLst>
                <a:tab pos="0" algn="l"/>
              </a:tabLst>
            </a:pPr>
            <a:r>
              <a:rPr lang="en-US" sz="1120" b="0" u="none" strike="noStrike">
                <a:solidFill>
                  <a:srgbClr val="E8F1F8"/>
                </a:solidFill>
                <a:effectLst/>
                <a:uFillTx/>
                <a:latin typeface="Courier New"/>
                <a:ea typeface="Courier New"/>
              </a:rPr>
              <a:t>message = "My payment failed"</a:t>
            </a:r>
            <a:endParaRPr lang="en-US" sz="1120" b="0" u="none" strike="noStrike">
              <a:solidFill>
                <a:srgbClr val="000000"/>
              </a:solidFill>
              <a:effectLst/>
              <a:uFillTx/>
              <a:latin typeface="Arial"/>
            </a:endParaRPr>
          </a:p>
          <a:p>
            <a:pPr defTabSz="914400">
              <a:lnSpc>
                <a:spcPct val="100000"/>
              </a:lnSpc>
              <a:tabLst>
                <a:tab pos="0" algn="l"/>
              </a:tabLst>
            </a:pPr>
            <a:r>
              <a:rPr lang="en-US" sz="1120" b="0" u="none" strike="noStrike">
                <a:solidFill>
                  <a:srgbClr val="E8F1F8"/>
                </a:solidFill>
                <a:effectLst/>
                <a:uFillTx/>
                <a:latin typeface="Courier New"/>
                <a:ea typeface="Courier New"/>
              </a:rPr>
              <a:t>text = message.lower()</a:t>
            </a:r>
            <a:endParaRPr lang="en-US" sz="1120" b="0" u="none" strike="noStrike">
              <a:solidFill>
                <a:srgbClr val="000000"/>
              </a:solidFill>
              <a:effectLst/>
              <a:uFillTx/>
              <a:latin typeface="Arial"/>
            </a:endParaRPr>
          </a:p>
          <a:p>
            <a:pPr defTabSz="914400">
              <a:lnSpc>
                <a:spcPct val="100000"/>
              </a:lnSpc>
              <a:tabLst>
                <a:tab pos="0" algn="l"/>
              </a:tabLst>
            </a:pPr>
            <a:endParaRPr lang="en-US" sz="1120" b="0" u="none" strike="noStrike">
              <a:solidFill>
                <a:srgbClr val="000000"/>
              </a:solidFill>
              <a:effectLst/>
              <a:uFillTx/>
              <a:latin typeface="Arial"/>
            </a:endParaRPr>
          </a:p>
          <a:p>
            <a:pPr defTabSz="914400">
              <a:lnSpc>
                <a:spcPct val="100000"/>
              </a:lnSpc>
              <a:tabLst>
                <a:tab pos="0" algn="l"/>
              </a:tabLst>
            </a:pPr>
            <a:r>
              <a:rPr lang="en-US" sz="1120" b="0" u="none" strike="noStrike">
                <a:solidFill>
                  <a:srgbClr val="E8F1F8"/>
                </a:solidFill>
                <a:effectLst/>
                <a:uFillTx/>
                <a:latin typeface="Courier New"/>
                <a:ea typeface="Courier New"/>
              </a:rPr>
              <a:t>if "payment" in text or "invoice" in text:</a:t>
            </a:r>
            <a:endParaRPr lang="en-US" sz="1120" b="0" u="none" strike="noStrike">
              <a:solidFill>
                <a:srgbClr val="000000"/>
              </a:solidFill>
              <a:effectLst/>
              <a:uFillTx/>
              <a:latin typeface="Arial"/>
            </a:endParaRPr>
          </a:p>
          <a:p>
            <a:pPr defTabSz="914400">
              <a:lnSpc>
                <a:spcPct val="100000"/>
              </a:lnSpc>
              <a:tabLst>
                <a:tab pos="0" algn="l"/>
              </a:tabLst>
            </a:pPr>
            <a:r>
              <a:rPr lang="en-US" sz="1120" b="0" u="none" strike="noStrike">
                <a:solidFill>
                  <a:srgbClr val="E8F1F8"/>
                </a:solidFill>
                <a:effectLst/>
                <a:uFillTx/>
                <a:latin typeface="Courier New"/>
                <a:ea typeface="Courier New"/>
              </a:rPr>
              <a:t>    print("billing")</a:t>
            </a:r>
            <a:endParaRPr lang="en-US" sz="1120" b="0" u="none" strike="noStrike">
              <a:solidFill>
                <a:srgbClr val="000000"/>
              </a:solidFill>
              <a:effectLst/>
              <a:uFillTx/>
              <a:latin typeface="Arial"/>
            </a:endParaRPr>
          </a:p>
          <a:p>
            <a:pPr defTabSz="914400">
              <a:lnSpc>
                <a:spcPct val="100000"/>
              </a:lnSpc>
              <a:tabLst>
                <a:tab pos="0" algn="l"/>
              </a:tabLst>
            </a:pPr>
            <a:r>
              <a:rPr lang="en-US" sz="1120" b="0" u="none" strike="noStrike">
                <a:solidFill>
                  <a:srgbClr val="E8F1F8"/>
                </a:solidFill>
                <a:effectLst/>
                <a:uFillTx/>
                <a:latin typeface="Courier New"/>
                <a:ea typeface="Courier New"/>
              </a:rPr>
              <a:t>elif "login" in text or "error" in text:</a:t>
            </a:r>
            <a:endParaRPr lang="en-US" sz="1120" b="0" u="none" strike="noStrike">
              <a:solidFill>
                <a:srgbClr val="000000"/>
              </a:solidFill>
              <a:effectLst/>
              <a:uFillTx/>
              <a:latin typeface="Arial"/>
            </a:endParaRPr>
          </a:p>
          <a:p>
            <a:pPr defTabSz="914400">
              <a:lnSpc>
                <a:spcPct val="100000"/>
              </a:lnSpc>
              <a:tabLst>
                <a:tab pos="0" algn="l"/>
              </a:tabLst>
            </a:pPr>
            <a:r>
              <a:rPr lang="en-US" sz="1120" b="0" u="none" strike="noStrike">
                <a:solidFill>
                  <a:srgbClr val="E8F1F8"/>
                </a:solidFill>
                <a:effectLst/>
                <a:uFillTx/>
                <a:latin typeface="Courier New"/>
                <a:ea typeface="Courier New"/>
              </a:rPr>
              <a:t>    print("technical")</a:t>
            </a:r>
            <a:endParaRPr lang="en-US" sz="1120" b="0" u="none" strike="noStrike">
              <a:solidFill>
                <a:srgbClr val="000000"/>
              </a:solidFill>
              <a:effectLst/>
              <a:uFillTx/>
              <a:latin typeface="Arial"/>
            </a:endParaRPr>
          </a:p>
          <a:p>
            <a:pPr defTabSz="914400">
              <a:lnSpc>
                <a:spcPct val="100000"/>
              </a:lnSpc>
              <a:tabLst>
                <a:tab pos="0" algn="l"/>
              </a:tabLst>
            </a:pPr>
            <a:r>
              <a:rPr lang="en-US" sz="1120" b="0" u="none" strike="noStrike">
                <a:solidFill>
                  <a:srgbClr val="E8F1F8"/>
                </a:solidFill>
                <a:effectLst/>
                <a:uFillTx/>
                <a:latin typeface="Courier New"/>
                <a:ea typeface="Courier New"/>
              </a:rPr>
              <a:t>else:</a:t>
            </a:r>
            <a:endParaRPr lang="en-US" sz="1120" b="0" u="none" strike="noStrike">
              <a:solidFill>
                <a:srgbClr val="000000"/>
              </a:solidFill>
              <a:effectLst/>
              <a:uFillTx/>
              <a:latin typeface="Arial"/>
            </a:endParaRPr>
          </a:p>
          <a:p>
            <a:pPr defTabSz="914400">
              <a:lnSpc>
                <a:spcPct val="100000"/>
              </a:lnSpc>
              <a:tabLst>
                <a:tab pos="0" algn="l"/>
              </a:tabLst>
            </a:pPr>
            <a:r>
              <a:rPr lang="en-US" sz="1120" b="0" u="none" strike="noStrike">
                <a:solidFill>
                  <a:srgbClr val="E8F1F8"/>
                </a:solidFill>
                <a:effectLst/>
                <a:uFillTx/>
                <a:latin typeface="Courier New"/>
                <a:ea typeface="Courier New"/>
              </a:rPr>
              <a:t>    print("general")</a:t>
            </a:r>
            <a:endParaRPr lang="en-US" sz="1120" b="0" u="none" strike="noStrike">
              <a:solidFill>
                <a:srgbClr val="000000"/>
              </a:solidFill>
              <a:effectLst/>
              <a:uFillTx/>
              <a:latin typeface="Arial"/>
            </a:endParaRPr>
          </a:p>
        </p:txBody>
      </p:sp>
      <p:sp>
        <p:nvSpPr>
          <p:cNvPr id="306" name="Shape 9"/>
          <p:cNvSpPr/>
          <p:nvPr/>
        </p:nvSpPr>
        <p:spPr>
          <a:xfrm>
            <a:off x="6903720" y="1463040"/>
            <a:ext cx="3977280" cy="3154320"/>
          </a:xfrm>
          <a:prstGeom prst="roundRect">
            <a:avLst>
              <a:gd name="adj" fmla="val 2319"/>
            </a:avLst>
          </a:prstGeom>
          <a:solidFill>
            <a:srgbClr val="FFFFFF"/>
          </a:solidFill>
          <a:ln w="10160">
            <a:solidFill>
              <a:srgbClr val="D7E3E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07" name="Text 10"/>
          <p:cNvSpPr/>
          <p:nvPr/>
        </p:nvSpPr>
        <p:spPr>
          <a:xfrm>
            <a:off x="7178040" y="1810440"/>
            <a:ext cx="338292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rgbClr val="153B52"/>
                </a:solidFill>
                <a:effectLst/>
                <a:uFillTx/>
                <a:latin typeface="Aptos"/>
              </a:rPr>
              <a:t>Instructor emphasis</a:t>
            </a:r>
            <a:endParaRPr lang="en-US" sz="1900" b="0" u="none" strike="noStrike">
              <a:solidFill>
                <a:srgbClr val="000000"/>
              </a:solidFill>
              <a:effectLst/>
              <a:uFillTx/>
              <a:latin typeface="Arial"/>
            </a:endParaRPr>
          </a:p>
        </p:txBody>
      </p:sp>
      <p:sp>
        <p:nvSpPr>
          <p:cNvPr id="308" name="Text 11"/>
          <p:cNvSpPr/>
          <p:nvPr/>
        </p:nvSpPr>
        <p:spPr>
          <a:xfrm>
            <a:off x="7178040" y="2331720"/>
            <a:ext cx="3245760" cy="1325520"/>
          </a:xfrm>
          <a:prstGeom prst="rect">
            <a:avLst/>
          </a:prstGeom>
          <a:noFill/>
          <a:ln w="0">
            <a:noFill/>
          </a:ln>
        </p:spPr>
        <p:style>
          <a:lnRef idx="0"/>
          <a:fillRef idx="0"/>
          <a:effectRef idx="0"/>
          <a:fontRef idx="minor"/>
        </p:style>
        <p:txBody>
          <a:bodyPr lIns="720" tIns="720" rIns="720" bIns="720" anchor="t">
            <a:normAutofit fontScale="92500" lnSpcReduction="9999"/>
          </a:bodyPr>
          <a:p>
            <a:r>
              <a:rPr lang="en-US" sz="1280" b="0" u="none" strike="noStrike">
                <a:solidFill>
                  <a:srgbClr val="102A43"/>
                </a:solidFill>
                <a:effectLst/>
                <a:uFillTx/>
                <a:latin typeface="Aptos"/>
              </a:rPr>
              <a:t>This logic is transparent and easy to debug.</a:t>
            </a:r>
            <a:endParaRPr lang="en-US" sz="1280" b="0" u="none" strike="noStrike">
              <a:solidFill>
                <a:srgbClr val="000000"/>
              </a:solidFill>
              <a:effectLst/>
              <a:uFillTx/>
              <a:latin typeface="Arial"/>
            </a:endParaRPr>
          </a:p>
          <a:p>
            <a:pPr defTabSz="914400">
              <a:lnSpc>
                <a:spcPct val="100000"/>
              </a:lnSpc>
              <a:tabLst>
                <a:tab pos="0" algn="l"/>
              </a:tabLst>
            </a:pPr>
            <a:endParaRPr lang="en-US" sz="1280" b="0" u="none" strike="noStrike">
              <a:solidFill>
                <a:srgbClr val="000000"/>
              </a:solidFill>
              <a:effectLst/>
              <a:uFillTx/>
              <a:latin typeface="Arial"/>
            </a:endParaRPr>
          </a:p>
          <a:p>
            <a:pPr defTabSz="914400">
              <a:lnSpc>
                <a:spcPct val="100000"/>
              </a:lnSpc>
              <a:tabLst>
                <a:tab pos="0" algn="l"/>
              </a:tabLst>
            </a:pPr>
            <a:r>
              <a:rPr lang="en-US" sz="1280" b="0" u="none" strike="noStrike">
                <a:solidFill>
                  <a:srgbClr val="102A43"/>
                </a:solidFill>
                <a:effectLst/>
                <a:uFillTx/>
                <a:latin typeface="Aptos"/>
              </a:rPr>
              <a:t>It fails on flexible language and unseen wording.</a:t>
            </a:r>
            <a:endParaRPr lang="en-US" sz="1280" b="0" u="none" strike="noStrike">
              <a:solidFill>
                <a:srgbClr val="000000"/>
              </a:solidFill>
              <a:effectLst/>
              <a:uFillTx/>
              <a:latin typeface="Arial"/>
            </a:endParaRPr>
          </a:p>
          <a:p>
            <a:pPr defTabSz="914400">
              <a:lnSpc>
                <a:spcPct val="100000"/>
              </a:lnSpc>
              <a:tabLst>
                <a:tab pos="0" algn="l"/>
              </a:tabLst>
            </a:pPr>
            <a:endParaRPr lang="en-US" sz="1280" b="0" u="none" strike="noStrike">
              <a:solidFill>
                <a:srgbClr val="000000"/>
              </a:solidFill>
              <a:effectLst/>
              <a:uFillTx/>
              <a:latin typeface="Arial"/>
            </a:endParaRPr>
          </a:p>
          <a:p>
            <a:pPr defTabSz="914400">
              <a:lnSpc>
                <a:spcPct val="100000"/>
              </a:lnSpc>
              <a:tabLst>
                <a:tab pos="0" algn="l"/>
              </a:tabLst>
            </a:pPr>
            <a:r>
              <a:rPr lang="en-US" sz="1280" b="0" u="none" strike="noStrike">
                <a:solidFill>
                  <a:srgbClr val="102A43"/>
                </a:solidFill>
                <a:effectLst/>
                <a:uFillTx/>
                <a:latin typeface="Aptos"/>
              </a:rPr>
              <a:t>Later, the LLM can improve understanding, but code still controls execution.</a:t>
            </a:r>
            <a:endParaRPr lang="en-US" sz="1280" b="0" u="none" strike="noStrike">
              <a:solidFill>
                <a:srgbClr val="000000"/>
              </a:solidFill>
              <a:effectLst/>
              <a:uFillTx/>
              <a:latin typeface="Arial"/>
            </a:endParaRPr>
          </a:p>
        </p:txBody>
      </p:sp>
      <p:sp>
        <p:nvSpPr>
          <p:cNvPr id="309" name="PlaceHolder 1"/>
          <p:cNvSpPr>
            <a:spLocks noGrp="1"/>
          </p:cNvSpPr>
          <p:nvPr>
            <p:ph type="sldNum" idx="16"/>
          </p:nvPr>
        </p:nvSpPr>
        <p:spPr>
          <a:xfrm>
            <a:off x="11292840" y="6546960"/>
            <a:ext cx="799560" cy="299520"/>
          </a:xfrm>
          <a:prstGeom prst="rect">
            <a:avLst/>
          </a:prstGeom>
          <a:noFill/>
          <a:ln w="0">
            <a:noFill/>
          </a:ln>
        </p:spPr>
        <p:txBody>
          <a:bodyPr lIns="90000" tIns="45000" rIns="90000" bIns="45000" anchor="t">
            <a:noAutofit/>
          </a:bodyPr>
          <a:lstStyle>
            <a:lvl1pPr indent="0" algn="l" defTabSz="914400">
              <a:lnSpc>
                <a:spcPct val="100000"/>
              </a:lnSpc>
              <a:buNone/>
              <a:defRPr lang="en-US" sz="900" b="0" u="none" strike="noStrike">
                <a:solidFill>
                  <a:srgbClr val="78909C"/>
                </a:solidFill>
                <a:effectLst/>
                <a:uFillTx/>
                <a:latin typeface="Aptos"/>
                <a:ea typeface="Aptos"/>
              </a:defRPr>
            </a:lvl1pPr>
          </a:lstStyle>
          <a:p>
            <a:pPr indent="0" algn="l" defTabSz="914400">
              <a:lnSpc>
                <a:spcPct val="100000"/>
              </a:lnSpc>
              <a:buNone/>
            </a:pPr>
            <a:fld id="{27411044-9655-4340-9C7E-1FEF32EF88C3}" type="slidenum">
              <a:rPr lang="en-US" sz="900" b="0" u="none" strike="noStrike">
                <a:solidFill>
                  <a:srgbClr val="78909C"/>
                </a:solidFill>
                <a:effectLst/>
                <a:uFillTx/>
                <a:latin typeface="Aptos"/>
                <a:ea typeface="Aptos"/>
              </a:rPr>
              <a:t>12</a:t>
            </a:fld>
            <a:endParaRPr lang="en-US" sz="9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AFC"/>
        </a:solidFill>
      </p:bgPr>
    </p:bg>
    <p:spTree>
      <p:nvGrpSpPr>
        <p:cNvPr id="1" name=""/>
        <p:cNvGrpSpPr/>
        <p:nvPr/>
      </p:nvGrpSpPr>
      <p:grpSpPr>
        <a:xfrm>
          <a:off x="0" y="0"/>
          <a:ext cx="0" cy="0"/>
          <a:chOff x="0" y="0"/>
          <a:chExt cx="0" cy="0"/>
        </a:xfrm>
      </p:grpSpPr>
      <p:sp>
        <p:nvSpPr>
          <p:cNvPr id="310" name="Shape 0"/>
          <p:cNvSpPr/>
          <p:nvPr/>
        </p:nvSpPr>
        <p:spPr>
          <a:xfrm>
            <a:off x="0" y="0"/>
            <a:ext cx="12191400" cy="6857640"/>
          </a:xfrm>
          <a:prstGeom prst="rect">
            <a:avLst/>
          </a:prstGeom>
          <a:solidFill>
            <a:srgbClr val="F7FAFC"/>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11" name="Shape 1"/>
          <p:cNvSpPr/>
          <p:nvPr/>
        </p:nvSpPr>
        <p:spPr>
          <a:xfrm>
            <a:off x="0" y="0"/>
            <a:ext cx="164160" cy="6857640"/>
          </a:xfrm>
          <a:prstGeom prst="rect">
            <a:avLst/>
          </a:prstGeom>
          <a:solidFill>
            <a:srgbClr val="153B52"/>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12" name="Text 2"/>
          <p:cNvSpPr/>
          <p:nvPr/>
        </p:nvSpPr>
        <p:spPr>
          <a:xfrm>
            <a:off x="521280" y="109800"/>
            <a:ext cx="420588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1" u="none" strike="noStrike">
                <a:solidFill>
                  <a:srgbClr val="0E8F8F"/>
                </a:solidFill>
                <a:effectLst/>
                <a:uFillTx/>
                <a:latin typeface="Aptos"/>
              </a:rPr>
              <a:t>CONTROL FLOW</a:t>
            </a:r>
            <a:endParaRPr lang="en-US" sz="850" b="0" u="none" strike="noStrike">
              <a:solidFill>
                <a:srgbClr val="000000"/>
              </a:solidFill>
              <a:effectLst/>
              <a:uFillTx/>
              <a:latin typeface="Arial"/>
            </a:endParaRPr>
          </a:p>
        </p:txBody>
      </p:sp>
      <p:sp>
        <p:nvSpPr>
          <p:cNvPr id="313" name="Text 3"/>
          <p:cNvSpPr/>
          <p:nvPr/>
        </p:nvSpPr>
        <p:spPr>
          <a:xfrm>
            <a:off x="502920" y="320040"/>
            <a:ext cx="1106388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153B52"/>
                </a:solidFill>
                <a:effectLst/>
                <a:uFillTx/>
                <a:latin typeface="Aptos Display"/>
                <a:ea typeface="Aptos Display"/>
              </a:rPr>
              <a:t>Loops: Processing Many Tickets</a:t>
            </a:r>
            <a:endParaRPr lang="en-US" sz="2600" b="0" u="none" strike="noStrike">
              <a:solidFill>
                <a:srgbClr val="000000"/>
              </a:solidFill>
              <a:effectLst/>
              <a:uFillTx/>
              <a:latin typeface="Arial"/>
            </a:endParaRPr>
          </a:p>
        </p:txBody>
      </p:sp>
      <p:sp>
        <p:nvSpPr>
          <p:cNvPr id="314" name="Text 4"/>
          <p:cNvSpPr/>
          <p:nvPr/>
        </p:nvSpPr>
        <p:spPr>
          <a:xfrm>
            <a:off x="511920" y="786240"/>
            <a:ext cx="1078956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52616B"/>
                </a:solidFill>
                <a:effectLst/>
                <a:uFillTx/>
                <a:latin typeface="Aptos"/>
              </a:rPr>
              <a:t>A support system handles collections, not one example at a time.</a:t>
            </a:r>
            <a:endParaRPr lang="en-US" sz="1250" b="0" u="none" strike="noStrike">
              <a:solidFill>
                <a:srgbClr val="000000"/>
              </a:solidFill>
              <a:effectLst/>
              <a:uFillTx/>
              <a:latin typeface="Arial"/>
            </a:endParaRPr>
          </a:p>
        </p:txBody>
      </p:sp>
      <p:sp>
        <p:nvSpPr>
          <p:cNvPr id="315" name="Shape 5"/>
          <p:cNvSpPr/>
          <p:nvPr/>
        </p:nvSpPr>
        <p:spPr>
          <a:xfrm>
            <a:off x="731880" y="1325880"/>
            <a:ext cx="4525920" cy="2102760"/>
          </a:xfrm>
          <a:prstGeom prst="roundRect">
            <a:avLst>
              <a:gd name="adj" fmla="val 3478"/>
            </a:avLst>
          </a:prstGeom>
          <a:solidFill>
            <a:srgbClr val="0B1720"/>
          </a:solidFill>
          <a:ln w="10160">
            <a:solidFill>
              <a:srgbClr val="122334"/>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16" name="Shape 6"/>
          <p:cNvSpPr/>
          <p:nvPr/>
        </p:nvSpPr>
        <p:spPr>
          <a:xfrm>
            <a:off x="932760" y="1435680"/>
            <a:ext cx="1462680" cy="310680"/>
          </a:xfrm>
          <a:prstGeom prst="roundRect">
            <a:avLst>
              <a:gd name="adj" fmla="val 17647"/>
            </a:avLst>
          </a:prstGeom>
          <a:solidFill>
            <a:srgbClr val="0E8F8F"/>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17" name="Text 7"/>
          <p:cNvSpPr/>
          <p:nvPr/>
        </p:nvSpPr>
        <p:spPr>
          <a:xfrm>
            <a:off x="1005840" y="1504080"/>
            <a:ext cx="131652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FFFFFF"/>
                </a:solidFill>
                <a:effectLst/>
                <a:uFillTx/>
                <a:latin typeface="Aptos"/>
              </a:rPr>
              <a:t>FOR LOOP</a:t>
            </a:r>
            <a:endParaRPr lang="en-US" sz="900" b="0" u="none" strike="noStrike">
              <a:solidFill>
                <a:srgbClr val="000000"/>
              </a:solidFill>
              <a:effectLst/>
              <a:uFillTx/>
              <a:latin typeface="Arial"/>
            </a:endParaRPr>
          </a:p>
        </p:txBody>
      </p:sp>
      <p:sp>
        <p:nvSpPr>
          <p:cNvPr id="318" name="Text 8"/>
          <p:cNvSpPr/>
          <p:nvPr/>
        </p:nvSpPr>
        <p:spPr>
          <a:xfrm>
            <a:off x="1024200" y="1856160"/>
            <a:ext cx="3547800" cy="731160"/>
          </a:xfrm>
          <a:prstGeom prst="rect">
            <a:avLst/>
          </a:prstGeom>
          <a:solidFill>
            <a:srgbClr val="355269"/>
          </a:solidFill>
          <a:ln w="0">
            <a:solidFill>
              <a:srgbClr val="3465A4"/>
            </a:solidFill>
          </a:ln>
        </p:spPr>
        <p:style>
          <a:lnRef idx="0"/>
          <a:fillRef idx="0"/>
          <a:effectRef idx="0"/>
          <a:fontRef idx="minor"/>
        </p:style>
        <p:txBody>
          <a:bodyPr lIns="90000" tIns="45000" rIns="90000" bIns="45000" anchor="t">
            <a:spAutoFit/>
          </a:bodyPr>
          <a:p>
            <a:r>
              <a:rPr lang="en-US" sz="1120" b="0" u="none" strike="noStrike">
                <a:solidFill>
                  <a:srgbClr val="E8F1F8"/>
                </a:solidFill>
                <a:effectLst/>
                <a:uFillTx/>
                <a:latin typeface="Courier New"/>
                <a:ea typeface="Courier New"/>
              </a:rPr>
              <a:t>for ticket in tickets:</a:t>
            </a:r>
            <a:endParaRPr lang="en-US" sz="1120" b="0" u="none" strike="noStrike">
              <a:solidFill>
                <a:srgbClr val="FFFFFF"/>
              </a:solidFill>
              <a:effectLst/>
              <a:uFillTx/>
              <a:latin typeface="Arial"/>
            </a:endParaRPr>
          </a:p>
          <a:p>
            <a:r>
              <a:rPr lang="en-US" sz="1120" b="0" u="none" strike="noStrike">
                <a:solidFill>
                  <a:srgbClr val="E8F1F8"/>
                </a:solidFill>
                <a:effectLst/>
                <a:uFillTx/>
                <a:latin typeface="Courier New"/>
                <a:ea typeface="Courier New"/>
              </a:rPr>
              <a:t>    print(ticket["id"])</a:t>
            </a:r>
            <a:endParaRPr lang="en-US" sz="1120" b="0" u="none" strike="noStrike">
              <a:solidFill>
                <a:srgbClr val="FFFFFF"/>
              </a:solidFill>
              <a:effectLst/>
              <a:uFillTx/>
              <a:latin typeface="Arial"/>
            </a:endParaRPr>
          </a:p>
          <a:p>
            <a:r>
              <a:rPr lang="en-US" sz="1120" b="0" u="none" strike="noStrike">
                <a:solidFill>
                  <a:srgbClr val="E8F1F8"/>
                </a:solidFill>
                <a:effectLst/>
                <a:uFillTx/>
                <a:latin typeface="Courier New"/>
                <a:ea typeface="Courier New"/>
              </a:rPr>
              <a:t>    print(ticket["customer"])</a:t>
            </a:r>
            <a:endParaRPr lang="en-US" sz="1120" b="0" u="none" strike="noStrike">
              <a:solidFill>
                <a:srgbClr val="FFFFFF"/>
              </a:solidFill>
              <a:effectLst/>
              <a:uFillTx/>
              <a:latin typeface="Arial"/>
            </a:endParaRPr>
          </a:p>
          <a:p>
            <a:r>
              <a:rPr lang="en-US" sz="1120" b="0" u="none" strike="noStrike">
                <a:solidFill>
                  <a:srgbClr val="E8F1F8"/>
                </a:solidFill>
                <a:effectLst/>
                <a:uFillTx/>
                <a:latin typeface="Courier New"/>
                <a:ea typeface="Courier New"/>
              </a:rPr>
              <a:t>    print(ticket["message"])</a:t>
            </a:r>
            <a:endParaRPr lang="en-US" sz="1120" b="0" u="none" strike="noStrike">
              <a:solidFill>
                <a:srgbClr val="FFFFFF"/>
              </a:solidFill>
              <a:effectLst/>
              <a:uFillTx/>
              <a:latin typeface="Arial"/>
            </a:endParaRPr>
          </a:p>
        </p:txBody>
      </p:sp>
      <p:sp>
        <p:nvSpPr>
          <p:cNvPr id="319" name="Shape 9"/>
          <p:cNvSpPr/>
          <p:nvPr/>
        </p:nvSpPr>
        <p:spPr>
          <a:xfrm>
            <a:off x="6217920" y="1325880"/>
            <a:ext cx="4525920" cy="2102760"/>
          </a:xfrm>
          <a:prstGeom prst="roundRect">
            <a:avLst>
              <a:gd name="adj" fmla="val 3478"/>
            </a:avLst>
          </a:prstGeom>
          <a:solidFill>
            <a:srgbClr val="FFFFFF"/>
          </a:solidFill>
          <a:ln w="10160">
            <a:solidFill>
              <a:srgbClr val="D7E3E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20" name="Text 10"/>
          <p:cNvSpPr/>
          <p:nvPr/>
        </p:nvSpPr>
        <p:spPr>
          <a:xfrm>
            <a:off x="6537960" y="1664280"/>
            <a:ext cx="255996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rgbClr val="153B52"/>
                </a:solidFill>
                <a:effectLst/>
                <a:uFillTx/>
                <a:latin typeface="Aptos"/>
              </a:rPr>
              <a:t>Mental model</a:t>
            </a:r>
            <a:endParaRPr lang="en-US" sz="2000" b="0" u="none" strike="noStrike">
              <a:solidFill>
                <a:srgbClr val="000000"/>
              </a:solidFill>
              <a:effectLst/>
              <a:uFillTx/>
              <a:latin typeface="Arial"/>
            </a:endParaRPr>
          </a:p>
        </p:txBody>
      </p:sp>
      <p:sp>
        <p:nvSpPr>
          <p:cNvPr id="321" name="Text 11"/>
          <p:cNvSpPr/>
          <p:nvPr/>
        </p:nvSpPr>
        <p:spPr>
          <a:xfrm>
            <a:off x="6537960" y="2084760"/>
            <a:ext cx="3154320" cy="1051200"/>
          </a:xfrm>
          <a:prstGeom prst="rect">
            <a:avLst/>
          </a:prstGeom>
          <a:noFill/>
          <a:ln w="0">
            <a:noFill/>
          </a:ln>
        </p:spPr>
        <p:style>
          <a:lnRef idx="0"/>
          <a:fillRef idx="0"/>
          <a:effectRef idx="0"/>
          <a:fontRef idx="minor"/>
        </p:style>
        <p:txBody>
          <a:bodyPr lIns="720" tIns="720" rIns="720" bIns="720" anchor="t">
            <a:normAutofit fontScale="85000" lnSpcReduction="19999"/>
          </a:bodyPr>
          <a:p>
            <a:r>
              <a:rPr lang="en-US" sz="1280" b="0" u="none" strike="noStrike">
                <a:solidFill>
                  <a:srgbClr val="102A43"/>
                </a:solidFill>
                <a:effectLst/>
                <a:uFillTx/>
                <a:latin typeface="Aptos"/>
              </a:rPr>
              <a:t>Take one ticket from the list.</a:t>
            </a:r>
            <a:endParaRPr lang="en-US" sz="1280" b="0" u="none" strike="noStrike">
              <a:solidFill>
                <a:srgbClr val="000000"/>
              </a:solidFill>
              <a:effectLst/>
              <a:uFillTx/>
              <a:latin typeface="Arial"/>
            </a:endParaRPr>
          </a:p>
          <a:p>
            <a:pPr defTabSz="914400">
              <a:lnSpc>
                <a:spcPct val="100000"/>
              </a:lnSpc>
              <a:tabLst>
                <a:tab pos="0" algn="l"/>
              </a:tabLst>
            </a:pPr>
            <a:endParaRPr lang="en-US" sz="1280" b="0" u="none" strike="noStrike">
              <a:solidFill>
                <a:srgbClr val="000000"/>
              </a:solidFill>
              <a:effectLst/>
              <a:uFillTx/>
              <a:latin typeface="Arial"/>
            </a:endParaRPr>
          </a:p>
          <a:p>
            <a:pPr defTabSz="914400">
              <a:lnSpc>
                <a:spcPct val="100000"/>
              </a:lnSpc>
              <a:tabLst>
                <a:tab pos="0" algn="l"/>
              </a:tabLst>
            </a:pPr>
            <a:r>
              <a:rPr lang="en-US" sz="1280" b="0" u="none" strike="noStrike">
                <a:solidFill>
                  <a:srgbClr val="102A43"/>
                </a:solidFill>
                <a:effectLst/>
                <a:uFillTx/>
                <a:latin typeface="Aptos"/>
              </a:rPr>
              <a:t>Run the same block of code.</a:t>
            </a:r>
            <a:endParaRPr lang="en-US" sz="1280" b="0" u="none" strike="noStrike">
              <a:solidFill>
                <a:srgbClr val="000000"/>
              </a:solidFill>
              <a:effectLst/>
              <a:uFillTx/>
              <a:latin typeface="Arial"/>
            </a:endParaRPr>
          </a:p>
          <a:p>
            <a:pPr defTabSz="914400">
              <a:lnSpc>
                <a:spcPct val="100000"/>
              </a:lnSpc>
              <a:tabLst>
                <a:tab pos="0" algn="l"/>
              </a:tabLst>
            </a:pPr>
            <a:endParaRPr lang="en-US" sz="1280" b="0" u="none" strike="noStrike">
              <a:solidFill>
                <a:srgbClr val="000000"/>
              </a:solidFill>
              <a:effectLst/>
              <a:uFillTx/>
              <a:latin typeface="Arial"/>
            </a:endParaRPr>
          </a:p>
          <a:p>
            <a:pPr defTabSz="914400">
              <a:lnSpc>
                <a:spcPct val="100000"/>
              </a:lnSpc>
              <a:tabLst>
                <a:tab pos="0" algn="l"/>
              </a:tabLst>
            </a:pPr>
            <a:r>
              <a:rPr lang="en-US" sz="1280" b="0" u="none" strike="noStrike">
                <a:solidFill>
                  <a:srgbClr val="102A43"/>
                </a:solidFill>
                <a:effectLst/>
                <a:uFillTx/>
                <a:latin typeface="Aptos"/>
              </a:rPr>
              <a:t>Move to the next ticket.</a:t>
            </a:r>
            <a:endParaRPr lang="en-US" sz="1280" b="0" u="none" strike="noStrike">
              <a:solidFill>
                <a:srgbClr val="000000"/>
              </a:solidFill>
              <a:effectLst/>
              <a:uFillTx/>
              <a:latin typeface="Arial"/>
            </a:endParaRPr>
          </a:p>
          <a:p>
            <a:pPr defTabSz="914400">
              <a:lnSpc>
                <a:spcPct val="100000"/>
              </a:lnSpc>
              <a:tabLst>
                <a:tab pos="0" algn="l"/>
              </a:tabLst>
            </a:pPr>
            <a:endParaRPr lang="en-US" sz="1280" b="0" u="none" strike="noStrike">
              <a:solidFill>
                <a:srgbClr val="000000"/>
              </a:solidFill>
              <a:effectLst/>
              <a:uFillTx/>
              <a:latin typeface="Arial"/>
            </a:endParaRPr>
          </a:p>
          <a:p>
            <a:pPr defTabSz="914400">
              <a:lnSpc>
                <a:spcPct val="100000"/>
              </a:lnSpc>
              <a:tabLst>
                <a:tab pos="0" algn="l"/>
              </a:tabLst>
            </a:pPr>
            <a:r>
              <a:rPr lang="en-US" sz="1280" b="0" u="none" strike="noStrike">
                <a:solidFill>
                  <a:srgbClr val="102A43"/>
                </a:solidFill>
                <a:effectLst/>
                <a:uFillTx/>
                <a:latin typeface="Aptos"/>
              </a:rPr>
              <a:t>Stop when the list ends.</a:t>
            </a:r>
            <a:endParaRPr lang="en-US" sz="1280" b="0" u="none" strike="noStrike">
              <a:solidFill>
                <a:srgbClr val="000000"/>
              </a:solidFill>
              <a:effectLst/>
              <a:uFillTx/>
              <a:latin typeface="Arial"/>
            </a:endParaRPr>
          </a:p>
        </p:txBody>
      </p:sp>
      <p:sp>
        <p:nvSpPr>
          <p:cNvPr id="322" name="Shape 12"/>
          <p:cNvSpPr/>
          <p:nvPr/>
        </p:nvSpPr>
        <p:spPr>
          <a:xfrm>
            <a:off x="1325880" y="4343400"/>
            <a:ext cx="2102760" cy="621360"/>
          </a:xfrm>
          <a:prstGeom prst="roundRect">
            <a:avLst>
              <a:gd name="adj" fmla="val 11765"/>
            </a:avLst>
          </a:prstGeom>
          <a:solidFill>
            <a:srgbClr val="EAF4FF"/>
          </a:solidFill>
          <a:ln w="10160">
            <a:solidFill>
              <a:srgbClr val="BCD7F0"/>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23" name="Text 13"/>
          <p:cNvSpPr/>
          <p:nvPr/>
        </p:nvSpPr>
        <p:spPr>
          <a:xfrm>
            <a:off x="1325880" y="4563000"/>
            <a:ext cx="2102760" cy="136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102A43"/>
                </a:solidFill>
                <a:effectLst/>
                <a:uFillTx/>
                <a:latin typeface="Aptos"/>
              </a:rPr>
              <a:t>Ticket 101</a:t>
            </a:r>
            <a:endParaRPr lang="en-US" sz="1200" b="0" u="none" strike="noStrike">
              <a:solidFill>
                <a:srgbClr val="000000"/>
              </a:solidFill>
              <a:effectLst/>
              <a:uFillTx/>
              <a:latin typeface="Arial"/>
            </a:endParaRPr>
          </a:p>
        </p:txBody>
      </p:sp>
      <p:sp>
        <p:nvSpPr>
          <p:cNvPr id="324" name="Shape 14"/>
          <p:cNvSpPr/>
          <p:nvPr/>
        </p:nvSpPr>
        <p:spPr>
          <a:xfrm>
            <a:off x="3474720" y="4645080"/>
            <a:ext cx="685800" cy="360"/>
          </a:xfrm>
          <a:prstGeom prst="line">
            <a:avLst/>
          </a:prstGeom>
          <a:ln w="25400">
            <a:solidFill>
              <a:srgbClr val="0E8F8F"/>
            </a:solidFill>
            <a:round/>
            <a:tailEnd len="med" type="triangle" w="me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Aptos"/>
            </a:endParaRPr>
          </a:p>
        </p:txBody>
      </p:sp>
      <p:sp>
        <p:nvSpPr>
          <p:cNvPr id="325" name="Shape 15"/>
          <p:cNvSpPr/>
          <p:nvPr/>
        </p:nvSpPr>
        <p:spPr>
          <a:xfrm>
            <a:off x="4297680" y="4343400"/>
            <a:ext cx="2102760" cy="621360"/>
          </a:xfrm>
          <a:prstGeom prst="roundRect">
            <a:avLst>
              <a:gd name="adj" fmla="val 11765"/>
            </a:avLst>
          </a:prstGeom>
          <a:solidFill>
            <a:srgbClr val="E6FFFA"/>
          </a:solidFill>
          <a:ln w="10160">
            <a:solidFill>
              <a:srgbClr val="BCD7F0"/>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26" name="Text 16"/>
          <p:cNvSpPr/>
          <p:nvPr/>
        </p:nvSpPr>
        <p:spPr>
          <a:xfrm>
            <a:off x="4297680" y="4563000"/>
            <a:ext cx="2102760" cy="136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102A43"/>
                </a:solidFill>
                <a:effectLst/>
                <a:uFillTx/>
                <a:latin typeface="Aptos"/>
              </a:rPr>
              <a:t>Ticket 102</a:t>
            </a:r>
            <a:endParaRPr lang="en-US" sz="1200" b="0" u="none" strike="noStrike">
              <a:solidFill>
                <a:srgbClr val="000000"/>
              </a:solidFill>
              <a:effectLst/>
              <a:uFillTx/>
              <a:latin typeface="Arial"/>
            </a:endParaRPr>
          </a:p>
        </p:txBody>
      </p:sp>
      <p:sp>
        <p:nvSpPr>
          <p:cNvPr id="327" name="Shape 17"/>
          <p:cNvSpPr/>
          <p:nvPr/>
        </p:nvSpPr>
        <p:spPr>
          <a:xfrm>
            <a:off x="6446520" y="4645080"/>
            <a:ext cx="685800" cy="360"/>
          </a:xfrm>
          <a:prstGeom prst="line">
            <a:avLst/>
          </a:prstGeom>
          <a:ln w="25400">
            <a:solidFill>
              <a:srgbClr val="0E8F8F"/>
            </a:solidFill>
            <a:round/>
            <a:tailEnd len="med" type="triangle" w="me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Aptos"/>
            </a:endParaRPr>
          </a:p>
        </p:txBody>
      </p:sp>
      <p:sp>
        <p:nvSpPr>
          <p:cNvPr id="328" name="Shape 18"/>
          <p:cNvSpPr/>
          <p:nvPr/>
        </p:nvSpPr>
        <p:spPr>
          <a:xfrm>
            <a:off x="7269480" y="4343400"/>
            <a:ext cx="2102760" cy="621360"/>
          </a:xfrm>
          <a:prstGeom prst="roundRect">
            <a:avLst>
              <a:gd name="adj" fmla="val 11765"/>
            </a:avLst>
          </a:prstGeom>
          <a:solidFill>
            <a:srgbClr val="EAF4FF"/>
          </a:solidFill>
          <a:ln w="10160">
            <a:solidFill>
              <a:srgbClr val="BCD7F0"/>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29" name="Text 19"/>
          <p:cNvSpPr/>
          <p:nvPr/>
        </p:nvSpPr>
        <p:spPr>
          <a:xfrm>
            <a:off x="7269480" y="4563000"/>
            <a:ext cx="2102760" cy="136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102A43"/>
                </a:solidFill>
                <a:effectLst/>
                <a:uFillTx/>
                <a:latin typeface="Aptos"/>
              </a:rPr>
              <a:t>Ticket 103</a:t>
            </a:r>
            <a:endParaRPr lang="en-US" sz="1200" b="0" u="none" strike="noStrike">
              <a:solidFill>
                <a:srgbClr val="000000"/>
              </a:solidFill>
              <a:effectLst/>
              <a:uFillTx/>
              <a:latin typeface="Arial"/>
            </a:endParaRPr>
          </a:p>
        </p:txBody>
      </p:sp>
      <p:sp>
        <p:nvSpPr>
          <p:cNvPr id="330" name="PlaceHolder 1"/>
          <p:cNvSpPr>
            <a:spLocks noGrp="1"/>
          </p:cNvSpPr>
          <p:nvPr>
            <p:ph type="sldNum" idx="17"/>
          </p:nvPr>
        </p:nvSpPr>
        <p:spPr>
          <a:xfrm>
            <a:off x="11292840" y="6546960"/>
            <a:ext cx="799560" cy="299520"/>
          </a:xfrm>
          <a:prstGeom prst="rect">
            <a:avLst/>
          </a:prstGeom>
          <a:noFill/>
          <a:ln w="0">
            <a:noFill/>
          </a:ln>
        </p:spPr>
        <p:txBody>
          <a:bodyPr lIns="90000" tIns="45000" rIns="90000" bIns="45000" anchor="t">
            <a:noAutofit/>
          </a:bodyPr>
          <a:lstStyle>
            <a:lvl1pPr indent="0" algn="l" defTabSz="914400">
              <a:lnSpc>
                <a:spcPct val="100000"/>
              </a:lnSpc>
              <a:buNone/>
              <a:defRPr lang="en-US" sz="900" b="0" u="none" strike="noStrike">
                <a:solidFill>
                  <a:srgbClr val="78909C"/>
                </a:solidFill>
                <a:effectLst/>
                <a:uFillTx/>
                <a:latin typeface="Aptos"/>
                <a:ea typeface="Aptos"/>
              </a:defRPr>
            </a:lvl1pPr>
          </a:lstStyle>
          <a:p>
            <a:pPr indent="0" algn="l" defTabSz="914400">
              <a:lnSpc>
                <a:spcPct val="100000"/>
              </a:lnSpc>
              <a:buNone/>
            </a:pPr>
            <a:fld id="{C0FB976D-1415-41FB-9028-DB4CF9C6352C}" type="slidenum">
              <a:rPr lang="en-US" sz="900" b="0" u="none" strike="noStrike">
                <a:solidFill>
                  <a:srgbClr val="78909C"/>
                </a:solidFill>
                <a:effectLst/>
                <a:uFillTx/>
                <a:latin typeface="Aptos"/>
                <a:ea typeface="Aptos"/>
              </a:rPr>
              <a:t>13</a:t>
            </a:fld>
            <a:endParaRPr lang="en-US" sz="9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AFC"/>
        </a:solidFill>
      </p:bgPr>
    </p:bg>
    <p:spTree>
      <p:nvGrpSpPr>
        <p:cNvPr id="1" name=""/>
        <p:cNvGrpSpPr/>
        <p:nvPr/>
      </p:nvGrpSpPr>
      <p:grpSpPr>
        <a:xfrm>
          <a:off x="0" y="0"/>
          <a:ext cx="0" cy="0"/>
          <a:chOff x="0" y="0"/>
          <a:chExt cx="0" cy="0"/>
        </a:xfrm>
      </p:grpSpPr>
      <p:sp>
        <p:nvSpPr>
          <p:cNvPr id="331" name="Shape 0"/>
          <p:cNvSpPr/>
          <p:nvPr/>
        </p:nvSpPr>
        <p:spPr>
          <a:xfrm>
            <a:off x="0" y="0"/>
            <a:ext cx="12191400" cy="6857640"/>
          </a:xfrm>
          <a:prstGeom prst="rect">
            <a:avLst/>
          </a:prstGeom>
          <a:solidFill>
            <a:srgbClr val="F7FAFC"/>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32" name="Shape 1"/>
          <p:cNvSpPr/>
          <p:nvPr/>
        </p:nvSpPr>
        <p:spPr>
          <a:xfrm>
            <a:off x="0" y="0"/>
            <a:ext cx="164160" cy="6857640"/>
          </a:xfrm>
          <a:prstGeom prst="rect">
            <a:avLst/>
          </a:prstGeom>
          <a:solidFill>
            <a:srgbClr val="153B52"/>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33" name="Text 2"/>
          <p:cNvSpPr/>
          <p:nvPr/>
        </p:nvSpPr>
        <p:spPr>
          <a:xfrm>
            <a:off x="521280" y="109800"/>
            <a:ext cx="420588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1" u="none" strike="noStrike">
                <a:solidFill>
                  <a:srgbClr val="0E8F8F"/>
                </a:solidFill>
                <a:effectLst/>
                <a:uFillTx/>
                <a:latin typeface="Aptos"/>
              </a:rPr>
              <a:t>REUSABLE LOGIC</a:t>
            </a:r>
            <a:endParaRPr lang="en-US" sz="850" b="0" u="none" strike="noStrike">
              <a:solidFill>
                <a:srgbClr val="000000"/>
              </a:solidFill>
              <a:effectLst/>
              <a:uFillTx/>
              <a:latin typeface="Arial"/>
            </a:endParaRPr>
          </a:p>
        </p:txBody>
      </p:sp>
      <p:sp>
        <p:nvSpPr>
          <p:cNvPr id="334" name="Text 3"/>
          <p:cNvSpPr/>
          <p:nvPr/>
        </p:nvSpPr>
        <p:spPr>
          <a:xfrm>
            <a:off x="502920" y="320040"/>
            <a:ext cx="1106388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153B52"/>
                </a:solidFill>
                <a:effectLst/>
                <a:uFillTx/>
                <a:latin typeface="Aptos Display"/>
                <a:ea typeface="Aptos Display"/>
              </a:rPr>
              <a:t>Functions: Put Logic Behind a Name</a:t>
            </a:r>
            <a:endParaRPr lang="en-US" sz="2600" b="0" u="none" strike="noStrike">
              <a:solidFill>
                <a:srgbClr val="000000"/>
              </a:solidFill>
              <a:effectLst/>
              <a:uFillTx/>
              <a:latin typeface="Arial"/>
            </a:endParaRPr>
          </a:p>
        </p:txBody>
      </p:sp>
      <p:sp>
        <p:nvSpPr>
          <p:cNvPr id="335" name="Text 4"/>
          <p:cNvSpPr/>
          <p:nvPr/>
        </p:nvSpPr>
        <p:spPr>
          <a:xfrm>
            <a:off x="511920" y="786240"/>
            <a:ext cx="1078956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pPr>
            <a:r>
              <a:rPr lang="en-US" sz="1800" b="0" u="none" strike="noStrike">
                <a:solidFill>
                  <a:schemeClr val="dk1"/>
                </a:solidFill>
                <a:effectLst/>
                <a:uFillTx/>
                <a:latin typeface="Aptos"/>
              </a:rPr>
              <a:t>A function is the first step toward what later becomes a tool: typed inputs, a clear return value, and a docstring.</a:t>
            </a:r>
            <a:endParaRPr lang="en-US" sz="1800" b="0" u="none" strike="noStrike">
              <a:solidFill>
                <a:srgbClr val="000000"/>
              </a:solidFill>
              <a:effectLst/>
              <a:uFillTx/>
              <a:latin typeface="Arial"/>
            </a:endParaRPr>
          </a:p>
        </p:txBody>
      </p:sp>
      <p:sp>
        <p:nvSpPr>
          <p:cNvPr id="336" name="Shape 5"/>
          <p:cNvSpPr/>
          <p:nvPr/>
        </p:nvSpPr>
        <p:spPr>
          <a:xfrm>
            <a:off x="777240" y="1188720"/>
            <a:ext cx="5806080" cy="4160160"/>
          </a:xfrm>
          <a:prstGeom prst="roundRect">
            <a:avLst>
              <a:gd name="adj" fmla="val 1758"/>
            </a:avLst>
          </a:prstGeom>
          <a:solidFill>
            <a:srgbClr val="0B1720"/>
          </a:solidFill>
          <a:ln w="10160">
            <a:solidFill>
              <a:srgbClr val="122334"/>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37" name="Shape 6"/>
          <p:cNvSpPr/>
          <p:nvPr/>
        </p:nvSpPr>
        <p:spPr>
          <a:xfrm>
            <a:off x="887040" y="1298520"/>
            <a:ext cx="1462680" cy="310680"/>
          </a:xfrm>
          <a:prstGeom prst="roundRect">
            <a:avLst>
              <a:gd name="adj" fmla="val 17647"/>
            </a:avLst>
          </a:prstGeom>
          <a:solidFill>
            <a:srgbClr val="0E8F8F"/>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38" name="Text 7"/>
          <p:cNvSpPr/>
          <p:nvPr/>
        </p:nvSpPr>
        <p:spPr>
          <a:xfrm>
            <a:off x="960120" y="1366920"/>
            <a:ext cx="131652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FFFFFF"/>
                </a:solidFill>
                <a:effectLst/>
                <a:uFillTx/>
                <a:latin typeface="Aptos"/>
              </a:rPr>
              <a:t>FUNCTION</a:t>
            </a:r>
            <a:endParaRPr lang="en-US" sz="900" b="0" u="none" strike="noStrike">
              <a:solidFill>
                <a:srgbClr val="000000"/>
              </a:solidFill>
              <a:effectLst/>
              <a:uFillTx/>
              <a:latin typeface="Arial"/>
            </a:endParaRPr>
          </a:p>
        </p:txBody>
      </p:sp>
      <p:sp>
        <p:nvSpPr>
          <p:cNvPr id="339" name="Text 8"/>
          <p:cNvSpPr/>
          <p:nvPr/>
        </p:nvSpPr>
        <p:spPr>
          <a:xfrm>
            <a:off x="978480" y="1719000"/>
            <a:ext cx="5403600" cy="3483360"/>
          </a:xfrm>
          <a:prstGeom prst="rect">
            <a:avLst/>
          </a:prstGeom>
          <a:noFill/>
          <a:ln w="0">
            <a:noFill/>
          </a:ln>
        </p:spPr>
        <p:style>
          <a:lnRef idx="0"/>
          <a:fillRef idx="0"/>
          <a:effectRef idx="0"/>
          <a:fontRef idx="minor"/>
        </p:style>
        <p:txBody>
          <a:bodyPr wrap="none" lIns="101520" tIns="228600" rIns="76320" bIns="101520" anchor="t">
            <a:noAutofit/>
          </a:bodyPr>
          <a:p>
            <a:pPr defTabSz="914400">
              <a:lnSpc>
                <a:spcPct val="85000"/>
              </a:lnSpc>
            </a:pPr>
            <a:r>
              <a:rPr lang="en-US" sz="1200" b="0" u="none" strike="noStrike">
                <a:solidFill>
                  <a:srgbClr val="FFFFFF"/>
                </a:solidFill>
                <a:effectLst/>
                <a:uFillTx/>
                <a:latin typeface="Consolas"/>
              </a:rPr>
              <a:t>def classify_ticket(message: str) -&gt; str:</a:t>
            </a:r>
            <a:endParaRPr lang="en-US" sz="1200" b="0" u="none" strike="noStrike">
              <a:solidFill>
                <a:srgbClr val="000000"/>
              </a:solidFill>
              <a:effectLst/>
              <a:uFillTx/>
              <a:latin typeface="Arial"/>
            </a:endParaRPr>
          </a:p>
          <a:p>
            <a:pPr defTabSz="914400">
              <a:lnSpc>
                <a:spcPct val="85000"/>
              </a:lnSpc>
            </a:pPr>
            <a:endParaRPr lang="en-US" sz="1200" b="0" u="none" strike="noStrike">
              <a:solidFill>
                <a:srgbClr val="000000"/>
              </a:solidFill>
              <a:effectLst/>
              <a:uFillTx/>
              <a:latin typeface="Arial"/>
            </a:endParaRPr>
          </a:p>
          <a:p>
            <a:pPr defTabSz="914400">
              <a:lnSpc>
                <a:spcPct val="85000"/>
              </a:lnSpc>
            </a:pPr>
            <a:r>
              <a:rPr lang="en-US" sz="1200" b="0" u="none" strike="noStrike">
                <a:solidFill>
                  <a:srgbClr val="FFFFFF"/>
                </a:solidFill>
                <a:effectLst/>
                <a:uFillTx/>
                <a:latin typeface="Consolas"/>
              </a:rPr>
              <a:t>    """Return the ticket category."""</a:t>
            </a:r>
            <a:endParaRPr lang="en-US" sz="1200" b="0" u="none" strike="noStrike">
              <a:solidFill>
                <a:srgbClr val="000000"/>
              </a:solidFill>
              <a:effectLst/>
              <a:uFillTx/>
              <a:latin typeface="Arial"/>
            </a:endParaRPr>
          </a:p>
          <a:p>
            <a:pPr defTabSz="914400">
              <a:lnSpc>
                <a:spcPct val="85000"/>
              </a:lnSpc>
            </a:pPr>
            <a:endParaRPr lang="en-US" sz="1200" b="0" u="none" strike="noStrike">
              <a:solidFill>
                <a:srgbClr val="000000"/>
              </a:solidFill>
              <a:effectLst/>
              <a:uFillTx/>
              <a:latin typeface="Arial"/>
            </a:endParaRPr>
          </a:p>
          <a:p>
            <a:pPr defTabSz="914400">
              <a:lnSpc>
                <a:spcPct val="85000"/>
              </a:lnSpc>
            </a:pPr>
            <a:r>
              <a:rPr lang="en-US" sz="1200" b="0" u="none" strike="noStrike">
                <a:solidFill>
                  <a:srgbClr val="FFFFFF"/>
                </a:solidFill>
                <a:effectLst/>
                <a:uFillTx/>
                <a:latin typeface="Consolas"/>
              </a:rPr>
              <a:t>    text = message.lower()</a:t>
            </a:r>
            <a:endParaRPr lang="en-US" sz="1200" b="0" u="none" strike="noStrike">
              <a:solidFill>
                <a:srgbClr val="000000"/>
              </a:solidFill>
              <a:effectLst/>
              <a:uFillTx/>
              <a:latin typeface="Arial"/>
            </a:endParaRPr>
          </a:p>
          <a:p>
            <a:pPr defTabSz="914400">
              <a:lnSpc>
                <a:spcPct val="85000"/>
              </a:lnSpc>
            </a:pPr>
            <a:endParaRPr lang="en-US" sz="1800" b="0" u="none" strike="noStrike">
              <a:solidFill>
                <a:srgbClr val="000000"/>
              </a:solidFill>
              <a:effectLst/>
              <a:uFillTx/>
              <a:latin typeface="Arial"/>
            </a:endParaRPr>
          </a:p>
          <a:p>
            <a:pPr defTabSz="914400">
              <a:lnSpc>
                <a:spcPct val="85000"/>
              </a:lnSpc>
            </a:pPr>
            <a:r>
              <a:rPr lang="en-US" sz="1200" b="0" u="none" strike="noStrike">
                <a:solidFill>
                  <a:srgbClr val="FFFFFF"/>
                </a:solidFill>
                <a:effectLst/>
                <a:uFillTx/>
                <a:latin typeface="Consolas"/>
              </a:rPr>
              <a:t>    if "payment" in text or "invoice" in text:</a:t>
            </a:r>
            <a:endParaRPr lang="en-US" sz="1200" b="0" u="none" strike="noStrike">
              <a:solidFill>
                <a:srgbClr val="000000"/>
              </a:solidFill>
              <a:effectLst/>
              <a:uFillTx/>
              <a:latin typeface="Arial"/>
            </a:endParaRPr>
          </a:p>
          <a:p>
            <a:pPr defTabSz="914400">
              <a:lnSpc>
                <a:spcPct val="85000"/>
              </a:lnSpc>
            </a:pPr>
            <a:r>
              <a:rPr lang="en-US" sz="1200" b="0" u="none" strike="noStrike">
                <a:solidFill>
                  <a:srgbClr val="FFFFFF"/>
                </a:solidFill>
                <a:effectLst/>
                <a:uFillTx/>
                <a:latin typeface="Consolas"/>
              </a:rPr>
              <a:t>        return "billing"</a:t>
            </a:r>
            <a:endParaRPr lang="en-US" sz="1200" b="0" u="none" strike="noStrike">
              <a:solidFill>
                <a:srgbClr val="000000"/>
              </a:solidFill>
              <a:effectLst/>
              <a:uFillTx/>
              <a:latin typeface="Arial"/>
            </a:endParaRPr>
          </a:p>
          <a:p>
            <a:pPr defTabSz="914400">
              <a:lnSpc>
                <a:spcPct val="85000"/>
              </a:lnSpc>
            </a:pPr>
            <a:r>
              <a:rPr lang="en-US" sz="1200" b="0" u="none" strike="noStrike">
                <a:solidFill>
                  <a:srgbClr val="FFFFFF"/>
                </a:solidFill>
                <a:effectLst/>
                <a:uFillTx/>
                <a:latin typeface="Consolas"/>
              </a:rPr>
              <a:t>    elif "login" in text or "error" in text:</a:t>
            </a:r>
            <a:endParaRPr lang="en-US" sz="1200" b="0" u="none" strike="noStrike">
              <a:solidFill>
                <a:srgbClr val="000000"/>
              </a:solidFill>
              <a:effectLst/>
              <a:uFillTx/>
              <a:latin typeface="Arial"/>
            </a:endParaRPr>
          </a:p>
          <a:p>
            <a:pPr defTabSz="914400">
              <a:lnSpc>
                <a:spcPct val="85000"/>
              </a:lnSpc>
            </a:pPr>
            <a:r>
              <a:rPr lang="en-US" sz="1200" b="0" u="none" strike="noStrike">
                <a:solidFill>
                  <a:srgbClr val="FFFFFF"/>
                </a:solidFill>
                <a:effectLst/>
                <a:uFillTx/>
                <a:latin typeface="Consolas"/>
              </a:rPr>
              <a:t>        return "technical"</a:t>
            </a:r>
            <a:endParaRPr lang="en-US" sz="1200" b="0" u="none" strike="noStrike">
              <a:solidFill>
                <a:srgbClr val="000000"/>
              </a:solidFill>
              <a:effectLst/>
              <a:uFillTx/>
              <a:latin typeface="Arial"/>
            </a:endParaRPr>
          </a:p>
          <a:p>
            <a:pPr defTabSz="914400">
              <a:lnSpc>
                <a:spcPct val="85000"/>
              </a:lnSpc>
            </a:pPr>
            <a:r>
              <a:rPr lang="en-US" sz="1200" b="0" u="none" strike="noStrike">
                <a:solidFill>
                  <a:srgbClr val="FFFFFF"/>
                </a:solidFill>
                <a:effectLst/>
                <a:uFillTx/>
                <a:latin typeface="Consolas"/>
              </a:rPr>
              <a:t>    return "general"</a:t>
            </a:r>
            <a:endParaRPr lang="en-US" sz="1200" b="0" u="none" strike="noStrike">
              <a:solidFill>
                <a:srgbClr val="000000"/>
              </a:solidFill>
              <a:effectLst/>
              <a:uFillTx/>
              <a:latin typeface="Arial"/>
            </a:endParaRPr>
          </a:p>
        </p:txBody>
      </p:sp>
      <p:sp>
        <p:nvSpPr>
          <p:cNvPr id="340" name="Shape 9"/>
          <p:cNvSpPr/>
          <p:nvPr/>
        </p:nvSpPr>
        <p:spPr>
          <a:xfrm>
            <a:off x="7132320" y="1417320"/>
            <a:ext cx="3885840" cy="3291480"/>
          </a:xfrm>
          <a:prstGeom prst="roundRect">
            <a:avLst>
              <a:gd name="adj" fmla="val 2222"/>
            </a:avLst>
          </a:prstGeom>
          <a:solidFill>
            <a:srgbClr val="FFFFFF"/>
          </a:solidFill>
          <a:ln w="10160">
            <a:solidFill>
              <a:srgbClr val="D7E3E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41" name="Text 10"/>
          <p:cNvSpPr/>
          <p:nvPr/>
        </p:nvSpPr>
        <p:spPr>
          <a:xfrm>
            <a:off x="7388280" y="1755720"/>
            <a:ext cx="324576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rgbClr val="153B52"/>
                </a:solidFill>
                <a:effectLst/>
                <a:uFillTx/>
                <a:latin typeface="Aptos"/>
              </a:rPr>
              <a:t>Why functions matter</a:t>
            </a:r>
            <a:endParaRPr lang="en-US" sz="1900" b="0" u="none" strike="noStrike">
              <a:solidFill>
                <a:srgbClr val="000000"/>
              </a:solidFill>
              <a:effectLst/>
              <a:uFillTx/>
              <a:latin typeface="Arial"/>
            </a:endParaRPr>
          </a:p>
        </p:txBody>
      </p:sp>
      <p:sp>
        <p:nvSpPr>
          <p:cNvPr id="342" name="Text 11"/>
          <p:cNvSpPr/>
          <p:nvPr/>
        </p:nvSpPr>
        <p:spPr>
          <a:xfrm>
            <a:off x="7425000" y="2240280"/>
            <a:ext cx="3154320" cy="1234080"/>
          </a:xfrm>
          <a:prstGeom prst="rect">
            <a:avLst/>
          </a:prstGeom>
          <a:noFill/>
          <a:ln w="0">
            <a:noFill/>
          </a:ln>
        </p:spPr>
        <p:style>
          <a:lnRef idx="0"/>
          <a:fillRef idx="0"/>
          <a:effectRef idx="0"/>
          <a:fontRef idx="minor"/>
        </p:style>
        <p:txBody>
          <a:bodyPr lIns="720" tIns="720" rIns="720" bIns="720" anchor="t">
            <a:normAutofit fontScale="62500" lnSpcReduction="19999"/>
          </a:bodyPr>
          <a:p>
            <a:pPr defTabSz="914400">
              <a:lnSpc>
                <a:spcPct val="100000"/>
              </a:lnSpc>
            </a:pPr>
            <a:r>
              <a:rPr lang="en-US" sz="1800" b="0" u="none" strike="noStrike">
                <a:solidFill>
                  <a:schemeClr val="dk1"/>
                </a:solidFill>
                <a:effectLst/>
                <a:uFillTx/>
                <a:latin typeface="Aptos"/>
              </a:rPr>
              <a:t>They avoid repeated code.</a:t>
            </a:r>
            <a:endParaRPr lang="en-US" sz="1800" b="0" u="none" strike="noStrike">
              <a:solidFill>
                <a:srgbClr val="000000"/>
              </a:solidFill>
              <a:effectLst/>
              <a:uFillTx/>
              <a:latin typeface="Arial"/>
            </a:endParaRPr>
          </a:p>
          <a:p>
            <a:pPr defTabSz="914400">
              <a:lnSpc>
                <a:spcPct val="100000"/>
              </a:lnSpc>
            </a:pPr>
            <a:endParaRPr lang="en-US" sz="1800" b="0" u="none" strike="noStrike">
              <a:solidFill>
                <a:srgbClr val="000000"/>
              </a:solidFill>
              <a:effectLst/>
              <a:uFillTx/>
              <a:latin typeface="Arial"/>
            </a:endParaRPr>
          </a:p>
          <a:p>
            <a:pPr defTabSz="914400">
              <a:lnSpc>
                <a:spcPct val="100000"/>
              </a:lnSpc>
            </a:pPr>
            <a:r>
              <a:rPr lang="en-US" sz="1800" b="0" u="none" strike="noStrike">
                <a:solidFill>
                  <a:schemeClr val="dk1"/>
                </a:solidFill>
                <a:effectLst/>
                <a:uFillTx/>
                <a:latin typeface="Aptos"/>
              </a:rPr>
              <a:t>Type hints define expected inputs and outputs.</a:t>
            </a:r>
            <a:endParaRPr lang="en-US" sz="1800" b="0" u="none" strike="noStrike">
              <a:solidFill>
                <a:srgbClr val="000000"/>
              </a:solidFill>
              <a:effectLst/>
              <a:uFillTx/>
              <a:latin typeface="Arial"/>
            </a:endParaRPr>
          </a:p>
          <a:p>
            <a:pPr defTabSz="914400">
              <a:lnSpc>
                <a:spcPct val="100000"/>
              </a:lnSpc>
            </a:pPr>
            <a:endParaRPr lang="en-US" sz="1800" b="0" u="none" strike="noStrike">
              <a:solidFill>
                <a:srgbClr val="000000"/>
              </a:solidFill>
              <a:effectLst/>
              <a:uFillTx/>
              <a:latin typeface="Arial"/>
            </a:endParaRPr>
          </a:p>
          <a:p>
            <a:pPr defTabSz="914400">
              <a:lnSpc>
                <a:spcPct val="100000"/>
              </a:lnSpc>
            </a:pPr>
            <a:r>
              <a:rPr lang="en-US" sz="1800" b="0" u="none" strike="noStrike">
                <a:solidFill>
                  <a:schemeClr val="dk1"/>
                </a:solidFill>
                <a:effectLst/>
                <a:uFillTx/>
                <a:latin typeface="Aptos"/>
              </a:rPr>
              <a:t>Docstrings describe behavior for humans, tests, and future tool schemas.</a:t>
            </a:r>
            <a:endParaRPr lang="en-US" sz="1800" b="0" u="none" strike="noStrike">
              <a:solidFill>
                <a:srgbClr val="000000"/>
              </a:solidFill>
              <a:effectLst/>
              <a:uFillTx/>
              <a:latin typeface="Arial"/>
            </a:endParaRPr>
          </a:p>
          <a:p>
            <a:pPr defTabSz="914400">
              <a:lnSpc>
                <a:spcPct val="100000"/>
              </a:lnSpc>
            </a:pPr>
            <a:endParaRPr lang="en-US" sz="1800" b="0" u="none" strike="noStrike">
              <a:solidFill>
                <a:srgbClr val="000000"/>
              </a:solidFill>
              <a:effectLst/>
              <a:uFillTx/>
              <a:latin typeface="Arial"/>
            </a:endParaRPr>
          </a:p>
          <a:p>
            <a:pPr defTabSz="914400">
              <a:lnSpc>
                <a:spcPct val="100000"/>
              </a:lnSpc>
            </a:pPr>
            <a:r>
              <a:rPr lang="en-US" sz="1800" b="0" u="none" strike="noStrike">
                <a:solidFill>
                  <a:schemeClr val="dk1"/>
                </a:solidFill>
                <a:effectLst/>
                <a:uFillTx/>
                <a:latin typeface="Aptos"/>
              </a:rPr>
              <a:t>In later labs, functions become callable tools.</a:t>
            </a:r>
            <a:endParaRPr lang="en-US" sz="1800" b="0" u="none" strike="noStrike">
              <a:solidFill>
                <a:srgbClr val="000000"/>
              </a:solidFill>
              <a:effectLst/>
              <a:uFillTx/>
              <a:latin typeface="Arial"/>
            </a:endParaRPr>
          </a:p>
        </p:txBody>
      </p:sp>
      <p:sp>
        <p:nvSpPr>
          <p:cNvPr id="343" name="Shape 12"/>
          <p:cNvSpPr/>
          <p:nvPr/>
        </p:nvSpPr>
        <p:spPr>
          <a:xfrm>
            <a:off x="7571160" y="3822120"/>
            <a:ext cx="3017520" cy="360"/>
          </a:xfrm>
          <a:prstGeom prst="line">
            <a:avLst/>
          </a:prstGeom>
          <a:ln w="12700">
            <a:solidFill>
              <a:srgbClr val="C9D6E2"/>
            </a:solidFill>
            <a:roun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Aptos"/>
            </a:endParaRPr>
          </a:p>
        </p:txBody>
      </p:sp>
      <p:sp>
        <p:nvSpPr>
          <p:cNvPr id="344" name="Text 13"/>
          <p:cNvSpPr/>
          <p:nvPr/>
        </p:nvSpPr>
        <p:spPr>
          <a:xfrm>
            <a:off x="7425000" y="4096440"/>
            <a:ext cx="301716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0E8F8F"/>
                </a:solidFill>
                <a:effectLst/>
                <a:uFillTx/>
                <a:latin typeface="Aptos"/>
              </a:rPr>
              <a:t>return ≠ print</a:t>
            </a:r>
            <a:endParaRPr lang="en-US" sz="1400" b="0" u="none" strike="noStrike">
              <a:solidFill>
                <a:srgbClr val="000000"/>
              </a:solidFill>
              <a:effectLst/>
              <a:uFillTx/>
              <a:latin typeface="Arial"/>
            </a:endParaRPr>
          </a:p>
        </p:txBody>
      </p:sp>
      <p:sp>
        <p:nvSpPr>
          <p:cNvPr id="345" name="PlaceHolder 1"/>
          <p:cNvSpPr>
            <a:spLocks noGrp="1"/>
          </p:cNvSpPr>
          <p:nvPr>
            <p:ph type="sldNum" idx="18"/>
          </p:nvPr>
        </p:nvSpPr>
        <p:spPr>
          <a:xfrm>
            <a:off x="11292840" y="6546960"/>
            <a:ext cx="799560" cy="299520"/>
          </a:xfrm>
          <a:prstGeom prst="rect">
            <a:avLst/>
          </a:prstGeom>
          <a:noFill/>
          <a:ln w="0">
            <a:noFill/>
          </a:ln>
        </p:spPr>
        <p:txBody>
          <a:bodyPr lIns="90000" tIns="45000" rIns="90000" bIns="45000" anchor="t">
            <a:noAutofit/>
          </a:bodyPr>
          <a:lstStyle>
            <a:lvl1pPr indent="0" algn="l" defTabSz="914400">
              <a:lnSpc>
                <a:spcPct val="100000"/>
              </a:lnSpc>
              <a:buNone/>
              <a:defRPr lang="en-US" sz="900" b="0" u="none" strike="noStrike">
                <a:solidFill>
                  <a:srgbClr val="78909C"/>
                </a:solidFill>
                <a:effectLst/>
                <a:uFillTx/>
                <a:latin typeface="Aptos"/>
                <a:ea typeface="Aptos"/>
              </a:defRPr>
            </a:lvl1pPr>
          </a:lstStyle>
          <a:p>
            <a:pPr indent="0" algn="l" defTabSz="914400">
              <a:lnSpc>
                <a:spcPct val="100000"/>
              </a:lnSpc>
              <a:buNone/>
            </a:pPr>
            <a:fld id="{BB054984-86F5-478A-9DEA-3F88558821AA}" type="slidenum">
              <a:rPr lang="en-US" sz="900" b="0" u="none" strike="noStrike">
                <a:solidFill>
                  <a:srgbClr val="78909C"/>
                </a:solidFill>
                <a:effectLst/>
                <a:uFillTx/>
                <a:latin typeface="Aptos"/>
                <a:ea typeface="Aptos"/>
              </a:rPr>
              <a:t>14</a:t>
            </a:fld>
            <a:endParaRPr lang="en-US" sz="9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AFC"/>
        </a:solidFill>
      </p:bgPr>
    </p:bg>
    <p:spTree>
      <p:nvGrpSpPr>
        <p:cNvPr id="1" name=""/>
        <p:cNvGrpSpPr/>
        <p:nvPr/>
      </p:nvGrpSpPr>
      <p:grpSpPr>
        <a:xfrm>
          <a:off x="0" y="0"/>
          <a:ext cx="0" cy="0"/>
          <a:chOff x="0" y="0"/>
          <a:chExt cx="0" cy="0"/>
        </a:xfrm>
      </p:grpSpPr>
      <p:sp>
        <p:nvSpPr>
          <p:cNvPr id="346" name="Shape 0"/>
          <p:cNvSpPr/>
          <p:nvPr/>
        </p:nvSpPr>
        <p:spPr>
          <a:xfrm>
            <a:off x="0" y="0"/>
            <a:ext cx="12191400" cy="6857640"/>
          </a:xfrm>
          <a:prstGeom prst="rect">
            <a:avLst/>
          </a:prstGeom>
          <a:solidFill>
            <a:srgbClr val="F7FAFC"/>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47" name="Shape 1"/>
          <p:cNvSpPr/>
          <p:nvPr/>
        </p:nvSpPr>
        <p:spPr>
          <a:xfrm>
            <a:off x="0" y="0"/>
            <a:ext cx="164160" cy="6857640"/>
          </a:xfrm>
          <a:prstGeom prst="rect">
            <a:avLst/>
          </a:prstGeom>
          <a:solidFill>
            <a:srgbClr val="153B52"/>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48" name="Text 2"/>
          <p:cNvSpPr/>
          <p:nvPr/>
        </p:nvSpPr>
        <p:spPr>
          <a:xfrm>
            <a:off x="521280" y="109800"/>
            <a:ext cx="420588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1" u="none" strike="noStrike">
                <a:solidFill>
                  <a:srgbClr val="0E8F8F"/>
                </a:solidFill>
                <a:effectLst/>
                <a:uFillTx/>
                <a:latin typeface="Aptos"/>
              </a:rPr>
              <a:t>MINI PROJECT</a:t>
            </a:r>
            <a:endParaRPr lang="en-US" sz="850" b="0" u="none" strike="noStrike">
              <a:solidFill>
                <a:srgbClr val="000000"/>
              </a:solidFill>
              <a:effectLst/>
              <a:uFillTx/>
              <a:latin typeface="Arial"/>
            </a:endParaRPr>
          </a:p>
        </p:txBody>
      </p:sp>
      <p:sp>
        <p:nvSpPr>
          <p:cNvPr id="349" name="Text 3"/>
          <p:cNvSpPr/>
          <p:nvPr/>
        </p:nvSpPr>
        <p:spPr>
          <a:xfrm>
            <a:off x="502920" y="320040"/>
            <a:ext cx="1106388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153B52"/>
                </a:solidFill>
                <a:effectLst/>
                <a:uFillTx/>
                <a:latin typeface="Aptos Display"/>
                <a:ea typeface="Aptos Display"/>
              </a:rPr>
              <a:t>Build: Customer Support Ticket Processor</a:t>
            </a:r>
            <a:endParaRPr lang="en-US" sz="2600" b="0" u="none" strike="noStrike">
              <a:solidFill>
                <a:srgbClr val="000000"/>
              </a:solidFill>
              <a:effectLst/>
              <a:uFillTx/>
              <a:latin typeface="Arial"/>
            </a:endParaRPr>
          </a:p>
        </p:txBody>
      </p:sp>
      <p:sp>
        <p:nvSpPr>
          <p:cNvPr id="350" name="Text 4"/>
          <p:cNvSpPr/>
          <p:nvPr/>
        </p:nvSpPr>
        <p:spPr>
          <a:xfrm>
            <a:off x="511920" y="786240"/>
            <a:ext cx="1078956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52616B"/>
                </a:solidFill>
                <a:effectLst/>
                <a:uFillTx/>
                <a:latin typeface="Aptos"/>
              </a:rPr>
              <a:t>A small complete program that uses everything from today.</a:t>
            </a:r>
            <a:endParaRPr lang="en-US" sz="1250" b="0" u="none" strike="noStrike">
              <a:solidFill>
                <a:srgbClr val="000000"/>
              </a:solidFill>
              <a:effectLst/>
              <a:uFillTx/>
              <a:latin typeface="Arial"/>
            </a:endParaRPr>
          </a:p>
        </p:txBody>
      </p:sp>
      <p:sp>
        <p:nvSpPr>
          <p:cNvPr id="351" name="Shape 5"/>
          <p:cNvSpPr/>
          <p:nvPr/>
        </p:nvSpPr>
        <p:spPr>
          <a:xfrm>
            <a:off x="914400" y="1965960"/>
            <a:ext cx="2057040" cy="914040"/>
          </a:xfrm>
          <a:prstGeom prst="roundRect">
            <a:avLst>
              <a:gd name="adj" fmla="val 8000"/>
            </a:avLst>
          </a:prstGeom>
          <a:solidFill>
            <a:srgbClr val="EAF4FF"/>
          </a:solidFill>
          <a:ln w="10160">
            <a:solidFill>
              <a:srgbClr val="BFDCEF"/>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52" name="Text 6"/>
          <p:cNvSpPr/>
          <p:nvPr/>
        </p:nvSpPr>
        <p:spPr>
          <a:xfrm>
            <a:off x="1078920" y="2221920"/>
            <a:ext cx="319680" cy="127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0E8F8F"/>
                </a:solidFill>
                <a:effectLst/>
                <a:uFillTx/>
                <a:latin typeface="Aptos"/>
              </a:rPr>
              <a:t>1</a:t>
            </a:r>
            <a:endParaRPr lang="en-US" sz="1100" b="0" u="none" strike="noStrike">
              <a:solidFill>
                <a:srgbClr val="000000"/>
              </a:solidFill>
              <a:effectLst/>
              <a:uFillTx/>
              <a:latin typeface="Arial"/>
            </a:endParaRPr>
          </a:p>
        </p:txBody>
      </p:sp>
      <p:sp>
        <p:nvSpPr>
          <p:cNvPr id="353" name="Text 7"/>
          <p:cNvSpPr/>
          <p:nvPr/>
        </p:nvSpPr>
        <p:spPr>
          <a:xfrm>
            <a:off x="1444680" y="2185560"/>
            <a:ext cx="118836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50" b="1" u="none" strike="noStrike">
                <a:solidFill>
                  <a:srgbClr val="102A43"/>
                </a:solidFill>
                <a:effectLst/>
                <a:uFillTx/>
                <a:latin typeface="Aptos"/>
              </a:rPr>
              <a:t>Input tickets</a:t>
            </a:r>
            <a:endParaRPr lang="en-US" sz="1350" b="0" u="none" strike="noStrike">
              <a:solidFill>
                <a:srgbClr val="000000"/>
              </a:solidFill>
              <a:effectLst/>
              <a:uFillTx/>
              <a:latin typeface="Arial"/>
            </a:endParaRPr>
          </a:p>
        </p:txBody>
      </p:sp>
      <p:sp>
        <p:nvSpPr>
          <p:cNvPr id="354" name="Shape 8"/>
          <p:cNvSpPr/>
          <p:nvPr/>
        </p:nvSpPr>
        <p:spPr>
          <a:xfrm>
            <a:off x="2971800" y="2423160"/>
            <a:ext cx="457200" cy="360"/>
          </a:xfrm>
          <a:prstGeom prst="line">
            <a:avLst/>
          </a:prstGeom>
          <a:ln w="25400">
            <a:solidFill>
              <a:srgbClr val="2B6CB0"/>
            </a:solidFill>
            <a:round/>
            <a:tailEnd len="med" type="triangle" w="me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Aptos"/>
            </a:endParaRPr>
          </a:p>
        </p:txBody>
      </p:sp>
      <p:sp>
        <p:nvSpPr>
          <p:cNvPr id="355" name="Shape 9"/>
          <p:cNvSpPr/>
          <p:nvPr/>
        </p:nvSpPr>
        <p:spPr>
          <a:xfrm>
            <a:off x="3657600" y="1965960"/>
            <a:ext cx="2057040" cy="914040"/>
          </a:xfrm>
          <a:prstGeom prst="roundRect">
            <a:avLst>
              <a:gd name="adj" fmla="val 8000"/>
            </a:avLst>
          </a:prstGeom>
          <a:solidFill>
            <a:srgbClr val="E6FFFA"/>
          </a:solidFill>
          <a:ln w="10160">
            <a:solidFill>
              <a:srgbClr val="BFDCEF"/>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56" name="Text 10"/>
          <p:cNvSpPr/>
          <p:nvPr/>
        </p:nvSpPr>
        <p:spPr>
          <a:xfrm>
            <a:off x="3822120" y="2221920"/>
            <a:ext cx="319680" cy="127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0E8F8F"/>
                </a:solidFill>
                <a:effectLst/>
                <a:uFillTx/>
                <a:latin typeface="Aptos"/>
              </a:rPr>
              <a:t>2</a:t>
            </a:r>
            <a:endParaRPr lang="en-US" sz="1100" b="0" u="none" strike="noStrike">
              <a:solidFill>
                <a:srgbClr val="000000"/>
              </a:solidFill>
              <a:effectLst/>
              <a:uFillTx/>
              <a:latin typeface="Arial"/>
            </a:endParaRPr>
          </a:p>
        </p:txBody>
      </p:sp>
      <p:sp>
        <p:nvSpPr>
          <p:cNvPr id="357" name="Text 11"/>
          <p:cNvSpPr/>
          <p:nvPr/>
        </p:nvSpPr>
        <p:spPr>
          <a:xfrm>
            <a:off x="4187880" y="2185560"/>
            <a:ext cx="118836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50" b="1" u="none" strike="noStrike">
                <a:solidFill>
                  <a:srgbClr val="102A43"/>
                </a:solidFill>
                <a:effectLst/>
                <a:uFillTx/>
                <a:latin typeface="Aptos"/>
              </a:rPr>
              <a:t>Classify each</a:t>
            </a:r>
            <a:endParaRPr lang="en-US" sz="1350" b="0" u="none" strike="noStrike">
              <a:solidFill>
                <a:srgbClr val="000000"/>
              </a:solidFill>
              <a:effectLst/>
              <a:uFillTx/>
              <a:latin typeface="Arial"/>
            </a:endParaRPr>
          </a:p>
        </p:txBody>
      </p:sp>
      <p:sp>
        <p:nvSpPr>
          <p:cNvPr id="358" name="Shape 12"/>
          <p:cNvSpPr/>
          <p:nvPr/>
        </p:nvSpPr>
        <p:spPr>
          <a:xfrm>
            <a:off x="5715000" y="2423160"/>
            <a:ext cx="457200" cy="360"/>
          </a:xfrm>
          <a:prstGeom prst="line">
            <a:avLst/>
          </a:prstGeom>
          <a:ln w="25400">
            <a:solidFill>
              <a:srgbClr val="2B6CB0"/>
            </a:solidFill>
            <a:round/>
            <a:tailEnd len="med" type="triangle" w="me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Aptos"/>
            </a:endParaRPr>
          </a:p>
        </p:txBody>
      </p:sp>
      <p:sp>
        <p:nvSpPr>
          <p:cNvPr id="359" name="Shape 13"/>
          <p:cNvSpPr/>
          <p:nvPr/>
        </p:nvSpPr>
        <p:spPr>
          <a:xfrm>
            <a:off x="6400800" y="1965960"/>
            <a:ext cx="2057040" cy="914040"/>
          </a:xfrm>
          <a:prstGeom prst="roundRect">
            <a:avLst>
              <a:gd name="adj" fmla="val 8000"/>
            </a:avLst>
          </a:prstGeom>
          <a:solidFill>
            <a:srgbClr val="EAF4FF"/>
          </a:solidFill>
          <a:ln w="10160">
            <a:solidFill>
              <a:srgbClr val="BFDCEF"/>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60" name="Text 14"/>
          <p:cNvSpPr/>
          <p:nvPr/>
        </p:nvSpPr>
        <p:spPr>
          <a:xfrm>
            <a:off x="6565320" y="2221920"/>
            <a:ext cx="319680" cy="127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0E8F8F"/>
                </a:solidFill>
                <a:effectLst/>
                <a:uFillTx/>
                <a:latin typeface="Aptos"/>
              </a:rPr>
              <a:t>3</a:t>
            </a:r>
            <a:endParaRPr lang="en-US" sz="1100" b="0" u="none" strike="noStrike">
              <a:solidFill>
                <a:srgbClr val="000000"/>
              </a:solidFill>
              <a:effectLst/>
              <a:uFillTx/>
              <a:latin typeface="Arial"/>
            </a:endParaRPr>
          </a:p>
        </p:txBody>
      </p:sp>
      <p:sp>
        <p:nvSpPr>
          <p:cNvPr id="361" name="Text 15"/>
          <p:cNvSpPr/>
          <p:nvPr/>
        </p:nvSpPr>
        <p:spPr>
          <a:xfrm>
            <a:off x="6931080" y="2185560"/>
            <a:ext cx="118836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50" b="1" u="none" strike="noStrike">
                <a:solidFill>
                  <a:srgbClr val="102A43"/>
                </a:solidFill>
                <a:effectLst/>
                <a:uFillTx/>
                <a:latin typeface="Aptos"/>
              </a:rPr>
              <a:t>Count categories</a:t>
            </a:r>
            <a:endParaRPr lang="en-US" sz="1350" b="0" u="none" strike="noStrike">
              <a:solidFill>
                <a:srgbClr val="000000"/>
              </a:solidFill>
              <a:effectLst/>
              <a:uFillTx/>
              <a:latin typeface="Arial"/>
            </a:endParaRPr>
          </a:p>
        </p:txBody>
      </p:sp>
      <p:sp>
        <p:nvSpPr>
          <p:cNvPr id="362" name="Shape 16"/>
          <p:cNvSpPr/>
          <p:nvPr/>
        </p:nvSpPr>
        <p:spPr>
          <a:xfrm>
            <a:off x="8458200" y="2423160"/>
            <a:ext cx="457200" cy="360"/>
          </a:xfrm>
          <a:prstGeom prst="line">
            <a:avLst/>
          </a:prstGeom>
          <a:ln w="25400">
            <a:solidFill>
              <a:srgbClr val="2B6CB0"/>
            </a:solidFill>
            <a:round/>
            <a:tailEnd len="med" type="triangle" w="med"/>
          </a:ln>
        </p:spPr>
        <p:style>
          <a:lnRef idx="0"/>
          <a:fillRef idx="0"/>
          <a:effectRef idx="0"/>
          <a:fontRef idx="minor"/>
        </p:style>
        <p:txBody>
          <a:bodyPr lIns="90000" tIns="-44640" rIns="90000" bIns="-44640" anchor="t">
            <a:noAutofit/>
          </a:bodyPr>
          <a:p>
            <a:endParaRPr lang="en-US" sz="1800" b="0" u="none" strike="noStrike">
              <a:solidFill>
                <a:schemeClr val="dk1"/>
              </a:solidFill>
              <a:effectLst/>
              <a:uFillTx/>
              <a:latin typeface="Aptos"/>
            </a:endParaRPr>
          </a:p>
        </p:txBody>
      </p:sp>
      <p:sp>
        <p:nvSpPr>
          <p:cNvPr id="363" name="Shape 17"/>
          <p:cNvSpPr/>
          <p:nvPr/>
        </p:nvSpPr>
        <p:spPr>
          <a:xfrm>
            <a:off x="9144000" y="1965960"/>
            <a:ext cx="2057040" cy="914040"/>
          </a:xfrm>
          <a:prstGeom prst="roundRect">
            <a:avLst>
              <a:gd name="adj" fmla="val 8000"/>
            </a:avLst>
          </a:prstGeom>
          <a:solidFill>
            <a:srgbClr val="E6FFFA"/>
          </a:solidFill>
          <a:ln w="10160">
            <a:solidFill>
              <a:srgbClr val="BFDCEF"/>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64" name="Text 18"/>
          <p:cNvSpPr/>
          <p:nvPr/>
        </p:nvSpPr>
        <p:spPr>
          <a:xfrm>
            <a:off x="9308520" y="2221920"/>
            <a:ext cx="319680" cy="127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00" b="1" u="none" strike="noStrike">
                <a:solidFill>
                  <a:srgbClr val="0E8F8F"/>
                </a:solidFill>
                <a:effectLst/>
                <a:uFillTx/>
                <a:latin typeface="Aptos"/>
              </a:rPr>
              <a:t>4</a:t>
            </a:r>
            <a:endParaRPr lang="en-US" sz="1100" b="0" u="none" strike="noStrike">
              <a:solidFill>
                <a:srgbClr val="000000"/>
              </a:solidFill>
              <a:effectLst/>
              <a:uFillTx/>
              <a:latin typeface="Arial"/>
            </a:endParaRPr>
          </a:p>
        </p:txBody>
      </p:sp>
      <p:sp>
        <p:nvSpPr>
          <p:cNvPr id="365" name="Text 19"/>
          <p:cNvSpPr/>
          <p:nvPr/>
        </p:nvSpPr>
        <p:spPr>
          <a:xfrm>
            <a:off x="9674280" y="2185560"/>
            <a:ext cx="118836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50" b="1" u="none" strike="noStrike">
                <a:solidFill>
                  <a:srgbClr val="102A43"/>
                </a:solidFill>
                <a:effectLst/>
                <a:uFillTx/>
                <a:latin typeface="Aptos"/>
              </a:rPr>
              <a:t>Print summary</a:t>
            </a:r>
            <a:endParaRPr lang="en-US" sz="1350" b="0" u="none" strike="noStrike">
              <a:solidFill>
                <a:srgbClr val="000000"/>
              </a:solidFill>
              <a:effectLst/>
              <a:uFillTx/>
              <a:latin typeface="Arial"/>
            </a:endParaRPr>
          </a:p>
        </p:txBody>
      </p:sp>
      <p:sp>
        <p:nvSpPr>
          <p:cNvPr id="366" name="Shape 20"/>
          <p:cNvSpPr/>
          <p:nvPr/>
        </p:nvSpPr>
        <p:spPr>
          <a:xfrm>
            <a:off x="914400" y="3794760"/>
            <a:ext cx="10012320" cy="1078560"/>
          </a:xfrm>
          <a:prstGeom prst="roundRect">
            <a:avLst>
              <a:gd name="adj" fmla="val 6780"/>
            </a:avLst>
          </a:prstGeom>
          <a:solidFill>
            <a:srgbClr val="FFFFFF"/>
          </a:solidFill>
          <a:ln w="10160">
            <a:solidFill>
              <a:srgbClr val="D7E3E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67" name="Text 21"/>
          <p:cNvSpPr/>
          <p:nvPr/>
        </p:nvSpPr>
        <p:spPr>
          <a:xfrm>
            <a:off x="1234440" y="4069080"/>
            <a:ext cx="1828440" cy="200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153B52"/>
                </a:solidFill>
                <a:effectLst/>
                <a:uFillTx/>
                <a:latin typeface="Aptos"/>
              </a:rPr>
              <a:t>Success criteria</a:t>
            </a:r>
            <a:endParaRPr lang="en-US" sz="1700" b="0" u="none" strike="noStrike">
              <a:solidFill>
                <a:srgbClr val="000000"/>
              </a:solidFill>
              <a:effectLst/>
              <a:uFillTx/>
              <a:latin typeface="Arial"/>
            </a:endParaRPr>
          </a:p>
        </p:txBody>
      </p:sp>
      <p:sp>
        <p:nvSpPr>
          <p:cNvPr id="368" name="Text 22"/>
          <p:cNvSpPr/>
          <p:nvPr/>
        </p:nvSpPr>
        <p:spPr>
          <a:xfrm>
            <a:off x="3566160" y="4060080"/>
            <a:ext cx="6583320" cy="347040"/>
          </a:xfrm>
          <a:prstGeom prst="rect">
            <a:avLst/>
          </a:prstGeom>
          <a:noFill/>
          <a:ln w="0">
            <a:noFill/>
          </a:ln>
        </p:spPr>
        <p:style>
          <a:lnRef idx="0"/>
          <a:fillRef idx="0"/>
          <a:effectRef idx="0"/>
          <a:fontRef idx="minor"/>
        </p:style>
        <p:txBody>
          <a:bodyPr lIns="0" tIns="0" rIns="0" bIns="0" anchor="ctr">
            <a:normAutofit lnSpcReduction="9999"/>
          </a:bodyPr>
          <a:p>
            <a:pPr defTabSz="914400">
              <a:lnSpc>
                <a:spcPct val="100000"/>
              </a:lnSpc>
              <a:tabLst>
                <a:tab pos="0" algn="l"/>
              </a:tabLst>
            </a:pPr>
            <a:r>
              <a:rPr lang="en-US" sz="1260" b="0" u="none" strike="noStrike">
                <a:solidFill>
                  <a:srgbClr val="52616B"/>
                </a:solidFill>
                <a:effectLst/>
                <a:uFillTx/>
                <a:latin typeface="Aptos"/>
              </a:rPr>
              <a:t>The program should process at least 3 tickets, assign a category, print each result, and print a final count for billing / technical / general.</a:t>
            </a:r>
            <a:endParaRPr lang="en-US" sz="1260" b="0" u="none" strike="noStrike">
              <a:solidFill>
                <a:srgbClr val="000000"/>
              </a:solidFill>
              <a:effectLst/>
              <a:uFillTx/>
              <a:latin typeface="Arial"/>
            </a:endParaRPr>
          </a:p>
        </p:txBody>
      </p:sp>
      <p:sp>
        <p:nvSpPr>
          <p:cNvPr id="369" name="PlaceHolder 1"/>
          <p:cNvSpPr>
            <a:spLocks noGrp="1"/>
          </p:cNvSpPr>
          <p:nvPr>
            <p:ph type="sldNum" idx="19"/>
          </p:nvPr>
        </p:nvSpPr>
        <p:spPr>
          <a:xfrm>
            <a:off x="11292840" y="6546960"/>
            <a:ext cx="799560" cy="299520"/>
          </a:xfrm>
          <a:prstGeom prst="rect">
            <a:avLst/>
          </a:prstGeom>
          <a:noFill/>
          <a:ln w="0">
            <a:noFill/>
          </a:ln>
        </p:spPr>
        <p:txBody>
          <a:bodyPr lIns="90000" tIns="45000" rIns="90000" bIns="45000" anchor="t">
            <a:noAutofit/>
          </a:bodyPr>
          <a:lstStyle>
            <a:lvl1pPr indent="0" algn="l" defTabSz="914400">
              <a:lnSpc>
                <a:spcPct val="100000"/>
              </a:lnSpc>
              <a:buNone/>
              <a:defRPr lang="en-US" sz="900" b="0" u="none" strike="noStrike">
                <a:solidFill>
                  <a:srgbClr val="78909C"/>
                </a:solidFill>
                <a:effectLst/>
                <a:uFillTx/>
                <a:latin typeface="Aptos"/>
                <a:ea typeface="Aptos"/>
              </a:defRPr>
            </a:lvl1pPr>
          </a:lstStyle>
          <a:p>
            <a:pPr indent="0" algn="l" defTabSz="914400">
              <a:lnSpc>
                <a:spcPct val="100000"/>
              </a:lnSpc>
              <a:buNone/>
            </a:pPr>
            <a:fld id="{EF4953F3-7153-4FE1-909C-5AAC54B89763}" type="slidenum">
              <a:rPr lang="en-US" sz="900" b="0" u="none" strike="noStrike">
                <a:solidFill>
                  <a:srgbClr val="78909C"/>
                </a:solidFill>
                <a:effectLst/>
                <a:uFillTx/>
                <a:latin typeface="Aptos"/>
                <a:ea typeface="Aptos"/>
              </a:rPr>
              <a:t>15</a:t>
            </a:fld>
            <a:endParaRPr lang="en-US" sz="9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AFC"/>
        </a:solidFill>
      </p:bgPr>
    </p:bg>
    <p:spTree>
      <p:nvGrpSpPr>
        <p:cNvPr id="1" name=""/>
        <p:cNvGrpSpPr/>
        <p:nvPr/>
      </p:nvGrpSpPr>
      <p:grpSpPr>
        <a:xfrm>
          <a:off x="0" y="0"/>
          <a:ext cx="0" cy="0"/>
          <a:chOff x="0" y="0"/>
          <a:chExt cx="0" cy="0"/>
        </a:xfrm>
      </p:grpSpPr>
      <p:sp>
        <p:nvSpPr>
          <p:cNvPr id="370" name="Shape 0"/>
          <p:cNvSpPr/>
          <p:nvPr/>
        </p:nvSpPr>
        <p:spPr>
          <a:xfrm>
            <a:off x="0" y="0"/>
            <a:ext cx="12191400" cy="6857640"/>
          </a:xfrm>
          <a:prstGeom prst="rect">
            <a:avLst/>
          </a:prstGeom>
          <a:solidFill>
            <a:srgbClr val="F7FAFC"/>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71" name="Shape 1"/>
          <p:cNvSpPr/>
          <p:nvPr/>
        </p:nvSpPr>
        <p:spPr>
          <a:xfrm>
            <a:off x="0" y="0"/>
            <a:ext cx="164160" cy="6857640"/>
          </a:xfrm>
          <a:prstGeom prst="rect">
            <a:avLst/>
          </a:prstGeom>
          <a:solidFill>
            <a:srgbClr val="153B52"/>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72" name="Text 2"/>
          <p:cNvSpPr/>
          <p:nvPr/>
        </p:nvSpPr>
        <p:spPr>
          <a:xfrm>
            <a:off x="521280" y="109800"/>
            <a:ext cx="420588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1" u="none" strike="noStrike">
                <a:solidFill>
                  <a:srgbClr val="0E8F8F"/>
                </a:solidFill>
                <a:effectLst/>
                <a:uFillTx/>
                <a:latin typeface="Aptos"/>
              </a:rPr>
              <a:t>MINI PROJECT</a:t>
            </a:r>
            <a:endParaRPr lang="en-US" sz="850" b="0" u="none" strike="noStrike">
              <a:solidFill>
                <a:srgbClr val="000000"/>
              </a:solidFill>
              <a:effectLst/>
              <a:uFillTx/>
              <a:latin typeface="Arial"/>
            </a:endParaRPr>
          </a:p>
        </p:txBody>
      </p:sp>
      <p:sp>
        <p:nvSpPr>
          <p:cNvPr id="373" name="Text 3"/>
          <p:cNvSpPr/>
          <p:nvPr/>
        </p:nvSpPr>
        <p:spPr>
          <a:xfrm>
            <a:off x="502920" y="320040"/>
            <a:ext cx="1106388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153B52"/>
                </a:solidFill>
                <a:effectLst/>
                <a:uFillTx/>
                <a:latin typeface="Aptos Display"/>
                <a:ea typeface="Aptos Display"/>
              </a:rPr>
              <a:t>Step 1 — Create Ticket Data</a:t>
            </a:r>
            <a:endParaRPr lang="en-US" sz="2600" b="0" u="none" strike="noStrike">
              <a:solidFill>
                <a:srgbClr val="000000"/>
              </a:solidFill>
              <a:effectLst/>
              <a:uFillTx/>
              <a:latin typeface="Arial"/>
            </a:endParaRPr>
          </a:p>
        </p:txBody>
      </p:sp>
      <p:sp>
        <p:nvSpPr>
          <p:cNvPr id="374" name="Text 4"/>
          <p:cNvSpPr/>
          <p:nvPr/>
        </p:nvSpPr>
        <p:spPr>
          <a:xfrm>
            <a:off x="511920" y="786240"/>
            <a:ext cx="1078956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52616B"/>
                </a:solidFill>
                <a:effectLst/>
                <a:uFillTx/>
                <a:latin typeface="Aptos"/>
              </a:rPr>
              <a:t>Start with plain Python data.</a:t>
            </a:r>
            <a:endParaRPr lang="en-US" sz="1250" b="0" u="none" strike="noStrike">
              <a:solidFill>
                <a:srgbClr val="000000"/>
              </a:solidFill>
              <a:effectLst/>
              <a:uFillTx/>
              <a:latin typeface="Arial"/>
            </a:endParaRPr>
          </a:p>
        </p:txBody>
      </p:sp>
      <p:sp>
        <p:nvSpPr>
          <p:cNvPr id="375" name="Shape 5"/>
          <p:cNvSpPr/>
          <p:nvPr/>
        </p:nvSpPr>
        <p:spPr>
          <a:xfrm>
            <a:off x="731520" y="1143000"/>
            <a:ext cx="5531760" cy="5074560"/>
          </a:xfrm>
          <a:prstGeom prst="roundRect">
            <a:avLst>
              <a:gd name="adj" fmla="val 1441"/>
            </a:avLst>
          </a:prstGeom>
          <a:solidFill>
            <a:srgbClr val="0B1720"/>
          </a:solidFill>
          <a:ln w="10160">
            <a:solidFill>
              <a:srgbClr val="122334"/>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76" name="Shape 6"/>
          <p:cNvSpPr/>
          <p:nvPr/>
        </p:nvSpPr>
        <p:spPr>
          <a:xfrm>
            <a:off x="841320" y="1252800"/>
            <a:ext cx="1462680" cy="310680"/>
          </a:xfrm>
          <a:prstGeom prst="roundRect">
            <a:avLst>
              <a:gd name="adj" fmla="val 17647"/>
            </a:avLst>
          </a:prstGeom>
          <a:solidFill>
            <a:srgbClr val="0E8F8F"/>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77" name="Text 7"/>
          <p:cNvSpPr/>
          <p:nvPr/>
        </p:nvSpPr>
        <p:spPr>
          <a:xfrm>
            <a:off x="914400" y="1321200"/>
            <a:ext cx="131652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FFFFFF"/>
                </a:solidFill>
                <a:effectLst/>
                <a:uFillTx/>
                <a:latin typeface="Aptos"/>
              </a:rPr>
              <a:t>DATA</a:t>
            </a:r>
            <a:endParaRPr lang="en-US" sz="900" b="0" u="none" strike="noStrike">
              <a:solidFill>
                <a:srgbClr val="000000"/>
              </a:solidFill>
              <a:effectLst/>
              <a:uFillTx/>
              <a:latin typeface="Arial"/>
            </a:endParaRPr>
          </a:p>
        </p:txBody>
      </p:sp>
      <p:sp>
        <p:nvSpPr>
          <p:cNvPr id="378" name="Text 8"/>
          <p:cNvSpPr/>
          <p:nvPr/>
        </p:nvSpPr>
        <p:spPr>
          <a:xfrm>
            <a:off x="1503720" y="1961280"/>
            <a:ext cx="3843000" cy="2813040"/>
          </a:xfrm>
          <a:prstGeom prst="rect">
            <a:avLst/>
          </a:prstGeom>
          <a:solidFill>
            <a:srgbClr val="355269"/>
          </a:solidFill>
          <a:ln w="0">
            <a:solidFill>
              <a:srgbClr val="3465A4"/>
            </a:solidFill>
          </a:ln>
        </p:spPr>
        <p:style>
          <a:lnRef idx="0"/>
          <a:fillRef idx="0"/>
          <a:effectRef idx="0"/>
          <a:fontRef idx="minor"/>
        </p:style>
        <p:txBody>
          <a:bodyPr lIns="90000" tIns="45000" rIns="90000" bIns="45000" anchor="t">
            <a:spAutoFit/>
          </a:bodyPr>
          <a:p>
            <a:r>
              <a:rPr lang="en-US" sz="1120" b="0" u="none" strike="noStrike">
                <a:solidFill>
                  <a:srgbClr val="E8F1F8"/>
                </a:solidFill>
                <a:effectLst/>
                <a:uFillTx/>
                <a:latin typeface="Courier New"/>
                <a:ea typeface="Courier New"/>
              </a:rPr>
              <a:t>tickets = [  </a:t>
            </a:r>
            <a:endParaRPr lang="en-US" sz="1120" b="0" u="none" strike="noStrike">
              <a:solidFill>
                <a:srgbClr val="FFFFFF"/>
              </a:solidFill>
              <a:effectLst/>
              <a:uFillTx/>
              <a:latin typeface="Arial"/>
            </a:endParaRPr>
          </a:p>
          <a:p>
            <a:r>
              <a:rPr lang="en-US" sz="1120" b="0" u="none" strike="noStrike">
                <a:solidFill>
                  <a:srgbClr val="E8F1F8"/>
                </a:solidFill>
                <a:effectLst/>
                <a:uFillTx/>
                <a:latin typeface="Courier New"/>
                <a:ea typeface="Courier New"/>
              </a:rPr>
              <a:t>    {</a:t>
            </a:r>
            <a:endParaRPr lang="en-US" sz="1120" b="0" u="none" strike="noStrike">
              <a:solidFill>
                <a:srgbClr val="FFFFFF"/>
              </a:solidFill>
              <a:effectLst/>
              <a:uFillTx/>
              <a:latin typeface="Arial"/>
            </a:endParaRPr>
          </a:p>
          <a:p>
            <a:r>
              <a:rPr lang="en-US" sz="1120" b="0" u="none" strike="noStrike">
                <a:solidFill>
                  <a:srgbClr val="E8F1F8"/>
                </a:solidFill>
                <a:effectLst/>
                <a:uFillTx/>
                <a:latin typeface="Courier New"/>
                <a:ea typeface="Courier New"/>
              </a:rPr>
              <a:t>        "id": 101,</a:t>
            </a:r>
            <a:endParaRPr lang="en-US" sz="1120" b="0" u="none" strike="noStrike">
              <a:solidFill>
                <a:srgbClr val="FFFFFF"/>
              </a:solidFill>
              <a:effectLst/>
              <a:uFillTx/>
              <a:latin typeface="Arial"/>
            </a:endParaRPr>
          </a:p>
          <a:p>
            <a:r>
              <a:rPr lang="en-US" sz="1120" b="0" u="none" strike="noStrike">
                <a:solidFill>
                  <a:srgbClr val="E8F1F8"/>
                </a:solidFill>
                <a:effectLst/>
                <a:uFillTx/>
                <a:latin typeface="Courier New"/>
                <a:ea typeface="Courier New"/>
              </a:rPr>
              <a:t>        "customer": "Ahmed",</a:t>
            </a:r>
            <a:endParaRPr lang="en-US" sz="1120" b="0" u="none" strike="noStrike">
              <a:solidFill>
                <a:srgbClr val="FFFFFF"/>
              </a:solidFill>
              <a:effectLst/>
              <a:uFillTx/>
              <a:latin typeface="Arial"/>
            </a:endParaRPr>
          </a:p>
          <a:p>
            <a:r>
              <a:rPr lang="en-US" sz="1120" b="0" u="none" strike="noStrike">
                <a:solidFill>
                  <a:srgbClr val="E8F1F8"/>
                </a:solidFill>
                <a:effectLst/>
                <a:uFillTx/>
                <a:latin typeface="Courier New"/>
                <a:ea typeface="Courier New"/>
              </a:rPr>
              <a:t>        "message": "My payment failed"},</a:t>
            </a:r>
            <a:endParaRPr lang="en-US" sz="1120" b="0" u="none" strike="noStrike">
              <a:solidFill>
                <a:srgbClr val="FFFFFF"/>
              </a:solidFill>
              <a:effectLst/>
              <a:uFillTx/>
              <a:latin typeface="Arial"/>
            </a:endParaRPr>
          </a:p>
          <a:p>
            <a:r>
              <a:rPr lang="en-US" sz="1120" b="0" u="none" strike="noStrike">
                <a:solidFill>
                  <a:srgbClr val="E8F1F8"/>
                </a:solidFill>
                <a:effectLst/>
                <a:uFillTx/>
                <a:latin typeface="Courier New"/>
                <a:ea typeface="Courier New"/>
              </a:rPr>
              <a:t>    {</a:t>
            </a:r>
            <a:endParaRPr lang="en-US" sz="1120" b="0" u="none" strike="noStrike">
              <a:solidFill>
                <a:srgbClr val="FFFFFF"/>
              </a:solidFill>
              <a:effectLst/>
              <a:uFillTx/>
              <a:latin typeface="Arial"/>
            </a:endParaRPr>
          </a:p>
          <a:p>
            <a:r>
              <a:rPr lang="en-US" sz="1120" b="0" u="none" strike="noStrike">
                <a:solidFill>
                  <a:srgbClr val="E8F1F8"/>
                </a:solidFill>
                <a:effectLst/>
                <a:uFillTx/>
                <a:latin typeface="Courier New"/>
                <a:ea typeface="Courier New"/>
              </a:rPr>
              <a:t>        "id": 102,</a:t>
            </a:r>
            <a:endParaRPr lang="en-US" sz="1120" b="0" u="none" strike="noStrike">
              <a:solidFill>
                <a:srgbClr val="FFFFFF"/>
              </a:solidFill>
              <a:effectLst/>
              <a:uFillTx/>
              <a:latin typeface="Arial"/>
            </a:endParaRPr>
          </a:p>
          <a:p>
            <a:r>
              <a:rPr lang="en-US" sz="1120" b="0" u="none" strike="noStrike">
                <a:solidFill>
                  <a:srgbClr val="E8F1F8"/>
                </a:solidFill>
                <a:effectLst/>
                <a:uFillTx/>
                <a:latin typeface="Courier New"/>
                <a:ea typeface="Courier New"/>
              </a:rPr>
              <a:t>        "customer": "Sara",</a:t>
            </a:r>
            <a:endParaRPr lang="en-US" sz="1120" b="0" u="none" strike="noStrike">
              <a:solidFill>
                <a:srgbClr val="FFFFFF"/>
              </a:solidFill>
              <a:effectLst/>
              <a:uFillTx/>
              <a:latin typeface="Arial"/>
            </a:endParaRPr>
          </a:p>
          <a:p>
            <a:r>
              <a:rPr lang="en-US" sz="1120" b="0" u="none" strike="noStrike">
                <a:solidFill>
                  <a:srgbClr val="E8F1F8"/>
                </a:solidFill>
                <a:effectLst/>
                <a:uFillTx/>
                <a:latin typeface="Courier New"/>
                <a:ea typeface="Courier New"/>
              </a:rPr>
              <a:t>        "message": "I cannot login"</a:t>
            </a:r>
            <a:endParaRPr lang="en-US" sz="1120" b="0" u="none" strike="noStrike">
              <a:solidFill>
                <a:srgbClr val="FFFFFF"/>
              </a:solidFill>
              <a:effectLst/>
              <a:uFillTx/>
              <a:latin typeface="Arial"/>
            </a:endParaRPr>
          </a:p>
          <a:p>
            <a:r>
              <a:rPr lang="en-US" sz="1120" b="0" u="none" strike="noStrike">
                <a:solidFill>
                  <a:srgbClr val="E8F1F8"/>
                </a:solidFill>
                <a:effectLst/>
                <a:uFillTx/>
                <a:latin typeface="Courier New"/>
                <a:ea typeface="Courier New"/>
              </a:rPr>
              <a:t>    },</a:t>
            </a:r>
            <a:endParaRPr lang="en-US" sz="1120" b="0" u="none" strike="noStrike">
              <a:solidFill>
                <a:srgbClr val="FFFFFF"/>
              </a:solidFill>
              <a:effectLst/>
              <a:uFillTx/>
              <a:latin typeface="Arial"/>
            </a:endParaRPr>
          </a:p>
          <a:p>
            <a:r>
              <a:rPr lang="en-US" sz="1120" b="0" u="none" strike="noStrike">
                <a:solidFill>
                  <a:srgbClr val="E8F1F8"/>
                </a:solidFill>
                <a:effectLst/>
                <a:uFillTx/>
                <a:latin typeface="Courier New"/>
                <a:ea typeface="Courier New"/>
              </a:rPr>
              <a:t>    {</a:t>
            </a:r>
            <a:endParaRPr lang="en-US" sz="1120" b="0" u="none" strike="noStrike">
              <a:solidFill>
                <a:srgbClr val="FFFFFF"/>
              </a:solidFill>
              <a:effectLst/>
              <a:uFillTx/>
              <a:latin typeface="Arial"/>
            </a:endParaRPr>
          </a:p>
          <a:p>
            <a:r>
              <a:rPr lang="en-US" sz="1120" b="0" u="none" strike="noStrike">
                <a:solidFill>
                  <a:srgbClr val="E8F1F8"/>
                </a:solidFill>
                <a:effectLst/>
                <a:uFillTx/>
                <a:latin typeface="Courier New"/>
                <a:ea typeface="Courier New"/>
              </a:rPr>
              <a:t>        "id": 103,</a:t>
            </a:r>
            <a:endParaRPr lang="en-US" sz="1120" b="0" u="none" strike="noStrike">
              <a:solidFill>
                <a:srgbClr val="FFFFFF"/>
              </a:solidFill>
              <a:effectLst/>
              <a:uFillTx/>
              <a:latin typeface="Arial"/>
            </a:endParaRPr>
          </a:p>
          <a:p>
            <a:r>
              <a:rPr lang="en-US" sz="1120" b="0" u="none" strike="noStrike">
                <a:solidFill>
                  <a:srgbClr val="E8F1F8"/>
                </a:solidFill>
                <a:effectLst/>
                <a:uFillTx/>
                <a:latin typeface="Courier New"/>
                <a:ea typeface="Courier New"/>
              </a:rPr>
              <a:t>        "customer": "Omar",</a:t>
            </a:r>
            <a:endParaRPr lang="en-US" sz="1120" b="0" u="none" strike="noStrike">
              <a:solidFill>
                <a:srgbClr val="FFFFFF"/>
              </a:solidFill>
              <a:effectLst/>
              <a:uFillTx/>
              <a:latin typeface="Arial"/>
            </a:endParaRPr>
          </a:p>
          <a:p>
            <a:r>
              <a:rPr lang="en-US" sz="1120" b="0" u="none" strike="noStrike">
                <a:solidFill>
                  <a:srgbClr val="E8F1F8"/>
                </a:solidFill>
                <a:effectLst/>
                <a:uFillTx/>
                <a:latin typeface="Courier New"/>
                <a:ea typeface="Courier New"/>
              </a:rPr>
              <a:t>        "message": "I need help with my order"</a:t>
            </a:r>
            <a:endParaRPr lang="en-US" sz="1120" b="0" u="none" strike="noStrike">
              <a:solidFill>
                <a:srgbClr val="FFFFFF"/>
              </a:solidFill>
              <a:effectLst/>
              <a:uFillTx/>
              <a:latin typeface="Arial"/>
            </a:endParaRPr>
          </a:p>
          <a:p>
            <a:r>
              <a:rPr lang="en-US" sz="1120" b="0" u="none" strike="noStrike">
                <a:solidFill>
                  <a:srgbClr val="E8F1F8"/>
                </a:solidFill>
                <a:effectLst/>
                <a:uFillTx/>
                <a:latin typeface="Courier New"/>
                <a:ea typeface="Courier New"/>
              </a:rPr>
              <a:t>    }</a:t>
            </a:r>
            <a:endParaRPr lang="en-US" sz="1120" b="0" u="none" strike="noStrike">
              <a:solidFill>
                <a:srgbClr val="FFFFFF"/>
              </a:solidFill>
              <a:effectLst/>
              <a:uFillTx/>
              <a:latin typeface="Arial"/>
            </a:endParaRPr>
          </a:p>
          <a:p>
            <a:r>
              <a:rPr lang="en-US" sz="1120" b="0" u="none" strike="noStrike">
                <a:solidFill>
                  <a:srgbClr val="E8F1F8"/>
                </a:solidFill>
                <a:effectLst/>
                <a:uFillTx/>
                <a:latin typeface="Courier New"/>
                <a:ea typeface="Courier New"/>
              </a:rPr>
              <a:t>]</a:t>
            </a:r>
            <a:endParaRPr lang="en-US" sz="1120" b="0" u="none" strike="noStrike">
              <a:solidFill>
                <a:srgbClr val="FFFFFF"/>
              </a:solidFill>
              <a:effectLst/>
              <a:uFillTx/>
              <a:latin typeface="Arial"/>
            </a:endParaRPr>
          </a:p>
        </p:txBody>
      </p:sp>
      <p:sp>
        <p:nvSpPr>
          <p:cNvPr id="379" name="Shape 9"/>
          <p:cNvSpPr/>
          <p:nvPr/>
        </p:nvSpPr>
        <p:spPr>
          <a:xfrm>
            <a:off x="6766560" y="1417320"/>
            <a:ext cx="4068720" cy="3474360"/>
          </a:xfrm>
          <a:prstGeom prst="roundRect">
            <a:avLst>
              <a:gd name="adj" fmla="val 2105"/>
            </a:avLst>
          </a:prstGeom>
          <a:solidFill>
            <a:srgbClr val="FFFFFF"/>
          </a:solidFill>
          <a:ln w="10160">
            <a:solidFill>
              <a:srgbClr val="D7E3E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80" name="Text 10"/>
          <p:cNvSpPr/>
          <p:nvPr/>
        </p:nvSpPr>
        <p:spPr>
          <a:xfrm>
            <a:off x="7059240" y="1774080"/>
            <a:ext cx="310860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rgbClr val="153B52"/>
                </a:solidFill>
                <a:effectLst/>
                <a:uFillTx/>
                <a:latin typeface="Aptos"/>
              </a:rPr>
              <a:t>Ask students</a:t>
            </a:r>
            <a:endParaRPr lang="en-US" sz="2000" b="0" u="none" strike="noStrike">
              <a:solidFill>
                <a:srgbClr val="000000"/>
              </a:solidFill>
              <a:effectLst/>
              <a:uFillTx/>
              <a:latin typeface="Arial"/>
            </a:endParaRPr>
          </a:p>
        </p:txBody>
      </p:sp>
      <p:sp>
        <p:nvSpPr>
          <p:cNvPr id="381" name="Text 11"/>
          <p:cNvSpPr/>
          <p:nvPr/>
        </p:nvSpPr>
        <p:spPr>
          <a:xfrm>
            <a:off x="7095600" y="2286000"/>
            <a:ext cx="3154320" cy="1279800"/>
          </a:xfrm>
          <a:prstGeom prst="rect">
            <a:avLst/>
          </a:prstGeom>
          <a:noFill/>
          <a:ln w="0">
            <a:noFill/>
          </a:ln>
        </p:spPr>
        <p:style>
          <a:lnRef idx="0"/>
          <a:fillRef idx="0"/>
          <a:effectRef idx="0"/>
          <a:fontRef idx="minor"/>
        </p:style>
        <p:txBody>
          <a:bodyPr lIns="720" tIns="720" rIns="720" bIns="720" anchor="t">
            <a:normAutofit fontScale="85000" lnSpcReduction="9999"/>
          </a:bodyPr>
          <a:p>
            <a:r>
              <a:rPr lang="en-US" sz="1280" b="0" u="none" strike="noStrike">
                <a:solidFill>
                  <a:srgbClr val="102A43"/>
                </a:solidFill>
                <a:effectLst/>
                <a:uFillTx/>
                <a:latin typeface="Aptos"/>
              </a:rPr>
              <a:t>How many tickets are in the list?</a:t>
            </a:r>
            <a:endParaRPr lang="en-US" sz="1280" b="0" u="none" strike="noStrike">
              <a:solidFill>
                <a:srgbClr val="000000"/>
              </a:solidFill>
              <a:effectLst/>
              <a:uFillTx/>
              <a:latin typeface="Arial"/>
            </a:endParaRPr>
          </a:p>
          <a:p>
            <a:pPr defTabSz="914400">
              <a:lnSpc>
                <a:spcPct val="100000"/>
              </a:lnSpc>
              <a:tabLst>
                <a:tab pos="0" algn="l"/>
              </a:tabLst>
            </a:pPr>
            <a:endParaRPr lang="en-US" sz="1280" b="0" u="none" strike="noStrike">
              <a:solidFill>
                <a:srgbClr val="000000"/>
              </a:solidFill>
              <a:effectLst/>
              <a:uFillTx/>
              <a:latin typeface="Arial"/>
            </a:endParaRPr>
          </a:p>
          <a:p>
            <a:pPr defTabSz="914400">
              <a:lnSpc>
                <a:spcPct val="100000"/>
              </a:lnSpc>
              <a:tabLst>
                <a:tab pos="0" algn="l"/>
              </a:tabLst>
            </a:pPr>
            <a:r>
              <a:rPr lang="en-US" sz="1280" b="0" u="none" strike="noStrike">
                <a:solidFill>
                  <a:srgbClr val="102A43"/>
                </a:solidFill>
                <a:effectLst/>
                <a:uFillTx/>
                <a:latin typeface="Aptos"/>
              </a:rPr>
              <a:t>What are the fields of each ticket?</a:t>
            </a:r>
            <a:endParaRPr lang="en-US" sz="1280" b="0" u="none" strike="noStrike">
              <a:solidFill>
                <a:srgbClr val="000000"/>
              </a:solidFill>
              <a:effectLst/>
              <a:uFillTx/>
              <a:latin typeface="Arial"/>
            </a:endParaRPr>
          </a:p>
          <a:p>
            <a:pPr defTabSz="914400">
              <a:lnSpc>
                <a:spcPct val="100000"/>
              </a:lnSpc>
              <a:tabLst>
                <a:tab pos="0" algn="l"/>
              </a:tabLst>
            </a:pPr>
            <a:endParaRPr lang="en-US" sz="1280" b="0" u="none" strike="noStrike">
              <a:solidFill>
                <a:srgbClr val="000000"/>
              </a:solidFill>
              <a:effectLst/>
              <a:uFillTx/>
              <a:latin typeface="Arial"/>
            </a:endParaRPr>
          </a:p>
          <a:p>
            <a:pPr defTabSz="914400">
              <a:lnSpc>
                <a:spcPct val="100000"/>
              </a:lnSpc>
              <a:tabLst>
                <a:tab pos="0" algn="l"/>
              </a:tabLst>
            </a:pPr>
            <a:r>
              <a:rPr lang="en-US" sz="1280" b="0" u="none" strike="noStrike">
                <a:solidFill>
                  <a:srgbClr val="102A43"/>
                </a:solidFill>
                <a:effectLst/>
                <a:uFillTx/>
                <a:latin typeface="Aptos"/>
              </a:rPr>
              <a:t>What happens if one ticket has no message?</a:t>
            </a:r>
            <a:endParaRPr lang="en-US" sz="1280" b="0" u="none" strike="noStrike">
              <a:solidFill>
                <a:srgbClr val="000000"/>
              </a:solidFill>
              <a:effectLst/>
              <a:uFillTx/>
              <a:latin typeface="Arial"/>
            </a:endParaRPr>
          </a:p>
          <a:p>
            <a:pPr defTabSz="914400">
              <a:lnSpc>
                <a:spcPct val="100000"/>
              </a:lnSpc>
              <a:tabLst>
                <a:tab pos="0" algn="l"/>
              </a:tabLst>
            </a:pPr>
            <a:endParaRPr lang="en-US" sz="1280" b="0" u="none" strike="noStrike">
              <a:solidFill>
                <a:srgbClr val="000000"/>
              </a:solidFill>
              <a:effectLst/>
              <a:uFillTx/>
              <a:latin typeface="Arial"/>
            </a:endParaRPr>
          </a:p>
          <a:p>
            <a:pPr defTabSz="914400">
              <a:lnSpc>
                <a:spcPct val="100000"/>
              </a:lnSpc>
              <a:tabLst>
                <a:tab pos="0" algn="l"/>
              </a:tabLst>
            </a:pPr>
            <a:r>
              <a:rPr lang="en-US" sz="1280" b="0" u="none" strike="noStrike">
                <a:solidFill>
                  <a:srgbClr val="102A43"/>
                </a:solidFill>
                <a:effectLst/>
                <a:uFillTx/>
                <a:latin typeface="Aptos"/>
              </a:rPr>
              <a:t>Which week will solve validation?</a:t>
            </a:r>
            <a:endParaRPr lang="en-US" sz="1280" b="0" u="none" strike="noStrike">
              <a:solidFill>
                <a:srgbClr val="000000"/>
              </a:solidFill>
              <a:effectLst/>
              <a:uFillTx/>
              <a:latin typeface="Arial"/>
            </a:endParaRPr>
          </a:p>
        </p:txBody>
      </p:sp>
      <p:sp>
        <p:nvSpPr>
          <p:cNvPr id="382" name="PlaceHolder 1"/>
          <p:cNvSpPr>
            <a:spLocks noGrp="1"/>
          </p:cNvSpPr>
          <p:nvPr>
            <p:ph type="sldNum" idx="20"/>
          </p:nvPr>
        </p:nvSpPr>
        <p:spPr>
          <a:xfrm>
            <a:off x="11292840" y="6546960"/>
            <a:ext cx="799560" cy="299520"/>
          </a:xfrm>
          <a:prstGeom prst="rect">
            <a:avLst/>
          </a:prstGeom>
          <a:noFill/>
          <a:ln w="0">
            <a:noFill/>
          </a:ln>
        </p:spPr>
        <p:txBody>
          <a:bodyPr lIns="90000" tIns="45000" rIns="90000" bIns="45000" anchor="t">
            <a:noAutofit/>
          </a:bodyPr>
          <a:lstStyle>
            <a:lvl1pPr indent="0" algn="l" defTabSz="914400">
              <a:lnSpc>
                <a:spcPct val="100000"/>
              </a:lnSpc>
              <a:buNone/>
              <a:defRPr lang="en-US" sz="900" b="0" u="none" strike="noStrike">
                <a:solidFill>
                  <a:srgbClr val="78909C"/>
                </a:solidFill>
                <a:effectLst/>
                <a:uFillTx/>
                <a:latin typeface="Aptos"/>
                <a:ea typeface="Aptos"/>
              </a:defRPr>
            </a:lvl1pPr>
          </a:lstStyle>
          <a:p>
            <a:pPr indent="0" algn="l" defTabSz="914400">
              <a:lnSpc>
                <a:spcPct val="100000"/>
              </a:lnSpc>
              <a:buNone/>
            </a:pPr>
            <a:fld id="{D28886A4-96C9-409B-B580-DF663DF24746}" type="slidenum">
              <a:rPr lang="en-US" sz="900" b="0" u="none" strike="noStrike">
                <a:solidFill>
                  <a:srgbClr val="78909C"/>
                </a:solidFill>
                <a:effectLst/>
                <a:uFillTx/>
                <a:latin typeface="Aptos"/>
                <a:ea typeface="Aptos"/>
              </a:rPr>
              <a:t>16</a:t>
            </a:fld>
            <a:endParaRPr lang="en-US" sz="9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AFC"/>
        </a:solidFill>
      </p:bgPr>
    </p:bg>
    <p:spTree>
      <p:nvGrpSpPr>
        <p:cNvPr id="1" name=""/>
        <p:cNvGrpSpPr/>
        <p:nvPr/>
      </p:nvGrpSpPr>
      <p:grpSpPr>
        <a:xfrm>
          <a:off x="0" y="0"/>
          <a:ext cx="0" cy="0"/>
          <a:chOff x="0" y="0"/>
          <a:chExt cx="0" cy="0"/>
        </a:xfrm>
      </p:grpSpPr>
      <p:sp>
        <p:nvSpPr>
          <p:cNvPr id="383" name="Shape 0"/>
          <p:cNvSpPr/>
          <p:nvPr/>
        </p:nvSpPr>
        <p:spPr>
          <a:xfrm>
            <a:off x="0" y="0"/>
            <a:ext cx="12191400" cy="6857640"/>
          </a:xfrm>
          <a:prstGeom prst="rect">
            <a:avLst/>
          </a:prstGeom>
          <a:solidFill>
            <a:srgbClr val="F7FAFC"/>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84" name="Shape 1"/>
          <p:cNvSpPr/>
          <p:nvPr/>
        </p:nvSpPr>
        <p:spPr>
          <a:xfrm>
            <a:off x="0" y="0"/>
            <a:ext cx="164160" cy="6857640"/>
          </a:xfrm>
          <a:prstGeom prst="rect">
            <a:avLst/>
          </a:prstGeom>
          <a:solidFill>
            <a:srgbClr val="153B52"/>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85" name="Text 2"/>
          <p:cNvSpPr/>
          <p:nvPr/>
        </p:nvSpPr>
        <p:spPr>
          <a:xfrm>
            <a:off x="521280" y="109800"/>
            <a:ext cx="420588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1" u="none" strike="noStrike">
                <a:solidFill>
                  <a:srgbClr val="0E8F8F"/>
                </a:solidFill>
                <a:effectLst/>
                <a:uFillTx/>
                <a:latin typeface="Aptos"/>
              </a:rPr>
              <a:t>MINI PROJECT</a:t>
            </a:r>
            <a:endParaRPr lang="en-US" sz="850" b="0" u="none" strike="noStrike">
              <a:solidFill>
                <a:srgbClr val="000000"/>
              </a:solidFill>
              <a:effectLst/>
              <a:uFillTx/>
              <a:latin typeface="Arial"/>
            </a:endParaRPr>
          </a:p>
        </p:txBody>
      </p:sp>
      <p:sp>
        <p:nvSpPr>
          <p:cNvPr id="386" name="Text 3"/>
          <p:cNvSpPr/>
          <p:nvPr/>
        </p:nvSpPr>
        <p:spPr>
          <a:xfrm>
            <a:off x="502920" y="320040"/>
            <a:ext cx="1106388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153B52"/>
                </a:solidFill>
                <a:effectLst/>
                <a:uFillTx/>
                <a:latin typeface="Aptos Display"/>
                <a:ea typeface="Aptos Display"/>
              </a:rPr>
              <a:t>S</a:t>
            </a:r>
            <a:r>
              <a:rPr lang="en-US" sz="2600" b="1" u="none" strike="noStrike">
                <a:solidFill>
                  <a:srgbClr val="153B52"/>
                </a:solidFill>
                <a:effectLst/>
                <a:uFillTx/>
                <a:latin typeface="Aptos Display"/>
                <a:ea typeface="Aptos Display"/>
              </a:rPr>
              <a:t>t</a:t>
            </a:r>
            <a:r>
              <a:rPr lang="en-US" sz="2600" b="1" u="none" strike="noStrike">
                <a:solidFill>
                  <a:srgbClr val="153B52"/>
                </a:solidFill>
                <a:effectLst/>
                <a:uFillTx/>
                <a:latin typeface="Aptos Display"/>
                <a:ea typeface="Aptos Display"/>
              </a:rPr>
              <a:t>e</a:t>
            </a:r>
            <a:r>
              <a:rPr lang="en-US" sz="2600" b="1" u="none" strike="noStrike">
                <a:solidFill>
                  <a:srgbClr val="153B52"/>
                </a:solidFill>
                <a:effectLst/>
                <a:uFillTx/>
                <a:latin typeface="Aptos Display"/>
                <a:ea typeface="Aptos Display"/>
              </a:rPr>
              <a:t>p </a:t>
            </a:r>
            <a:r>
              <a:rPr lang="en-US" sz="2600" b="1" u="none" strike="noStrike">
                <a:solidFill>
                  <a:srgbClr val="153B52"/>
                </a:solidFill>
                <a:effectLst/>
                <a:uFillTx/>
                <a:latin typeface="Aptos Display"/>
                <a:ea typeface="Aptos Display"/>
              </a:rPr>
              <a:t>2 </a:t>
            </a:r>
            <a:r>
              <a:rPr lang="en-US" sz="2600" b="1" u="none" strike="noStrike">
                <a:solidFill>
                  <a:srgbClr val="153B52"/>
                </a:solidFill>
                <a:effectLst/>
                <a:uFillTx/>
                <a:latin typeface="Aptos Display"/>
                <a:ea typeface="Aptos Display"/>
              </a:rPr>
              <a:t>—</a:t>
            </a:r>
            <a:r>
              <a:rPr lang="en-US" sz="2600" b="1" u="none" strike="noStrike">
                <a:solidFill>
                  <a:srgbClr val="153B52"/>
                </a:solidFill>
                <a:effectLst/>
                <a:uFillTx/>
                <a:latin typeface="Aptos Display"/>
                <a:ea typeface="Aptos Display"/>
              </a:rPr>
              <a:t> </a:t>
            </a:r>
            <a:r>
              <a:rPr lang="en-US" sz="2600" b="1" u="none" strike="noStrike">
                <a:solidFill>
                  <a:srgbClr val="153B52"/>
                </a:solidFill>
                <a:effectLst/>
                <a:uFillTx/>
                <a:latin typeface="Aptos Display"/>
                <a:ea typeface="Aptos Display"/>
              </a:rPr>
              <a:t>Cl</a:t>
            </a:r>
            <a:r>
              <a:rPr lang="en-US" sz="2600" b="1" u="none" strike="noStrike">
                <a:solidFill>
                  <a:srgbClr val="153B52"/>
                </a:solidFill>
                <a:effectLst/>
                <a:uFillTx/>
                <a:latin typeface="Aptos Display"/>
                <a:ea typeface="Aptos Display"/>
              </a:rPr>
              <a:t>a</a:t>
            </a:r>
            <a:r>
              <a:rPr lang="en-US" sz="2600" b="1" u="none" strike="noStrike">
                <a:solidFill>
                  <a:srgbClr val="153B52"/>
                </a:solidFill>
                <a:effectLst/>
                <a:uFillTx/>
                <a:latin typeface="Aptos Display"/>
                <a:ea typeface="Aptos Display"/>
              </a:rPr>
              <a:t>s</a:t>
            </a:r>
            <a:r>
              <a:rPr lang="en-US" sz="2600" b="1" u="none" strike="noStrike">
                <a:solidFill>
                  <a:srgbClr val="153B52"/>
                </a:solidFill>
                <a:effectLst/>
                <a:uFillTx/>
                <a:latin typeface="Aptos Display"/>
                <a:ea typeface="Aptos Display"/>
              </a:rPr>
              <a:t>si</a:t>
            </a:r>
            <a:r>
              <a:rPr lang="en-US" sz="2600" b="1" u="none" strike="noStrike">
                <a:solidFill>
                  <a:srgbClr val="153B52"/>
                </a:solidFill>
                <a:effectLst/>
                <a:uFillTx/>
                <a:latin typeface="Aptos Display"/>
                <a:ea typeface="Aptos Display"/>
              </a:rPr>
              <a:t>fy </a:t>
            </a:r>
            <a:r>
              <a:rPr lang="en-US" sz="2600" b="1" u="none" strike="noStrike">
                <a:solidFill>
                  <a:srgbClr val="153B52"/>
                </a:solidFill>
                <a:effectLst/>
                <a:uFillTx/>
                <a:latin typeface="Aptos Display"/>
                <a:ea typeface="Aptos Display"/>
              </a:rPr>
              <a:t>a </a:t>
            </a:r>
            <a:r>
              <a:rPr lang="en-US" sz="2600" b="1" u="none" strike="noStrike">
                <a:solidFill>
                  <a:srgbClr val="153B52"/>
                </a:solidFill>
                <a:effectLst/>
                <a:uFillTx/>
                <a:latin typeface="Aptos Display"/>
                <a:ea typeface="Aptos Display"/>
              </a:rPr>
              <a:t>Ti</a:t>
            </a:r>
            <a:r>
              <a:rPr lang="en-US" sz="2600" b="1" u="none" strike="noStrike">
                <a:solidFill>
                  <a:srgbClr val="153B52"/>
                </a:solidFill>
                <a:effectLst/>
                <a:uFillTx/>
                <a:latin typeface="Aptos Display"/>
                <a:ea typeface="Aptos Display"/>
              </a:rPr>
              <a:t>c</a:t>
            </a:r>
            <a:r>
              <a:rPr lang="en-US" sz="2600" b="1" u="none" strike="noStrike">
                <a:solidFill>
                  <a:srgbClr val="153B52"/>
                </a:solidFill>
                <a:effectLst/>
                <a:uFillTx/>
                <a:latin typeface="Aptos Display"/>
                <a:ea typeface="Aptos Display"/>
              </a:rPr>
              <a:t>k</a:t>
            </a:r>
            <a:r>
              <a:rPr lang="en-US" sz="2600" b="1" u="none" strike="noStrike">
                <a:solidFill>
                  <a:srgbClr val="153B52"/>
                </a:solidFill>
                <a:effectLst/>
                <a:uFillTx/>
                <a:latin typeface="Aptos Display"/>
                <a:ea typeface="Aptos Display"/>
              </a:rPr>
              <a:t>e</a:t>
            </a:r>
            <a:r>
              <a:rPr lang="en-US" sz="2600" b="1" u="none" strike="noStrike">
                <a:solidFill>
                  <a:srgbClr val="153B52"/>
                </a:solidFill>
                <a:effectLst/>
                <a:uFillTx/>
                <a:latin typeface="Aptos Display"/>
                <a:ea typeface="Aptos Display"/>
              </a:rPr>
              <a:t>t </a:t>
            </a:r>
            <a:r>
              <a:rPr lang="en-US" sz="2600" b="1" u="none" strike="noStrike">
                <a:solidFill>
                  <a:srgbClr val="153B52"/>
                </a:solidFill>
                <a:effectLst/>
                <a:uFillTx/>
                <a:latin typeface="Aptos Display"/>
                <a:ea typeface="Aptos Display"/>
              </a:rPr>
              <a:t>M</a:t>
            </a:r>
            <a:r>
              <a:rPr lang="en-US" sz="2600" b="1" u="none" strike="noStrike">
                <a:solidFill>
                  <a:srgbClr val="153B52"/>
                </a:solidFill>
                <a:effectLst/>
                <a:uFillTx/>
                <a:latin typeface="Aptos Display"/>
                <a:ea typeface="Aptos Display"/>
              </a:rPr>
              <a:t>e</a:t>
            </a:r>
            <a:r>
              <a:rPr lang="en-US" sz="2600" b="1" u="none" strike="noStrike">
                <a:solidFill>
                  <a:srgbClr val="153B52"/>
                </a:solidFill>
                <a:effectLst/>
                <a:uFillTx/>
                <a:latin typeface="Aptos Display"/>
                <a:ea typeface="Aptos Display"/>
              </a:rPr>
              <a:t>s</a:t>
            </a:r>
            <a:r>
              <a:rPr lang="en-US" sz="2600" b="1" u="none" strike="noStrike">
                <a:solidFill>
                  <a:srgbClr val="153B52"/>
                </a:solidFill>
                <a:effectLst/>
                <a:uFillTx/>
                <a:latin typeface="Aptos Display"/>
                <a:ea typeface="Aptos Display"/>
              </a:rPr>
              <a:t>s</a:t>
            </a:r>
            <a:r>
              <a:rPr lang="en-US" sz="2600" b="1" u="none" strike="noStrike">
                <a:solidFill>
                  <a:srgbClr val="153B52"/>
                </a:solidFill>
                <a:effectLst/>
                <a:uFillTx/>
                <a:latin typeface="Aptos Display"/>
                <a:ea typeface="Aptos Display"/>
              </a:rPr>
              <a:t>a</a:t>
            </a:r>
            <a:r>
              <a:rPr lang="en-US" sz="2600" b="1" u="none" strike="noStrike">
                <a:solidFill>
                  <a:srgbClr val="153B52"/>
                </a:solidFill>
                <a:effectLst/>
                <a:uFillTx/>
                <a:latin typeface="Aptos Display"/>
                <a:ea typeface="Aptos Display"/>
              </a:rPr>
              <a:t>g</a:t>
            </a:r>
            <a:r>
              <a:rPr lang="en-US" sz="2600" b="1" u="none" strike="noStrike">
                <a:solidFill>
                  <a:srgbClr val="153B52"/>
                </a:solidFill>
                <a:effectLst/>
                <a:uFillTx/>
                <a:latin typeface="Aptos Display"/>
                <a:ea typeface="Aptos Display"/>
              </a:rPr>
              <a:t>e</a:t>
            </a:r>
            <a:endParaRPr lang="en-US" sz="2600" b="0" u="none" strike="noStrike">
              <a:solidFill>
                <a:srgbClr val="000000"/>
              </a:solidFill>
              <a:effectLst/>
              <a:uFillTx/>
              <a:latin typeface="Arial"/>
            </a:endParaRPr>
          </a:p>
        </p:txBody>
      </p:sp>
      <p:sp>
        <p:nvSpPr>
          <p:cNvPr id="387" name="Text 4"/>
          <p:cNvSpPr/>
          <p:nvPr/>
        </p:nvSpPr>
        <p:spPr>
          <a:xfrm>
            <a:off x="511920" y="786240"/>
            <a:ext cx="1078956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pPr>
            <a:r>
              <a:rPr lang="en-US" sz="1800" b="0" u="none" strike="noStrike">
                <a:solidFill>
                  <a:schemeClr val="dk1"/>
                </a:solidFill>
                <a:effectLst/>
                <a:uFillTx/>
                <a:latin typeface="Aptos"/>
              </a:rPr>
              <a:t>A typed, documented function converts text into a category.</a:t>
            </a:r>
            <a:endParaRPr lang="en-US" sz="1800" b="0" u="none" strike="noStrike">
              <a:solidFill>
                <a:srgbClr val="000000"/>
              </a:solidFill>
              <a:effectLst/>
              <a:uFillTx/>
              <a:latin typeface="Arial"/>
            </a:endParaRPr>
          </a:p>
        </p:txBody>
      </p:sp>
      <p:sp>
        <p:nvSpPr>
          <p:cNvPr id="388" name="Shape 5"/>
          <p:cNvSpPr/>
          <p:nvPr/>
        </p:nvSpPr>
        <p:spPr>
          <a:xfrm>
            <a:off x="749880" y="1188720"/>
            <a:ext cx="5211720" cy="4434480"/>
          </a:xfrm>
          <a:prstGeom prst="roundRect">
            <a:avLst>
              <a:gd name="adj" fmla="val 1649"/>
            </a:avLst>
          </a:prstGeom>
          <a:solidFill>
            <a:srgbClr val="0B1720"/>
          </a:solidFill>
          <a:ln w="10160">
            <a:solidFill>
              <a:srgbClr val="122334"/>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89" name="Shape 6"/>
          <p:cNvSpPr/>
          <p:nvPr/>
        </p:nvSpPr>
        <p:spPr>
          <a:xfrm>
            <a:off x="859680" y="1298520"/>
            <a:ext cx="1462680" cy="310680"/>
          </a:xfrm>
          <a:prstGeom prst="roundRect">
            <a:avLst>
              <a:gd name="adj" fmla="val 17647"/>
            </a:avLst>
          </a:prstGeom>
          <a:solidFill>
            <a:srgbClr val="0E8F8F"/>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90" name="Text 7"/>
          <p:cNvSpPr/>
          <p:nvPr/>
        </p:nvSpPr>
        <p:spPr>
          <a:xfrm>
            <a:off x="932760" y="1366920"/>
            <a:ext cx="131652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FFFFFF"/>
                </a:solidFill>
                <a:effectLst/>
                <a:uFillTx/>
                <a:latin typeface="Aptos"/>
              </a:rPr>
              <a:t>CLASSIFIER</a:t>
            </a:r>
            <a:endParaRPr lang="en-US" sz="900" b="0" u="none" strike="noStrike">
              <a:solidFill>
                <a:srgbClr val="000000"/>
              </a:solidFill>
              <a:effectLst/>
              <a:uFillTx/>
              <a:latin typeface="Arial"/>
            </a:endParaRPr>
          </a:p>
        </p:txBody>
      </p:sp>
      <p:sp>
        <p:nvSpPr>
          <p:cNvPr id="391" name="Text 8"/>
          <p:cNvSpPr/>
          <p:nvPr/>
        </p:nvSpPr>
        <p:spPr>
          <a:xfrm>
            <a:off x="951120" y="1719000"/>
            <a:ext cx="4809240" cy="3757680"/>
          </a:xfrm>
          <a:prstGeom prst="rect">
            <a:avLst/>
          </a:prstGeom>
          <a:noFill/>
          <a:ln w="0">
            <a:noFill/>
          </a:ln>
        </p:spPr>
        <p:style>
          <a:lnRef idx="0"/>
          <a:fillRef idx="0"/>
          <a:effectRef idx="0"/>
          <a:fontRef idx="minor"/>
        </p:style>
        <p:txBody>
          <a:bodyPr wrap="none" lIns="101520" tIns="228600" rIns="76320" bIns="101520" anchor="t">
            <a:noAutofit/>
          </a:bodyPr>
          <a:p>
            <a:pPr defTabSz="914400">
              <a:lnSpc>
                <a:spcPct val="85000"/>
              </a:lnSpc>
            </a:pPr>
            <a:r>
              <a:rPr lang="en-US" sz="1200" b="0" u="none" strike="noStrike">
                <a:solidFill>
                  <a:srgbClr val="FFFFFF"/>
                </a:solidFill>
                <a:effectLst/>
                <a:uFillTx/>
                <a:latin typeface="Consolas"/>
              </a:rPr>
              <a:t>def classify_ticket(message: str) -&gt; str:</a:t>
            </a:r>
            <a:endParaRPr lang="en-US" sz="1200" b="0" u="none" strike="noStrike">
              <a:solidFill>
                <a:srgbClr val="000000"/>
              </a:solidFill>
              <a:effectLst/>
              <a:uFillTx/>
              <a:latin typeface="Arial"/>
            </a:endParaRPr>
          </a:p>
          <a:p>
            <a:pPr defTabSz="914400">
              <a:lnSpc>
                <a:spcPct val="85000"/>
              </a:lnSpc>
            </a:pPr>
            <a:r>
              <a:rPr lang="en-US" sz="1200" b="0" u="none" strike="noStrike">
                <a:solidFill>
                  <a:srgbClr val="FFFFFF"/>
                </a:solidFill>
                <a:effectLst/>
                <a:uFillTx/>
                <a:latin typeface="Consolas"/>
              </a:rPr>
              <a:t>    """Return the ticket category."""</a:t>
            </a:r>
            <a:endParaRPr lang="en-US" sz="1200" b="0" u="none" strike="noStrike">
              <a:solidFill>
                <a:srgbClr val="000000"/>
              </a:solidFill>
              <a:effectLst/>
              <a:uFillTx/>
              <a:latin typeface="Arial"/>
            </a:endParaRPr>
          </a:p>
          <a:p>
            <a:pPr defTabSz="914400">
              <a:lnSpc>
                <a:spcPct val="85000"/>
              </a:lnSpc>
            </a:pPr>
            <a:r>
              <a:rPr lang="en-US" sz="1200" b="0" u="none" strike="noStrike">
                <a:solidFill>
                  <a:srgbClr val="FFFFFF"/>
                </a:solidFill>
                <a:effectLst/>
                <a:uFillTx/>
                <a:latin typeface="Consolas"/>
              </a:rPr>
              <a:t>    text = message.lower()</a:t>
            </a:r>
            <a:endParaRPr lang="en-US" sz="1200" b="0" u="none" strike="noStrike">
              <a:solidFill>
                <a:srgbClr val="000000"/>
              </a:solidFill>
              <a:effectLst/>
              <a:uFillTx/>
              <a:latin typeface="Arial"/>
            </a:endParaRPr>
          </a:p>
          <a:p>
            <a:pPr defTabSz="914400">
              <a:lnSpc>
                <a:spcPct val="85000"/>
              </a:lnSpc>
            </a:pPr>
            <a:endParaRPr lang="en-US" sz="1800" b="0" u="none" strike="noStrike">
              <a:solidFill>
                <a:srgbClr val="000000"/>
              </a:solidFill>
              <a:effectLst/>
              <a:uFillTx/>
              <a:latin typeface="Arial"/>
            </a:endParaRPr>
          </a:p>
          <a:p>
            <a:pPr defTabSz="914400">
              <a:lnSpc>
                <a:spcPct val="85000"/>
              </a:lnSpc>
            </a:pPr>
            <a:r>
              <a:rPr lang="en-US" sz="1200" b="0" u="none" strike="noStrike">
                <a:solidFill>
                  <a:srgbClr val="FFFFFF"/>
                </a:solidFill>
                <a:effectLst/>
                <a:uFillTx/>
                <a:latin typeface="Consolas"/>
              </a:rPr>
              <a:t>    if "payment" in text or "invoice" in text:</a:t>
            </a:r>
            <a:endParaRPr lang="en-US" sz="1200" b="0" u="none" strike="noStrike">
              <a:solidFill>
                <a:srgbClr val="000000"/>
              </a:solidFill>
              <a:effectLst/>
              <a:uFillTx/>
              <a:latin typeface="Arial"/>
            </a:endParaRPr>
          </a:p>
          <a:p>
            <a:pPr defTabSz="914400">
              <a:lnSpc>
                <a:spcPct val="85000"/>
              </a:lnSpc>
            </a:pPr>
            <a:r>
              <a:rPr lang="en-US" sz="1200" b="0" u="none" strike="noStrike">
                <a:solidFill>
                  <a:srgbClr val="FFFFFF"/>
                </a:solidFill>
                <a:effectLst/>
                <a:uFillTx/>
                <a:latin typeface="Consolas"/>
              </a:rPr>
              <a:t>        return "billing"</a:t>
            </a:r>
            <a:endParaRPr lang="en-US" sz="1200" b="0" u="none" strike="noStrike">
              <a:solidFill>
                <a:srgbClr val="000000"/>
              </a:solidFill>
              <a:effectLst/>
              <a:uFillTx/>
              <a:latin typeface="Arial"/>
            </a:endParaRPr>
          </a:p>
          <a:p>
            <a:pPr defTabSz="914400">
              <a:lnSpc>
                <a:spcPct val="85000"/>
              </a:lnSpc>
            </a:pPr>
            <a:r>
              <a:rPr lang="en-US" sz="1200" b="0" u="none" strike="noStrike">
                <a:solidFill>
                  <a:srgbClr val="FFFFFF"/>
                </a:solidFill>
                <a:effectLst/>
                <a:uFillTx/>
                <a:latin typeface="Consolas"/>
              </a:rPr>
              <a:t>    elif "login" in text or "error" in text:</a:t>
            </a:r>
            <a:endParaRPr lang="en-US" sz="1200" b="0" u="none" strike="noStrike">
              <a:solidFill>
                <a:srgbClr val="000000"/>
              </a:solidFill>
              <a:effectLst/>
              <a:uFillTx/>
              <a:latin typeface="Arial"/>
            </a:endParaRPr>
          </a:p>
          <a:p>
            <a:pPr defTabSz="914400">
              <a:lnSpc>
                <a:spcPct val="85000"/>
              </a:lnSpc>
            </a:pPr>
            <a:r>
              <a:rPr lang="en-US" sz="1200" b="0" u="none" strike="noStrike">
                <a:solidFill>
                  <a:srgbClr val="FFFFFF"/>
                </a:solidFill>
                <a:effectLst/>
                <a:uFillTx/>
                <a:latin typeface="Consolas"/>
              </a:rPr>
              <a:t>        return "technical"</a:t>
            </a:r>
            <a:endParaRPr lang="en-US" sz="1200" b="0" u="none" strike="noStrike">
              <a:solidFill>
                <a:srgbClr val="000000"/>
              </a:solidFill>
              <a:effectLst/>
              <a:uFillTx/>
              <a:latin typeface="Arial"/>
            </a:endParaRPr>
          </a:p>
          <a:p>
            <a:pPr defTabSz="914400">
              <a:lnSpc>
                <a:spcPct val="85000"/>
              </a:lnSpc>
            </a:pPr>
            <a:r>
              <a:rPr lang="en-US" sz="1200" b="0" u="none" strike="noStrike">
                <a:solidFill>
                  <a:srgbClr val="FFFFFF"/>
                </a:solidFill>
                <a:effectLst/>
                <a:uFillTx/>
                <a:latin typeface="Consolas"/>
              </a:rPr>
              <a:t>    return "general"</a:t>
            </a:r>
            <a:endParaRPr lang="en-US" sz="1200" b="0" u="none" strike="noStrike">
              <a:solidFill>
                <a:srgbClr val="000000"/>
              </a:solidFill>
              <a:effectLst/>
              <a:uFillTx/>
              <a:latin typeface="Arial"/>
            </a:endParaRPr>
          </a:p>
        </p:txBody>
      </p:sp>
      <p:sp>
        <p:nvSpPr>
          <p:cNvPr id="392" name="Shape 9"/>
          <p:cNvSpPr/>
          <p:nvPr/>
        </p:nvSpPr>
        <p:spPr>
          <a:xfrm>
            <a:off x="6583680" y="1325880"/>
            <a:ext cx="4343040" cy="932400"/>
          </a:xfrm>
          <a:prstGeom prst="roundRect">
            <a:avLst>
              <a:gd name="adj" fmla="val 7843"/>
            </a:avLst>
          </a:prstGeom>
          <a:solidFill>
            <a:srgbClr val="EAF4FF"/>
          </a:solidFill>
          <a:ln w="10160">
            <a:solidFill>
              <a:srgbClr val="BCD7F0"/>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93" name="Text 10"/>
          <p:cNvSpPr/>
          <p:nvPr/>
        </p:nvSpPr>
        <p:spPr>
          <a:xfrm>
            <a:off x="6903720" y="1609200"/>
            <a:ext cx="1234080" cy="145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2B6CB0"/>
                </a:solidFill>
                <a:effectLst/>
                <a:uFillTx/>
                <a:latin typeface="Aptos"/>
              </a:rPr>
              <a:t>billing</a:t>
            </a:r>
            <a:endParaRPr lang="en-US" sz="1300" b="0" u="none" strike="noStrike">
              <a:solidFill>
                <a:srgbClr val="000000"/>
              </a:solidFill>
              <a:effectLst/>
              <a:uFillTx/>
              <a:latin typeface="Arial"/>
            </a:endParaRPr>
          </a:p>
        </p:txBody>
      </p:sp>
      <p:sp>
        <p:nvSpPr>
          <p:cNvPr id="394" name="Text 11"/>
          <p:cNvSpPr/>
          <p:nvPr/>
        </p:nvSpPr>
        <p:spPr>
          <a:xfrm>
            <a:off x="8138160" y="1609200"/>
            <a:ext cx="1919880" cy="145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52616B"/>
                </a:solidFill>
                <a:effectLst/>
                <a:uFillTx/>
                <a:latin typeface="Aptos"/>
              </a:rPr>
              <a:t>payment, invoice</a:t>
            </a:r>
            <a:endParaRPr lang="en-US" sz="1100" b="0" u="none" strike="noStrike">
              <a:solidFill>
                <a:srgbClr val="000000"/>
              </a:solidFill>
              <a:effectLst/>
              <a:uFillTx/>
              <a:latin typeface="Arial"/>
            </a:endParaRPr>
          </a:p>
        </p:txBody>
      </p:sp>
      <p:sp>
        <p:nvSpPr>
          <p:cNvPr id="395" name="Shape 12"/>
          <p:cNvSpPr/>
          <p:nvPr/>
        </p:nvSpPr>
        <p:spPr>
          <a:xfrm>
            <a:off x="6583680" y="2606040"/>
            <a:ext cx="4343040" cy="932400"/>
          </a:xfrm>
          <a:prstGeom prst="roundRect">
            <a:avLst>
              <a:gd name="adj" fmla="val 7843"/>
            </a:avLst>
          </a:prstGeom>
          <a:solidFill>
            <a:srgbClr val="E6FFFA"/>
          </a:solidFill>
          <a:ln w="10160">
            <a:solidFill>
              <a:srgbClr val="BFECE9"/>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96" name="Text 13"/>
          <p:cNvSpPr/>
          <p:nvPr/>
        </p:nvSpPr>
        <p:spPr>
          <a:xfrm>
            <a:off x="6903720" y="2889360"/>
            <a:ext cx="1234080" cy="145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0E8F8F"/>
                </a:solidFill>
                <a:effectLst/>
                <a:uFillTx/>
                <a:latin typeface="Aptos"/>
              </a:rPr>
              <a:t>technical</a:t>
            </a:r>
            <a:endParaRPr lang="en-US" sz="1300" b="0" u="none" strike="noStrike">
              <a:solidFill>
                <a:srgbClr val="000000"/>
              </a:solidFill>
              <a:effectLst/>
              <a:uFillTx/>
              <a:latin typeface="Arial"/>
            </a:endParaRPr>
          </a:p>
        </p:txBody>
      </p:sp>
      <p:sp>
        <p:nvSpPr>
          <p:cNvPr id="397" name="Text 14"/>
          <p:cNvSpPr/>
          <p:nvPr/>
        </p:nvSpPr>
        <p:spPr>
          <a:xfrm>
            <a:off x="8138160" y="2889360"/>
            <a:ext cx="1919880" cy="145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52616B"/>
                </a:solidFill>
                <a:effectLst/>
                <a:uFillTx/>
                <a:latin typeface="Aptos"/>
              </a:rPr>
              <a:t>login, error</a:t>
            </a:r>
            <a:endParaRPr lang="en-US" sz="1100" b="0" u="none" strike="noStrike">
              <a:solidFill>
                <a:srgbClr val="000000"/>
              </a:solidFill>
              <a:effectLst/>
              <a:uFillTx/>
              <a:latin typeface="Arial"/>
            </a:endParaRPr>
          </a:p>
        </p:txBody>
      </p:sp>
      <p:sp>
        <p:nvSpPr>
          <p:cNvPr id="398" name="Shape 15"/>
          <p:cNvSpPr/>
          <p:nvPr/>
        </p:nvSpPr>
        <p:spPr>
          <a:xfrm>
            <a:off x="6583680" y="3886200"/>
            <a:ext cx="4343040" cy="932400"/>
          </a:xfrm>
          <a:prstGeom prst="roundRect">
            <a:avLst>
              <a:gd name="adj" fmla="val 7843"/>
            </a:avLst>
          </a:prstGeom>
          <a:solidFill>
            <a:srgbClr val="F1F5F9"/>
          </a:solidFill>
          <a:ln w="10160">
            <a:solidFill>
              <a:srgbClr val="D7E3E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399" name="Text 16"/>
          <p:cNvSpPr/>
          <p:nvPr/>
        </p:nvSpPr>
        <p:spPr>
          <a:xfrm>
            <a:off x="6903720" y="4169520"/>
            <a:ext cx="1234080" cy="145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52616B"/>
                </a:solidFill>
                <a:effectLst/>
                <a:uFillTx/>
                <a:latin typeface="Aptos"/>
              </a:rPr>
              <a:t>general</a:t>
            </a:r>
            <a:endParaRPr lang="en-US" sz="1300" b="0" u="none" strike="noStrike">
              <a:solidFill>
                <a:srgbClr val="000000"/>
              </a:solidFill>
              <a:effectLst/>
              <a:uFillTx/>
              <a:latin typeface="Arial"/>
            </a:endParaRPr>
          </a:p>
        </p:txBody>
      </p:sp>
      <p:sp>
        <p:nvSpPr>
          <p:cNvPr id="400" name="Text 17"/>
          <p:cNvSpPr/>
          <p:nvPr/>
        </p:nvSpPr>
        <p:spPr>
          <a:xfrm>
            <a:off x="8138160" y="4169520"/>
            <a:ext cx="1919880" cy="145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52616B"/>
                </a:solidFill>
                <a:effectLst/>
                <a:uFillTx/>
                <a:latin typeface="Aptos"/>
              </a:rPr>
              <a:t>anything else</a:t>
            </a:r>
            <a:endParaRPr lang="en-US" sz="1100" b="0" u="none" strike="noStrike">
              <a:solidFill>
                <a:srgbClr val="000000"/>
              </a:solidFill>
              <a:effectLst/>
              <a:uFillTx/>
              <a:latin typeface="Arial"/>
            </a:endParaRPr>
          </a:p>
        </p:txBody>
      </p:sp>
      <p:sp>
        <p:nvSpPr>
          <p:cNvPr id="401" name="PlaceHolder 1"/>
          <p:cNvSpPr>
            <a:spLocks noGrp="1"/>
          </p:cNvSpPr>
          <p:nvPr>
            <p:ph type="sldNum" idx="21"/>
          </p:nvPr>
        </p:nvSpPr>
        <p:spPr>
          <a:xfrm>
            <a:off x="11292840" y="6546960"/>
            <a:ext cx="799560" cy="299520"/>
          </a:xfrm>
          <a:prstGeom prst="rect">
            <a:avLst/>
          </a:prstGeom>
          <a:noFill/>
          <a:ln w="0">
            <a:noFill/>
          </a:ln>
        </p:spPr>
        <p:txBody>
          <a:bodyPr lIns="90000" tIns="45000" rIns="90000" bIns="45000" anchor="t">
            <a:noAutofit/>
          </a:bodyPr>
          <a:lstStyle>
            <a:lvl1pPr indent="0" algn="l" defTabSz="914400">
              <a:lnSpc>
                <a:spcPct val="100000"/>
              </a:lnSpc>
              <a:buNone/>
              <a:defRPr lang="en-US" sz="900" b="0" u="none" strike="noStrike">
                <a:solidFill>
                  <a:srgbClr val="78909C"/>
                </a:solidFill>
                <a:effectLst/>
                <a:uFillTx/>
                <a:latin typeface="Aptos"/>
                <a:ea typeface="Aptos"/>
              </a:defRPr>
            </a:lvl1pPr>
          </a:lstStyle>
          <a:p>
            <a:pPr indent="0" algn="l" defTabSz="914400">
              <a:lnSpc>
                <a:spcPct val="100000"/>
              </a:lnSpc>
              <a:buNone/>
            </a:pPr>
            <a:fld id="{E1A488AB-3839-4126-9424-D94D182C1B63}" type="slidenum">
              <a:rPr lang="en-US" sz="900" b="0" u="none" strike="noStrike">
                <a:solidFill>
                  <a:srgbClr val="78909C"/>
                </a:solidFill>
                <a:effectLst/>
                <a:uFillTx/>
                <a:latin typeface="Aptos"/>
                <a:ea typeface="Aptos"/>
              </a:rPr>
              <a:t>16</a:t>
            </a:fld>
            <a:endParaRPr lang="en-US" sz="9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AFC"/>
        </a:solidFill>
      </p:bgPr>
    </p:bg>
    <p:spTree>
      <p:nvGrpSpPr>
        <p:cNvPr id="1" name=""/>
        <p:cNvGrpSpPr/>
        <p:nvPr/>
      </p:nvGrpSpPr>
      <p:grpSpPr>
        <a:xfrm>
          <a:off x="0" y="0"/>
          <a:ext cx="0" cy="0"/>
          <a:chOff x="0" y="0"/>
          <a:chExt cx="0" cy="0"/>
        </a:xfrm>
      </p:grpSpPr>
      <p:sp>
        <p:nvSpPr>
          <p:cNvPr id="402" name="Shape 0"/>
          <p:cNvSpPr/>
          <p:nvPr/>
        </p:nvSpPr>
        <p:spPr>
          <a:xfrm>
            <a:off x="0" y="0"/>
            <a:ext cx="12191400" cy="6857640"/>
          </a:xfrm>
          <a:prstGeom prst="rect">
            <a:avLst/>
          </a:prstGeom>
          <a:solidFill>
            <a:srgbClr val="F7FAFC"/>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03" name="Shape 1"/>
          <p:cNvSpPr/>
          <p:nvPr/>
        </p:nvSpPr>
        <p:spPr>
          <a:xfrm>
            <a:off x="0" y="0"/>
            <a:ext cx="164160" cy="6857640"/>
          </a:xfrm>
          <a:prstGeom prst="rect">
            <a:avLst/>
          </a:prstGeom>
          <a:solidFill>
            <a:srgbClr val="153B52"/>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04" name="Text 2"/>
          <p:cNvSpPr/>
          <p:nvPr/>
        </p:nvSpPr>
        <p:spPr>
          <a:xfrm>
            <a:off x="521280" y="109800"/>
            <a:ext cx="420588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1" u="none" strike="noStrike">
                <a:solidFill>
                  <a:srgbClr val="0E8F8F"/>
                </a:solidFill>
                <a:effectLst/>
                <a:uFillTx/>
                <a:latin typeface="Aptos"/>
              </a:rPr>
              <a:t>MINI PROJECT</a:t>
            </a:r>
            <a:endParaRPr lang="en-US" sz="850" b="0" u="none" strike="noStrike">
              <a:solidFill>
                <a:srgbClr val="000000"/>
              </a:solidFill>
              <a:effectLst/>
              <a:uFillTx/>
              <a:latin typeface="Arial"/>
            </a:endParaRPr>
          </a:p>
        </p:txBody>
      </p:sp>
      <p:sp>
        <p:nvSpPr>
          <p:cNvPr id="405" name="Text 3"/>
          <p:cNvSpPr/>
          <p:nvPr/>
        </p:nvSpPr>
        <p:spPr>
          <a:xfrm>
            <a:off x="502920" y="320040"/>
            <a:ext cx="1106388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153B52"/>
                </a:solidFill>
                <a:effectLst/>
                <a:uFillTx/>
                <a:latin typeface="Aptos Display"/>
                <a:ea typeface="Aptos Display"/>
              </a:rPr>
              <a:t>Step 3 — Loop, Count, and Print Summary</a:t>
            </a:r>
            <a:endParaRPr lang="en-US" sz="2600" b="0" u="none" strike="noStrike">
              <a:solidFill>
                <a:srgbClr val="000000"/>
              </a:solidFill>
              <a:effectLst/>
              <a:uFillTx/>
              <a:latin typeface="Arial"/>
            </a:endParaRPr>
          </a:p>
        </p:txBody>
      </p:sp>
      <p:sp>
        <p:nvSpPr>
          <p:cNvPr id="406" name="Text 4"/>
          <p:cNvSpPr/>
          <p:nvPr/>
        </p:nvSpPr>
        <p:spPr>
          <a:xfrm>
            <a:off x="511920" y="786240"/>
            <a:ext cx="1078956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52616B"/>
                </a:solidFill>
                <a:effectLst/>
                <a:uFillTx/>
                <a:latin typeface="Aptos"/>
              </a:rPr>
              <a:t>Now we process all tickets.</a:t>
            </a:r>
            <a:endParaRPr lang="en-US" sz="1250" b="0" u="none" strike="noStrike">
              <a:solidFill>
                <a:srgbClr val="000000"/>
              </a:solidFill>
              <a:effectLst/>
              <a:uFillTx/>
              <a:latin typeface="Arial"/>
            </a:endParaRPr>
          </a:p>
        </p:txBody>
      </p:sp>
      <p:sp>
        <p:nvSpPr>
          <p:cNvPr id="407" name="Shape 5"/>
          <p:cNvSpPr/>
          <p:nvPr/>
        </p:nvSpPr>
        <p:spPr>
          <a:xfrm>
            <a:off x="731520" y="1143000"/>
            <a:ext cx="5806080" cy="4891680"/>
          </a:xfrm>
          <a:prstGeom prst="roundRect">
            <a:avLst>
              <a:gd name="adj" fmla="val 1495"/>
            </a:avLst>
          </a:prstGeom>
          <a:solidFill>
            <a:srgbClr val="0B1720"/>
          </a:solidFill>
          <a:ln w="10160">
            <a:solidFill>
              <a:srgbClr val="122334"/>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08" name="Shape 6"/>
          <p:cNvSpPr/>
          <p:nvPr/>
        </p:nvSpPr>
        <p:spPr>
          <a:xfrm>
            <a:off x="841320" y="1252800"/>
            <a:ext cx="1462680" cy="310680"/>
          </a:xfrm>
          <a:prstGeom prst="roundRect">
            <a:avLst>
              <a:gd name="adj" fmla="val 17647"/>
            </a:avLst>
          </a:prstGeom>
          <a:solidFill>
            <a:srgbClr val="0E8F8F"/>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09" name="Text 7"/>
          <p:cNvSpPr/>
          <p:nvPr/>
        </p:nvSpPr>
        <p:spPr>
          <a:xfrm>
            <a:off x="914400" y="1321200"/>
            <a:ext cx="131652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FFFFFF"/>
                </a:solidFill>
                <a:effectLst/>
                <a:uFillTx/>
                <a:latin typeface="Aptos"/>
              </a:rPr>
              <a:t>PROCESSOR</a:t>
            </a:r>
            <a:endParaRPr lang="en-US" sz="900" b="0" u="none" strike="noStrike">
              <a:solidFill>
                <a:srgbClr val="000000"/>
              </a:solidFill>
              <a:effectLst/>
              <a:uFillTx/>
              <a:latin typeface="Arial"/>
            </a:endParaRPr>
          </a:p>
        </p:txBody>
      </p:sp>
      <p:sp>
        <p:nvSpPr>
          <p:cNvPr id="410" name="Text 8"/>
          <p:cNvSpPr/>
          <p:nvPr/>
        </p:nvSpPr>
        <p:spPr>
          <a:xfrm>
            <a:off x="2514600" y="1274040"/>
            <a:ext cx="3440520" cy="2653560"/>
          </a:xfrm>
          <a:prstGeom prst="rect">
            <a:avLst/>
          </a:prstGeom>
          <a:solidFill>
            <a:srgbClr val="355269"/>
          </a:solidFill>
          <a:ln w="0">
            <a:solidFill>
              <a:srgbClr val="3465A4"/>
            </a:solidFill>
          </a:ln>
        </p:spPr>
        <p:style>
          <a:lnRef idx="0"/>
          <a:fillRef idx="0"/>
          <a:effectRef idx="0"/>
          <a:fontRef idx="minor"/>
        </p:style>
        <p:txBody>
          <a:bodyPr lIns="90000" tIns="45000" rIns="90000" bIns="45000" anchor="t">
            <a:spAutoFit/>
          </a:bodyPr>
          <a:p>
            <a:r>
              <a:rPr lang="en-US" sz="1120" b="0" u="none" strike="noStrike">
                <a:solidFill>
                  <a:srgbClr val="E8F1F8"/>
                </a:solidFill>
                <a:effectLst/>
                <a:uFillTx/>
                <a:latin typeface="Courier New"/>
                <a:ea typeface="Courier New"/>
              </a:rPr>
              <a:t>counts = {</a:t>
            </a:r>
            <a:endParaRPr lang="en-US" sz="1120" b="0" u="none" strike="noStrike">
              <a:solidFill>
                <a:srgbClr val="FFFFFF"/>
              </a:solidFill>
              <a:effectLst/>
              <a:uFillTx/>
              <a:latin typeface="Arial"/>
            </a:endParaRPr>
          </a:p>
          <a:p>
            <a:r>
              <a:rPr lang="en-US" sz="1120" b="0" u="none" strike="noStrike">
                <a:solidFill>
                  <a:srgbClr val="E8F1F8"/>
                </a:solidFill>
                <a:effectLst/>
                <a:uFillTx/>
                <a:latin typeface="Courier New"/>
                <a:ea typeface="Courier New"/>
              </a:rPr>
              <a:t>    "billing": 0,</a:t>
            </a:r>
            <a:endParaRPr lang="en-US" sz="1120" b="0" u="none" strike="noStrike">
              <a:solidFill>
                <a:srgbClr val="FFFFFF"/>
              </a:solidFill>
              <a:effectLst/>
              <a:uFillTx/>
              <a:latin typeface="Arial"/>
            </a:endParaRPr>
          </a:p>
          <a:p>
            <a:r>
              <a:rPr lang="en-US" sz="1120" b="0" u="none" strike="noStrike">
                <a:solidFill>
                  <a:srgbClr val="E8F1F8"/>
                </a:solidFill>
                <a:effectLst/>
                <a:uFillTx/>
                <a:latin typeface="Courier New"/>
                <a:ea typeface="Courier New"/>
              </a:rPr>
              <a:t>    "technical": 0,</a:t>
            </a:r>
            <a:endParaRPr lang="en-US" sz="1120" b="0" u="none" strike="noStrike">
              <a:solidFill>
                <a:srgbClr val="FFFFFF"/>
              </a:solidFill>
              <a:effectLst/>
              <a:uFillTx/>
              <a:latin typeface="Arial"/>
            </a:endParaRPr>
          </a:p>
          <a:p>
            <a:r>
              <a:rPr lang="en-US" sz="1120" b="0" u="none" strike="noStrike">
                <a:solidFill>
                  <a:srgbClr val="E8F1F8"/>
                </a:solidFill>
                <a:effectLst/>
                <a:uFillTx/>
                <a:latin typeface="Courier New"/>
                <a:ea typeface="Courier New"/>
              </a:rPr>
              <a:t>    "general": 0</a:t>
            </a:r>
            <a:endParaRPr lang="en-US" sz="1120" b="0" u="none" strike="noStrike">
              <a:solidFill>
                <a:srgbClr val="FFFFFF"/>
              </a:solidFill>
              <a:effectLst/>
              <a:uFillTx/>
              <a:latin typeface="Arial"/>
            </a:endParaRPr>
          </a:p>
          <a:p>
            <a:r>
              <a:rPr lang="en-US" sz="1120" b="0" u="none" strike="noStrike">
                <a:solidFill>
                  <a:srgbClr val="E8F1F8"/>
                </a:solidFill>
                <a:effectLst/>
                <a:uFillTx/>
                <a:latin typeface="Courier New"/>
                <a:ea typeface="Courier New"/>
              </a:rPr>
              <a:t>}</a:t>
            </a:r>
            <a:endParaRPr lang="en-US" sz="1120" b="0" u="none" strike="noStrike">
              <a:solidFill>
                <a:srgbClr val="FFFFFF"/>
              </a:solidFill>
              <a:effectLst/>
              <a:uFillTx/>
              <a:latin typeface="Arial"/>
            </a:endParaRPr>
          </a:p>
          <a:p>
            <a:endParaRPr lang="en-US" sz="1120" b="0" u="none" strike="noStrike">
              <a:solidFill>
                <a:srgbClr val="FFFFFF"/>
              </a:solidFill>
              <a:effectLst/>
              <a:uFillTx/>
              <a:latin typeface="Arial"/>
            </a:endParaRPr>
          </a:p>
          <a:p>
            <a:r>
              <a:rPr lang="en-US" sz="1120" b="0" u="none" strike="noStrike">
                <a:solidFill>
                  <a:srgbClr val="E8F1F8"/>
                </a:solidFill>
                <a:effectLst/>
                <a:uFillTx/>
                <a:latin typeface="Courier New"/>
                <a:ea typeface="Courier New"/>
              </a:rPr>
              <a:t>for ticket in tickets:</a:t>
            </a:r>
            <a:endParaRPr lang="en-US" sz="1120" b="0" u="none" strike="noStrike">
              <a:solidFill>
                <a:srgbClr val="FFFFFF"/>
              </a:solidFill>
              <a:effectLst/>
              <a:uFillTx/>
              <a:latin typeface="Arial"/>
            </a:endParaRPr>
          </a:p>
          <a:p>
            <a:r>
              <a:rPr lang="en-US" sz="1120" b="0" u="none" strike="noStrike">
                <a:solidFill>
                  <a:srgbClr val="E8F1F8"/>
                </a:solidFill>
                <a:effectLst/>
                <a:uFillTx/>
                <a:latin typeface="Courier New"/>
                <a:ea typeface="Courier New"/>
              </a:rPr>
              <a:t>    category = classify_ticket(ticket["message"])</a:t>
            </a:r>
            <a:endParaRPr lang="en-US" sz="1120" b="0" u="none" strike="noStrike">
              <a:solidFill>
                <a:srgbClr val="FFFFFF"/>
              </a:solidFill>
              <a:effectLst/>
              <a:uFillTx/>
              <a:latin typeface="Arial"/>
            </a:endParaRPr>
          </a:p>
          <a:p>
            <a:r>
              <a:rPr lang="en-US" sz="1120" b="0" u="none" strike="noStrike">
                <a:solidFill>
                  <a:srgbClr val="E8F1F8"/>
                </a:solidFill>
                <a:effectLst/>
                <a:uFillTx/>
                <a:latin typeface="Courier New"/>
                <a:ea typeface="Courier New"/>
              </a:rPr>
              <a:t>    counts[category] += 1</a:t>
            </a:r>
            <a:endParaRPr lang="en-US" sz="1120" b="0" u="none" strike="noStrike">
              <a:solidFill>
                <a:srgbClr val="FFFFFF"/>
              </a:solidFill>
              <a:effectLst/>
              <a:uFillTx/>
              <a:latin typeface="Arial"/>
            </a:endParaRPr>
          </a:p>
          <a:p>
            <a:endParaRPr lang="en-US" sz="1120" b="0" u="none" strike="noStrike">
              <a:solidFill>
                <a:srgbClr val="FFFFFF"/>
              </a:solidFill>
              <a:effectLst/>
              <a:uFillTx/>
              <a:latin typeface="Arial"/>
            </a:endParaRPr>
          </a:p>
          <a:p>
            <a:r>
              <a:rPr lang="en-US" sz="1120" b="0" u="none" strike="noStrike">
                <a:solidFill>
                  <a:srgbClr val="E8F1F8"/>
                </a:solidFill>
                <a:effectLst/>
                <a:uFillTx/>
                <a:latin typeface="Courier New"/>
                <a:ea typeface="Courier New"/>
              </a:rPr>
              <a:t>    print(f"Ticket #{ticket['id']} - {category}")</a:t>
            </a:r>
            <a:endParaRPr lang="en-US" sz="1120" b="0" u="none" strike="noStrike">
              <a:solidFill>
                <a:srgbClr val="FFFFFF"/>
              </a:solidFill>
              <a:effectLst/>
              <a:uFillTx/>
              <a:latin typeface="Arial"/>
            </a:endParaRPr>
          </a:p>
          <a:p>
            <a:endParaRPr lang="en-US" sz="1120" b="0" u="none" strike="noStrike">
              <a:solidFill>
                <a:srgbClr val="FFFFFF"/>
              </a:solidFill>
              <a:effectLst/>
              <a:uFillTx/>
              <a:latin typeface="Arial"/>
            </a:endParaRPr>
          </a:p>
          <a:p>
            <a:r>
              <a:rPr lang="en-US" sz="1120" b="0" u="none" strike="noStrike">
                <a:solidFill>
                  <a:srgbClr val="E8F1F8"/>
                </a:solidFill>
                <a:effectLst/>
                <a:uFillTx/>
                <a:latin typeface="Courier New"/>
                <a:ea typeface="Courier New"/>
              </a:rPr>
              <a:t>print("Summary:")</a:t>
            </a:r>
            <a:endParaRPr lang="en-US" sz="1120" b="0" u="none" strike="noStrike">
              <a:solidFill>
                <a:srgbClr val="FFFFFF"/>
              </a:solidFill>
              <a:effectLst/>
              <a:uFillTx/>
              <a:latin typeface="Arial"/>
            </a:endParaRPr>
          </a:p>
          <a:p>
            <a:r>
              <a:rPr lang="en-US" sz="1120" b="0" u="none" strike="noStrike">
                <a:solidFill>
                  <a:srgbClr val="E8F1F8"/>
                </a:solidFill>
                <a:effectLst/>
                <a:uFillTx/>
                <a:latin typeface="Courier New"/>
                <a:ea typeface="Courier New"/>
              </a:rPr>
              <a:t>print(counts)</a:t>
            </a:r>
            <a:endParaRPr lang="en-US" sz="1120" b="0" u="none" strike="noStrike">
              <a:solidFill>
                <a:srgbClr val="FFFFFF"/>
              </a:solidFill>
              <a:effectLst/>
              <a:uFillTx/>
              <a:latin typeface="Arial"/>
            </a:endParaRPr>
          </a:p>
        </p:txBody>
      </p:sp>
      <p:sp>
        <p:nvSpPr>
          <p:cNvPr id="411" name="Shape 9"/>
          <p:cNvSpPr/>
          <p:nvPr/>
        </p:nvSpPr>
        <p:spPr>
          <a:xfrm>
            <a:off x="7040880" y="1325880"/>
            <a:ext cx="3840120" cy="987120"/>
          </a:xfrm>
          <a:prstGeom prst="roundRect">
            <a:avLst>
              <a:gd name="adj" fmla="val 7407"/>
            </a:avLst>
          </a:prstGeom>
          <a:solidFill>
            <a:srgbClr val="FFFFFF"/>
          </a:solidFill>
          <a:ln w="10160">
            <a:solidFill>
              <a:srgbClr val="D7E3E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12" name="Text 10"/>
          <p:cNvSpPr/>
          <p:nvPr/>
        </p:nvSpPr>
        <p:spPr>
          <a:xfrm>
            <a:off x="7315200" y="1627560"/>
            <a:ext cx="310860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153B52"/>
                </a:solidFill>
                <a:effectLst/>
                <a:uFillTx/>
                <a:latin typeface="Aptos"/>
              </a:rPr>
              <a:t>Key pattern</a:t>
            </a:r>
            <a:endParaRPr lang="en-US" sz="1600" b="0" u="none" strike="noStrike">
              <a:solidFill>
                <a:srgbClr val="000000"/>
              </a:solidFill>
              <a:effectLst/>
              <a:uFillTx/>
              <a:latin typeface="Arial"/>
            </a:endParaRPr>
          </a:p>
        </p:txBody>
      </p:sp>
      <p:sp>
        <p:nvSpPr>
          <p:cNvPr id="413" name="Text 11"/>
          <p:cNvSpPr/>
          <p:nvPr/>
        </p:nvSpPr>
        <p:spPr>
          <a:xfrm>
            <a:off x="7315200" y="1901880"/>
            <a:ext cx="310860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50" b="0" u="none" strike="noStrike">
                <a:solidFill>
                  <a:srgbClr val="0E8F8F"/>
                </a:solidFill>
                <a:effectLst/>
                <a:uFillTx/>
                <a:latin typeface="Aptos"/>
              </a:rPr>
              <a:t>state + loop + update</a:t>
            </a:r>
            <a:endParaRPr lang="en-US" sz="1250" b="0" u="none" strike="noStrike">
              <a:solidFill>
                <a:srgbClr val="000000"/>
              </a:solidFill>
              <a:effectLst/>
              <a:uFillTx/>
              <a:latin typeface="Arial"/>
            </a:endParaRPr>
          </a:p>
        </p:txBody>
      </p:sp>
      <p:sp>
        <p:nvSpPr>
          <p:cNvPr id="414" name="Shape 12"/>
          <p:cNvSpPr/>
          <p:nvPr/>
        </p:nvSpPr>
        <p:spPr>
          <a:xfrm>
            <a:off x="7040880" y="2788920"/>
            <a:ext cx="3840120" cy="1828440"/>
          </a:xfrm>
          <a:prstGeom prst="roundRect">
            <a:avLst>
              <a:gd name="adj" fmla="val 4000"/>
            </a:avLst>
          </a:prstGeom>
          <a:solidFill>
            <a:srgbClr val="F7FFFE"/>
          </a:solidFill>
          <a:ln w="10160">
            <a:solidFill>
              <a:srgbClr val="BFECE9"/>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15" name="Text 13"/>
          <p:cNvSpPr/>
          <p:nvPr/>
        </p:nvSpPr>
        <p:spPr>
          <a:xfrm>
            <a:off x="7333560" y="3145680"/>
            <a:ext cx="3200040" cy="200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153B52"/>
                </a:solidFill>
                <a:effectLst/>
                <a:uFillTx/>
                <a:latin typeface="Aptos"/>
              </a:rPr>
              <a:t>This is already an execution loop.</a:t>
            </a:r>
            <a:endParaRPr lang="en-US" sz="1600" b="0" u="none" strike="noStrike">
              <a:solidFill>
                <a:srgbClr val="000000"/>
              </a:solidFill>
              <a:effectLst/>
              <a:uFillTx/>
              <a:latin typeface="Arial"/>
            </a:endParaRPr>
          </a:p>
        </p:txBody>
      </p:sp>
      <p:sp>
        <p:nvSpPr>
          <p:cNvPr id="416" name="Text 14"/>
          <p:cNvSpPr/>
          <p:nvPr/>
        </p:nvSpPr>
        <p:spPr>
          <a:xfrm>
            <a:off x="7360920" y="3547800"/>
            <a:ext cx="3154320" cy="502560"/>
          </a:xfrm>
          <a:prstGeom prst="rect">
            <a:avLst/>
          </a:prstGeom>
          <a:noFill/>
          <a:ln w="0">
            <a:noFill/>
          </a:ln>
        </p:spPr>
        <p:style>
          <a:lnRef idx="0"/>
          <a:fillRef idx="0"/>
          <a:effectRef idx="0"/>
          <a:fontRef idx="minor"/>
        </p:style>
        <p:txBody>
          <a:bodyPr lIns="0" tIns="0" rIns="0" bIns="0" anchor="ctr">
            <a:normAutofit lnSpcReduction="9999"/>
          </a:bodyPr>
          <a:p>
            <a:pPr algn="ctr" defTabSz="914400">
              <a:lnSpc>
                <a:spcPct val="100000"/>
              </a:lnSpc>
              <a:tabLst>
                <a:tab pos="0" algn="l"/>
              </a:tabLst>
            </a:pPr>
            <a:r>
              <a:rPr lang="en-US" sz="1200" b="0" u="none" strike="noStrike">
                <a:solidFill>
                  <a:srgbClr val="52616B"/>
                </a:solidFill>
                <a:effectLst/>
                <a:uFillTx/>
                <a:latin typeface="Aptos"/>
              </a:rPr>
              <a:t>Week 6 will replace this simple loop with an agent loop that observes results and chooses the next step.</a:t>
            </a:r>
            <a:endParaRPr lang="en-US" sz="1200" b="0" u="none" strike="noStrike">
              <a:solidFill>
                <a:srgbClr val="000000"/>
              </a:solidFill>
              <a:effectLst/>
              <a:uFillTx/>
              <a:latin typeface="Arial"/>
            </a:endParaRPr>
          </a:p>
        </p:txBody>
      </p:sp>
      <p:sp>
        <p:nvSpPr>
          <p:cNvPr id="417" name="PlaceHolder 1"/>
          <p:cNvSpPr>
            <a:spLocks noGrp="1"/>
          </p:cNvSpPr>
          <p:nvPr>
            <p:ph type="sldNum" idx="22"/>
          </p:nvPr>
        </p:nvSpPr>
        <p:spPr>
          <a:xfrm>
            <a:off x="11292840" y="6546960"/>
            <a:ext cx="799560" cy="299520"/>
          </a:xfrm>
          <a:prstGeom prst="rect">
            <a:avLst/>
          </a:prstGeom>
          <a:noFill/>
          <a:ln w="0">
            <a:noFill/>
          </a:ln>
        </p:spPr>
        <p:txBody>
          <a:bodyPr lIns="90000" tIns="45000" rIns="90000" bIns="45000" anchor="t">
            <a:noAutofit/>
          </a:bodyPr>
          <a:lstStyle>
            <a:lvl1pPr indent="0" algn="l" defTabSz="914400">
              <a:lnSpc>
                <a:spcPct val="100000"/>
              </a:lnSpc>
              <a:buNone/>
              <a:defRPr lang="en-US" sz="900" b="0" u="none" strike="noStrike">
                <a:solidFill>
                  <a:srgbClr val="78909C"/>
                </a:solidFill>
                <a:effectLst/>
                <a:uFillTx/>
                <a:latin typeface="Aptos"/>
                <a:ea typeface="Aptos"/>
              </a:defRPr>
            </a:lvl1pPr>
          </a:lstStyle>
          <a:p>
            <a:pPr indent="0" algn="l" defTabSz="914400">
              <a:lnSpc>
                <a:spcPct val="100000"/>
              </a:lnSpc>
              <a:buNone/>
            </a:pPr>
            <a:fld id="{00AEED75-9F67-412B-94A7-A54CB246C4CE}" type="slidenum">
              <a:rPr lang="en-US" sz="900" b="0" u="none" strike="noStrike">
                <a:solidFill>
                  <a:srgbClr val="78909C"/>
                </a:solidFill>
                <a:effectLst/>
                <a:uFillTx/>
                <a:latin typeface="Aptos"/>
                <a:ea typeface="Aptos"/>
              </a:rPr>
              <a:t>18</a:t>
            </a:fld>
            <a:endParaRPr lang="en-US" sz="9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AFC"/>
        </a:solidFill>
      </p:bgPr>
    </p:bg>
    <p:spTree>
      <p:nvGrpSpPr>
        <p:cNvPr id="1" name=""/>
        <p:cNvGrpSpPr/>
        <p:nvPr/>
      </p:nvGrpSpPr>
      <p:grpSpPr>
        <a:xfrm>
          <a:off x="0" y="0"/>
          <a:ext cx="0" cy="0"/>
          <a:chOff x="0" y="0"/>
          <a:chExt cx="0" cy="0"/>
        </a:xfrm>
      </p:grpSpPr>
      <p:sp>
        <p:nvSpPr>
          <p:cNvPr id="418" name="Shape 0"/>
          <p:cNvSpPr/>
          <p:nvPr/>
        </p:nvSpPr>
        <p:spPr>
          <a:xfrm>
            <a:off x="0" y="0"/>
            <a:ext cx="12191400" cy="6857640"/>
          </a:xfrm>
          <a:prstGeom prst="rect">
            <a:avLst/>
          </a:prstGeom>
          <a:solidFill>
            <a:srgbClr val="F7FAFC"/>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19" name="Shape 1"/>
          <p:cNvSpPr/>
          <p:nvPr/>
        </p:nvSpPr>
        <p:spPr>
          <a:xfrm>
            <a:off x="0" y="0"/>
            <a:ext cx="164160" cy="6857640"/>
          </a:xfrm>
          <a:prstGeom prst="rect">
            <a:avLst/>
          </a:prstGeom>
          <a:solidFill>
            <a:srgbClr val="153B52"/>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20" name="Text 2"/>
          <p:cNvSpPr/>
          <p:nvPr/>
        </p:nvSpPr>
        <p:spPr>
          <a:xfrm>
            <a:off x="521280" y="109800"/>
            <a:ext cx="420588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1" u="none" strike="noStrike">
                <a:solidFill>
                  <a:srgbClr val="0E8F8F"/>
                </a:solidFill>
                <a:effectLst/>
                <a:uFillTx/>
                <a:latin typeface="Aptos"/>
              </a:rPr>
              <a:t>STUDENT EXERCISE</a:t>
            </a:r>
            <a:endParaRPr lang="en-US" sz="850" b="0" u="none" strike="noStrike">
              <a:solidFill>
                <a:srgbClr val="000000"/>
              </a:solidFill>
              <a:effectLst/>
              <a:uFillTx/>
              <a:latin typeface="Arial"/>
            </a:endParaRPr>
          </a:p>
        </p:txBody>
      </p:sp>
      <p:sp>
        <p:nvSpPr>
          <p:cNvPr id="421" name="Text 3"/>
          <p:cNvSpPr/>
          <p:nvPr/>
        </p:nvSpPr>
        <p:spPr>
          <a:xfrm>
            <a:off x="502920" y="320040"/>
            <a:ext cx="1106388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153B52"/>
                </a:solidFill>
                <a:effectLst/>
                <a:uFillTx/>
                <a:latin typeface="Aptos Display"/>
                <a:ea typeface="Aptos Display"/>
              </a:rPr>
              <a:t>Hands-on Exercise — Add Priority Detection</a:t>
            </a:r>
            <a:endParaRPr lang="en-US" sz="2600" b="0" u="none" strike="noStrike">
              <a:solidFill>
                <a:srgbClr val="000000"/>
              </a:solidFill>
              <a:effectLst/>
              <a:uFillTx/>
              <a:latin typeface="Arial"/>
            </a:endParaRPr>
          </a:p>
        </p:txBody>
      </p:sp>
      <p:sp>
        <p:nvSpPr>
          <p:cNvPr id="422" name="Text 4"/>
          <p:cNvSpPr/>
          <p:nvPr/>
        </p:nvSpPr>
        <p:spPr>
          <a:xfrm>
            <a:off x="511920" y="786240"/>
            <a:ext cx="1078956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52616B"/>
                </a:solidFill>
                <a:effectLst/>
                <a:uFillTx/>
                <a:latin typeface="Aptos"/>
              </a:rPr>
              <a:t>Students modify the project instead of only copying it.</a:t>
            </a:r>
            <a:endParaRPr lang="en-US" sz="1250" b="0" u="none" strike="noStrike">
              <a:solidFill>
                <a:srgbClr val="000000"/>
              </a:solidFill>
              <a:effectLst/>
              <a:uFillTx/>
              <a:latin typeface="Arial"/>
            </a:endParaRPr>
          </a:p>
        </p:txBody>
      </p:sp>
      <p:sp>
        <p:nvSpPr>
          <p:cNvPr id="423" name="Shape 5"/>
          <p:cNvSpPr/>
          <p:nvPr/>
        </p:nvSpPr>
        <p:spPr>
          <a:xfrm>
            <a:off x="822960" y="1234440"/>
            <a:ext cx="4983120" cy="4297320"/>
          </a:xfrm>
          <a:prstGeom prst="roundRect">
            <a:avLst>
              <a:gd name="adj" fmla="val 1702"/>
            </a:avLst>
          </a:prstGeom>
          <a:solidFill>
            <a:srgbClr val="FFFFFF"/>
          </a:solidFill>
          <a:ln w="10160">
            <a:solidFill>
              <a:srgbClr val="D7E3E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24" name="Text 6"/>
          <p:cNvSpPr/>
          <p:nvPr/>
        </p:nvSpPr>
        <p:spPr>
          <a:xfrm>
            <a:off x="1143000" y="1591200"/>
            <a:ext cx="118836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153B52"/>
                </a:solidFill>
                <a:effectLst/>
                <a:uFillTx/>
                <a:latin typeface="Aptos"/>
              </a:rPr>
              <a:t>Task</a:t>
            </a:r>
            <a:endParaRPr lang="en-US" sz="2200" b="0" u="none" strike="noStrike">
              <a:solidFill>
                <a:srgbClr val="000000"/>
              </a:solidFill>
              <a:effectLst/>
              <a:uFillTx/>
              <a:latin typeface="Arial"/>
            </a:endParaRPr>
          </a:p>
        </p:txBody>
      </p:sp>
      <p:sp>
        <p:nvSpPr>
          <p:cNvPr id="425" name="Text 7"/>
          <p:cNvSpPr/>
          <p:nvPr/>
        </p:nvSpPr>
        <p:spPr>
          <a:xfrm>
            <a:off x="1188720" y="2084760"/>
            <a:ext cx="3931560" cy="1828440"/>
          </a:xfrm>
          <a:prstGeom prst="rect">
            <a:avLst/>
          </a:prstGeom>
          <a:noFill/>
          <a:ln w="0">
            <a:noFill/>
          </a:ln>
        </p:spPr>
        <p:style>
          <a:lnRef idx="0"/>
          <a:fillRef idx="0"/>
          <a:effectRef idx="0"/>
          <a:fontRef idx="minor"/>
        </p:style>
        <p:txBody>
          <a:bodyPr lIns="720" tIns="720" rIns="720" bIns="720" anchor="t">
            <a:normAutofit fontScale="70000" lnSpcReduction="19999"/>
          </a:bodyPr>
          <a:p>
            <a:pPr defTabSz="914400">
              <a:lnSpc>
                <a:spcPct val="100000"/>
              </a:lnSpc>
            </a:pPr>
            <a:r>
              <a:rPr lang="en-US" sz="1800" b="0" u="none" strike="noStrike">
                <a:solidFill>
                  <a:schemeClr val="dk1"/>
                </a:solidFill>
                <a:effectLst/>
                <a:uFillTx/>
                <a:latin typeface="Aptos"/>
              </a:rPr>
              <a:t>Add a fourth ticket with the word `urgent`.</a:t>
            </a:r>
            <a:endParaRPr lang="en-US" sz="1800" b="0" u="none" strike="noStrike">
              <a:solidFill>
                <a:srgbClr val="000000"/>
              </a:solidFill>
              <a:effectLst/>
              <a:uFillTx/>
              <a:latin typeface="Arial"/>
            </a:endParaRPr>
          </a:p>
          <a:p>
            <a:pPr defTabSz="914400">
              <a:lnSpc>
                <a:spcPct val="100000"/>
              </a:lnSpc>
            </a:pPr>
            <a:endParaRPr lang="en-US" sz="1800" b="0" u="none" strike="noStrike">
              <a:solidFill>
                <a:srgbClr val="000000"/>
              </a:solidFill>
              <a:effectLst/>
              <a:uFillTx/>
              <a:latin typeface="Arial"/>
            </a:endParaRPr>
          </a:p>
          <a:p>
            <a:pPr defTabSz="914400">
              <a:lnSpc>
                <a:spcPct val="100000"/>
              </a:lnSpc>
            </a:pPr>
            <a:r>
              <a:rPr lang="en-US" sz="1800" b="0" u="none" strike="noStrike">
                <a:solidFill>
                  <a:schemeClr val="dk1"/>
                </a:solidFill>
                <a:effectLst/>
                <a:uFillTx/>
                <a:latin typeface="Aptos"/>
              </a:rPr>
              <a:t>Write a typed function named `detect_priority(message: str) -&gt; str`.</a:t>
            </a:r>
            <a:endParaRPr lang="en-US" sz="1800" b="0" u="none" strike="noStrike">
              <a:solidFill>
                <a:srgbClr val="000000"/>
              </a:solidFill>
              <a:effectLst/>
              <a:uFillTx/>
              <a:latin typeface="Arial"/>
            </a:endParaRPr>
          </a:p>
          <a:p>
            <a:pPr defTabSz="914400">
              <a:lnSpc>
                <a:spcPct val="100000"/>
              </a:lnSpc>
            </a:pPr>
            <a:endParaRPr lang="en-US" sz="1800" b="0" u="none" strike="noStrike">
              <a:solidFill>
                <a:srgbClr val="000000"/>
              </a:solidFill>
              <a:effectLst/>
              <a:uFillTx/>
              <a:latin typeface="Arial"/>
            </a:endParaRPr>
          </a:p>
          <a:p>
            <a:pPr defTabSz="914400">
              <a:lnSpc>
                <a:spcPct val="100000"/>
              </a:lnSpc>
            </a:pPr>
            <a:r>
              <a:rPr lang="en-US" sz="1800" b="0" u="none" strike="noStrike">
                <a:solidFill>
                  <a:schemeClr val="dk1"/>
                </a:solidFill>
                <a:effectLst/>
                <a:uFillTx/>
                <a:latin typeface="Aptos"/>
              </a:rPr>
              <a:t>Return `high` if the message contains `urgent`.</a:t>
            </a:r>
            <a:endParaRPr lang="en-US" sz="1800" b="0" u="none" strike="noStrike">
              <a:solidFill>
                <a:srgbClr val="000000"/>
              </a:solidFill>
              <a:effectLst/>
              <a:uFillTx/>
              <a:latin typeface="Arial"/>
            </a:endParaRPr>
          </a:p>
          <a:p>
            <a:pPr defTabSz="914400">
              <a:lnSpc>
                <a:spcPct val="100000"/>
              </a:lnSpc>
            </a:pPr>
            <a:endParaRPr lang="en-US" sz="1800" b="0" u="none" strike="noStrike">
              <a:solidFill>
                <a:srgbClr val="000000"/>
              </a:solidFill>
              <a:effectLst/>
              <a:uFillTx/>
              <a:latin typeface="Arial"/>
            </a:endParaRPr>
          </a:p>
          <a:p>
            <a:pPr defTabSz="914400">
              <a:lnSpc>
                <a:spcPct val="100000"/>
              </a:lnSpc>
            </a:pPr>
            <a:r>
              <a:rPr lang="en-US" sz="1800" b="0" u="none" strike="noStrike">
                <a:solidFill>
                  <a:schemeClr val="dk1"/>
                </a:solidFill>
                <a:effectLst/>
                <a:uFillTx/>
                <a:latin typeface="Aptos"/>
              </a:rPr>
              <a:t>Return `normal` otherwise.</a:t>
            </a:r>
            <a:endParaRPr lang="en-US" sz="1800" b="0" u="none" strike="noStrike">
              <a:solidFill>
                <a:srgbClr val="000000"/>
              </a:solidFill>
              <a:effectLst/>
              <a:uFillTx/>
              <a:latin typeface="Arial"/>
            </a:endParaRPr>
          </a:p>
          <a:p>
            <a:pPr defTabSz="914400">
              <a:lnSpc>
                <a:spcPct val="100000"/>
              </a:lnSpc>
            </a:pPr>
            <a:endParaRPr lang="en-US" sz="1800" b="0" u="none" strike="noStrike">
              <a:solidFill>
                <a:srgbClr val="000000"/>
              </a:solidFill>
              <a:effectLst/>
              <a:uFillTx/>
              <a:latin typeface="Arial"/>
            </a:endParaRPr>
          </a:p>
          <a:p>
            <a:pPr defTabSz="914400">
              <a:lnSpc>
                <a:spcPct val="100000"/>
              </a:lnSpc>
            </a:pPr>
            <a:r>
              <a:rPr lang="en-US" sz="1800" b="0" u="none" strike="noStrike">
                <a:solidFill>
                  <a:schemeClr val="dk1"/>
                </a:solidFill>
                <a:effectLst/>
                <a:uFillTx/>
                <a:latin typeface="Aptos"/>
              </a:rPr>
              <a:t>Print category and priority for each ticket.</a:t>
            </a:r>
            <a:endParaRPr lang="en-US" sz="1800" b="0" u="none" strike="noStrike">
              <a:solidFill>
                <a:srgbClr val="000000"/>
              </a:solidFill>
              <a:effectLst/>
              <a:uFillTx/>
              <a:latin typeface="Arial"/>
            </a:endParaRPr>
          </a:p>
        </p:txBody>
      </p:sp>
      <p:sp>
        <p:nvSpPr>
          <p:cNvPr id="426" name="Shape 8"/>
          <p:cNvSpPr/>
          <p:nvPr/>
        </p:nvSpPr>
        <p:spPr>
          <a:xfrm>
            <a:off x="6400800" y="1325880"/>
            <a:ext cx="4525920" cy="2788560"/>
          </a:xfrm>
          <a:prstGeom prst="roundRect">
            <a:avLst>
              <a:gd name="adj" fmla="val 2623"/>
            </a:avLst>
          </a:prstGeom>
          <a:solidFill>
            <a:srgbClr val="0B1720"/>
          </a:solidFill>
          <a:ln w="10160">
            <a:solidFill>
              <a:srgbClr val="122334"/>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27" name="Shape 9"/>
          <p:cNvSpPr/>
          <p:nvPr/>
        </p:nvSpPr>
        <p:spPr>
          <a:xfrm>
            <a:off x="6510600" y="1435680"/>
            <a:ext cx="1462680" cy="310680"/>
          </a:xfrm>
          <a:prstGeom prst="roundRect">
            <a:avLst>
              <a:gd name="adj" fmla="val 17647"/>
            </a:avLst>
          </a:prstGeom>
          <a:solidFill>
            <a:srgbClr val="0E8F8F"/>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28" name="Text 10"/>
          <p:cNvSpPr/>
          <p:nvPr/>
        </p:nvSpPr>
        <p:spPr>
          <a:xfrm>
            <a:off x="6583680" y="1504080"/>
            <a:ext cx="131652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FFFFFF"/>
                </a:solidFill>
                <a:effectLst/>
                <a:uFillTx/>
                <a:latin typeface="Aptos"/>
              </a:rPr>
              <a:t>STARTER</a:t>
            </a:r>
            <a:endParaRPr lang="en-US" sz="900" b="0" u="none" strike="noStrike">
              <a:solidFill>
                <a:srgbClr val="000000"/>
              </a:solidFill>
              <a:effectLst/>
              <a:uFillTx/>
              <a:latin typeface="Arial"/>
            </a:endParaRPr>
          </a:p>
        </p:txBody>
      </p:sp>
      <p:sp>
        <p:nvSpPr>
          <p:cNvPr id="429" name="Text 11"/>
          <p:cNvSpPr/>
          <p:nvPr/>
        </p:nvSpPr>
        <p:spPr>
          <a:xfrm>
            <a:off x="6602040" y="1856160"/>
            <a:ext cx="4123440" cy="2111760"/>
          </a:xfrm>
          <a:prstGeom prst="rect">
            <a:avLst/>
          </a:prstGeom>
          <a:noFill/>
          <a:ln w="0">
            <a:noFill/>
          </a:ln>
        </p:spPr>
        <p:style>
          <a:lnRef idx="0"/>
          <a:fillRef idx="0"/>
          <a:effectRef idx="0"/>
          <a:fontRef idx="minor"/>
        </p:style>
        <p:txBody>
          <a:bodyPr wrap="none" lIns="101520" tIns="228600" rIns="76320" bIns="101520" anchor="t">
            <a:noAutofit/>
          </a:bodyPr>
          <a:p>
            <a:pPr defTabSz="914400">
              <a:lnSpc>
                <a:spcPct val="85000"/>
              </a:lnSpc>
            </a:pPr>
            <a:r>
              <a:rPr lang="en-US" sz="1200" b="0" u="none" strike="noStrike">
                <a:solidFill>
                  <a:srgbClr val="FFFFFF"/>
                </a:solidFill>
                <a:effectLst/>
                <a:uFillTx/>
                <a:latin typeface="Consolas"/>
              </a:rPr>
              <a:t>def detect_priority(message: str) -&gt; str:</a:t>
            </a:r>
            <a:endParaRPr lang="en-US" sz="1200" b="0" u="none" strike="noStrike">
              <a:solidFill>
                <a:srgbClr val="000000"/>
              </a:solidFill>
              <a:effectLst/>
              <a:uFillTx/>
              <a:latin typeface="Arial"/>
            </a:endParaRPr>
          </a:p>
          <a:p>
            <a:pPr defTabSz="914400">
              <a:lnSpc>
                <a:spcPct val="85000"/>
              </a:lnSpc>
            </a:pPr>
            <a:r>
              <a:rPr lang="en-US" sz="1200" b="0" u="none" strike="noStrike">
                <a:solidFill>
                  <a:srgbClr val="FFFFFF"/>
                </a:solidFill>
                <a:effectLst/>
                <a:uFillTx/>
                <a:latin typeface="Consolas"/>
              </a:rPr>
              <a:t>    """Return high for urgent tickets."""</a:t>
            </a:r>
            <a:endParaRPr lang="en-US" sz="1200" b="0" u="none" strike="noStrike">
              <a:solidFill>
                <a:srgbClr val="000000"/>
              </a:solidFill>
              <a:effectLst/>
              <a:uFillTx/>
              <a:latin typeface="Arial"/>
            </a:endParaRPr>
          </a:p>
          <a:p>
            <a:pPr defTabSz="914400">
              <a:lnSpc>
                <a:spcPct val="85000"/>
              </a:lnSpc>
            </a:pPr>
            <a:r>
              <a:rPr lang="en-US" sz="1200" b="0" u="none" strike="noStrike">
                <a:solidFill>
                  <a:srgbClr val="FFFFFF"/>
                </a:solidFill>
                <a:effectLst/>
                <a:uFillTx/>
                <a:latin typeface="Consolas"/>
              </a:rPr>
              <a:t>    text = message.lower()</a:t>
            </a:r>
            <a:endParaRPr lang="en-US" sz="1200" b="0" u="none" strike="noStrike">
              <a:solidFill>
                <a:srgbClr val="000000"/>
              </a:solidFill>
              <a:effectLst/>
              <a:uFillTx/>
              <a:latin typeface="Arial"/>
            </a:endParaRPr>
          </a:p>
          <a:p>
            <a:pPr defTabSz="914400">
              <a:lnSpc>
                <a:spcPct val="85000"/>
              </a:lnSpc>
            </a:pPr>
            <a:endParaRPr lang="en-US" sz="1800" b="0" u="none" strike="noStrike">
              <a:solidFill>
                <a:srgbClr val="000000"/>
              </a:solidFill>
              <a:effectLst/>
              <a:uFillTx/>
              <a:latin typeface="Arial"/>
            </a:endParaRPr>
          </a:p>
          <a:p>
            <a:pPr defTabSz="914400">
              <a:lnSpc>
                <a:spcPct val="85000"/>
              </a:lnSpc>
            </a:pPr>
            <a:r>
              <a:rPr lang="en-US" sz="1200" b="0" u="none" strike="noStrike">
                <a:solidFill>
                  <a:srgbClr val="FFFFFF"/>
                </a:solidFill>
                <a:effectLst/>
                <a:uFillTx/>
                <a:latin typeface="Consolas"/>
              </a:rPr>
              <a:t>    if "urgent" in text:</a:t>
            </a:r>
            <a:endParaRPr lang="en-US" sz="1200" b="0" u="none" strike="noStrike">
              <a:solidFill>
                <a:srgbClr val="000000"/>
              </a:solidFill>
              <a:effectLst/>
              <a:uFillTx/>
              <a:latin typeface="Arial"/>
            </a:endParaRPr>
          </a:p>
          <a:p>
            <a:pPr defTabSz="914400">
              <a:lnSpc>
                <a:spcPct val="85000"/>
              </a:lnSpc>
            </a:pPr>
            <a:r>
              <a:rPr lang="en-US" sz="1200" b="0" u="none" strike="noStrike">
                <a:solidFill>
                  <a:srgbClr val="FFFFFF"/>
                </a:solidFill>
                <a:effectLst/>
                <a:uFillTx/>
                <a:latin typeface="Consolas"/>
              </a:rPr>
              <a:t>        return "high"</a:t>
            </a:r>
            <a:endParaRPr lang="en-US" sz="1200" b="0" u="none" strike="noStrike">
              <a:solidFill>
                <a:srgbClr val="000000"/>
              </a:solidFill>
              <a:effectLst/>
              <a:uFillTx/>
              <a:latin typeface="Arial"/>
            </a:endParaRPr>
          </a:p>
          <a:p>
            <a:pPr defTabSz="914400">
              <a:lnSpc>
                <a:spcPct val="85000"/>
              </a:lnSpc>
            </a:pPr>
            <a:endParaRPr lang="en-US" sz="1800" b="0" u="none" strike="noStrike">
              <a:solidFill>
                <a:srgbClr val="000000"/>
              </a:solidFill>
              <a:effectLst/>
              <a:uFillTx/>
              <a:latin typeface="Arial"/>
            </a:endParaRPr>
          </a:p>
          <a:p>
            <a:pPr defTabSz="914400">
              <a:lnSpc>
                <a:spcPct val="85000"/>
              </a:lnSpc>
            </a:pPr>
            <a:r>
              <a:rPr lang="en-US" sz="1200" b="0" u="none" strike="noStrike">
                <a:solidFill>
                  <a:srgbClr val="FFFFFF"/>
                </a:solidFill>
                <a:effectLst/>
                <a:uFillTx/>
                <a:latin typeface="Consolas"/>
              </a:rPr>
              <a:t>    return "normal"</a:t>
            </a:r>
            <a:endParaRPr lang="en-US" sz="1200" b="0" u="none" strike="noStrike">
              <a:solidFill>
                <a:srgbClr val="000000"/>
              </a:solidFill>
              <a:effectLst/>
              <a:uFillTx/>
              <a:latin typeface="Arial"/>
            </a:endParaRPr>
          </a:p>
        </p:txBody>
      </p:sp>
      <p:sp>
        <p:nvSpPr>
          <p:cNvPr id="430" name="Shape 12"/>
          <p:cNvSpPr/>
          <p:nvPr/>
        </p:nvSpPr>
        <p:spPr>
          <a:xfrm>
            <a:off x="6400800" y="4526280"/>
            <a:ext cx="4525920" cy="731160"/>
          </a:xfrm>
          <a:prstGeom prst="roundRect">
            <a:avLst>
              <a:gd name="adj" fmla="val 10000"/>
            </a:avLst>
          </a:prstGeom>
          <a:solidFill>
            <a:srgbClr val="FFF7ED"/>
          </a:solidFill>
          <a:ln w="10160">
            <a:solidFill>
              <a:srgbClr val="F5D0A9"/>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31" name="Text 13"/>
          <p:cNvSpPr/>
          <p:nvPr/>
        </p:nvSpPr>
        <p:spPr>
          <a:xfrm>
            <a:off x="6647760" y="4773240"/>
            <a:ext cx="3977280" cy="145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20" b="0" u="none" strike="noStrike">
                <a:solidFill>
                  <a:srgbClr val="8A4B12"/>
                </a:solidFill>
                <a:effectLst/>
                <a:uFillTx/>
                <a:latin typeface="Aptos"/>
              </a:rPr>
              <a:t>Pair students: 7 minutes coding + 3 minutes compare answers.</a:t>
            </a:r>
            <a:endParaRPr lang="en-US" sz="1220" b="0" u="none" strike="noStrike">
              <a:solidFill>
                <a:srgbClr val="000000"/>
              </a:solidFill>
              <a:effectLst/>
              <a:uFillTx/>
              <a:latin typeface="Arial"/>
            </a:endParaRPr>
          </a:p>
        </p:txBody>
      </p:sp>
      <p:sp>
        <p:nvSpPr>
          <p:cNvPr id="432" name="PlaceHolder 1"/>
          <p:cNvSpPr>
            <a:spLocks noGrp="1"/>
          </p:cNvSpPr>
          <p:nvPr>
            <p:ph type="sldNum" idx="23"/>
          </p:nvPr>
        </p:nvSpPr>
        <p:spPr>
          <a:xfrm>
            <a:off x="11292840" y="6546960"/>
            <a:ext cx="799560" cy="299520"/>
          </a:xfrm>
          <a:prstGeom prst="rect">
            <a:avLst/>
          </a:prstGeom>
          <a:noFill/>
          <a:ln w="0">
            <a:noFill/>
          </a:ln>
        </p:spPr>
        <p:txBody>
          <a:bodyPr lIns="90000" tIns="45000" rIns="90000" bIns="45000" anchor="t">
            <a:noAutofit/>
          </a:bodyPr>
          <a:lstStyle>
            <a:lvl1pPr indent="0" algn="l" defTabSz="914400">
              <a:lnSpc>
                <a:spcPct val="100000"/>
              </a:lnSpc>
              <a:buNone/>
              <a:defRPr lang="en-US" sz="900" b="0" u="none" strike="noStrike">
                <a:solidFill>
                  <a:srgbClr val="78909C"/>
                </a:solidFill>
                <a:effectLst/>
                <a:uFillTx/>
                <a:latin typeface="Aptos"/>
                <a:ea typeface="Aptos"/>
              </a:defRPr>
            </a:lvl1pPr>
          </a:lstStyle>
          <a:p>
            <a:pPr indent="0" algn="l" defTabSz="914400">
              <a:lnSpc>
                <a:spcPct val="100000"/>
              </a:lnSpc>
              <a:buNone/>
            </a:pPr>
            <a:fld id="{C503C89A-CA59-4DA1-A883-3F509D8C52A9}" type="slidenum">
              <a:rPr lang="en-US" sz="900" b="0" u="none" strike="noStrike">
                <a:solidFill>
                  <a:srgbClr val="78909C"/>
                </a:solidFill>
                <a:effectLst/>
                <a:uFillTx/>
                <a:latin typeface="Aptos"/>
                <a:ea typeface="Aptos"/>
              </a:rPr>
              <a:t>19</a:t>
            </a:fld>
            <a:endParaRPr lang="en-US" sz="9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AFC"/>
        </a:solidFill>
      </p:bgPr>
    </p:bg>
    <p:spTree>
      <p:nvGrpSpPr>
        <p:cNvPr id="1" name=""/>
        <p:cNvGrpSpPr/>
        <p:nvPr/>
      </p:nvGrpSpPr>
      <p:grpSpPr>
        <a:xfrm>
          <a:off x="0" y="0"/>
          <a:ext cx="0" cy="0"/>
          <a:chOff x="0" y="0"/>
          <a:chExt cx="0" cy="0"/>
        </a:xfrm>
      </p:grpSpPr>
      <p:sp>
        <p:nvSpPr>
          <p:cNvPr id="433" name="Shape 0"/>
          <p:cNvSpPr/>
          <p:nvPr/>
        </p:nvSpPr>
        <p:spPr>
          <a:xfrm>
            <a:off x="0" y="0"/>
            <a:ext cx="12191400" cy="6857640"/>
          </a:xfrm>
          <a:prstGeom prst="rect">
            <a:avLst/>
          </a:prstGeom>
          <a:solidFill>
            <a:srgbClr val="F7FAFC"/>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34" name="Shape 1"/>
          <p:cNvSpPr/>
          <p:nvPr/>
        </p:nvSpPr>
        <p:spPr>
          <a:xfrm>
            <a:off x="0" y="0"/>
            <a:ext cx="164160" cy="6857640"/>
          </a:xfrm>
          <a:prstGeom prst="rect">
            <a:avLst/>
          </a:prstGeom>
          <a:solidFill>
            <a:srgbClr val="153B52"/>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35" name="Text 2"/>
          <p:cNvSpPr/>
          <p:nvPr/>
        </p:nvSpPr>
        <p:spPr>
          <a:xfrm>
            <a:off x="521280" y="109800"/>
            <a:ext cx="420588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1" u="none" strike="noStrike">
                <a:solidFill>
                  <a:srgbClr val="0E8F8F"/>
                </a:solidFill>
                <a:effectLst/>
                <a:uFillTx/>
                <a:latin typeface="Aptos"/>
              </a:rPr>
              <a:t>DEBUGGING</a:t>
            </a:r>
            <a:endParaRPr lang="en-US" sz="850" b="0" u="none" strike="noStrike">
              <a:solidFill>
                <a:srgbClr val="000000"/>
              </a:solidFill>
              <a:effectLst/>
              <a:uFillTx/>
              <a:latin typeface="Arial"/>
            </a:endParaRPr>
          </a:p>
        </p:txBody>
      </p:sp>
      <p:sp>
        <p:nvSpPr>
          <p:cNvPr id="436" name="Text 3"/>
          <p:cNvSpPr/>
          <p:nvPr/>
        </p:nvSpPr>
        <p:spPr>
          <a:xfrm>
            <a:off x="502920" y="320040"/>
            <a:ext cx="1106388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153B52"/>
                </a:solidFill>
                <a:effectLst/>
                <a:uFillTx/>
                <a:latin typeface="Aptos Display"/>
                <a:ea typeface="Aptos Display"/>
              </a:rPr>
              <a:t>Common Mistakes to Expect</a:t>
            </a:r>
            <a:endParaRPr lang="en-US" sz="2600" b="0" u="none" strike="noStrike">
              <a:solidFill>
                <a:srgbClr val="000000"/>
              </a:solidFill>
              <a:effectLst/>
              <a:uFillTx/>
              <a:latin typeface="Arial"/>
            </a:endParaRPr>
          </a:p>
        </p:txBody>
      </p:sp>
      <p:sp>
        <p:nvSpPr>
          <p:cNvPr id="437" name="Text 4"/>
          <p:cNvSpPr/>
          <p:nvPr/>
        </p:nvSpPr>
        <p:spPr>
          <a:xfrm>
            <a:off x="511920" y="786240"/>
            <a:ext cx="1078956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52616B"/>
                </a:solidFill>
                <a:effectLst/>
                <a:uFillTx/>
                <a:latin typeface="Aptos"/>
              </a:rPr>
              <a:t>Turn errors into teachable moments.</a:t>
            </a:r>
            <a:endParaRPr lang="en-US" sz="1250" b="0" u="none" strike="noStrike">
              <a:solidFill>
                <a:srgbClr val="000000"/>
              </a:solidFill>
              <a:effectLst/>
              <a:uFillTx/>
              <a:latin typeface="Arial"/>
            </a:endParaRPr>
          </a:p>
        </p:txBody>
      </p:sp>
      <p:sp>
        <p:nvSpPr>
          <p:cNvPr id="438" name="Shape 5"/>
          <p:cNvSpPr/>
          <p:nvPr/>
        </p:nvSpPr>
        <p:spPr>
          <a:xfrm>
            <a:off x="822960" y="1371600"/>
            <a:ext cx="4891680" cy="1416960"/>
          </a:xfrm>
          <a:prstGeom prst="roundRect">
            <a:avLst>
              <a:gd name="adj" fmla="val 5161"/>
            </a:avLst>
          </a:prstGeom>
          <a:solidFill>
            <a:srgbClr val="FFFFFF"/>
          </a:solidFill>
          <a:ln w="10160">
            <a:solidFill>
              <a:srgbClr val="D7E3E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39" name="Text 6"/>
          <p:cNvSpPr/>
          <p:nvPr/>
        </p:nvSpPr>
        <p:spPr>
          <a:xfrm>
            <a:off x="1051560" y="1591200"/>
            <a:ext cx="1828440" cy="173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53B52"/>
                </a:solidFill>
                <a:effectLst/>
                <a:uFillTx/>
                <a:latin typeface="Aptos"/>
              </a:rPr>
              <a:t>Missing quote</a:t>
            </a:r>
            <a:endParaRPr lang="en-US" sz="1500" b="0" u="none" strike="noStrike">
              <a:solidFill>
                <a:srgbClr val="000000"/>
              </a:solidFill>
              <a:effectLst/>
              <a:uFillTx/>
              <a:latin typeface="Arial"/>
            </a:endParaRPr>
          </a:p>
        </p:txBody>
      </p:sp>
      <p:sp>
        <p:nvSpPr>
          <p:cNvPr id="440" name="Shape 7"/>
          <p:cNvSpPr/>
          <p:nvPr/>
        </p:nvSpPr>
        <p:spPr>
          <a:xfrm>
            <a:off x="4206240" y="1536120"/>
            <a:ext cx="1142640" cy="310680"/>
          </a:xfrm>
          <a:prstGeom prst="roundRect">
            <a:avLst>
              <a:gd name="adj" fmla="val 17647"/>
            </a:avLst>
          </a:prstGeom>
          <a:solidFill>
            <a:srgbClr val="C53030"/>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41" name="Text 8"/>
          <p:cNvSpPr/>
          <p:nvPr/>
        </p:nvSpPr>
        <p:spPr>
          <a:xfrm>
            <a:off x="4279320" y="1604880"/>
            <a:ext cx="99648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FFFFFF"/>
                </a:solidFill>
                <a:effectLst/>
                <a:uFillTx/>
                <a:latin typeface="Aptos"/>
              </a:rPr>
              <a:t>SyntaxError</a:t>
            </a:r>
            <a:endParaRPr lang="en-US" sz="900" b="0" u="none" strike="noStrike">
              <a:solidFill>
                <a:srgbClr val="000000"/>
              </a:solidFill>
              <a:effectLst/>
              <a:uFillTx/>
              <a:latin typeface="Arial"/>
            </a:endParaRPr>
          </a:p>
        </p:txBody>
      </p:sp>
      <p:sp>
        <p:nvSpPr>
          <p:cNvPr id="442" name="Text 9"/>
          <p:cNvSpPr/>
          <p:nvPr/>
        </p:nvSpPr>
        <p:spPr>
          <a:xfrm>
            <a:off x="1051560" y="2148840"/>
            <a:ext cx="4315680" cy="219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100" b="0" u="none" strike="noStrike">
                <a:solidFill>
                  <a:srgbClr val="52616B"/>
                </a:solidFill>
                <a:effectLst/>
                <a:uFillTx/>
                <a:latin typeface="Courier New"/>
                <a:ea typeface="Courier New"/>
              </a:rPr>
              <a:t>message = "hello</a:t>
            </a:r>
            <a:endParaRPr lang="en-US" sz="1100" b="0" u="none" strike="noStrike">
              <a:solidFill>
                <a:srgbClr val="000000"/>
              </a:solidFill>
              <a:effectLst/>
              <a:uFillTx/>
              <a:latin typeface="Arial"/>
            </a:endParaRPr>
          </a:p>
        </p:txBody>
      </p:sp>
      <p:sp>
        <p:nvSpPr>
          <p:cNvPr id="443" name="Shape 10"/>
          <p:cNvSpPr/>
          <p:nvPr/>
        </p:nvSpPr>
        <p:spPr>
          <a:xfrm>
            <a:off x="6400800" y="1371600"/>
            <a:ext cx="4891680" cy="1416960"/>
          </a:xfrm>
          <a:prstGeom prst="roundRect">
            <a:avLst>
              <a:gd name="adj" fmla="val 5161"/>
            </a:avLst>
          </a:prstGeom>
          <a:solidFill>
            <a:srgbClr val="FFFFFF"/>
          </a:solidFill>
          <a:ln w="10160">
            <a:solidFill>
              <a:srgbClr val="D7E3E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44" name="Text 11"/>
          <p:cNvSpPr/>
          <p:nvPr/>
        </p:nvSpPr>
        <p:spPr>
          <a:xfrm>
            <a:off x="6629400" y="1591200"/>
            <a:ext cx="1828440" cy="173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53B52"/>
                </a:solidFill>
                <a:effectLst/>
                <a:uFillTx/>
                <a:latin typeface="Aptos"/>
              </a:rPr>
              <a:t>Wro</a:t>
            </a:r>
            <a:r>
              <a:rPr lang="en-US" sz="1500" b="1" u="none" strike="noStrike">
                <a:solidFill>
                  <a:srgbClr val="153B52"/>
                </a:solidFill>
                <a:effectLst/>
                <a:uFillTx/>
                <a:latin typeface="Aptos"/>
              </a:rPr>
              <a:t>ng </a:t>
            </a:r>
            <a:r>
              <a:rPr lang="en-US" sz="1500" b="1" u="none" strike="noStrike">
                <a:solidFill>
                  <a:srgbClr val="153B52"/>
                </a:solidFill>
                <a:effectLst/>
                <a:uFillTx/>
                <a:latin typeface="Aptos"/>
              </a:rPr>
              <a:t>key</a:t>
            </a:r>
            <a:endParaRPr lang="en-US" sz="1500" b="0" u="none" strike="noStrike">
              <a:solidFill>
                <a:srgbClr val="000000"/>
              </a:solidFill>
              <a:effectLst/>
              <a:uFillTx/>
              <a:latin typeface="Arial"/>
            </a:endParaRPr>
          </a:p>
        </p:txBody>
      </p:sp>
      <p:sp>
        <p:nvSpPr>
          <p:cNvPr id="445" name="Shape 12"/>
          <p:cNvSpPr/>
          <p:nvPr/>
        </p:nvSpPr>
        <p:spPr>
          <a:xfrm>
            <a:off x="9784080" y="1536120"/>
            <a:ext cx="1142640" cy="310680"/>
          </a:xfrm>
          <a:prstGeom prst="roundRect">
            <a:avLst>
              <a:gd name="adj" fmla="val 17647"/>
            </a:avLst>
          </a:prstGeom>
          <a:solidFill>
            <a:srgbClr val="C53030"/>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46" name="Text 13"/>
          <p:cNvSpPr/>
          <p:nvPr/>
        </p:nvSpPr>
        <p:spPr>
          <a:xfrm>
            <a:off x="9857160" y="1604880"/>
            <a:ext cx="99648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FFFFFF"/>
                </a:solidFill>
                <a:effectLst/>
                <a:uFillTx/>
                <a:latin typeface="Aptos"/>
              </a:rPr>
              <a:t>KeyError</a:t>
            </a:r>
            <a:endParaRPr lang="en-US" sz="900" b="0" u="none" strike="noStrike">
              <a:solidFill>
                <a:srgbClr val="000000"/>
              </a:solidFill>
              <a:effectLst/>
              <a:uFillTx/>
              <a:latin typeface="Arial"/>
            </a:endParaRPr>
          </a:p>
        </p:txBody>
      </p:sp>
      <p:sp>
        <p:nvSpPr>
          <p:cNvPr id="447" name="Text 14"/>
          <p:cNvSpPr/>
          <p:nvPr/>
        </p:nvSpPr>
        <p:spPr>
          <a:xfrm>
            <a:off x="6629400" y="2148840"/>
            <a:ext cx="4315680" cy="219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100" b="0" u="none" strike="noStrike">
                <a:solidFill>
                  <a:srgbClr val="52616B"/>
                </a:solidFill>
                <a:effectLst/>
                <a:uFillTx/>
                <a:latin typeface="Courier New"/>
                <a:ea typeface="Courier New"/>
              </a:rPr>
              <a:t>ticket["customer_name"]</a:t>
            </a:r>
            <a:endParaRPr lang="en-US" sz="1100" b="0" u="none" strike="noStrike">
              <a:solidFill>
                <a:srgbClr val="000000"/>
              </a:solidFill>
              <a:effectLst/>
              <a:uFillTx/>
              <a:latin typeface="Arial"/>
            </a:endParaRPr>
          </a:p>
        </p:txBody>
      </p:sp>
      <p:sp>
        <p:nvSpPr>
          <p:cNvPr id="448" name="Shape 15"/>
          <p:cNvSpPr/>
          <p:nvPr/>
        </p:nvSpPr>
        <p:spPr>
          <a:xfrm>
            <a:off x="822960" y="3429000"/>
            <a:ext cx="4891680" cy="1416960"/>
          </a:xfrm>
          <a:prstGeom prst="roundRect">
            <a:avLst>
              <a:gd name="adj" fmla="val 5161"/>
            </a:avLst>
          </a:prstGeom>
          <a:solidFill>
            <a:srgbClr val="FFFFFF"/>
          </a:solidFill>
          <a:ln w="10160">
            <a:solidFill>
              <a:srgbClr val="D7E3E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49" name="Text 16"/>
          <p:cNvSpPr/>
          <p:nvPr/>
        </p:nvSpPr>
        <p:spPr>
          <a:xfrm>
            <a:off x="1051560" y="3648600"/>
            <a:ext cx="1828440" cy="173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53B52"/>
                </a:solidFill>
                <a:effectLst/>
                <a:uFillTx/>
                <a:latin typeface="Aptos"/>
              </a:rPr>
              <a:t>Wrong type</a:t>
            </a:r>
            <a:endParaRPr lang="en-US" sz="1500" b="0" u="none" strike="noStrike">
              <a:solidFill>
                <a:srgbClr val="000000"/>
              </a:solidFill>
              <a:effectLst/>
              <a:uFillTx/>
              <a:latin typeface="Arial"/>
            </a:endParaRPr>
          </a:p>
        </p:txBody>
      </p:sp>
      <p:sp>
        <p:nvSpPr>
          <p:cNvPr id="450" name="Shape 17"/>
          <p:cNvSpPr/>
          <p:nvPr/>
        </p:nvSpPr>
        <p:spPr>
          <a:xfrm>
            <a:off x="4206240" y="3593520"/>
            <a:ext cx="1142640" cy="310680"/>
          </a:xfrm>
          <a:prstGeom prst="roundRect">
            <a:avLst>
              <a:gd name="adj" fmla="val 17647"/>
            </a:avLst>
          </a:prstGeom>
          <a:solidFill>
            <a:srgbClr val="F6AD55"/>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51" name="Text 18"/>
          <p:cNvSpPr/>
          <p:nvPr/>
        </p:nvSpPr>
        <p:spPr>
          <a:xfrm>
            <a:off x="4279320" y="3662280"/>
            <a:ext cx="99648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FFFFFF"/>
                </a:solidFill>
                <a:effectLst/>
                <a:uFillTx/>
                <a:latin typeface="Aptos"/>
              </a:rPr>
              <a:t>TypeError</a:t>
            </a:r>
            <a:endParaRPr lang="en-US" sz="900" b="0" u="none" strike="noStrike">
              <a:solidFill>
                <a:srgbClr val="000000"/>
              </a:solidFill>
              <a:effectLst/>
              <a:uFillTx/>
              <a:latin typeface="Arial"/>
            </a:endParaRPr>
          </a:p>
        </p:txBody>
      </p:sp>
      <p:sp>
        <p:nvSpPr>
          <p:cNvPr id="452" name="Text 19"/>
          <p:cNvSpPr/>
          <p:nvPr/>
        </p:nvSpPr>
        <p:spPr>
          <a:xfrm>
            <a:off x="1051560" y="4206240"/>
            <a:ext cx="4315680" cy="2192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100" b="0" u="none" strike="noStrike">
                <a:solidFill>
                  <a:srgbClr val="52616B"/>
                </a:solidFill>
                <a:effectLst/>
                <a:uFillTx/>
                <a:latin typeface="Courier New"/>
                <a:ea typeface="Courier New"/>
              </a:rPr>
              <a:t>"Ticket " + 101</a:t>
            </a:r>
            <a:endParaRPr lang="en-US" sz="1100" b="0" u="none" strike="noStrike">
              <a:solidFill>
                <a:srgbClr val="000000"/>
              </a:solidFill>
              <a:effectLst/>
              <a:uFillTx/>
              <a:latin typeface="Arial"/>
            </a:endParaRPr>
          </a:p>
        </p:txBody>
      </p:sp>
      <p:sp>
        <p:nvSpPr>
          <p:cNvPr id="453" name="Shape 20"/>
          <p:cNvSpPr/>
          <p:nvPr/>
        </p:nvSpPr>
        <p:spPr>
          <a:xfrm>
            <a:off x="6400800" y="3429000"/>
            <a:ext cx="4891680" cy="1416960"/>
          </a:xfrm>
          <a:prstGeom prst="roundRect">
            <a:avLst>
              <a:gd name="adj" fmla="val 5161"/>
            </a:avLst>
          </a:prstGeom>
          <a:solidFill>
            <a:srgbClr val="FFFFFF"/>
          </a:solidFill>
          <a:ln w="10160">
            <a:solidFill>
              <a:srgbClr val="D7E3E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54" name="Text 21"/>
          <p:cNvSpPr/>
          <p:nvPr/>
        </p:nvSpPr>
        <p:spPr>
          <a:xfrm>
            <a:off x="6629400" y="3648600"/>
            <a:ext cx="1828440" cy="173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53B52"/>
                </a:solidFill>
                <a:effectLst/>
                <a:uFillTx/>
                <a:latin typeface="Aptos"/>
              </a:rPr>
              <a:t>Indentation</a:t>
            </a:r>
            <a:endParaRPr lang="en-US" sz="1500" b="0" u="none" strike="noStrike">
              <a:solidFill>
                <a:srgbClr val="000000"/>
              </a:solidFill>
              <a:effectLst/>
              <a:uFillTx/>
              <a:latin typeface="Arial"/>
            </a:endParaRPr>
          </a:p>
        </p:txBody>
      </p:sp>
      <p:sp>
        <p:nvSpPr>
          <p:cNvPr id="455" name="Shape 22"/>
          <p:cNvSpPr/>
          <p:nvPr/>
        </p:nvSpPr>
        <p:spPr>
          <a:xfrm>
            <a:off x="9784080" y="3593520"/>
            <a:ext cx="1142640" cy="310680"/>
          </a:xfrm>
          <a:prstGeom prst="roundRect">
            <a:avLst>
              <a:gd name="adj" fmla="val 17647"/>
            </a:avLst>
          </a:prstGeom>
          <a:solidFill>
            <a:srgbClr val="F6AD55"/>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56" name="Text 23"/>
          <p:cNvSpPr/>
          <p:nvPr/>
        </p:nvSpPr>
        <p:spPr>
          <a:xfrm>
            <a:off x="9857160" y="3662280"/>
            <a:ext cx="99648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FFFFFF"/>
                </a:solidFill>
                <a:effectLst/>
                <a:uFillTx/>
                <a:latin typeface="Aptos"/>
              </a:rPr>
              <a:t>IndentationError</a:t>
            </a:r>
            <a:endParaRPr lang="en-US" sz="900" b="0" u="none" strike="noStrike">
              <a:solidFill>
                <a:srgbClr val="000000"/>
              </a:solidFill>
              <a:effectLst/>
              <a:uFillTx/>
              <a:latin typeface="Arial"/>
            </a:endParaRPr>
          </a:p>
        </p:txBody>
      </p:sp>
      <p:sp>
        <p:nvSpPr>
          <p:cNvPr id="457" name="Text 24"/>
          <p:cNvSpPr/>
          <p:nvPr/>
        </p:nvSpPr>
        <p:spPr>
          <a:xfrm>
            <a:off x="6629400" y="4206240"/>
            <a:ext cx="4315680" cy="219240"/>
          </a:xfrm>
          <a:prstGeom prst="rect">
            <a:avLst/>
          </a:prstGeom>
          <a:noFill/>
          <a:ln w="0">
            <a:noFill/>
          </a:ln>
        </p:spPr>
        <p:style>
          <a:lnRef idx="0"/>
          <a:fillRef idx="0"/>
          <a:effectRef idx="0"/>
          <a:fontRef idx="minor"/>
        </p:style>
        <p:txBody>
          <a:bodyPr lIns="0" tIns="0" rIns="0" bIns="0" anchor="ctr">
            <a:normAutofit fontScale="70000" lnSpcReduction="19999"/>
          </a:bodyPr>
          <a:p>
            <a:pPr defTabSz="914400">
              <a:lnSpc>
                <a:spcPct val="100000"/>
              </a:lnSpc>
              <a:tabLst>
                <a:tab pos="0" algn="l"/>
              </a:tabLst>
            </a:pPr>
            <a:r>
              <a:rPr lang="en-US" sz="1100" b="0" u="none" strike="noStrike">
                <a:solidFill>
                  <a:srgbClr val="52616B"/>
                </a:solidFill>
                <a:effectLst/>
                <a:uFillTx/>
                <a:latin typeface="Courier New"/>
                <a:ea typeface="Courier New"/>
              </a:rPr>
              <a:t>if x:</a:t>
            </a:r>
            <a:endParaRPr lang="en-US" sz="1100" b="0" u="none" strike="noStrike">
              <a:solidFill>
                <a:srgbClr val="000000"/>
              </a:solidFill>
              <a:effectLst/>
              <a:uFillTx/>
              <a:latin typeface="Arial"/>
            </a:endParaRPr>
          </a:p>
          <a:p>
            <a:pPr defTabSz="914400">
              <a:lnSpc>
                <a:spcPct val="100000"/>
              </a:lnSpc>
              <a:tabLst>
                <a:tab pos="0" algn="l"/>
              </a:tabLst>
            </a:pPr>
            <a:r>
              <a:rPr lang="en-US" sz="1100" b="0" u="none" strike="noStrike">
                <a:solidFill>
                  <a:srgbClr val="52616B"/>
                </a:solidFill>
                <a:effectLst/>
                <a:uFillTx/>
                <a:latin typeface="Courier New"/>
                <a:ea typeface="Courier New"/>
              </a:rPr>
              <a:t>print(x)</a:t>
            </a:r>
            <a:endParaRPr lang="en-US" sz="1100" b="0" u="none" strike="noStrike">
              <a:solidFill>
                <a:srgbClr val="000000"/>
              </a:solidFill>
              <a:effectLst/>
              <a:uFillTx/>
              <a:latin typeface="Arial"/>
            </a:endParaRPr>
          </a:p>
        </p:txBody>
      </p:sp>
      <p:sp>
        <p:nvSpPr>
          <p:cNvPr id="458" name="Shape 25"/>
          <p:cNvSpPr/>
          <p:nvPr/>
        </p:nvSpPr>
        <p:spPr>
          <a:xfrm>
            <a:off x="1005840" y="5596200"/>
            <a:ext cx="9920880" cy="529920"/>
          </a:xfrm>
          <a:prstGeom prst="roundRect">
            <a:avLst>
              <a:gd name="adj" fmla="val 13793"/>
            </a:avLst>
          </a:prstGeom>
          <a:solidFill>
            <a:srgbClr val="E6FFFA"/>
          </a:solidFill>
          <a:ln w="10160">
            <a:solidFill>
              <a:srgbClr val="BFECE9"/>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59" name="Text 26"/>
          <p:cNvSpPr/>
          <p:nvPr/>
        </p:nvSpPr>
        <p:spPr>
          <a:xfrm>
            <a:off x="1234440" y="5779080"/>
            <a:ext cx="9463680" cy="1368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70" b="1" u="none" strike="noStrike">
                <a:solidFill>
                  <a:srgbClr val="0E8F8F"/>
                </a:solidFill>
                <a:effectLst/>
                <a:uFillTx/>
                <a:latin typeface="Aptos"/>
              </a:rPr>
              <a:t>Debugging habit: read the last line of the error, find the line number, inspect the value, then rerun.</a:t>
            </a:r>
            <a:endParaRPr lang="en-US" sz="1170" b="0" u="none" strike="noStrike">
              <a:solidFill>
                <a:srgbClr val="000000"/>
              </a:solidFill>
              <a:effectLst/>
              <a:uFillTx/>
              <a:latin typeface="Arial"/>
            </a:endParaRPr>
          </a:p>
        </p:txBody>
      </p:sp>
      <p:sp>
        <p:nvSpPr>
          <p:cNvPr id="460" name="PlaceHolder 1"/>
          <p:cNvSpPr>
            <a:spLocks noGrp="1"/>
          </p:cNvSpPr>
          <p:nvPr>
            <p:ph type="sldNum" idx="24"/>
          </p:nvPr>
        </p:nvSpPr>
        <p:spPr>
          <a:xfrm>
            <a:off x="11292840" y="6546960"/>
            <a:ext cx="799560" cy="299520"/>
          </a:xfrm>
          <a:prstGeom prst="rect">
            <a:avLst/>
          </a:prstGeom>
          <a:noFill/>
          <a:ln w="0">
            <a:noFill/>
          </a:ln>
        </p:spPr>
        <p:txBody>
          <a:bodyPr lIns="90000" tIns="45000" rIns="90000" bIns="45000" anchor="t">
            <a:noAutofit/>
          </a:bodyPr>
          <a:lstStyle>
            <a:lvl1pPr indent="0" algn="l" defTabSz="914400">
              <a:lnSpc>
                <a:spcPct val="100000"/>
              </a:lnSpc>
              <a:buNone/>
              <a:defRPr lang="en-US" sz="900" b="0" u="none" strike="noStrike">
                <a:solidFill>
                  <a:srgbClr val="78909C"/>
                </a:solidFill>
                <a:effectLst/>
                <a:uFillTx/>
                <a:latin typeface="Aptos"/>
                <a:ea typeface="Aptos"/>
              </a:defRPr>
            </a:lvl1pPr>
          </a:lstStyle>
          <a:p>
            <a:pPr indent="0" algn="l" defTabSz="914400">
              <a:lnSpc>
                <a:spcPct val="100000"/>
              </a:lnSpc>
              <a:buNone/>
            </a:pPr>
            <a:fld id="{7BC10070-4D1F-4132-8752-8CBF9B2B68BA}" type="slidenum">
              <a:rPr lang="en-US" sz="900" b="0" u="none" strike="noStrike">
                <a:solidFill>
                  <a:srgbClr val="78909C"/>
                </a:solidFill>
                <a:effectLst/>
                <a:uFillTx/>
                <a:latin typeface="Aptos"/>
                <a:ea typeface="Aptos"/>
              </a:rPr>
              <a:t>20</a:t>
            </a:fld>
            <a:endParaRPr lang="en-US" sz="9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AFC"/>
        </a:solidFill>
      </p:bgPr>
    </p:bg>
    <p:spTree>
      <p:nvGrpSpPr>
        <p:cNvPr id="1" name=""/>
        <p:cNvGrpSpPr/>
        <p:nvPr/>
      </p:nvGrpSpPr>
      <p:grpSpPr>
        <a:xfrm>
          <a:off x="0" y="0"/>
          <a:ext cx="0" cy="0"/>
          <a:chOff x="0" y="0"/>
          <a:chExt cx="0" cy="0"/>
        </a:xfrm>
      </p:grpSpPr>
      <p:sp>
        <p:nvSpPr>
          <p:cNvPr id="461" name="Shape 0"/>
          <p:cNvSpPr/>
          <p:nvPr/>
        </p:nvSpPr>
        <p:spPr>
          <a:xfrm>
            <a:off x="0" y="0"/>
            <a:ext cx="12191400" cy="6857640"/>
          </a:xfrm>
          <a:prstGeom prst="rect">
            <a:avLst/>
          </a:prstGeom>
          <a:solidFill>
            <a:srgbClr val="F7FAFC"/>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62" name="Shape 1"/>
          <p:cNvSpPr/>
          <p:nvPr/>
        </p:nvSpPr>
        <p:spPr>
          <a:xfrm>
            <a:off x="0" y="0"/>
            <a:ext cx="164160" cy="6857640"/>
          </a:xfrm>
          <a:prstGeom prst="rect">
            <a:avLst/>
          </a:prstGeom>
          <a:solidFill>
            <a:srgbClr val="153B52"/>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63" name="Text 2"/>
          <p:cNvSpPr/>
          <p:nvPr/>
        </p:nvSpPr>
        <p:spPr>
          <a:xfrm>
            <a:off x="521280" y="109800"/>
            <a:ext cx="420588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1" u="none" strike="noStrike">
                <a:solidFill>
                  <a:srgbClr val="0E8F8F"/>
                </a:solidFill>
                <a:effectLst/>
                <a:uFillTx/>
                <a:latin typeface="Aptos"/>
              </a:rPr>
              <a:t>WRAP-UP</a:t>
            </a:r>
            <a:endParaRPr lang="en-US" sz="850" b="0" u="none" strike="noStrike">
              <a:solidFill>
                <a:srgbClr val="000000"/>
              </a:solidFill>
              <a:effectLst/>
              <a:uFillTx/>
              <a:latin typeface="Arial"/>
            </a:endParaRPr>
          </a:p>
        </p:txBody>
      </p:sp>
      <p:sp>
        <p:nvSpPr>
          <p:cNvPr id="464" name="Text 3"/>
          <p:cNvSpPr/>
          <p:nvPr/>
        </p:nvSpPr>
        <p:spPr>
          <a:xfrm>
            <a:off x="502920" y="320040"/>
            <a:ext cx="1106388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153B52"/>
                </a:solidFill>
                <a:effectLst/>
                <a:uFillTx/>
                <a:latin typeface="Aptos Display"/>
                <a:ea typeface="Aptos Display"/>
              </a:rPr>
              <a:t>Submission / Homework</a:t>
            </a:r>
            <a:endParaRPr lang="en-US" sz="2600" b="0" u="none" strike="noStrike">
              <a:solidFill>
                <a:srgbClr val="000000"/>
              </a:solidFill>
              <a:effectLst/>
              <a:uFillTx/>
              <a:latin typeface="Arial"/>
            </a:endParaRPr>
          </a:p>
        </p:txBody>
      </p:sp>
      <p:sp>
        <p:nvSpPr>
          <p:cNvPr id="465" name="Text 4"/>
          <p:cNvSpPr/>
          <p:nvPr/>
        </p:nvSpPr>
        <p:spPr>
          <a:xfrm>
            <a:off x="511920" y="786240"/>
            <a:ext cx="1078956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52616B"/>
                </a:solidFill>
                <a:effectLst/>
                <a:uFillTx/>
                <a:latin typeface="Aptos"/>
              </a:rPr>
              <a:t>Keep the first assignment small and focused.</a:t>
            </a:r>
            <a:endParaRPr lang="en-US" sz="1250" b="0" u="none" strike="noStrike">
              <a:solidFill>
                <a:srgbClr val="000000"/>
              </a:solidFill>
              <a:effectLst/>
              <a:uFillTx/>
              <a:latin typeface="Arial"/>
            </a:endParaRPr>
          </a:p>
        </p:txBody>
      </p:sp>
      <p:sp>
        <p:nvSpPr>
          <p:cNvPr id="466" name="Shape 5"/>
          <p:cNvSpPr/>
          <p:nvPr/>
        </p:nvSpPr>
        <p:spPr>
          <a:xfrm>
            <a:off x="822960" y="1280160"/>
            <a:ext cx="4937400" cy="4343040"/>
          </a:xfrm>
          <a:prstGeom prst="roundRect">
            <a:avLst>
              <a:gd name="adj" fmla="val 1684"/>
            </a:avLst>
          </a:prstGeom>
          <a:solidFill>
            <a:srgbClr val="FFFFFF"/>
          </a:solidFill>
          <a:ln w="10160">
            <a:solidFill>
              <a:srgbClr val="D7E3E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67" name="Text 6"/>
          <p:cNvSpPr/>
          <p:nvPr/>
        </p:nvSpPr>
        <p:spPr>
          <a:xfrm>
            <a:off x="1143000" y="1627560"/>
            <a:ext cx="13712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153B52"/>
                </a:solidFill>
                <a:effectLst/>
                <a:uFillTx/>
                <a:latin typeface="Aptos"/>
              </a:rPr>
              <a:t>Submit</a:t>
            </a:r>
            <a:endParaRPr lang="en-US" sz="2200" b="0" u="none" strike="noStrike">
              <a:solidFill>
                <a:srgbClr val="000000"/>
              </a:solidFill>
              <a:effectLst/>
              <a:uFillTx/>
              <a:latin typeface="Arial"/>
            </a:endParaRPr>
          </a:p>
        </p:txBody>
      </p:sp>
      <p:sp>
        <p:nvSpPr>
          <p:cNvPr id="468" name="Text 7"/>
          <p:cNvSpPr/>
          <p:nvPr/>
        </p:nvSpPr>
        <p:spPr>
          <a:xfrm>
            <a:off x="1188720" y="2148840"/>
            <a:ext cx="3840120" cy="1645560"/>
          </a:xfrm>
          <a:prstGeom prst="rect">
            <a:avLst/>
          </a:prstGeom>
          <a:noFill/>
          <a:ln w="0">
            <a:noFill/>
          </a:ln>
        </p:spPr>
        <p:style>
          <a:lnRef idx="0"/>
          <a:fillRef idx="0"/>
          <a:effectRef idx="0"/>
          <a:fontRef idx="minor"/>
        </p:style>
        <p:txBody>
          <a:bodyPr lIns="720" tIns="720" rIns="720" bIns="720" anchor="t">
            <a:normAutofit fontScale="62500" lnSpcReduction="19999"/>
          </a:bodyPr>
          <a:p>
            <a:pPr defTabSz="914400">
              <a:lnSpc>
                <a:spcPct val="100000"/>
              </a:lnSpc>
            </a:pPr>
            <a:r>
              <a:rPr lang="en-US" sz="1800" b="0" u="none" strike="noStrike">
                <a:solidFill>
                  <a:schemeClr val="dk1"/>
                </a:solidFill>
                <a:effectLst/>
                <a:uFillTx/>
                <a:latin typeface="Aptos"/>
              </a:rPr>
              <a:t>`main.py` with the ticket processor.</a:t>
            </a:r>
            <a:endParaRPr lang="en-US" sz="1800" b="0" u="none" strike="noStrike">
              <a:solidFill>
                <a:srgbClr val="000000"/>
              </a:solidFill>
              <a:effectLst/>
              <a:uFillTx/>
              <a:latin typeface="Arial"/>
            </a:endParaRPr>
          </a:p>
          <a:p>
            <a:pPr defTabSz="914400">
              <a:lnSpc>
                <a:spcPct val="100000"/>
              </a:lnSpc>
            </a:pPr>
            <a:endParaRPr lang="en-US" sz="1800" b="0" u="none" strike="noStrike">
              <a:solidFill>
                <a:srgbClr val="000000"/>
              </a:solidFill>
              <a:effectLst/>
              <a:uFillTx/>
              <a:latin typeface="Arial"/>
            </a:endParaRPr>
          </a:p>
          <a:p>
            <a:pPr defTabSz="914400">
              <a:lnSpc>
                <a:spcPct val="100000"/>
              </a:lnSpc>
            </a:pPr>
            <a:r>
              <a:rPr lang="en-US" sz="1800" b="0" u="none" strike="noStrike">
                <a:solidFill>
                  <a:schemeClr val="dk1"/>
                </a:solidFill>
                <a:effectLst/>
                <a:uFillTx/>
                <a:latin typeface="Aptos"/>
              </a:rPr>
              <a:t>At least 4 tickets in the list.</a:t>
            </a:r>
            <a:endParaRPr lang="en-US" sz="1800" b="0" u="none" strike="noStrike">
              <a:solidFill>
                <a:srgbClr val="000000"/>
              </a:solidFill>
              <a:effectLst/>
              <a:uFillTx/>
              <a:latin typeface="Arial"/>
            </a:endParaRPr>
          </a:p>
          <a:p>
            <a:pPr defTabSz="914400">
              <a:lnSpc>
                <a:spcPct val="100000"/>
              </a:lnSpc>
            </a:pPr>
            <a:endParaRPr lang="en-US" sz="1800" b="0" u="none" strike="noStrike">
              <a:solidFill>
                <a:srgbClr val="000000"/>
              </a:solidFill>
              <a:effectLst/>
              <a:uFillTx/>
              <a:latin typeface="Arial"/>
            </a:endParaRPr>
          </a:p>
          <a:p>
            <a:pPr defTabSz="914400">
              <a:lnSpc>
                <a:spcPct val="100000"/>
              </a:lnSpc>
            </a:pPr>
            <a:r>
              <a:rPr lang="en-US" sz="1800" b="0" u="none" strike="noStrike">
                <a:solidFill>
                  <a:schemeClr val="dk1"/>
                </a:solidFill>
                <a:effectLst/>
                <a:uFillTx/>
                <a:latin typeface="Aptos"/>
              </a:rPr>
              <a:t>Typed `classify_ticket(message: str) -&gt; str` function.</a:t>
            </a:r>
            <a:endParaRPr lang="en-US" sz="1800" b="0" u="none" strike="noStrike">
              <a:solidFill>
                <a:srgbClr val="000000"/>
              </a:solidFill>
              <a:effectLst/>
              <a:uFillTx/>
              <a:latin typeface="Arial"/>
            </a:endParaRPr>
          </a:p>
          <a:p>
            <a:pPr defTabSz="914400">
              <a:lnSpc>
                <a:spcPct val="100000"/>
              </a:lnSpc>
            </a:pPr>
            <a:endParaRPr lang="en-US" sz="1800" b="0" u="none" strike="noStrike">
              <a:solidFill>
                <a:srgbClr val="000000"/>
              </a:solidFill>
              <a:effectLst/>
              <a:uFillTx/>
              <a:latin typeface="Arial"/>
            </a:endParaRPr>
          </a:p>
          <a:p>
            <a:pPr defTabSz="914400">
              <a:lnSpc>
                <a:spcPct val="100000"/>
              </a:lnSpc>
            </a:pPr>
            <a:r>
              <a:rPr lang="en-US" sz="1800" b="0" u="none" strike="noStrike">
                <a:solidFill>
                  <a:schemeClr val="dk1"/>
                </a:solidFill>
                <a:effectLst/>
                <a:uFillTx/>
                <a:latin typeface="Aptos"/>
              </a:rPr>
              <a:t>Typed `detect_priority(message: str) -&gt; str` function.</a:t>
            </a:r>
            <a:endParaRPr lang="en-US" sz="1800" b="0" u="none" strike="noStrike">
              <a:solidFill>
                <a:srgbClr val="000000"/>
              </a:solidFill>
              <a:effectLst/>
              <a:uFillTx/>
              <a:latin typeface="Arial"/>
            </a:endParaRPr>
          </a:p>
          <a:p>
            <a:pPr defTabSz="914400">
              <a:lnSpc>
                <a:spcPct val="100000"/>
              </a:lnSpc>
            </a:pPr>
            <a:endParaRPr lang="en-US" sz="1800" b="0" u="none" strike="noStrike">
              <a:solidFill>
                <a:srgbClr val="000000"/>
              </a:solidFill>
              <a:effectLst/>
              <a:uFillTx/>
              <a:latin typeface="Arial"/>
            </a:endParaRPr>
          </a:p>
          <a:p>
            <a:pPr defTabSz="914400">
              <a:lnSpc>
                <a:spcPct val="100000"/>
              </a:lnSpc>
            </a:pPr>
            <a:r>
              <a:rPr lang="en-US" sz="1800" b="0" u="none" strike="noStrike">
                <a:solidFill>
                  <a:schemeClr val="dk1"/>
                </a:solidFill>
                <a:effectLst/>
                <a:uFillTx/>
                <a:latin typeface="Aptos"/>
              </a:rPr>
              <a:t>Printed summary counts.</a:t>
            </a:r>
            <a:endParaRPr lang="en-US" sz="1800" b="0" u="none" strike="noStrike">
              <a:solidFill>
                <a:srgbClr val="000000"/>
              </a:solidFill>
              <a:effectLst/>
              <a:uFillTx/>
              <a:latin typeface="Arial"/>
            </a:endParaRPr>
          </a:p>
        </p:txBody>
      </p:sp>
      <p:sp>
        <p:nvSpPr>
          <p:cNvPr id="469" name="Shape 8"/>
          <p:cNvSpPr/>
          <p:nvPr/>
        </p:nvSpPr>
        <p:spPr>
          <a:xfrm>
            <a:off x="6446520" y="1280160"/>
            <a:ext cx="4480200" cy="4343040"/>
          </a:xfrm>
          <a:prstGeom prst="roundRect">
            <a:avLst>
              <a:gd name="adj" fmla="val 1684"/>
            </a:avLst>
          </a:prstGeom>
          <a:solidFill>
            <a:srgbClr val="EAF4FF"/>
          </a:solidFill>
          <a:ln w="10160">
            <a:solidFill>
              <a:srgbClr val="BCD7F0"/>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70" name="Text 9"/>
          <p:cNvSpPr/>
          <p:nvPr/>
        </p:nvSpPr>
        <p:spPr>
          <a:xfrm>
            <a:off x="6748200" y="1627560"/>
            <a:ext cx="3200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2B6CB0"/>
                </a:solidFill>
                <a:effectLst/>
                <a:uFillTx/>
                <a:latin typeface="Aptos"/>
              </a:rPr>
              <a:t>Optional challenge</a:t>
            </a:r>
            <a:endParaRPr lang="en-US" sz="2200" b="0" u="none" strike="noStrike">
              <a:solidFill>
                <a:srgbClr val="000000"/>
              </a:solidFill>
              <a:effectLst/>
              <a:uFillTx/>
              <a:latin typeface="Arial"/>
            </a:endParaRPr>
          </a:p>
        </p:txBody>
      </p:sp>
      <p:sp>
        <p:nvSpPr>
          <p:cNvPr id="471" name="Text 10"/>
          <p:cNvSpPr/>
          <p:nvPr/>
        </p:nvSpPr>
        <p:spPr>
          <a:xfrm>
            <a:off x="6784920" y="2148840"/>
            <a:ext cx="3291480" cy="1416960"/>
          </a:xfrm>
          <a:prstGeom prst="rect">
            <a:avLst/>
          </a:prstGeom>
          <a:noFill/>
          <a:ln w="0">
            <a:noFill/>
          </a:ln>
        </p:spPr>
        <p:style>
          <a:lnRef idx="0"/>
          <a:fillRef idx="0"/>
          <a:effectRef idx="0"/>
          <a:fontRef idx="minor"/>
        </p:style>
        <p:txBody>
          <a:bodyPr lIns="720" tIns="720" rIns="720" bIns="720" anchor="t">
            <a:normAutofit fontScale="70000" lnSpcReduction="19999"/>
          </a:bodyPr>
          <a:p>
            <a:pPr defTabSz="914400">
              <a:lnSpc>
                <a:spcPct val="100000"/>
              </a:lnSpc>
            </a:pPr>
            <a:r>
              <a:rPr lang="en-US" sz="1800" b="0" u="none" strike="noStrike">
                <a:solidFill>
                  <a:schemeClr val="dk1"/>
                </a:solidFill>
                <a:effectLst/>
                <a:uFillTx/>
                <a:latin typeface="Aptos"/>
              </a:rPr>
              <a:t>Add a new category: `order`.</a:t>
            </a:r>
            <a:endParaRPr lang="en-US" sz="1800" b="0" u="none" strike="noStrike">
              <a:solidFill>
                <a:srgbClr val="000000"/>
              </a:solidFill>
              <a:effectLst/>
              <a:uFillTx/>
              <a:latin typeface="Arial"/>
            </a:endParaRPr>
          </a:p>
          <a:p>
            <a:pPr defTabSz="914400">
              <a:lnSpc>
                <a:spcPct val="100000"/>
              </a:lnSpc>
            </a:pPr>
            <a:endParaRPr lang="en-US" sz="1800" b="0" u="none" strike="noStrike">
              <a:solidFill>
                <a:srgbClr val="000000"/>
              </a:solidFill>
              <a:effectLst/>
              <a:uFillTx/>
              <a:latin typeface="Arial"/>
            </a:endParaRPr>
          </a:p>
          <a:p>
            <a:pPr defTabSz="914400">
              <a:lnSpc>
                <a:spcPct val="100000"/>
              </a:lnSpc>
            </a:pPr>
            <a:r>
              <a:rPr lang="en-US" sz="1800" b="0" u="none" strike="noStrike">
                <a:solidFill>
                  <a:schemeClr val="dk1"/>
                </a:solidFill>
                <a:effectLst/>
                <a:uFillTx/>
                <a:latin typeface="Aptos"/>
              </a:rPr>
              <a:t>Count high-priority tickets.</a:t>
            </a:r>
            <a:endParaRPr lang="en-US" sz="1800" b="0" u="none" strike="noStrike">
              <a:solidFill>
                <a:srgbClr val="000000"/>
              </a:solidFill>
              <a:effectLst/>
              <a:uFillTx/>
              <a:latin typeface="Arial"/>
            </a:endParaRPr>
          </a:p>
          <a:p>
            <a:pPr defTabSz="914400">
              <a:lnSpc>
                <a:spcPct val="100000"/>
              </a:lnSpc>
            </a:pPr>
            <a:endParaRPr lang="en-US" sz="1800" b="0" u="none" strike="noStrike">
              <a:solidFill>
                <a:srgbClr val="000000"/>
              </a:solidFill>
              <a:effectLst/>
              <a:uFillTx/>
              <a:latin typeface="Arial"/>
            </a:endParaRPr>
          </a:p>
          <a:p>
            <a:pPr defTabSz="914400">
              <a:lnSpc>
                <a:spcPct val="100000"/>
              </a:lnSpc>
            </a:pPr>
            <a:r>
              <a:rPr lang="en-US" sz="1800" b="0" u="none" strike="noStrike">
                <a:solidFill>
                  <a:schemeClr val="dk1"/>
                </a:solidFill>
                <a:effectLst/>
                <a:uFillTx/>
                <a:latin typeface="Aptos"/>
              </a:rPr>
              <a:t>Print a cleaner report.</a:t>
            </a:r>
            <a:endParaRPr lang="en-US" sz="1800" b="0" u="none" strike="noStrike">
              <a:solidFill>
                <a:srgbClr val="000000"/>
              </a:solidFill>
              <a:effectLst/>
              <a:uFillTx/>
              <a:latin typeface="Arial"/>
            </a:endParaRPr>
          </a:p>
          <a:p>
            <a:pPr defTabSz="914400">
              <a:lnSpc>
                <a:spcPct val="100000"/>
              </a:lnSpc>
            </a:pPr>
            <a:endParaRPr lang="en-US" sz="1800" b="0" u="none" strike="noStrike">
              <a:solidFill>
                <a:srgbClr val="000000"/>
              </a:solidFill>
              <a:effectLst/>
              <a:uFillTx/>
              <a:latin typeface="Arial"/>
            </a:endParaRPr>
          </a:p>
          <a:p>
            <a:pPr defTabSz="914400">
              <a:lnSpc>
                <a:spcPct val="100000"/>
              </a:lnSpc>
            </a:pPr>
            <a:r>
              <a:rPr lang="en-US" sz="1800" b="0" u="none" strike="noStrike">
                <a:solidFill>
                  <a:schemeClr val="dk1"/>
                </a:solidFill>
                <a:effectLst/>
                <a:uFillTx/>
                <a:latin typeface="Aptos"/>
              </a:rPr>
              <a:t>Improve docstrings so another developer can understand your functions.</a:t>
            </a:r>
            <a:endParaRPr lang="en-US" sz="1800" b="0" u="none" strike="noStrike">
              <a:solidFill>
                <a:srgbClr val="000000"/>
              </a:solidFill>
              <a:effectLst/>
              <a:uFillTx/>
              <a:latin typeface="Arial"/>
            </a:endParaRPr>
          </a:p>
        </p:txBody>
      </p:sp>
      <p:sp>
        <p:nvSpPr>
          <p:cNvPr id="472" name="Text 11"/>
          <p:cNvSpPr/>
          <p:nvPr/>
        </p:nvSpPr>
        <p:spPr>
          <a:xfrm>
            <a:off x="6784920" y="4919400"/>
            <a:ext cx="3474360" cy="200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150" b="1" u="none" strike="noStrike">
                <a:solidFill>
                  <a:srgbClr val="52616B"/>
                </a:solidFill>
                <a:effectLst/>
                <a:uFillTx/>
                <a:latin typeface="Aptos"/>
              </a:rPr>
              <a:t>Do not introduce Pydantic or APIs yet. Those are </a:t>
            </a:r>
            <a:r>
              <a:rPr lang="en-US" sz="1150" b="1" u="none" strike="noStrike">
                <a:solidFill>
                  <a:srgbClr val="52616B"/>
                </a:solidFill>
                <a:effectLst/>
                <a:uFillTx/>
                <a:latin typeface="Aptos"/>
              </a:rPr>
              <a:t>next labs.</a:t>
            </a:r>
            <a:endParaRPr lang="en-US" sz="1150" b="0" u="none" strike="noStrike">
              <a:solidFill>
                <a:srgbClr val="000000"/>
              </a:solidFill>
              <a:effectLst/>
              <a:uFillTx/>
              <a:latin typeface="Arial"/>
            </a:endParaRPr>
          </a:p>
        </p:txBody>
      </p:sp>
      <p:sp>
        <p:nvSpPr>
          <p:cNvPr id="473" name="PlaceHolder 1"/>
          <p:cNvSpPr>
            <a:spLocks noGrp="1"/>
          </p:cNvSpPr>
          <p:nvPr>
            <p:ph type="sldNum" idx="25"/>
          </p:nvPr>
        </p:nvSpPr>
        <p:spPr>
          <a:xfrm>
            <a:off x="11292840" y="6546960"/>
            <a:ext cx="799560" cy="299520"/>
          </a:xfrm>
          <a:prstGeom prst="rect">
            <a:avLst/>
          </a:prstGeom>
          <a:noFill/>
          <a:ln w="0">
            <a:noFill/>
          </a:ln>
        </p:spPr>
        <p:txBody>
          <a:bodyPr lIns="90000" tIns="45000" rIns="90000" bIns="45000" anchor="t">
            <a:noAutofit/>
          </a:bodyPr>
          <a:lstStyle>
            <a:lvl1pPr indent="0" algn="l" defTabSz="914400">
              <a:lnSpc>
                <a:spcPct val="100000"/>
              </a:lnSpc>
              <a:buNone/>
              <a:defRPr lang="en-US" sz="900" b="0" u="none" strike="noStrike">
                <a:solidFill>
                  <a:srgbClr val="78909C"/>
                </a:solidFill>
                <a:effectLst/>
                <a:uFillTx/>
                <a:latin typeface="Aptos"/>
                <a:ea typeface="Aptos"/>
              </a:defRPr>
            </a:lvl1pPr>
          </a:lstStyle>
          <a:p>
            <a:pPr indent="0" algn="l" defTabSz="914400">
              <a:lnSpc>
                <a:spcPct val="100000"/>
              </a:lnSpc>
              <a:buNone/>
            </a:pPr>
            <a:fld id="{79494ACF-89F3-4CFB-8919-2255FC1B14DC}" type="slidenum">
              <a:rPr lang="en-US" sz="900" b="0" u="none" strike="noStrike">
                <a:solidFill>
                  <a:srgbClr val="78909C"/>
                </a:solidFill>
                <a:effectLst/>
                <a:uFillTx/>
                <a:latin typeface="Aptos"/>
                <a:ea typeface="Aptos"/>
              </a:rPr>
              <a:t>21</a:t>
            </a:fld>
            <a:endParaRPr lang="en-US" sz="9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AFC"/>
        </a:solidFill>
      </p:bgPr>
    </p:bg>
    <p:spTree>
      <p:nvGrpSpPr>
        <p:cNvPr id="1" name=""/>
        <p:cNvGrpSpPr/>
        <p:nvPr/>
      </p:nvGrpSpPr>
      <p:grpSpPr>
        <a:xfrm>
          <a:off x="0" y="0"/>
          <a:ext cx="0" cy="0"/>
          <a:chOff x="0" y="0"/>
          <a:chExt cx="0" cy="0"/>
        </a:xfrm>
      </p:grpSpPr>
      <p:sp>
        <p:nvSpPr>
          <p:cNvPr id="474" name="Shape 0"/>
          <p:cNvSpPr/>
          <p:nvPr/>
        </p:nvSpPr>
        <p:spPr>
          <a:xfrm>
            <a:off x="0" y="0"/>
            <a:ext cx="12191400" cy="6857640"/>
          </a:xfrm>
          <a:prstGeom prst="rect">
            <a:avLst/>
          </a:prstGeom>
          <a:solidFill>
            <a:srgbClr val="F7FAFC"/>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75" name="Shape 1"/>
          <p:cNvSpPr/>
          <p:nvPr/>
        </p:nvSpPr>
        <p:spPr>
          <a:xfrm>
            <a:off x="0" y="0"/>
            <a:ext cx="164160" cy="6857640"/>
          </a:xfrm>
          <a:prstGeom prst="rect">
            <a:avLst/>
          </a:prstGeom>
          <a:solidFill>
            <a:srgbClr val="153B52"/>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76" name="Text 2"/>
          <p:cNvSpPr/>
          <p:nvPr/>
        </p:nvSpPr>
        <p:spPr>
          <a:xfrm>
            <a:off x="521280" y="109800"/>
            <a:ext cx="4205880" cy="182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1" u="none" strike="noStrike">
                <a:solidFill>
                  <a:srgbClr val="0E8F8F"/>
                </a:solidFill>
                <a:effectLst/>
                <a:uFillTx/>
                <a:latin typeface="Aptos"/>
              </a:rPr>
              <a:t>NEXT STEP</a:t>
            </a:r>
            <a:endParaRPr lang="en-US" sz="850" b="0" u="none" strike="noStrike">
              <a:solidFill>
                <a:srgbClr val="000000"/>
              </a:solidFill>
              <a:effectLst/>
              <a:uFillTx/>
              <a:latin typeface="Arial"/>
            </a:endParaRPr>
          </a:p>
        </p:txBody>
      </p:sp>
      <p:sp>
        <p:nvSpPr>
          <p:cNvPr id="477" name="Text 3"/>
          <p:cNvSpPr/>
          <p:nvPr/>
        </p:nvSpPr>
        <p:spPr>
          <a:xfrm>
            <a:off x="502920" y="320040"/>
            <a:ext cx="1106388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153B52"/>
                </a:solidFill>
                <a:effectLst/>
                <a:uFillTx/>
                <a:latin typeface="Aptos Display"/>
                <a:ea typeface="Aptos Display"/>
              </a:rPr>
              <a:t>What Comes Next?</a:t>
            </a:r>
            <a:endParaRPr lang="en-US" sz="2600" b="0" u="none" strike="noStrike">
              <a:solidFill>
                <a:srgbClr val="000000"/>
              </a:solidFill>
              <a:effectLst/>
              <a:uFillTx/>
              <a:latin typeface="Arial"/>
            </a:endParaRPr>
          </a:p>
        </p:txBody>
      </p:sp>
      <p:sp>
        <p:nvSpPr>
          <p:cNvPr id="478" name="Text 4"/>
          <p:cNvSpPr/>
          <p:nvPr/>
        </p:nvSpPr>
        <p:spPr>
          <a:xfrm>
            <a:off x="511920" y="786240"/>
            <a:ext cx="1078956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52616B"/>
                </a:solidFill>
                <a:effectLst/>
                <a:uFillTx/>
                <a:latin typeface="Aptos"/>
              </a:rPr>
              <a:t>Week 2 turns loose dictionaries into validated structured data.</a:t>
            </a:r>
            <a:endParaRPr lang="en-US" sz="1250" b="0" u="none" strike="noStrike">
              <a:solidFill>
                <a:srgbClr val="000000"/>
              </a:solidFill>
              <a:effectLst/>
              <a:uFillTx/>
              <a:latin typeface="Arial"/>
            </a:endParaRPr>
          </a:p>
        </p:txBody>
      </p:sp>
      <p:sp>
        <p:nvSpPr>
          <p:cNvPr id="479" name="Shape 5"/>
          <p:cNvSpPr/>
          <p:nvPr/>
        </p:nvSpPr>
        <p:spPr>
          <a:xfrm>
            <a:off x="822960" y="1234440"/>
            <a:ext cx="5348880" cy="4297320"/>
          </a:xfrm>
          <a:prstGeom prst="roundRect">
            <a:avLst>
              <a:gd name="adj" fmla="val 1702"/>
            </a:avLst>
          </a:prstGeom>
          <a:solidFill>
            <a:srgbClr val="0B1720"/>
          </a:solidFill>
          <a:ln w="10160">
            <a:solidFill>
              <a:srgbClr val="122334"/>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80" name="Shape 6"/>
          <p:cNvSpPr/>
          <p:nvPr/>
        </p:nvSpPr>
        <p:spPr>
          <a:xfrm>
            <a:off x="932760" y="1344240"/>
            <a:ext cx="1462680" cy="310680"/>
          </a:xfrm>
          <a:prstGeom prst="roundRect">
            <a:avLst>
              <a:gd name="adj" fmla="val 17647"/>
            </a:avLst>
          </a:prstGeom>
          <a:solidFill>
            <a:srgbClr val="0E8F8F"/>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81" name="Text 7"/>
          <p:cNvSpPr/>
          <p:nvPr/>
        </p:nvSpPr>
        <p:spPr>
          <a:xfrm>
            <a:off x="1005840" y="1412640"/>
            <a:ext cx="131652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FFFFFF"/>
                </a:solidFill>
                <a:effectLst/>
                <a:uFillTx/>
                <a:latin typeface="Aptos"/>
              </a:rPr>
              <a:t>TODAY → NEXT WEEK</a:t>
            </a:r>
            <a:endParaRPr lang="en-US" sz="900" b="0" u="none" strike="noStrike">
              <a:solidFill>
                <a:srgbClr val="000000"/>
              </a:solidFill>
              <a:effectLst/>
              <a:uFillTx/>
              <a:latin typeface="Arial"/>
            </a:endParaRPr>
          </a:p>
        </p:txBody>
      </p:sp>
      <p:sp>
        <p:nvSpPr>
          <p:cNvPr id="482" name="Text 8"/>
          <p:cNvSpPr/>
          <p:nvPr/>
        </p:nvSpPr>
        <p:spPr>
          <a:xfrm>
            <a:off x="1024200" y="1764720"/>
            <a:ext cx="4946400" cy="3620520"/>
          </a:xfrm>
          <a:prstGeom prst="rect">
            <a:avLst/>
          </a:prstGeom>
          <a:noFill/>
          <a:ln w="0">
            <a:noFill/>
          </a:ln>
        </p:spPr>
        <p:style>
          <a:lnRef idx="0"/>
          <a:fillRef idx="0"/>
          <a:effectRef idx="0"/>
          <a:fontRef idx="minor"/>
        </p:style>
        <p:txBody>
          <a:bodyPr lIns="360" tIns="360" rIns="360" bIns="360" anchor="t">
            <a:normAutofit/>
          </a:bodyPr>
          <a:p>
            <a:pPr defTabSz="914400">
              <a:lnSpc>
                <a:spcPct val="100000"/>
              </a:lnSpc>
              <a:tabLst>
                <a:tab pos="0" algn="l"/>
              </a:tabLst>
            </a:pPr>
            <a:r>
              <a:rPr lang="en-US" sz="1120" b="0" u="none" strike="noStrike">
                <a:solidFill>
                  <a:srgbClr val="E8F1F8"/>
                </a:solidFill>
                <a:effectLst/>
                <a:uFillTx/>
                <a:latin typeface="Courier New"/>
                <a:ea typeface="Courier New"/>
              </a:rPr>
              <a:t># Today</a:t>
            </a:r>
            <a:endParaRPr lang="en-US" sz="1120" b="0" u="none" strike="noStrike">
              <a:solidFill>
                <a:srgbClr val="000000"/>
              </a:solidFill>
              <a:effectLst/>
              <a:uFillTx/>
              <a:latin typeface="Arial"/>
            </a:endParaRPr>
          </a:p>
          <a:p>
            <a:pPr defTabSz="914400">
              <a:lnSpc>
                <a:spcPct val="100000"/>
              </a:lnSpc>
              <a:tabLst>
                <a:tab pos="0" algn="l"/>
              </a:tabLst>
            </a:pPr>
            <a:r>
              <a:rPr lang="en-US" sz="1120" b="0" u="none" strike="noStrike">
                <a:solidFill>
                  <a:srgbClr val="E8F1F8"/>
                </a:solidFill>
                <a:effectLst/>
                <a:uFillTx/>
                <a:latin typeface="Courier New"/>
                <a:ea typeface="Courier New"/>
              </a:rPr>
              <a:t>ticket = {</a:t>
            </a:r>
            <a:endParaRPr lang="en-US" sz="1120" b="0" u="none" strike="noStrike">
              <a:solidFill>
                <a:srgbClr val="000000"/>
              </a:solidFill>
              <a:effectLst/>
              <a:uFillTx/>
              <a:latin typeface="Arial"/>
            </a:endParaRPr>
          </a:p>
          <a:p>
            <a:pPr defTabSz="914400">
              <a:lnSpc>
                <a:spcPct val="100000"/>
              </a:lnSpc>
              <a:tabLst>
                <a:tab pos="0" algn="l"/>
              </a:tabLst>
            </a:pPr>
            <a:r>
              <a:rPr lang="en-US" sz="1120" b="0" u="none" strike="noStrike">
                <a:solidFill>
                  <a:srgbClr val="E8F1F8"/>
                </a:solidFill>
                <a:effectLst/>
                <a:uFillTx/>
                <a:latin typeface="Courier New"/>
                <a:ea typeface="Courier New"/>
              </a:rPr>
              <a:t>  "id": 101,</a:t>
            </a:r>
            <a:endParaRPr lang="en-US" sz="1120" b="0" u="none" strike="noStrike">
              <a:solidFill>
                <a:srgbClr val="000000"/>
              </a:solidFill>
              <a:effectLst/>
              <a:uFillTx/>
              <a:latin typeface="Arial"/>
            </a:endParaRPr>
          </a:p>
          <a:p>
            <a:pPr defTabSz="914400">
              <a:lnSpc>
                <a:spcPct val="100000"/>
              </a:lnSpc>
              <a:tabLst>
                <a:tab pos="0" algn="l"/>
              </a:tabLst>
            </a:pPr>
            <a:r>
              <a:rPr lang="en-US" sz="1120" b="0" u="none" strike="noStrike">
                <a:solidFill>
                  <a:srgbClr val="E8F1F8"/>
                </a:solidFill>
                <a:effectLst/>
                <a:uFillTx/>
                <a:latin typeface="Courier New"/>
                <a:ea typeface="Courier New"/>
              </a:rPr>
              <a:t>  "customer": "Ahmed",</a:t>
            </a:r>
            <a:endParaRPr lang="en-US" sz="1120" b="0" u="none" strike="noStrike">
              <a:solidFill>
                <a:srgbClr val="000000"/>
              </a:solidFill>
              <a:effectLst/>
              <a:uFillTx/>
              <a:latin typeface="Arial"/>
            </a:endParaRPr>
          </a:p>
          <a:p>
            <a:pPr defTabSz="914400">
              <a:lnSpc>
                <a:spcPct val="100000"/>
              </a:lnSpc>
              <a:tabLst>
                <a:tab pos="0" algn="l"/>
              </a:tabLst>
            </a:pPr>
            <a:r>
              <a:rPr lang="en-US" sz="1120" b="0" u="none" strike="noStrike">
                <a:solidFill>
                  <a:srgbClr val="E8F1F8"/>
                </a:solidFill>
                <a:effectLst/>
                <a:uFillTx/>
                <a:latin typeface="Courier New"/>
                <a:ea typeface="Courier New"/>
              </a:rPr>
              <a:t>  "message": "My payment failed"</a:t>
            </a:r>
            <a:endParaRPr lang="en-US" sz="1120" b="0" u="none" strike="noStrike">
              <a:solidFill>
                <a:srgbClr val="000000"/>
              </a:solidFill>
              <a:effectLst/>
              <a:uFillTx/>
              <a:latin typeface="Arial"/>
            </a:endParaRPr>
          </a:p>
          <a:p>
            <a:pPr defTabSz="914400">
              <a:lnSpc>
                <a:spcPct val="100000"/>
              </a:lnSpc>
              <a:tabLst>
                <a:tab pos="0" algn="l"/>
              </a:tabLst>
            </a:pPr>
            <a:r>
              <a:rPr lang="en-US" sz="1120" b="0" u="none" strike="noStrike">
                <a:solidFill>
                  <a:srgbClr val="E8F1F8"/>
                </a:solidFill>
                <a:effectLst/>
                <a:uFillTx/>
                <a:latin typeface="Courier New"/>
                <a:ea typeface="Courier New"/>
              </a:rPr>
              <a:t>}</a:t>
            </a:r>
            <a:endParaRPr lang="en-US" sz="1120" b="0" u="none" strike="noStrike">
              <a:solidFill>
                <a:srgbClr val="000000"/>
              </a:solidFill>
              <a:effectLst/>
              <a:uFillTx/>
              <a:latin typeface="Arial"/>
            </a:endParaRPr>
          </a:p>
          <a:p>
            <a:pPr defTabSz="914400">
              <a:lnSpc>
                <a:spcPct val="100000"/>
              </a:lnSpc>
              <a:tabLst>
                <a:tab pos="0" algn="l"/>
              </a:tabLst>
            </a:pPr>
            <a:endParaRPr lang="en-US" sz="1120" b="0" u="none" strike="noStrike">
              <a:solidFill>
                <a:srgbClr val="000000"/>
              </a:solidFill>
              <a:effectLst/>
              <a:uFillTx/>
              <a:latin typeface="Arial"/>
            </a:endParaRPr>
          </a:p>
          <a:p>
            <a:pPr defTabSz="914400">
              <a:lnSpc>
                <a:spcPct val="100000"/>
              </a:lnSpc>
              <a:tabLst>
                <a:tab pos="0" algn="l"/>
              </a:tabLst>
            </a:pPr>
            <a:r>
              <a:rPr lang="en-US" sz="1120" b="0" u="none" strike="noStrike">
                <a:solidFill>
                  <a:srgbClr val="E8F1F8"/>
                </a:solidFill>
                <a:effectLst/>
                <a:uFillTx/>
                <a:latin typeface="Courier New"/>
                <a:ea typeface="Courier New"/>
              </a:rPr>
              <a:t># Next week</a:t>
            </a:r>
            <a:endParaRPr lang="en-US" sz="1120" b="0" u="none" strike="noStrike">
              <a:solidFill>
                <a:srgbClr val="000000"/>
              </a:solidFill>
              <a:effectLst/>
              <a:uFillTx/>
              <a:latin typeface="Arial"/>
            </a:endParaRPr>
          </a:p>
          <a:p>
            <a:pPr defTabSz="914400">
              <a:lnSpc>
                <a:spcPct val="100000"/>
              </a:lnSpc>
              <a:tabLst>
                <a:tab pos="0" algn="l"/>
              </a:tabLst>
            </a:pPr>
            <a:r>
              <a:rPr lang="en-US" sz="1120" b="0" u="none" strike="noStrike">
                <a:solidFill>
                  <a:srgbClr val="E8F1F8"/>
                </a:solidFill>
                <a:effectLst/>
                <a:uFillTx/>
                <a:latin typeface="Courier New"/>
                <a:ea typeface="Courier New"/>
              </a:rPr>
              <a:t>class Ticket(BaseModel):</a:t>
            </a:r>
            <a:endParaRPr lang="en-US" sz="1120" b="0" u="none" strike="noStrike">
              <a:solidFill>
                <a:srgbClr val="000000"/>
              </a:solidFill>
              <a:effectLst/>
              <a:uFillTx/>
              <a:latin typeface="Arial"/>
            </a:endParaRPr>
          </a:p>
          <a:p>
            <a:pPr defTabSz="914400">
              <a:lnSpc>
                <a:spcPct val="100000"/>
              </a:lnSpc>
              <a:tabLst>
                <a:tab pos="0" algn="l"/>
              </a:tabLst>
            </a:pPr>
            <a:r>
              <a:rPr lang="en-US" sz="1120" b="0" u="none" strike="noStrike">
                <a:solidFill>
                  <a:srgbClr val="E8F1F8"/>
                </a:solidFill>
                <a:effectLst/>
                <a:uFillTx/>
                <a:latin typeface="Courier New"/>
                <a:ea typeface="Courier New"/>
              </a:rPr>
              <a:t>    id: int</a:t>
            </a:r>
            <a:endParaRPr lang="en-US" sz="1120" b="0" u="none" strike="noStrike">
              <a:solidFill>
                <a:srgbClr val="000000"/>
              </a:solidFill>
              <a:effectLst/>
              <a:uFillTx/>
              <a:latin typeface="Arial"/>
            </a:endParaRPr>
          </a:p>
          <a:p>
            <a:pPr defTabSz="914400">
              <a:lnSpc>
                <a:spcPct val="100000"/>
              </a:lnSpc>
              <a:tabLst>
                <a:tab pos="0" algn="l"/>
              </a:tabLst>
            </a:pPr>
            <a:r>
              <a:rPr lang="en-US" sz="1120" b="0" u="none" strike="noStrike">
                <a:solidFill>
                  <a:srgbClr val="E8F1F8"/>
                </a:solidFill>
                <a:effectLst/>
                <a:uFillTx/>
                <a:latin typeface="Courier New"/>
                <a:ea typeface="Courier New"/>
              </a:rPr>
              <a:t>    customer: str</a:t>
            </a:r>
            <a:endParaRPr lang="en-US" sz="1120" b="0" u="none" strike="noStrike">
              <a:solidFill>
                <a:srgbClr val="000000"/>
              </a:solidFill>
              <a:effectLst/>
              <a:uFillTx/>
              <a:latin typeface="Arial"/>
            </a:endParaRPr>
          </a:p>
          <a:p>
            <a:pPr defTabSz="914400">
              <a:lnSpc>
                <a:spcPct val="100000"/>
              </a:lnSpc>
              <a:tabLst>
                <a:tab pos="0" algn="l"/>
              </a:tabLst>
            </a:pPr>
            <a:r>
              <a:rPr lang="en-US" sz="1120" b="0" u="none" strike="noStrike">
                <a:solidFill>
                  <a:srgbClr val="E8F1F8"/>
                </a:solidFill>
                <a:effectLst/>
                <a:uFillTx/>
                <a:latin typeface="Courier New"/>
                <a:ea typeface="Courier New"/>
              </a:rPr>
              <a:t>    message: str</a:t>
            </a:r>
            <a:endParaRPr lang="en-US" sz="1120" b="0" u="none" strike="noStrike">
              <a:solidFill>
                <a:srgbClr val="000000"/>
              </a:solidFill>
              <a:effectLst/>
              <a:uFillTx/>
              <a:latin typeface="Arial"/>
            </a:endParaRPr>
          </a:p>
        </p:txBody>
      </p:sp>
      <p:sp>
        <p:nvSpPr>
          <p:cNvPr id="483" name="Shape 9"/>
          <p:cNvSpPr/>
          <p:nvPr/>
        </p:nvSpPr>
        <p:spPr>
          <a:xfrm>
            <a:off x="6812280" y="1600200"/>
            <a:ext cx="3885840" cy="3382920"/>
          </a:xfrm>
          <a:prstGeom prst="roundRect">
            <a:avLst>
              <a:gd name="adj" fmla="val 2162"/>
            </a:avLst>
          </a:prstGeom>
          <a:solidFill>
            <a:srgbClr val="FFFFFF"/>
          </a:solidFill>
          <a:ln w="10160">
            <a:solidFill>
              <a:srgbClr val="D7E3E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84" name="Text 10"/>
          <p:cNvSpPr/>
          <p:nvPr/>
        </p:nvSpPr>
        <p:spPr>
          <a:xfrm>
            <a:off x="7086600" y="1938600"/>
            <a:ext cx="3337200" cy="2008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153B52"/>
                </a:solidFill>
                <a:effectLst/>
                <a:uFillTx/>
                <a:latin typeface="Aptos"/>
              </a:rPr>
              <a:t>Final message to students</a:t>
            </a:r>
            <a:endParaRPr lang="en-US" sz="1800" b="0" u="none" strike="noStrike">
              <a:solidFill>
                <a:srgbClr val="000000"/>
              </a:solidFill>
              <a:effectLst/>
              <a:uFillTx/>
              <a:latin typeface="Arial"/>
            </a:endParaRPr>
          </a:p>
        </p:txBody>
      </p:sp>
      <p:sp>
        <p:nvSpPr>
          <p:cNvPr id="485" name="Text 11"/>
          <p:cNvSpPr/>
          <p:nvPr/>
        </p:nvSpPr>
        <p:spPr>
          <a:xfrm>
            <a:off x="7150680" y="2487240"/>
            <a:ext cx="3126960" cy="840960"/>
          </a:xfrm>
          <a:prstGeom prst="rect">
            <a:avLst/>
          </a:prstGeom>
          <a:noFill/>
          <a:ln w="0">
            <a:noFill/>
          </a:ln>
        </p:spPr>
        <p:style>
          <a:lnRef idx="0"/>
          <a:fillRef idx="0"/>
          <a:effectRef idx="0"/>
          <a:fontRef idx="minor"/>
        </p:style>
        <p:txBody>
          <a:bodyPr lIns="360" tIns="360" rIns="360" bIns="360" anchor="ctr">
            <a:normAutofit lnSpcReduction="9999"/>
          </a:bodyPr>
          <a:p>
            <a:pPr algn="ctr" defTabSz="914400">
              <a:lnSpc>
                <a:spcPct val="100000"/>
              </a:lnSpc>
              <a:tabLst>
                <a:tab pos="0" algn="l"/>
              </a:tabLst>
            </a:pPr>
            <a:r>
              <a:rPr lang="en-US" sz="1500" b="0" u="none" strike="noStrike">
                <a:solidFill>
                  <a:srgbClr val="102A43"/>
                </a:solidFill>
                <a:effectLst/>
                <a:uFillTx/>
                <a:latin typeface="Aptos"/>
              </a:rPr>
              <a:t>If your data is messy, your agent will be messy. Week 1 gives us basic Python. Week 2 teaches us how to trust the shape of our data.</a:t>
            </a:r>
            <a:endParaRPr lang="en-US" sz="1500" b="0" u="none" strike="noStrike">
              <a:solidFill>
                <a:srgbClr val="000000"/>
              </a:solidFill>
              <a:effectLst/>
              <a:uFillTx/>
              <a:latin typeface="Arial"/>
            </a:endParaRPr>
          </a:p>
        </p:txBody>
      </p:sp>
      <p:sp>
        <p:nvSpPr>
          <p:cNvPr id="486" name="Shape 12"/>
          <p:cNvSpPr/>
          <p:nvPr/>
        </p:nvSpPr>
        <p:spPr>
          <a:xfrm>
            <a:off x="6995160" y="4251960"/>
            <a:ext cx="3520080" cy="310680"/>
          </a:xfrm>
          <a:prstGeom prst="roundRect">
            <a:avLst>
              <a:gd name="adj" fmla="val 17647"/>
            </a:avLst>
          </a:prstGeom>
          <a:solidFill>
            <a:srgbClr val="0E8F8F"/>
          </a:solidFill>
          <a:ln w="12700">
            <a:solidFill>
              <a:srgbClr val="333333">
                <a:alpha val="0"/>
              </a:srgbClr>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Aptos"/>
            </a:endParaRPr>
          </a:p>
        </p:txBody>
      </p:sp>
      <p:sp>
        <p:nvSpPr>
          <p:cNvPr id="487" name="Text 13"/>
          <p:cNvSpPr/>
          <p:nvPr/>
        </p:nvSpPr>
        <p:spPr>
          <a:xfrm>
            <a:off x="7068240" y="4320720"/>
            <a:ext cx="3373920" cy="164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900" b="1" u="none" strike="noStrike">
                <a:solidFill>
                  <a:srgbClr val="FFFFFF"/>
                </a:solidFill>
                <a:effectLst/>
                <a:uFillTx/>
                <a:latin typeface="Aptos"/>
              </a:rPr>
              <a:t>Python → Pydantic → APIs → LLMs → Agents</a:t>
            </a:r>
            <a:endParaRPr lang="en-US" sz="900" b="0" u="none" strike="noStrike">
              <a:solidFill>
                <a:srgbClr val="000000"/>
              </a:solidFill>
              <a:effectLst/>
              <a:uFillTx/>
              <a:latin typeface="Arial"/>
            </a:endParaRPr>
          </a:p>
        </p:txBody>
      </p:sp>
      <p:sp>
        <p:nvSpPr>
          <p:cNvPr id="488" name="PlaceHolder 1"/>
          <p:cNvSpPr>
            <a:spLocks noGrp="1"/>
          </p:cNvSpPr>
          <p:nvPr>
            <p:ph type="sldNum" idx="26"/>
          </p:nvPr>
        </p:nvSpPr>
        <p:spPr>
          <a:xfrm>
            <a:off x="11292840" y="6546960"/>
            <a:ext cx="799560" cy="299520"/>
          </a:xfrm>
          <a:prstGeom prst="rect">
            <a:avLst/>
          </a:prstGeom>
          <a:noFill/>
          <a:ln w="0">
            <a:noFill/>
          </a:ln>
        </p:spPr>
        <p:txBody>
          <a:bodyPr lIns="90000" tIns="45000" rIns="90000" bIns="45000" anchor="t">
            <a:noAutofit/>
          </a:bodyPr>
          <a:lstStyle>
            <a:lvl1pPr indent="0" algn="l" defTabSz="914400">
              <a:lnSpc>
                <a:spcPct val="100000"/>
              </a:lnSpc>
              <a:buNone/>
              <a:defRPr lang="en-US" sz="900" b="0" u="none" strike="noStrike">
                <a:solidFill>
                  <a:srgbClr val="78909C"/>
                </a:solidFill>
                <a:effectLst/>
                <a:uFillTx/>
                <a:latin typeface="Aptos"/>
                <a:ea typeface="Aptos"/>
              </a:defRPr>
            </a:lvl1pPr>
          </a:lstStyle>
          <a:p>
            <a:pPr indent="0" algn="l" defTabSz="914400">
              <a:lnSpc>
                <a:spcPct val="100000"/>
              </a:lnSpc>
              <a:buNone/>
            </a:pPr>
            <a:fld id="{09FCA2FB-A635-4DD9-8E49-27BC2E6CA8E4}" type="slidenum">
              <a:rPr lang="en-US" sz="900" b="0" u="none" strike="noStrike">
                <a:solidFill>
                  <a:srgbClr val="78909C"/>
                </a:solidFill>
                <a:effectLst/>
                <a:uFillTx/>
                <a:latin typeface="Aptos"/>
                <a:ea typeface="Aptos"/>
              </a:rPr>
              <a:t>22</a:t>
            </a:fld>
            <a:endParaRPr lang="en-US" sz="9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12</TotalTime>
  <Application>LibreOffice/26.2.5.2$Linux_X86_64 LibreOffice_project/620$Build-2</Application>
  <AppVersion>15.0000</AppVersion>
  <Words>0</Words>
  <Paragraphs>0</Paragraphs>
  <Company>Cairo University</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2026-09-29T20:48:58Z</dcterms:created>
  <dc:creator>OpenAI</dc:creator>
  <dc:description/>
  <dc:language>en-US</dc:language>
  <cp:lastModifiedBy/>
  <dcterms:modified xsi:type="dcterms:W3CDTF">2026-09-30T02:10:48Z</dcterms:modified>
  <cp:revision>3</cp:revision>
  <dc:subject>CS 415 Lab 1 Python Fundamentals for AI Agents</dc:subject>
  <dc:title>CS 415 Lab 1 — Python Fundamentals for AI Agents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22</vt:i4>
  </property>
  <property fmtid="{D5CDD505-2E9C-101B-9397-08002B2CF9AE}" pid="3" name="PresentationFormat">
    <vt:lpwstr>On-screen Show (16:9)</vt:lpwstr>
  </property>
  <property fmtid="{D5CDD505-2E9C-101B-9397-08002B2CF9AE}" pid="4" name="Slides">
    <vt:i4>22</vt:i4>
  </property>
</Properties>
</file>